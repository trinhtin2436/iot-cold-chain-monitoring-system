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Aptos" charset="1" panose="020B0004020202020204"/>
      <p:regular r:id="rId44"/>
    </p:embeddedFont>
    <p:embeddedFont>
      <p:font typeface="Aptos Bold" charset="1" panose="020B0004020202020204"/>
      <p:regular r:id="rId45"/>
    </p:embeddedFont>
    <p:embeddedFont>
      <p:font typeface="Aptos Italics" charset="1" panose="020B0004020202090204"/>
      <p:regular r:id="rId49"/>
    </p:embeddedFont>
    <p:embeddedFont>
      <p:font typeface="Courier New" charset="1" panose="02070309020205020404"/>
      <p:regular r:id="rId64"/>
    </p:embeddedFont>
    <p:embeddedFont>
      <p:font typeface="Courier New Bold" charset="1" panose="02070609020205020404"/>
      <p:regular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notesMasters/notesMaster1.xml" Type="http://schemas.openxmlformats.org/officeDocument/2006/relationships/notesMaster"/><Relationship Id="rId42" Target="theme/theme2.xml" Type="http://schemas.openxmlformats.org/officeDocument/2006/relationships/theme"/><Relationship Id="rId43" Target="notesSlides/notesSlide1.xml" Type="http://schemas.openxmlformats.org/officeDocument/2006/relationships/notesSlide"/><Relationship Id="rId44" Target="fonts/font44.fntdata" Type="http://schemas.openxmlformats.org/officeDocument/2006/relationships/font"/><Relationship Id="rId45" Target="fonts/font45.fntdata" Type="http://schemas.openxmlformats.org/officeDocument/2006/relationships/font"/><Relationship Id="rId46" Target="notesSlides/notesSlide2.xml" Type="http://schemas.openxmlformats.org/officeDocument/2006/relationships/notesSlide"/><Relationship Id="rId47" Target="notesSlides/notesSlide3.xml" Type="http://schemas.openxmlformats.org/officeDocument/2006/relationships/notesSlide"/><Relationship Id="rId48" Target="notesSlides/notesSlide4.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notesSlides/notesSlide5.xml" Type="http://schemas.openxmlformats.org/officeDocument/2006/relationships/notesSlide"/><Relationship Id="rId51" Target="notesSlides/notesSlide6.xml" Type="http://schemas.openxmlformats.org/officeDocument/2006/relationships/notesSlide"/><Relationship Id="rId52" Target="notesSlides/notesSlide7.xml" Type="http://schemas.openxmlformats.org/officeDocument/2006/relationships/notesSlide"/><Relationship Id="rId53" Target="notesSlides/notesSlide8.xml" Type="http://schemas.openxmlformats.org/officeDocument/2006/relationships/notesSlide"/><Relationship Id="rId54" Target="notesSlides/notesSlide9.xml" Type="http://schemas.openxmlformats.org/officeDocument/2006/relationships/notesSlide"/><Relationship Id="rId55" Target="notesSlides/notesSlide10.xml" Type="http://schemas.openxmlformats.org/officeDocument/2006/relationships/notesSlide"/><Relationship Id="rId56" Target="notesSlides/notesSlide11.xml" Type="http://schemas.openxmlformats.org/officeDocument/2006/relationships/notesSlide"/><Relationship Id="rId57" Target="notesSlides/notesSlide12.xml" Type="http://schemas.openxmlformats.org/officeDocument/2006/relationships/notesSlide"/><Relationship Id="rId58" Target="notesSlides/notesSlide13.xml" Type="http://schemas.openxmlformats.org/officeDocument/2006/relationships/notesSlide"/><Relationship Id="rId59" Target="notesSlides/notesSlide14.xml" Type="http://schemas.openxmlformats.org/officeDocument/2006/relationships/notesSlide"/><Relationship Id="rId6" Target="slides/slide1.xml" Type="http://schemas.openxmlformats.org/officeDocument/2006/relationships/slide"/><Relationship Id="rId60" Target="notesSlides/notesSlide15.xml" Type="http://schemas.openxmlformats.org/officeDocument/2006/relationships/notesSlide"/><Relationship Id="rId61" Target="notesSlides/notesSlide16.xml" Type="http://schemas.openxmlformats.org/officeDocument/2006/relationships/notesSlide"/><Relationship Id="rId62" Target="notesSlides/notesSlide17.xml" Type="http://schemas.openxmlformats.org/officeDocument/2006/relationships/notesSlide"/><Relationship Id="rId63" Target="notesSlides/notesSlide18.xml" Type="http://schemas.openxmlformats.org/officeDocument/2006/relationships/notesSlide"/><Relationship Id="rId64" Target="fonts/font64.fntdata" Type="http://schemas.openxmlformats.org/officeDocument/2006/relationships/font"/><Relationship Id="rId65" Target="notesSlides/notesSlide19.xml" Type="http://schemas.openxmlformats.org/officeDocument/2006/relationships/notesSlide"/><Relationship Id="rId66" Target="fonts/font66.fntdata" Type="http://schemas.openxmlformats.org/officeDocument/2006/relationships/font"/><Relationship Id="rId67" Target="notesSlides/notesSlide20.xml" Type="http://schemas.openxmlformats.org/officeDocument/2006/relationships/notesSlide"/><Relationship Id="rId68" Target="notesSlides/notesSlide21.xml" Type="http://schemas.openxmlformats.org/officeDocument/2006/relationships/notesSlide"/><Relationship Id="rId69" Target="notesSlides/notesSlide22.xml" Type="http://schemas.openxmlformats.org/officeDocument/2006/relationships/notesSlide"/><Relationship Id="rId7" Target="slides/slide2.xml" Type="http://schemas.openxmlformats.org/officeDocument/2006/relationships/slide"/><Relationship Id="rId70" Target="notesSlides/notesSlide23.xml" Type="http://schemas.openxmlformats.org/officeDocument/2006/relationships/notesSlide"/><Relationship Id="rId71" Target="notesSlides/notesSlide24.xml" Type="http://schemas.openxmlformats.org/officeDocument/2006/relationships/notesSlide"/><Relationship Id="rId72" Target="notesSlides/notesSlide25.xml" Type="http://schemas.openxmlformats.org/officeDocument/2006/relationships/notesSlide"/><Relationship Id="rId73" Target="notesSlides/notesSlide26.xml" Type="http://schemas.openxmlformats.org/officeDocument/2006/relationships/notesSlide"/><Relationship Id="rId74" Target="notesSlides/notesSlide27.xml" Type="http://schemas.openxmlformats.org/officeDocument/2006/relationships/notesSlide"/><Relationship Id="rId75" Target="notesSlides/notesSlide28.xml" Type="http://schemas.openxmlformats.org/officeDocument/2006/relationships/notesSlide"/><Relationship Id="rId76" Target="notesSlides/notesSlide29.xml" Type="http://schemas.openxmlformats.org/officeDocument/2006/relationships/notesSlide"/><Relationship Id="rId77" Target="notesSlides/notesSlide30.xml" Type="http://schemas.openxmlformats.org/officeDocument/2006/relationships/notesSlide"/><Relationship Id="rId78" Target="notesSlides/notesSlide31.xml" Type="http://schemas.openxmlformats.org/officeDocument/2006/relationships/notesSlide"/><Relationship Id="rId79" Target="notesSlides/notesSlide32.xml" Type="http://schemas.openxmlformats.org/officeDocument/2006/relationships/notesSlide"/><Relationship Id="rId8" Target="slides/slide3.xml" Type="http://schemas.openxmlformats.org/officeDocument/2006/relationships/slide"/><Relationship Id="rId80" Target="notesSlides/notesSlide33.xml" Type="http://schemas.openxmlformats.org/officeDocument/2006/relationships/notesSlide"/><Relationship Id="rId81" Target="notesSlides/notesSlide34.xml" Type="http://schemas.openxmlformats.org/officeDocument/2006/relationships/note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jpeg" Type="http://schemas.openxmlformats.org/officeDocument/2006/relationships/image"/><Relationship Id="rId4" Target="../media/image1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jpeg" Type="http://schemas.openxmlformats.org/officeDocument/2006/relationships/image"/><Relationship Id="rId4" Target="../media/image1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jpeg" Type="http://schemas.openxmlformats.org/officeDocument/2006/relationships/image"/><Relationship Id="rId4" Target="../media/image1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jpeg" Type="http://schemas.openxmlformats.org/officeDocument/2006/relationships/image"/><Relationship Id="rId4" Target="../media/image1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1.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1.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1.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1.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14872335" y="59055"/>
            <a:ext cx="3379470" cy="3379470"/>
            <a:chOff x="0" y="0"/>
            <a:chExt cx="4505960" cy="4505960"/>
          </a:xfrm>
        </p:grpSpPr>
        <p:sp>
          <p:nvSpPr>
            <p:cNvPr name="Freeform 8" id="8"/>
            <p:cNvSpPr/>
            <p:nvPr/>
          </p:nvSpPr>
          <p:spPr>
            <a:xfrm flipH="false" flipV="false" rot="0">
              <a:off x="0" y="0"/>
              <a:ext cx="4505960" cy="4505960"/>
            </a:xfrm>
            <a:custGeom>
              <a:avLst/>
              <a:gdLst/>
              <a:ahLst/>
              <a:cxnLst/>
              <a:rect r="r" b="b" t="t" l="l"/>
              <a:pathLst>
                <a:path h="4505960" w="4505960">
                  <a:moveTo>
                    <a:pt x="0" y="2252980"/>
                  </a:moveTo>
                  <a:cubicBezTo>
                    <a:pt x="0" y="1008634"/>
                    <a:pt x="1008634" y="0"/>
                    <a:pt x="2252980" y="0"/>
                  </a:cubicBezTo>
                  <a:cubicBezTo>
                    <a:pt x="3497326" y="0"/>
                    <a:pt x="4505960" y="1008634"/>
                    <a:pt x="4505960" y="2252980"/>
                  </a:cubicBezTo>
                  <a:cubicBezTo>
                    <a:pt x="4505960" y="3497326"/>
                    <a:pt x="3497326" y="4505960"/>
                    <a:pt x="2252980" y="4505960"/>
                  </a:cubicBezTo>
                  <a:cubicBezTo>
                    <a:pt x="1008634" y="4505960"/>
                    <a:pt x="0" y="3497326"/>
                    <a:pt x="0" y="2252980"/>
                  </a:cubicBezTo>
                  <a:close/>
                </a:path>
              </a:pathLst>
            </a:custGeom>
            <a:solidFill>
              <a:srgbClr val="46D6F5">
                <a:alpha val="1961"/>
              </a:srgbClr>
            </a:solidFill>
          </p:spPr>
        </p:sp>
      </p:grpSp>
      <p:grpSp>
        <p:nvGrpSpPr>
          <p:cNvPr name="Group 9" id="9"/>
          <p:cNvGrpSpPr/>
          <p:nvPr/>
        </p:nvGrpSpPr>
        <p:grpSpPr>
          <a:xfrm rot="0">
            <a:off x="59055" y="7054215"/>
            <a:ext cx="2899410" cy="2899410"/>
            <a:chOff x="0" y="0"/>
            <a:chExt cx="3865880" cy="3865880"/>
          </a:xfrm>
        </p:grpSpPr>
        <p:sp>
          <p:nvSpPr>
            <p:cNvPr name="Freeform 10" id="10"/>
            <p:cNvSpPr/>
            <p:nvPr/>
          </p:nvSpPr>
          <p:spPr>
            <a:xfrm flipH="false" flipV="false" rot="0">
              <a:off x="0" y="0"/>
              <a:ext cx="3865880" cy="3865880"/>
            </a:xfrm>
            <a:custGeom>
              <a:avLst/>
              <a:gdLst/>
              <a:ahLst/>
              <a:cxnLst/>
              <a:rect r="r" b="b" t="t" l="l"/>
              <a:pathLst>
                <a:path h="3865880" w="3865880">
                  <a:moveTo>
                    <a:pt x="0" y="1932940"/>
                  </a:moveTo>
                  <a:cubicBezTo>
                    <a:pt x="0" y="865378"/>
                    <a:pt x="865378" y="0"/>
                    <a:pt x="1932940" y="0"/>
                  </a:cubicBezTo>
                  <a:cubicBezTo>
                    <a:pt x="3000502" y="0"/>
                    <a:pt x="3865880" y="865378"/>
                    <a:pt x="3865880" y="1932940"/>
                  </a:cubicBezTo>
                  <a:cubicBezTo>
                    <a:pt x="3865880" y="3000502"/>
                    <a:pt x="3000502" y="3865880"/>
                    <a:pt x="1932940" y="3865880"/>
                  </a:cubicBezTo>
                  <a:cubicBezTo>
                    <a:pt x="865378" y="3865880"/>
                    <a:pt x="0" y="3000502"/>
                    <a:pt x="0" y="1932940"/>
                  </a:cubicBezTo>
                  <a:close/>
                </a:path>
              </a:pathLst>
            </a:custGeom>
            <a:solidFill>
              <a:srgbClr val="68A8FF">
                <a:alpha val="784"/>
              </a:srgbClr>
            </a:solidFill>
          </p:spPr>
        </p:sp>
      </p:grpSp>
      <p:grpSp>
        <p:nvGrpSpPr>
          <p:cNvPr name="Group 11" id="11"/>
          <p:cNvGrpSpPr/>
          <p:nvPr/>
        </p:nvGrpSpPr>
        <p:grpSpPr>
          <a:xfrm rot="0">
            <a:off x="-9525" y="-9525"/>
            <a:ext cx="169926" cy="10306050"/>
            <a:chOff x="0" y="0"/>
            <a:chExt cx="226568" cy="13741400"/>
          </a:xfrm>
        </p:grpSpPr>
        <p:sp>
          <p:nvSpPr>
            <p:cNvPr name="Freeform 12" id="12"/>
            <p:cNvSpPr/>
            <p:nvPr/>
          </p:nvSpPr>
          <p:spPr>
            <a:xfrm flipH="false" flipV="false" rot="0">
              <a:off x="0" y="0"/>
              <a:ext cx="226568" cy="13741400"/>
            </a:xfrm>
            <a:custGeom>
              <a:avLst/>
              <a:gdLst/>
              <a:ahLst/>
              <a:cxnLst/>
              <a:rect r="r" b="b" t="t" l="l"/>
              <a:pathLst>
                <a:path h="13741400" w="226568">
                  <a:moveTo>
                    <a:pt x="0" y="0"/>
                  </a:moveTo>
                  <a:lnTo>
                    <a:pt x="226568" y="0"/>
                  </a:lnTo>
                  <a:lnTo>
                    <a:pt x="226568" y="13741400"/>
                  </a:lnTo>
                  <a:lnTo>
                    <a:pt x="0" y="13741400"/>
                  </a:lnTo>
                  <a:close/>
                </a:path>
              </a:pathLst>
            </a:custGeom>
            <a:solidFill>
              <a:srgbClr val="46D6F5"/>
            </a:solidFill>
            <a:ln w="19050" cap="sq">
              <a:solidFill>
                <a:srgbClr val="46D6F5"/>
              </a:solidFill>
              <a:prstDash val="solid"/>
              <a:miter/>
            </a:ln>
          </p:spPr>
        </p:sp>
      </p:grpSp>
      <p:grpSp>
        <p:nvGrpSpPr>
          <p:cNvPr name="Group 13" id="13"/>
          <p:cNvGrpSpPr/>
          <p:nvPr/>
        </p:nvGrpSpPr>
        <p:grpSpPr>
          <a:xfrm rot="0">
            <a:off x="852268" y="754380"/>
            <a:ext cx="1587294" cy="2029968"/>
            <a:chOff x="0" y="0"/>
            <a:chExt cx="2116392" cy="2706624"/>
          </a:xfrm>
        </p:grpSpPr>
        <p:sp>
          <p:nvSpPr>
            <p:cNvPr name="Freeform 14" id="14" descr="/mnt/data/iot_media/image1.jpeg"/>
            <p:cNvSpPr/>
            <p:nvPr/>
          </p:nvSpPr>
          <p:spPr>
            <a:xfrm flipH="false" flipV="false" rot="0">
              <a:off x="0" y="0"/>
              <a:ext cx="2116455" cy="2706624"/>
            </a:xfrm>
            <a:custGeom>
              <a:avLst/>
              <a:gdLst/>
              <a:ahLst/>
              <a:cxnLst/>
              <a:rect r="r" b="b" t="t" l="l"/>
              <a:pathLst>
                <a:path h="2706624" w="2116455">
                  <a:moveTo>
                    <a:pt x="0" y="0"/>
                  </a:moveTo>
                  <a:lnTo>
                    <a:pt x="2116455" y="0"/>
                  </a:lnTo>
                  <a:lnTo>
                    <a:pt x="2116455" y="2706624"/>
                  </a:lnTo>
                  <a:lnTo>
                    <a:pt x="0" y="2706624"/>
                  </a:lnTo>
                  <a:lnTo>
                    <a:pt x="0" y="0"/>
                  </a:lnTo>
                  <a:close/>
                </a:path>
              </a:pathLst>
            </a:custGeom>
            <a:blipFill>
              <a:blip r:embed="rId4"/>
              <a:stretch>
                <a:fillRect l="0" t="0" r="3" b="0"/>
              </a:stretch>
            </a:blipFill>
          </p:spPr>
        </p:sp>
      </p:grpSp>
      <p:grpSp>
        <p:nvGrpSpPr>
          <p:cNvPr name="Group 15" id="15"/>
          <p:cNvGrpSpPr/>
          <p:nvPr/>
        </p:nvGrpSpPr>
        <p:grpSpPr>
          <a:xfrm rot="0">
            <a:off x="2763012" y="925068"/>
            <a:ext cx="3608832" cy="426720"/>
            <a:chOff x="0" y="0"/>
            <a:chExt cx="4811776" cy="568960"/>
          </a:xfrm>
        </p:grpSpPr>
        <p:sp>
          <p:nvSpPr>
            <p:cNvPr name="Freeform 16" id="16"/>
            <p:cNvSpPr/>
            <p:nvPr/>
          </p:nvSpPr>
          <p:spPr>
            <a:xfrm flipH="false" flipV="false" rot="0">
              <a:off x="0" y="0"/>
              <a:ext cx="4811776" cy="568960"/>
            </a:xfrm>
            <a:custGeom>
              <a:avLst/>
              <a:gdLst/>
              <a:ahLst/>
              <a:cxnLst/>
              <a:rect r="r" b="b" t="t" l="l"/>
              <a:pathLst>
                <a:path h="568960" w="4811776">
                  <a:moveTo>
                    <a:pt x="0" y="113792"/>
                  </a:moveTo>
                  <a:cubicBezTo>
                    <a:pt x="0" y="50927"/>
                    <a:pt x="50927" y="0"/>
                    <a:pt x="113792" y="0"/>
                  </a:cubicBezTo>
                  <a:lnTo>
                    <a:pt x="4697984" y="0"/>
                  </a:lnTo>
                  <a:cubicBezTo>
                    <a:pt x="4760849" y="0"/>
                    <a:pt x="4811776" y="50927"/>
                    <a:pt x="4811776" y="113792"/>
                  </a:cubicBezTo>
                  <a:lnTo>
                    <a:pt x="4811776" y="455168"/>
                  </a:lnTo>
                  <a:cubicBezTo>
                    <a:pt x="4811776" y="518033"/>
                    <a:pt x="4760849" y="568960"/>
                    <a:pt x="4697984" y="568960"/>
                  </a:cubicBezTo>
                  <a:lnTo>
                    <a:pt x="113792" y="568960"/>
                  </a:lnTo>
                  <a:cubicBezTo>
                    <a:pt x="50927" y="568960"/>
                    <a:pt x="0" y="518033"/>
                    <a:pt x="0" y="455168"/>
                  </a:cubicBezTo>
                  <a:close/>
                </a:path>
              </a:pathLst>
            </a:custGeom>
            <a:solidFill>
              <a:srgbClr val="46D6F5">
                <a:alpha val="3137"/>
              </a:srgbClr>
            </a:solidFill>
            <a:ln w="15240" cap="sq">
              <a:solidFill>
                <a:srgbClr val="46D6F5"/>
              </a:solidFill>
              <a:prstDash val="solid"/>
              <a:miter/>
            </a:ln>
          </p:spPr>
        </p:sp>
      </p:grpSp>
      <p:grpSp>
        <p:nvGrpSpPr>
          <p:cNvPr name="Group 17" id="17"/>
          <p:cNvGrpSpPr/>
          <p:nvPr/>
        </p:nvGrpSpPr>
        <p:grpSpPr>
          <a:xfrm rot="0">
            <a:off x="2770632" y="1028700"/>
            <a:ext cx="3593592" cy="178308"/>
            <a:chOff x="0" y="0"/>
            <a:chExt cx="4791456" cy="237744"/>
          </a:xfrm>
        </p:grpSpPr>
        <p:sp>
          <p:nvSpPr>
            <p:cNvPr name="Freeform 18" id="18"/>
            <p:cNvSpPr/>
            <p:nvPr/>
          </p:nvSpPr>
          <p:spPr>
            <a:xfrm flipH="false" flipV="false" rot="0">
              <a:off x="0" y="0"/>
              <a:ext cx="4791456" cy="237744"/>
            </a:xfrm>
            <a:custGeom>
              <a:avLst/>
              <a:gdLst/>
              <a:ahLst/>
              <a:cxnLst/>
              <a:rect r="r" b="b" t="t" l="l"/>
              <a:pathLst>
                <a:path h="237744" w="4791456">
                  <a:moveTo>
                    <a:pt x="0" y="0"/>
                  </a:moveTo>
                  <a:lnTo>
                    <a:pt x="4791456" y="0"/>
                  </a:lnTo>
                  <a:lnTo>
                    <a:pt x="4791456" y="237744"/>
                  </a:lnTo>
                  <a:lnTo>
                    <a:pt x="0" y="237744"/>
                  </a:lnTo>
                  <a:close/>
                </a:path>
              </a:pathLst>
            </a:custGeom>
            <a:blipFill>
              <a:blip r:embed="rId3">
                <a:alphaModFix amt="0"/>
              </a:blip>
              <a:stretch>
                <a:fillRect l="0" t="-342698" r="0" b="-342698"/>
              </a:stretch>
            </a:blipFill>
          </p:spPr>
        </p:sp>
        <p:sp>
          <p:nvSpPr>
            <p:cNvPr name="TextBox 19" id="19"/>
            <p:cNvSpPr txBox="true"/>
            <p:nvPr/>
          </p:nvSpPr>
          <p:spPr>
            <a:xfrm>
              <a:off x="0" y="0"/>
              <a:ext cx="4791456" cy="237744"/>
            </a:xfrm>
            <a:prstGeom prst="rect">
              <a:avLst/>
            </a:prstGeom>
          </p:spPr>
          <p:txBody>
            <a:bodyPr anchor="ctr" rtlCol="false" tIns="0" lIns="0" bIns="0" rIns="0"/>
            <a:lstStyle/>
            <a:p>
              <a:pPr algn="ctr">
                <a:lnSpc>
                  <a:spcPts val="1439"/>
                </a:lnSpc>
              </a:pPr>
              <a:r>
                <a:rPr lang="en-US" sz="1200" b="true">
                  <a:solidFill>
                    <a:srgbClr val="46D6F5"/>
                  </a:solidFill>
                  <a:latin typeface="Aptos Bold"/>
                  <a:ea typeface="Aptos Bold"/>
                  <a:cs typeface="Aptos Bold"/>
                  <a:sym typeface="Aptos Bold"/>
                </a:rPr>
                <a:t>PROJECT 07  •  INTERNET OF THINGS</a:t>
              </a:r>
            </a:p>
          </p:txBody>
        </p:sp>
      </p:grpSp>
      <p:grpSp>
        <p:nvGrpSpPr>
          <p:cNvPr name="Group 20" id="20"/>
          <p:cNvGrpSpPr/>
          <p:nvPr/>
        </p:nvGrpSpPr>
        <p:grpSpPr>
          <a:xfrm rot="0">
            <a:off x="2743200" y="1755648"/>
            <a:ext cx="14196060" cy="2990088"/>
            <a:chOff x="0" y="0"/>
            <a:chExt cx="18928080" cy="3986784"/>
          </a:xfrm>
        </p:grpSpPr>
        <p:sp>
          <p:nvSpPr>
            <p:cNvPr name="Freeform 21" id="21"/>
            <p:cNvSpPr/>
            <p:nvPr/>
          </p:nvSpPr>
          <p:spPr>
            <a:xfrm flipH="false" flipV="false" rot="0">
              <a:off x="0" y="0"/>
              <a:ext cx="18928080" cy="3986784"/>
            </a:xfrm>
            <a:custGeom>
              <a:avLst/>
              <a:gdLst/>
              <a:ahLst/>
              <a:cxnLst/>
              <a:rect r="r" b="b" t="t" l="l"/>
              <a:pathLst>
                <a:path h="3986784" w="18928080">
                  <a:moveTo>
                    <a:pt x="0" y="0"/>
                  </a:moveTo>
                  <a:lnTo>
                    <a:pt x="18928080" y="0"/>
                  </a:lnTo>
                  <a:lnTo>
                    <a:pt x="18928080" y="3986784"/>
                  </a:lnTo>
                  <a:lnTo>
                    <a:pt x="0" y="3986784"/>
                  </a:lnTo>
                  <a:close/>
                </a:path>
              </a:pathLst>
            </a:custGeom>
            <a:blipFill>
              <a:blip r:embed="rId3">
                <a:alphaModFix amt="0"/>
              </a:blip>
              <a:stretch>
                <a:fillRect l="0" t="-42509" r="0" b="-42509"/>
              </a:stretch>
            </a:blipFill>
          </p:spPr>
        </p:sp>
        <p:sp>
          <p:nvSpPr>
            <p:cNvPr name="TextBox 22" id="22"/>
            <p:cNvSpPr txBox="true"/>
            <p:nvPr/>
          </p:nvSpPr>
          <p:spPr>
            <a:xfrm>
              <a:off x="0" y="0"/>
              <a:ext cx="18928080" cy="3986784"/>
            </a:xfrm>
            <a:prstGeom prst="rect">
              <a:avLst/>
            </a:prstGeom>
          </p:spPr>
          <p:txBody>
            <a:bodyPr anchor="ctr" rtlCol="false" tIns="0" lIns="0" bIns="0" rIns="0"/>
            <a:lstStyle/>
            <a:p>
              <a:pPr algn="l">
                <a:lnSpc>
                  <a:spcPts val="5400"/>
                </a:lnSpc>
              </a:pPr>
              <a:r>
                <a:rPr lang="en-US" sz="4500" b="true">
                  <a:solidFill>
                    <a:srgbClr val="F5F8FC"/>
                  </a:solidFill>
                  <a:latin typeface="Aptos Bold"/>
                  <a:ea typeface="Aptos Bold"/>
                  <a:cs typeface="Aptos Bold"/>
                  <a:sym typeface="Aptos Bold"/>
                </a:rPr>
                <a:t>COLD-CHAIN MONITORING</a:t>
              </a:r>
            </a:p>
            <a:p>
              <a:pPr algn="l">
                <a:lnSpc>
                  <a:spcPts val="5400"/>
                </a:lnSpc>
              </a:pPr>
              <a:r>
                <a:rPr lang="en-US" sz="4500" b="true">
                  <a:solidFill>
                    <a:srgbClr val="F5F8FC"/>
                  </a:solidFill>
                  <a:latin typeface="Aptos Bold"/>
                  <a:ea typeface="Aptos Bold"/>
                  <a:cs typeface="Aptos Bold"/>
                  <a:sym typeface="Aptos Bold"/>
                </a:rPr>
                <a:t>AND INTELLIGENT STORAGE</a:t>
              </a:r>
            </a:p>
            <a:p>
              <a:pPr algn="l">
                <a:lnSpc>
                  <a:spcPts val="5400"/>
                </a:lnSpc>
              </a:pPr>
              <a:r>
                <a:rPr lang="en-US" sz="4500" b="true">
                  <a:solidFill>
                    <a:srgbClr val="F5F8FC"/>
                  </a:solidFill>
                  <a:latin typeface="Aptos Bold"/>
                  <a:ea typeface="Aptos Bold"/>
                  <a:cs typeface="Aptos Bold"/>
                  <a:sym typeface="Aptos Bold"/>
                </a:rPr>
                <a:t>MANAGEMENT</a:t>
              </a:r>
            </a:p>
          </p:txBody>
        </p:sp>
      </p:grpSp>
      <p:sp>
        <p:nvSpPr>
          <p:cNvPr name="AutoShape 23" id="23"/>
          <p:cNvSpPr/>
          <p:nvPr/>
        </p:nvSpPr>
        <p:spPr>
          <a:xfrm rot="12660">
            <a:off x="2765260" y="4900803"/>
            <a:ext cx="10325167" cy="0"/>
          </a:xfrm>
          <a:prstGeom prst="line">
            <a:avLst/>
          </a:prstGeom>
          <a:ln cap="rnd" w="19050">
            <a:solidFill>
              <a:srgbClr val="46D6F5"/>
            </a:solidFill>
            <a:prstDash val="solid"/>
            <a:headEnd type="none" len="sm" w="sm"/>
            <a:tailEnd type="none" len="sm" w="sm"/>
          </a:ln>
        </p:spPr>
      </p:sp>
      <p:grpSp>
        <p:nvGrpSpPr>
          <p:cNvPr name="Group 24" id="24"/>
          <p:cNvGrpSpPr/>
          <p:nvPr/>
        </p:nvGrpSpPr>
        <p:grpSpPr>
          <a:xfrm rot="0">
            <a:off x="2784348" y="5239512"/>
            <a:ext cx="13167360" cy="1111997"/>
            <a:chOff x="0" y="0"/>
            <a:chExt cx="17556480" cy="1482663"/>
          </a:xfrm>
        </p:grpSpPr>
        <p:sp>
          <p:nvSpPr>
            <p:cNvPr name="Freeform 25" id="25"/>
            <p:cNvSpPr/>
            <p:nvPr/>
          </p:nvSpPr>
          <p:spPr>
            <a:xfrm flipH="false" flipV="false" rot="0">
              <a:off x="0" y="0"/>
              <a:ext cx="17556480" cy="1482663"/>
            </a:xfrm>
            <a:custGeom>
              <a:avLst/>
              <a:gdLst/>
              <a:ahLst/>
              <a:cxnLst/>
              <a:rect r="r" b="b" t="t" l="l"/>
              <a:pathLst>
                <a:path h="1482663" w="17556480">
                  <a:moveTo>
                    <a:pt x="0" y="0"/>
                  </a:moveTo>
                  <a:lnTo>
                    <a:pt x="17556480" y="0"/>
                  </a:lnTo>
                  <a:lnTo>
                    <a:pt x="17556480" y="1482663"/>
                  </a:lnTo>
                  <a:lnTo>
                    <a:pt x="0" y="1482663"/>
                  </a:lnTo>
                  <a:close/>
                </a:path>
              </a:pathLst>
            </a:custGeom>
            <a:blipFill>
              <a:blip r:embed="rId3">
                <a:alphaModFix amt="0"/>
              </a:blip>
              <a:stretch>
                <a:fillRect l="0" t="-186321" r="0" b="-175130"/>
              </a:stretch>
            </a:blipFill>
          </p:spPr>
        </p:sp>
        <p:sp>
          <p:nvSpPr>
            <p:cNvPr name="TextBox 26" id="26"/>
            <p:cNvSpPr txBox="true"/>
            <p:nvPr/>
          </p:nvSpPr>
          <p:spPr>
            <a:xfrm>
              <a:off x="0" y="0"/>
              <a:ext cx="17556480" cy="1482663"/>
            </a:xfrm>
            <a:prstGeom prst="rect">
              <a:avLst/>
            </a:prstGeom>
          </p:spPr>
          <p:txBody>
            <a:bodyPr anchor="ctr" rtlCol="false" tIns="0" lIns="0" bIns="0" rIns="0"/>
            <a:lstStyle/>
            <a:p>
              <a:pPr algn="l">
                <a:lnSpc>
                  <a:spcPts val="2700"/>
                </a:lnSpc>
              </a:pPr>
              <a:r>
                <a:rPr lang="en-US" sz="2250">
                  <a:solidFill>
                    <a:srgbClr val="DDE7F0"/>
                  </a:solidFill>
                  <a:latin typeface="Aptos"/>
                  <a:ea typeface="Aptos"/>
                  <a:cs typeface="Aptos"/>
                  <a:sym typeface="Aptos"/>
                </a:rPr>
                <a:t>An IoT system for monitoring temperature, humidity, storage-door status, thermal exposure, and data integrity.</a:t>
              </a:r>
            </a:p>
            <a:p>
              <a:pPr algn="l">
                <a:lnSpc>
                  <a:spcPts val="2700"/>
                </a:lnSpc>
              </a:pPr>
            </a:p>
          </p:txBody>
        </p:sp>
      </p:grpSp>
      <p:grpSp>
        <p:nvGrpSpPr>
          <p:cNvPr name="Group 27" id="27"/>
          <p:cNvGrpSpPr/>
          <p:nvPr/>
        </p:nvGrpSpPr>
        <p:grpSpPr>
          <a:xfrm rot="0">
            <a:off x="2776728" y="7028688"/>
            <a:ext cx="3512820" cy="1441704"/>
            <a:chOff x="0" y="0"/>
            <a:chExt cx="4683760" cy="1922272"/>
          </a:xfrm>
        </p:grpSpPr>
        <p:sp>
          <p:nvSpPr>
            <p:cNvPr name="Freeform 28" id="28"/>
            <p:cNvSpPr/>
            <p:nvPr/>
          </p:nvSpPr>
          <p:spPr>
            <a:xfrm flipH="false" flipV="false" rot="0">
              <a:off x="0" y="0"/>
              <a:ext cx="4683760" cy="1922272"/>
            </a:xfrm>
            <a:custGeom>
              <a:avLst/>
              <a:gdLst/>
              <a:ahLst/>
              <a:cxnLst/>
              <a:rect r="r" b="b" t="t" l="l"/>
              <a:pathLst>
                <a:path h="1922272" w="4683760">
                  <a:moveTo>
                    <a:pt x="0" y="147828"/>
                  </a:moveTo>
                  <a:cubicBezTo>
                    <a:pt x="0" y="66167"/>
                    <a:pt x="66167" y="0"/>
                    <a:pt x="147828" y="0"/>
                  </a:cubicBezTo>
                  <a:lnTo>
                    <a:pt x="4535932" y="0"/>
                  </a:lnTo>
                  <a:cubicBezTo>
                    <a:pt x="4617593" y="0"/>
                    <a:pt x="4683760" y="66167"/>
                    <a:pt x="4683760" y="147828"/>
                  </a:cubicBezTo>
                  <a:lnTo>
                    <a:pt x="4683760" y="1774444"/>
                  </a:lnTo>
                  <a:cubicBezTo>
                    <a:pt x="4683760" y="1856105"/>
                    <a:pt x="4617593" y="1922272"/>
                    <a:pt x="4535932" y="1922272"/>
                  </a:cubicBezTo>
                  <a:lnTo>
                    <a:pt x="147828" y="1922272"/>
                  </a:lnTo>
                  <a:cubicBezTo>
                    <a:pt x="66167" y="1922272"/>
                    <a:pt x="0" y="1856105"/>
                    <a:pt x="0" y="1774444"/>
                  </a:cubicBezTo>
                  <a:close/>
                </a:path>
              </a:pathLst>
            </a:custGeom>
            <a:solidFill>
              <a:srgbClr val="0E1D30"/>
            </a:solidFill>
            <a:ln w="15240" cap="sq">
              <a:solidFill>
                <a:srgbClr val="1D3850"/>
              </a:solidFill>
              <a:prstDash val="solid"/>
              <a:miter/>
            </a:ln>
          </p:spPr>
        </p:sp>
      </p:grpSp>
      <p:grpSp>
        <p:nvGrpSpPr>
          <p:cNvPr name="Group 29" id="29"/>
          <p:cNvGrpSpPr/>
          <p:nvPr/>
        </p:nvGrpSpPr>
        <p:grpSpPr>
          <a:xfrm rot="0">
            <a:off x="3765423" y="7139178"/>
            <a:ext cx="2125980" cy="342900"/>
            <a:chOff x="0" y="0"/>
            <a:chExt cx="2834640" cy="457200"/>
          </a:xfrm>
        </p:grpSpPr>
        <p:sp>
          <p:nvSpPr>
            <p:cNvPr name="Freeform 30" id="30"/>
            <p:cNvSpPr/>
            <p:nvPr/>
          </p:nvSpPr>
          <p:spPr>
            <a:xfrm flipH="false" flipV="false" rot="0">
              <a:off x="0" y="0"/>
              <a:ext cx="2834640" cy="457200"/>
            </a:xfrm>
            <a:custGeom>
              <a:avLst/>
              <a:gdLst/>
              <a:ahLst/>
              <a:cxnLst/>
              <a:rect r="r" b="b" t="t" l="l"/>
              <a:pathLst>
                <a:path h="457200" w="2834640">
                  <a:moveTo>
                    <a:pt x="0" y="0"/>
                  </a:moveTo>
                  <a:lnTo>
                    <a:pt x="2834640" y="0"/>
                  </a:lnTo>
                  <a:lnTo>
                    <a:pt x="2834640" y="457200"/>
                  </a:lnTo>
                  <a:lnTo>
                    <a:pt x="0" y="457200"/>
                  </a:lnTo>
                  <a:close/>
                </a:path>
              </a:pathLst>
            </a:custGeom>
            <a:blipFill>
              <a:blip r:embed="rId3">
                <a:alphaModFix amt="0"/>
              </a:blip>
              <a:stretch>
                <a:fillRect l="0" t="-70807" r="0" b="-70807"/>
              </a:stretch>
            </a:blipFill>
          </p:spPr>
        </p:sp>
        <p:sp>
          <p:nvSpPr>
            <p:cNvPr name="TextBox 31" id="31"/>
            <p:cNvSpPr txBox="true"/>
            <p:nvPr/>
          </p:nvSpPr>
          <p:spPr>
            <a:xfrm>
              <a:off x="0" y="-9525"/>
              <a:ext cx="283464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COURSE</a:t>
              </a:r>
            </a:p>
          </p:txBody>
        </p:sp>
      </p:grpSp>
      <p:grpSp>
        <p:nvGrpSpPr>
          <p:cNvPr name="Group 32" id="32"/>
          <p:cNvGrpSpPr/>
          <p:nvPr/>
        </p:nvGrpSpPr>
        <p:grpSpPr>
          <a:xfrm rot="0">
            <a:off x="2997327" y="7444929"/>
            <a:ext cx="2894076" cy="1025463"/>
            <a:chOff x="0" y="0"/>
            <a:chExt cx="3858768" cy="1367284"/>
          </a:xfrm>
        </p:grpSpPr>
        <p:sp>
          <p:nvSpPr>
            <p:cNvPr name="Freeform 33" id="33"/>
            <p:cNvSpPr/>
            <p:nvPr/>
          </p:nvSpPr>
          <p:spPr>
            <a:xfrm flipH="false" flipV="false" rot="0">
              <a:off x="0" y="0"/>
              <a:ext cx="3858768" cy="1367284"/>
            </a:xfrm>
            <a:custGeom>
              <a:avLst/>
              <a:gdLst/>
              <a:ahLst/>
              <a:cxnLst/>
              <a:rect r="r" b="b" t="t" l="l"/>
              <a:pathLst>
                <a:path h="1367284" w="3858768">
                  <a:moveTo>
                    <a:pt x="0" y="0"/>
                  </a:moveTo>
                  <a:lnTo>
                    <a:pt x="3858768" y="0"/>
                  </a:lnTo>
                  <a:lnTo>
                    <a:pt x="3858768" y="1367284"/>
                  </a:lnTo>
                  <a:lnTo>
                    <a:pt x="0" y="1367284"/>
                  </a:lnTo>
                  <a:close/>
                </a:path>
              </a:pathLst>
            </a:custGeom>
            <a:blipFill>
              <a:blip r:embed="rId3">
                <a:alphaModFix amt="0"/>
              </a:blip>
              <a:stretch>
                <a:fillRect l="0" t="-26902" r="0" b="16920"/>
              </a:stretch>
            </a:blipFill>
          </p:spPr>
        </p:sp>
        <p:sp>
          <p:nvSpPr>
            <p:cNvPr name="TextBox 34" id="34"/>
            <p:cNvSpPr txBox="true"/>
            <p:nvPr/>
          </p:nvSpPr>
          <p:spPr>
            <a:xfrm>
              <a:off x="0" y="0"/>
              <a:ext cx="3858768" cy="1367284"/>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Internet of Things</a:t>
              </a:r>
            </a:p>
          </p:txBody>
        </p:sp>
      </p:grpSp>
      <p:grpSp>
        <p:nvGrpSpPr>
          <p:cNvPr name="Group 35" id="35"/>
          <p:cNvGrpSpPr/>
          <p:nvPr/>
        </p:nvGrpSpPr>
        <p:grpSpPr>
          <a:xfrm rot="0">
            <a:off x="6548628" y="7028688"/>
            <a:ext cx="4198620" cy="1441704"/>
            <a:chOff x="0" y="0"/>
            <a:chExt cx="5598160" cy="1922272"/>
          </a:xfrm>
        </p:grpSpPr>
        <p:sp>
          <p:nvSpPr>
            <p:cNvPr name="Freeform 36" id="36"/>
            <p:cNvSpPr/>
            <p:nvPr/>
          </p:nvSpPr>
          <p:spPr>
            <a:xfrm flipH="false" flipV="false" rot="0">
              <a:off x="0" y="0"/>
              <a:ext cx="5598160" cy="1922272"/>
            </a:xfrm>
            <a:custGeom>
              <a:avLst/>
              <a:gdLst/>
              <a:ahLst/>
              <a:cxnLst/>
              <a:rect r="r" b="b" t="t" l="l"/>
              <a:pathLst>
                <a:path h="1922272" w="5598160">
                  <a:moveTo>
                    <a:pt x="0" y="147828"/>
                  </a:moveTo>
                  <a:cubicBezTo>
                    <a:pt x="0" y="66167"/>
                    <a:pt x="66167" y="0"/>
                    <a:pt x="147828" y="0"/>
                  </a:cubicBezTo>
                  <a:lnTo>
                    <a:pt x="5450332" y="0"/>
                  </a:lnTo>
                  <a:cubicBezTo>
                    <a:pt x="5531993" y="0"/>
                    <a:pt x="5598160" y="66167"/>
                    <a:pt x="5598160" y="147828"/>
                  </a:cubicBezTo>
                  <a:lnTo>
                    <a:pt x="5598160" y="1774444"/>
                  </a:lnTo>
                  <a:cubicBezTo>
                    <a:pt x="5598160" y="1856105"/>
                    <a:pt x="5531993" y="1922272"/>
                    <a:pt x="5450332" y="1922272"/>
                  </a:cubicBezTo>
                  <a:lnTo>
                    <a:pt x="147828" y="1922272"/>
                  </a:lnTo>
                  <a:cubicBezTo>
                    <a:pt x="66167" y="1922272"/>
                    <a:pt x="0" y="1856105"/>
                    <a:pt x="0" y="1774444"/>
                  </a:cubicBezTo>
                  <a:close/>
                </a:path>
              </a:pathLst>
            </a:custGeom>
            <a:solidFill>
              <a:srgbClr val="0E1D30"/>
            </a:solidFill>
            <a:ln w="15240" cap="sq">
              <a:solidFill>
                <a:srgbClr val="1D3850"/>
              </a:solidFill>
              <a:prstDash val="solid"/>
              <a:miter/>
            </a:ln>
          </p:spPr>
        </p:sp>
      </p:grpSp>
      <p:grpSp>
        <p:nvGrpSpPr>
          <p:cNvPr name="Group 37" id="37"/>
          <p:cNvGrpSpPr/>
          <p:nvPr/>
        </p:nvGrpSpPr>
        <p:grpSpPr>
          <a:xfrm rot="0">
            <a:off x="7571261" y="7139178"/>
            <a:ext cx="2811780" cy="342900"/>
            <a:chOff x="0" y="0"/>
            <a:chExt cx="3749040" cy="457200"/>
          </a:xfrm>
        </p:grpSpPr>
        <p:sp>
          <p:nvSpPr>
            <p:cNvPr name="Freeform 38" id="38"/>
            <p:cNvSpPr/>
            <p:nvPr/>
          </p:nvSpPr>
          <p:spPr>
            <a:xfrm flipH="false" flipV="false" rot="0">
              <a:off x="0" y="0"/>
              <a:ext cx="3749040" cy="457200"/>
            </a:xfrm>
            <a:custGeom>
              <a:avLst/>
              <a:gdLst/>
              <a:ahLst/>
              <a:cxnLst/>
              <a:rect r="r" b="b" t="t" l="l"/>
              <a:pathLst>
                <a:path h="457200" w="3749040">
                  <a:moveTo>
                    <a:pt x="0" y="0"/>
                  </a:moveTo>
                  <a:lnTo>
                    <a:pt x="3749040" y="0"/>
                  </a:lnTo>
                  <a:lnTo>
                    <a:pt x="3749040" y="457200"/>
                  </a:lnTo>
                  <a:lnTo>
                    <a:pt x="0" y="457200"/>
                  </a:lnTo>
                  <a:close/>
                </a:path>
              </a:pathLst>
            </a:custGeom>
            <a:blipFill>
              <a:blip r:embed="rId3">
                <a:alphaModFix amt="0"/>
              </a:blip>
              <a:stretch>
                <a:fillRect l="0" t="-109777" r="0" b="-109777"/>
              </a:stretch>
            </a:blipFill>
          </p:spPr>
        </p:sp>
        <p:sp>
          <p:nvSpPr>
            <p:cNvPr name="TextBox 39" id="39"/>
            <p:cNvSpPr txBox="true"/>
            <p:nvPr/>
          </p:nvSpPr>
          <p:spPr>
            <a:xfrm>
              <a:off x="0" y="-9525"/>
              <a:ext cx="374904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ADVISOR</a:t>
              </a:r>
            </a:p>
          </p:txBody>
        </p:sp>
      </p:grpSp>
      <p:grpSp>
        <p:nvGrpSpPr>
          <p:cNvPr name="Group 40" id="40"/>
          <p:cNvGrpSpPr/>
          <p:nvPr/>
        </p:nvGrpSpPr>
        <p:grpSpPr>
          <a:xfrm rot="0">
            <a:off x="6678540" y="7615428"/>
            <a:ext cx="3938795" cy="633829"/>
            <a:chOff x="0" y="0"/>
            <a:chExt cx="4773168" cy="768096"/>
          </a:xfrm>
        </p:grpSpPr>
        <p:sp>
          <p:nvSpPr>
            <p:cNvPr name="Freeform 41" id="41"/>
            <p:cNvSpPr/>
            <p:nvPr/>
          </p:nvSpPr>
          <p:spPr>
            <a:xfrm flipH="false" flipV="false" rot="0">
              <a:off x="0" y="0"/>
              <a:ext cx="4773168" cy="768096"/>
            </a:xfrm>
            <a:custGeom>
              <a:avLst/>
              <a:gdLst/>
              <a:ahLst/>
              <a:cxnLst/>
              <a:rect r="r" b="b" t="t" l="l"/>
              <a:pathLst>
                <a:path h="768096" w="4773168">
                  <a:moveTo>
                    <a:pt x="0" y="0"/>
                  </a:moveTo>
                  <a:lnTo>
                    <a:pt x="4773168" y="0"/>
                  </a:lnTo>
                  <a:lnTo>
                    <a:pt x="4773168" y="768096"/>
                  </a:lnTo>
                  <a:lnTo>
                    <a:pt x="0" y="768096"/>
                  </a:lnTo>
                  <a:close/>
                </a:path>
              </a:pathLst>
            </a:custGeom>
            <a:blipFill>
              <a:blip r:embed="rId3">
                <a:alphaModFix amt="0"/>
              </a:blip>
              <a:stretch>
                <a:fillRect l="0" t="-71085" r="0" b="-71085"/>
              </a:stretch>
            </a:blipFill>
          </p:spPr>
        </p:sp>
        <p:sp>
          <p:nvSpPr>
            <p:cNvPr name="TextBox 42" id="42"/>
            <p:cNvSpPr txBox="true"/>
            <p:nvPr/>
          </p:nvSpPr>
          <p:spPr>
            <a:xfrm>
              <a:off x="0" y="0"/>
              <a:ext cx="477316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Huynh The Thien</a:t>
              </a:r>
            </a:p>
          </p:txBody>
        </p:sp>
      </p:grpSp>
      <p:grpSp>
        <p:nvGrpSpPr>
          <p:cNvPr name="Group 43" id="43"/>
          <p:cNvGrpSpPr/>
          <p:nvPr/>
        </p:nvGrpSpPr>
        <p:grpSpPr>
          <a:xfrm rot="0">
            <a:off x="11006328" y="7028688"/>
            <a:ext cx="5158740" cy="1441704"/>
            <a:chOff x="0" y="0"/>
            <a:chExt cx="6878320" cy="1922272"/>
          </a:xfrm>
        </p:grpSpPr>
        <p:sp>
          <p:nvSpPr>
            <p:cNvPr name="Freeform 44" id="44"/>
            <p:cNvSpPr/>
            <p:nvPr/>
          </p:nvSpPr>
          <p:spPr>
            <a:xfrm flipH="false" flipV="false" rot="0">
              <a:off x="0" y="0"/>
              <a:ext cx="6878320" cy="1922272"/>
            </a:xfrm>
            <a:custGeom>
              <a:avLst/>
              <a:gdLst/>
              <a:ahLst/>
              <a:cxnLst/>
              <a:rect r="r" b="b" t="t" l="l"/>
              <a:pathLst>
                <a:path h="1922272" w="6878320">
                  <a:moveTo>
                    <a:pt x="0" y="147828"/>
                  </a:moveTo>
                  <a:cubicBezTo>
                    <a:pt x="0" y="66167"/>
                    <a:pt x="66167" y="0"/>
                    <a:pt x="147828" y="0"/>
                  </a:cubicBezTo>
                  <a:lnTo>
                    <a:pt x="6730492" y="0"/>
                  </a:lnTo>
                  <a:cubicBezTo>
                    <a:pt x="6812153" y="0"/>
                    <a:pt x="6878320" y="66167"/>
                    <a:pt x="6878320" y="147828"/>
                  </a:cubicBezTo>
                  <a:lnTo>
                    <a:pt x="6878320" y="1774444"/>
                  </a:lnTo>
                  <a:cubicBezTo>
                    <a:pt x="6878320" y="1856105"/>
                    <a:pt x="6812153" y="1922272"/>
                    <a:pt x="6730492" y="1922272"/>
                  </a:cubicBezTo>
                  <a:lnTo>
                    <a:pt x="147828" y="1922272"/>
                  </a:lnTo>
                  <a:cubicBezTo>
                    <a:pt x="66167" y="1922272"/>
                    <a:pt x="0" y="1856105"/>
                    <a:pt x="0" y="1774444"/>
                  </a:cubicBezTo>
                  <a:close/>
                </a:path>
              </a:pathLst>
            </a:custGeom>
            <a:solidFill>
              <a:srgbClr val="0E1D30"/>
            </a:solidFill>
            <a:ln w="15240" cap="sq">
              <a:solidFill>
                <a:srgbClr val="1D3850"/>
              </a:solidFill>
              <a:prstDash val="solid"/>
              <a:miter/>
            </a:ln>
          </p:spPr>
        </p:sp>
      </p:grpSp>
      <p:grpSp>
        <p:nvGrpSpPr>
          <p:cNvPr name="Group 45" id="45"/>
          <p:cNvGrpSpPr/>
          <p:nvPr/>
        </p:nvGrpSpPr>
        <p:grpSpPr>
          <a:xfrm rot="0">
            <a:off x="11908324" y="7054215"/>
            <a:ext cx="3771900" cy="342900"/>
            <a:chOff x="0" y="0"/>
            <a:chExt cx="5029200" cy="457200"/>
          </a:xfrm>
        </p:grpSpPr>
        <p:sp>
          <p:nvSpPr>
            <p:cNvPr name="Freeform 46" id="46"/>
            <p:cNvSpPr/>
            <p:nvPr/>
          </p:nvSpPr>
          <p:spPr>
            <a:xfrm flipH="false" flipV="false" rot="0">
              <a:off x="0" y="0"/>
              <a:ext cx="5029200" cy="457200"/>
            </a:xfrm>
            <a:custGeom>
              <a:avLst/>
              <a:gdLst/>
              <a:ahLst/>
              <a:cxnLst/>
              <a:rect r="r" b="b" t="t" l="l"/>
              <a:pathLst>
                <a:path h="457200" w="5029200">
                  <a:moveTo>
                    <a:pt x="0" y="0"/>
                  </a:moveTo>
                  <a:lnTo>
                    <a:pt x="5029200" y="0"/>
                  </a:lnTo>
                  <a:lnTo>
                    <a:pt x="5029200" y="457200"/>
                  </a:lnTo>
                  <a:lnTo>
                    <a:pt x="0" y="457200"/>
                  </a:lnTo>
                  <a:close/>
                </a:path>
              </a:pathLst>
            </a:custGeom>
            <a:blipFill>
              <a:blip r:embed="rId3">
                <a:alphaModFix amt="0"/>
              </a:blip>
              <a:stretch>
                <a:fillRect l="0" t="-164335" r="0" b="-164335"/>
              </a:stretch>
            </a:blipFill>
          </p:spPr>
        </p:sp>
        <p:sp>
          <p:nvSpPr>
            <p:cNvPr name="TextBox 47" id="47"/>
            <p:cNvSpPr txBox="true"/>
            <p:nvPr/>
          </p:nvSpPr>
          <p:spPr>
            <a:xfrm>
              <a:off x="0" y="-9525"/>
              <a:ext cx="502920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GROUP 07</a:t>
              </a:r>
            </a:p>
          </p:txBody>
        </p:sp>
      </p:grpSp>
      <p:sp>
        <p:nvSpPr>
          <p:cNvPr name="TextBox 48" id="48"/>
          <p:cNvSpPr txBox="true"/>
          <p:nvPr/>
        </p:nvSpPr>
        <p:spPr>
          <a:xfrm rot="0">
            <a:off x="11318748" y="7420298"/>
            <a:ext cx="4539996" cy="119062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TRẦN VẠN PHƯỚC    •24161126</a:t>
            </a:r>
          </a:p>
          <a:p>
            <a:pPr algn="l">
              <a:lnSpc>
                <a:spcPts val="1889"/>
              </a:lnSpc>
            </a:pPr>
            <a:r>
              <a:rPr lang="en-US" sz="1575">
                <a:solidFill>
                  <a:srgbClr val="F5F8FC"/>
                </a:solidFill>
                <a:latin typeface="Aptos"/>
                <a:ea typeface="Aptos"/>
                <a:cs typeface="Aptos"/>
                <a:sym typeface="Aptos"/>
              </a:rPr>
              <a:t>LƯƠNG THẾ QUỐC  •24161127</a:t>
            </a:r>
          </a:p>
          <a:p>
            <a:pPr algn="l">
              <a:lnSpc>
                <a:spcPts val="1889"/>
              </a:lnSpc>
            </a:pPr>
            <a:r>
              <a:rPr lang="en-US" sz="1575">
                <a:solidFill>
                  <a:srgbClr val="F5F8FC"/>
                </a:solidFill>
                <a:latin typeface="Aptos"/>
                <a:ea typeface="Aptos"/>
                <a:cs typeface="Aptos"/>
                <a:sym typeface="Aptos"/>
              </a:rPr>
              <a:t>NGUYỄN VĂN QUÝ   •24161128</a:t>
            </a:r>
          </a:p>
          <a:p>
            <a:pPr algn="l">
              <a:lnSpc>
                <a:spcPts val="1889"/>
              </a:lnSpc>
            </a:pPr>
            <a:r>
              <a:rPr lang="en-US" sz="1575">
                <a:solidFill>
                  <a:srgbClr val="F5F8FC"/>
                </a:solidFill>
                <a:latin typeface="Aptos"/>
                <a:ea typeface="Aptos"/>
                <a:cs typeface="Aptos"/>
                <a:sym typeface="Aptos"/>
              </a:rPr>
              <a:t>TRỊNH NGỌC TÍN      •24161140</a:t>
            </a:r>
          </a:p>
          <a:p>
            <a:pPr algn="l">
              <a:lnSpc>
                <a:spcPts val="1889"/>
              </a:lnSpc>
            </a:pPr>
          </a:p>
        </p:txBody>
      </p:sp>
      <p:sp>
        <p:nvSpPr>
          <p:cNvPr name="TextBox 49" id="49"/>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46D6F5"/>
            </a:solidFill>
            <a:ln w="19050" cap="sq">
              <a:solidFill>
                <a:srgbClr val="46D6F5"/>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01</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OPENING &amp; PROBLEM</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Project structure and main chapters.</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From physical sensing to intelligent decisions.</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787908" y="3009900"/>
            <a:ext cx="7874508" cy="1222248"/>
            <a:chOff x="0" y="0"/>
            <a:chExt cx="10499344" cy="1629664"/>
          </a:xfrm>
        </p:grpSpPr>
        <p:sp>
          <p:nvSpPr>
            <p:cNvPr name="Freeform 23" id="23"/>
            <p:cNvSpPr/>
            <p:nvPr/>
          </p:nvSpPr>
          <p:spPr>
            <a:xfrm flipH="false" flipV="false" rot="0">
              <a:off x="0" y="0"/>
              <a:ext cx="10499344" cy="1629664"/>
            </a:xfrm>
            <a:custGeom>
              <a:avLst/>
              <a:gdLst/>
              <a:ahLst/>
              <a:cxnLst/>
              <a:rect r="r" b="b" t="t" l="l"/>
              <a:pathLst>
                <a:path h="1629664" w="10499344">
                  <a:moveTo>
                    <a:pt x="0" y="148209"/>
                  </a:moveTo>
                  <a:cubicBezTo>
                    <a:pt x="0" y="66294"/>
                    <a:pt x="66294" y="0"/>
                    <a:pt x="148209" y="0"/>
                  </a:cubicBezTo>
                  <a:lnTo>
                    <a:pt x="10351135" y="0"/>
                  </a:lnTo>
                  <a:cubicBezTo>
                    <a:pt x="10432923" y="0"/>
                    <a:pt x="10499344" y="66294"/>
                    <a:pt x="10499344" y="148209"/>
                  </a:cubicBezTo>
                  <a:lnTo>
                    <a:pt x="10499344" y="1481455"/>
                  </a:lnTo>
                  <a:cubicBezTo>
                    <a:pt x="10499344" y="1563243"/>
                    <a:pt x="10433050" y="1629664"/>
                    <a:pt x="10351135" y="1629664"/>
                  </a:cubicBezTo>
                  <a:lnTo>
                    <a:pt x="148209" y="1629664"/>
                  </a:lnTo>
                  <a:cubicBezTo>
                    <a:pt x="66294" y="1629664"/>
                    <a:pt x="0" y="1563370"/>
                    <a:pt x="0" y="1481455"/>
                  </a:cubicBezTo>
                  <a:close/>
                </a:path>
              </a:pathLst>
            </a:custGeom>
            <a:solidFill>
              <a:srgbClr val="0B1A2C"/>
            </a:solidFill>
            <a:ln w="15240" cap="sq">
              <a:solidFill>
                <a:srgbClr val="1D3850"/>
              </a:solidFill>
              <a:prstDash val="solid"/>
              <a:miter/>
            </a:ln>
          </p:spPr>
        </p:sp>
      </p:grpSp>
      <p:grpSp>
        <p:nvGrpSpPr>
          <p:cNvPr name="Group 24" id="24"/>
          <p:cNvGrpSpPr/>
          <p:nvPr/>
        </p:nvGrpSpPr>
        <p:grpSpPr>
          <a:xfrm rot="0">
            <a:off x="1865376" y="3291840"/>
            <a:ext cx="6487668" cy="342900"/>
            <a:chOff x="0" y="0"/>
            <a:chExt cx="8650224" cy="457200"/>
          </a:xfrm>
        </p:grpSpPr>
        <p:sp>
          <p:nvSpPr>
            <p:cNvPr name="Freeform 25" id="25"/>
            <p:cNvSpPr/>
            <p:nvPr/>
          </p:nvSpPr>
          <p:spPr>
            <a:xfrm flipH="false" flipV="false" rot="0">
              <a:off x="0" y="0"/>
              <a:ext cx="8650224" cy="457200"/>
            </a:xfrm>
            <a:custGeom>
              <a:avLst/>
              <a:gdLst/>
              <a:ahLst/>
              <a:cxnLst/>
              <a:rect r="r" b="b" t="t" l="l"/>
              <a:pathLst>
                <a:path h="457200" w="8650224">
                  <a:moveTo>
                    <a:pt x="0" y="0"/>
                  </a:moveTo>
                  <a:lnTo>
                    <a:pt x="8650224" y="0"/>
                  </a:lnTo>
                  <a:lnTo>
                    <a:pt x="8650224" y="457200"/>
                  </a:lnTo>
                  <a:lnTo>
                    <a:pt x="0" y="457200"/>
                  </a:lnTo>
                  <a:close/>
                </a:path>
              </a:pathLst>
            </a:custGeom>
            <a:blipFill>
              <a:blip r:embed="rId3">
                <a:alphaModFix amt="0"/>
              </a:blip>
              <a:stretch>
                <a:fillRect l="0" t="-318656" r="0" b="-318656"/>
              </a:stretch>
            </a:blipFill>
          </p:spPr>
        </p:sp>
        <p:sp>
          <p:nvSpPr>
            <p:cNvPr name="TextBox 26" id="26"/>
            <p:cNvSpPr txBox="true"/>
            <p:nvPr/>
          </p:nvSpPr>
          <p:spPr>
            <a:xfrm>
              <a:off x="0" y="-9525"/>
              <a:ext cx="865022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01</a:t>
              </a:r>
            </a:p>
          </p:txBody>
        </p:sp>
      </p:grpSp>
      <p:sp>
        <p:nvSpPr>
          <p:cNvPr name="TextBox 27" id="27"/>
          <p:cNvSpPr txBox="true"/>
          <p:nvPr/>
        </p:nvSpPr>
        <p:spPr>
          <a:xfrm rot="0">
            <a:off x="1097280" y="3867912"/>
            <a:ext cx="1404223" cy="23812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INTRODUCTION</a:t>
            </a:r>
          </a:p>
        </p:txBody>
      </p:sp>
      <p:grpSp>
        <p:nvGrpSpPr>
          <p:cNvPr name="Group 28" id="28"/>
          <p:cNvGrpSpPr/>
          <p:nvPr/>
        </p:nvGrpSpPr>
        <p:grpSpPr>
          <a:xfrm rot="0">
            <a:off x="1097280" y="3374136"/>
            <a:ext cx="685800" cy="301752"/>
            <a:chOff x="0" y="0"/>
            <a:chExt cx="914400" cy="402336"/>
          </a:xfrm>
        </p:grpSpPr>
        <p:sp>
          <p:nvSpPr>
            <p:cNvPr name="Freeform 29" id="29"/>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30" id="30"/>
            <p:cNvSpPr txBox="true"/>
            <p:nvPr/>
          </p:nvSpPr>
          <p:spPr>
            <a:xfrm>
              <a:off x="0" y="0"/>
              <a:ext cx="914400" cy="402336"/>
            </a:xfrm>
            <a:prstGeom prst="rect">
              <a:avLst/>
            </a:prstGeom>
          </p:spPr>
          <p:txBody>
            <a:bodyPr anchor="ctr" rtlCol="false" tIns="0" lIns="0" bIns="0" rIns="0"/>
            <a:lstStyle/>
            <a:p>
              <a:pPr algn="ctr">
                <a:lnSpc>
                  <a:spcPts val="2160"/>
                </a:lnSpc>
              </a:pPr>
              <a:r>
                <a:rPr lang="en-US" sz="1800" b="true">
                  <a:solidFill>
                    <a:srgbClr val="46D6F5"/>
                  </a:solidFill>
                  <a:latin typeface="Aptos Bold"/>
                  <a:ea typeface="Aptos Bold"/>
                  <a:cs typeface="Aptos Bold"/>
                  <a:sym typeface="Aptos Bold"/>
                </a:rPr>
                <a:t>01</a:t>
              </a:r>
            </a:p>
          </p:txBody>
        </p:sp>
      </p:grpSp>
      <p:grpSp>
        <p:nvGrpSpPr>
          <p:cNvPr name="Group 31" id="31"/>
          <p:cNvGrpSpPr/>
          <p:nvPr/>
        </p:nvGrpSpPr>
        <p:grpSpPr>
          <a:xfrm rot="0">
            <a:off x="9264396" y="3009900"/>
            <a:ext cx="7874508" cy="1222248"/>
            <a:chOff x="0" y="0"/>
            <a:chExt cx="10499344" cy="1629664"/>
          </a:xfrm>
        </p:grpSpPr>
        <p:sp>
          <p:nvSpPr>
            <p:cNvPr name="Freeform 32" id="32"/>
            <p:cNvSpPr/>
            <p:nvPr/>
          </p:nvSpPr>
          <p:spPr>
            <a:xfrm flipH="false" flipV="false" rot="0">
              <a:off x="0" y="0"/>
              <a:ext cx="10499344" cy="1629664"/>
            </a:xfrm>
            <a:custGeom>
              <a:avLst/>
              <a:gdLst/>
              <a:ahLst/>
              <a:cxnLst/>
              <a:rect r="r" b="b" t="t" l="l"/>
              <a:pathLst>
                <a:path h="1629664" w="10499344">
                  <a:moveTo>
                    <a:pt x="0" y="148209"/>
                  </a:moveTo>
                  <a:cubicBezTo>
                    <a:pt x="0" y="66294"/>
                    <a:pt x="66294" y="0"/>
                    <a:pt x="148209" y="0"/>
                  </a:cubicBezTo>
                  <a:lnTo>
                    <a:pt x="10351135" y="0"/>
                  </a:lnTo>
                  <a:cubicBezTo>
                    <a:pt x="10432923" y="0"/>
                    <a:pt x="10499344" y="66294"/>
                    <a:pt x="10499344" y="148209"/>
                  </a:cubicBezTo>
                  <a:lnTo>
                    <a:pt x="10499344" y="1481455"/>
                  </a:lnTo>
                  <a:cubicBezTo>
                    <a:pt x="10499344" y="1563243"/>
                    <a:pt x="10433050" y="1629664"/>
                    <a:pt x="10351135" y="1629664"/>
                  </a:cubicBezTo>
                  <a:lnTo>
                    <a:pt x="148209" y="1629664"/>
                  </a:lnTo>
                  <a:cubicBezTo>
                    <a:pt x="66294" y="1629664"/>
                    <a:pt x="0" y="1563370"/>
                    <a:pt x="0" y="1481455"/>
                  </a:cubicBezTo>
                  <a:close/>
                </a:path>
              </a:pathLst>
            </a:custGeom>
            <a:solidFill>
              <a:srgbClr val="0B1A2C"/>
            </a:solidFill>
            <a:ln w="15240" cap="sq">
              <a:solidFill>
                <a:srgbClr val="1D3850"/>
              </a:solidFill>
              <a:prstDash val="solid"/>
              <a:miter/>
            </a:ln>
          </p:spPr>
        </p:sp>
      </p:grpSp>
      <p:grpSp>
        <p:nvGrpSpPr>
          <p:cNvPr name="Group 33" id="33"/>
          <p:cNvGrpSpPr/>
          <p:nvPr/>
        </p:nvGrpSpPr>
        <p:grpSpPr>
          <a:xfrm rot="0">
            <a:off x="10341864" y="3291840"/>
            <a:ext cx="6487668" cy="342900"/>
            <a:chOff x="0" y="0"/>
            <a:chExt cx="8650224" cy="457200"/>
          </a:xfrm>
        </p:grpSpPr>
        <p:sp>
          <p:nvSpPr>
            <p:cNvPr name="Freeform 34" id="34"/>
            <p:cNvSpPr/>
            <p:nvPr/>
          </p:nvSpPr>
          <p:spPr>
            <a:xfrm flipH="false" flipV="false" rot="0">
              <a:off x="0" y="0"/>
              <a:ext cx="8650224" cy="457200"/>
            </a:xfrm>
            <a:custGeom>
              <a:avLst/>
              <a:gdLst/>
              <a:ahLst/>
              <a:cxnLst/>
              <a:rect r="r" b="b" t="t" l="l"/>
              <a:pathLst>
                <a:path h="457200" w="8650224">
                  <a:moveTo>
                    <a:pt x="0" y="0"/>
                  </a:moveTo>
                  <a:lnTo>
                    <a:pt x="8650224" y="0"/>
                  </a:lnTo>
                  <a:lnTo>
                    <a:pt x="8650224" y="457200"/>
                  </a:lnTo>
                  <a:lnTo>
                    <a:pt x="0" y="457200"/>
                  </a:lnTo>
                  <a:close/>
                </a:path>
              </a:pathLst>
            </a:custGeom>
            <a:blipFill>
              <a:blip r:embed="rId3">
                <a:alphaModFix amt="0"/>
              </a:blip>
              <a:stretch>
                <a:fillRect l="0" t="-318656" r="0" b="-318656"/>
              </a:stretch>
            </a:blipFill>
          </p:spPr>
        </p:sp>
        <p:sp>
          <p:nvSpPr>
            <p:cNvPr name="TextBox 35" id="35"/>
            <p:cNvSpPr txBox="true"/>
            <p:nvPr/>
          </p:nvSpPr>
          <p:spPr>
            <a:xfrm>
              <a:off x="0" y="-9525"/>
              <a:ext cx="865022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02</a:t>
              </a:r>
            </a:p>
          </p:txBody>
        </p:sp>
      </p:grpSp>
      <p:sp>
        <p:nvSpPr>
          <p:cNvPr name="TextBox 36" id="36"/>
          <p:cNvSpPr txBox="true"/>
          <p:nvPr/>
        </p:nvSpPr>
        <p:spPr>
          <a:xfrm rot="0">
            <a:off x="9573768" y="3867912"/>
            <a:ext cx="3449003" cy="47625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Chapter 1: Overview &amp; Problem Analysis</a:t>
            </a:r>
          </a:p>
          <a:p>
            <a:pPr algn="l">
              <a:lnSpc>
                <a:spcPts val="1889"/>
              </a:lnSpc>
            </a:pPr>
          </a:p>
        </p:txBody>
      </p:sp>
      <p:grpSp>
        <p:nvGrpSpPr>
          <p:cNvPr name="Group 37" id="37"/>
          <p:cNvGrpSpPr/>
          <p:nvPr/>
        </p:nvGrpSpPr>
        <p:grpSpPr>
          <a:xfrm rot="0">
            <a:off x="9573768" y="3374136"/>
            <a:ext cx="685800" cy="301752"/>
            <a:chOff x="0" y="0"/>
            <a:chExt cx="914400" cy="402336"/>
          </a:xfrm>
        </p:grpSpPr>
        <p:sp>
          <p:nvSpPr>
            <p:cNvPr name="Freeform 38" id="38"/>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39" id="39"/>
            <p:cNvSpPr txBox="true"/>
            <p:nvPr/>
          </p:nvSpPr>
          <p:spPr>
            <a:xfrm>
              <a:off x="0" y="0"/>
              <a:ext cx="914400" cy="402336"/>
            </a:xfrm>
            <a:prstGeom prst="rect">
              <a:avLst/>
            </a:prstGeom>
          </p:spPr>
          <p:txBody>
            <a:bodyPr anchor="ctr" rtlCol="false" tIns="0" lIns="0" bIns="0" rIns="0"/>
            <a:lstStyle/>
            <a:p>
              <a:pPr algn="ctr">
                <a:lnSpc>
                  <a:spcPts val="2160"/>
                </a:lnSpc>
              </a:pPr>
              <a:r>
                <a:rPr lang="en-US" sz="1800" b="true">
                  <a:solidFill>
                    <a:srgbClr val="76E2A1"/>
                  </a:solidFill>
                  <a:latin typeface="Aptos Bold"/>
                  <a:ea typeface="Aptos Bold"/>
                  <a:cs typeface="Aptos Bold"/>
                  <a:sym typeface="Aptos Bold"/>
                </a:rPr>
                <a:t>02</a:t>
              </a:r>
            </a:p>
          </p:txBody>
        </p:sp>
      </p:grpSp>
      <p:grpSp>
        <p:nvGrpSpPr>
          <p:cNvPr name="Group 40" id="40"/>
          <p:cNvGrpSpPr/>
          <p:nvPr/>
        </p:nvGrpSpPr>
        <p:grpSpPr>
          <a:xfrm rot="0">
            <a:off x="787908" y="4559808"/>
            <a:ext cx="7874508" cy="1222248"/>
            <a:chOff x="0" y="0"/>
            <a:chExt cx="10499344" cy="1629664"/>
          </a:xfrm>
        </p:grpSpPr>
        <p:sp>
          <p:nvSpPr>
            <p:cNvPr name="Freeform 41" id="41"/>
            <p:cNvSpPr/>
            <p:nvPr/>
          </p:nvSpPr>
          <p:spPr>
            <a:xfrm flipH="false" flipV="false" rot="0">
              <a:off x="0" y="0"/>
              <a:ext cx="10499344" cy="1629664"/>
            </a:xfrm>
            <a:custGeom>
              <a:avLst/>
              <a:gdLst/>
              <a:ahLst/>
              <a:cxnLst/>
              <a:rect r="r" b="b" t="t" l="l"/>
              <a:pathLst>
                <a:path h="1629664" w="10499344">
                  <a:moveTo>
                    <a:pt x="0" y="148209"/>
                  </a:moveTo>
                  <a:cubicBezTo>
                    <a:pt x="0" y="66294"/>
                    <a:pt x="66294" y="0"/>
                    <a:pt x="148209" y="0"/>
                  </a:cubicBezTo>
                  <a:lnTo>
                    <a:pt x="10351135" y="0"/>
                  </a:lnTo>
                  <a:cubicBezTo>
                    <a:pt x="10432923" y="0"/>
                    <a:pt x="10499344" y="66294"/>
                    <a:pt x="10499344" y="148209"/>
                  </a:cubicBezTo>
                  <a:lnTo>
                    <a:pt x="10499344" y="1481455"/>
                  </a:lnTo>
                  <a:cubicBezTo>
                    <a:pt x="10499344" y="1563243"/>
                    <a:pt x="10433050" y="1629664"/>
                    <a:pt x="10351135" y="1629664"/>
                  </a:cubicBezTo>
                  <a:lnTo>
                    <a:pt x="148209" y="1629664"/>
                  </a:lnTo>
                  <a:cubicBezTo>
                    <a:pt x="66294" y="1629664"/>
                    <a:pt x="0" y="1563370"/>
                    <a:pt x="0" y="1481455"/>
                  </a:cubicBezTo>
                  <a:close/>
                </a:path>
              </a:pathLst>
            </a:custGeom>
            <a:solidFill>
              <a:srgbClr val="0B1A2C"/>
            </a:solidFill>
            <a:ln w="15240" cap="sq">
              <a:solidFill>
                <a:srgbClr val="1D3850"/>
              </a:solidFill>
              <a:prstDash val="solid"/>
              <a:miter/>
            </a:ln>
          </p:spPr>
        </p:sp>
      </p:grpSp>
      <p:grpSp>
        <p:nvGrpSpPr>
          <p:cNvPr name="Group 42" id="42"/>
          <p:cNvGrpSpPr/>
          <p:nvPr/>
        </p:nvGrpSpPr>
        <p:grpSpPr>
          <a:xfrm rot="0">
            <a:off x="1865376" y="4841748"/>
            <a:ext cx="6487668" cy="342900"/>
            <a:chOff x="0" y="0"/>
            <a:chExt cx="8650224" cy="457200"/>
          </a:xfrm>
        </p:grpSpPr>
        <p:sp>
          <p:nvSpPr>
            <p:cNvPr name="Freeform 43" id="43"/>
            <p:cNvSpPr/>
            <p:nvPr/>
          </p:nvSpPr>
          <p:spPr>
            <a:xfrm flipH="false" flipV="false" rot="0">
              <a:off x="0" y="0"/>
              <a:ext cx="8650224" cy="457200"/>
            </a:xfrm>
            <a:custGeom>
              <a:avLst/>
              <a:gdLst/>
              <a:ahLst/>
              <a:cxnLst/>
              <a:rect r="r" b="b" t="t" l="l"/>
              <a:pathLst>
                <a:path h="457200" w="8650224">
                  <a:moveTo>
                    <a:pt x="0" y="0"/>
                  </a:moveTo>
                  <a:lnTo>
                    <a:pt x="8650224" y="0"/>
                  </a:lnTo>
                  <a:lnTo>
                    <a:pt x="8650224" y="457200"/>
                  </a:lnTo>
                  <a:lnTo>
                    <a:pt x="0" y="457200"/>
                  </a:lnTo>
                  <a:close/>
                </a:path>
              </a:pathLst>
            </a:custGeom>
            <a:blipFill>
              <a:blip r:embed="rId3">
                <a:alphaModFix amt="0"/>
              </a:blip>
              <a:stretch>
                <a:fillRect l="0" t="-318656" r="0" b="-318656"/>
              </a:stretch>
            </a:blipFill>
          </p:spPr>
        </p:sp>
        <p:sp>
          <p:nvSpPr>
            <p:cNvPr name="TextBox 44" id="44"/>
            <p:cNvSpPr txBox="true"/>
            <p:nvPr/>
          </p:nvSpPr>
          <p:spPr>
            <a:xfrm>
              <a:off x="0" y="-9525"/>
              <a:ext cx="865022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03</a:t>
              </a:r>
            </a:p>
          </p:txBody>
        </p:sp>
      </p:grpSp>
      <p:sp>
        <p:nvSpPr>
          <p:cNvPr name="TextBox 45" id="45"/>
          <p:cNvSpPr txBox="true"/>
          <p:nvPr/>
        </p:nvSpPr>
        <p:spPr>
          <a:xfrm rot="0">
            <a:off x="1097280" y="5417820"/>
            <a:ext cx="4343043" cy="47625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Chapter 2:</a:t>
            </a:r>
            <a:r>
              <a:rPr lang="en-US" sz="1575">
                <a:solidFill>
                  <a:srgbClr val="F5F8FC"/>
                </a:solidFill>
                <a:latin typeface="Aptos"/>
                <a:ea typeface="Aptos"/>
                <a:cs typeface="Aptos"/>
                <a:sym typeface="Aptos"/>
              </a:rPr>
              <a:t> Theoretical Basis &amp; Hardware Selection</a:t>
            </a:r>
          </a:p>
          <a:p>
            <a:pPr algn="l">
              <a:lnSpc>
                <a:spcPts val="1889"/>
              </a:lnSpc>
            </a:pPr>
          </a:p>
        </p:txBody>
      </p:sp>
      <p:grpSp>
        <p:nvGrpSpPr>
          <p:cNvPr name="Group 46" id="46"/>
          <p:cNvGrpSpPr/>
          <p:nvPr/>
        </p:nvGrpSpPr>
        <p:grpSpPr>
          <a:xfrm rot="0">
            <a:off x="1097280" y="4924044"/>
            <a:ext cx="685800" cy="301752"/>
            <a:chOff x="0" y="0"/>
            <a:chExt cx="914400" cy="402336"/>
          </a:xfrm>
        </p:grpSpPr>
        <p:sp>
          <p:nvSpPr>
            <p:cNvPr name="Freeform 47" id="47"/>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48" id="48"/>
            <p:cNvSpPr txBox="true"/>
            <p:nvPr/>
          </p:nvSpPr>
          <p:spPr>
            <a:xfrm>
              <a:off x="0" y="0"/>
              <a:ext cx="914400" cy="402336"/>
            </a:xfrm>
            <a:prstGeom prst="rect">
              <a:avLst/>
            </a:prstGeom>
          </p:spPr>
          <p:txBody>
            <a:bodyPr anchor="ctr" rtlCol="false" tIns="0" lIns="0" bIns="0" rIns="0"/>
            <a:lstStyle/>
            <a:p>
              <a:pPr algn="ctr">
                <a:lnSpc>
                  <a:spcPts val="2160"/>
                </a:lnSpc>
              </a:pPr>
              <a:r>
                <a:rPr lang="en-US" sz="1800" b="true">
                  <a:solidFill>
                    <a:srgbClr val="68A8FF"/>
                  </a:solidFill>
                  <a:latin typeface="Aptos Bold"/>
                  <a:ea typeface="Aptos Bold"/>
                  <a:cs typeface="Aptos Bold"/>
                  <a:sym typeface="Aptos Bold"/>
                </a:rPr>
                <a:t>03</a:t>
              </a:r>
            </a:p>
          </p:txBody>
        </p:sp>
      </p:grpSp>
      <p:grpSp>
        <p:nvGrpSpPr>
          <p:cNvPr name="Group 49" id="49"/>
          <p:cNvGrpSpPr/>
          <p:nvPr/>
        </p:nvGrpSpPr>
        <p:grpSpPr>
          <a:xfrm rot="0">
            <a:off x="9264396" y="4559808"/>
            <a:ext cx="7874508" cy="1222248"/>
            <a:chOff x="0" y="0"/>
            <a:chExt cx="10499344" cy="1629664"/>
          </a:xfrm>
        </p:grpSpPr>
        <p:sp>
          <p:nvSpPr>
            <p:cNvPr name="Freeform 50" id="50"/>
            <p:cNvSpPr/>
            <p:nvPr/>
          </p:nvSpPr>
          <p:spPr>
            <a:xfrm flipH="false" flipV="false" rot="0">
              <a:off x="0" y="0"/>
              <a:ext cx="10499344" cy="1629664"/>
            </a:xfrm>
            <a:custGeom>
              <a:avLst/>
              <a:gdLst/>
              <a:ahLst/>
              <a:cxnLst/>
              <a:rect r="r" b="b" t="t" l="l"/>
              <a:pathLst>
                <a:path h="1629664" w="10499344">
                  <a:moveTo>
                    <a:pt x="0" y="148209"/>
                  </a:moveTo>
                  <a:cubicBezTo>
                    <a:pt x="0" y="66294"/>
                    <a:pt x="66294" y="0"/>
                    <a:pt x="148209" y="0"/>
                  </a:cubicBezTo>
                  <a:lnTo>
                    <a:pt x="10351135" y="0"/>
                  </a:lnTo>
                  <a:cubicBezTo>
                    <a:pt x="10432923" y="0"/>
                    <a:pt x="10499344" y="66294"/>
                    <a:pt x="10499344" y="148209"/>
                  </a:cubicBezTo>
                  <a:lnTo>
                    <a:pt x="10499344" y="1481455"/>
                  </a:lnTo>
                  <a:cubicBezTo>
                    <a:pt x="10499344" y="1563243"/>
                    <a:pt x="10433050" y="1629664"/>
                    <a:pt x="10351135" y="1629664"/>
                  </a:cubicBezTo>
                  <a:lnTo>
                    <a:pt x="148209" y="1629664"/>
                  </a:lnTo>
                  <a:cubicBezTo>
                    <a:pt x="66294" y="1629664"/>
                    <a:pt x="0" y="1563370"/>
                    <a:pt x="0" y="1481455"/>
                  </a:cubicBezTo>
                  <a:close/>
                </a:path>
              </a:pathLst>
            </a:custGeom>
            <a:solidFill>
              <a:srgbClr val="0B1A2C"/>
            </a:solidFill>
            <a:ln w="15240" cap="sq">
              <a:solidFill>
                <a:srgbClr val="1D3850"/>
              </a:solidFill>
              <a:prstDash val="solid"/>
              <a:miter/>
            </a:ln>
          </p:spPr>
        </p:sp>
      </p:grpSp>
      <p:grpSp>
        <p:nvGrpSpPr>
          <p:cNvPr name="Group 51" id="51"/>
          <p:cNvGrpSpPr/>
          <p:nvPr/>
        </p:nvGrpSpPr>
        <p:grpSpPr>
          <a:xfrm rot="0">
            <a:off x="10341864" y="4841748"/>
            <a:ext cx="6487668" cy="342900"/>
            <a:chOff x="0" y="0"/>
            <a:chExt cx="8650224" cy="457200"/>
          </a:xfrm>
        </p:grpSpPr>
        <p:sp>
          <p:nvSpPr>
            <p:cNvPr name="Freeform 52" id="52"/>
            <p:cNvSpPr/>
            <p:nvPr/>
          </p:nvSpPr>
          <p:spPr>
            <a:xfrm flipH="false" flipV="false" rot="0">
              <a:off x="0" y="0"/>
              <a:ext cx="8650224" cy="457200"/>
            </a:xfrm>
            <a:custGeom>
              <a:avLst/>
              <a:gdLst/>
              <a:ahLst/>
              <a:cxnLst/>
              <a:rect r="r" b="b" t="t" l="l"/>
              <a:pathLst>
                <a:path h="457200" w="8650224">
                  <a:moveTo>
                    <a:pt x="0" y="0"/>
                  </a:moveTo>
                  <a:lnTo>
                    <a:pt x="8650224" y="0"/>
                  </a:lnTo>
                  <a:lnTo>
                    <a:pt x="8650224" y="457200"/>
                  </a:lnTo>
                  <a:lnTo>
                    <a:pt x="0" y="457200"/>
                  </a:lnTo>
                  <a:close/>
                </a:path>
              </a:pathLst>
            </a:custGeom>
            <a:blipFill>
              <a:blip r:embed="rId3">
                <a:alphaModFix amt="0"/>
              </a:blip>
              <a:stretch>
                <a:fillRect l="0" t="-318656" r="0" b="-318656"/>
              </a:stretch>
            </a:blipFill>
          </p:spPr>
        </p:sp>
        <p:sp>
          <p:nvSpPr>
            <p:cNvPr name="TextBox 53" id="53"/>
            <p:cNvSpPr txBox="true"/>
            <p:nvPr/>
          </p:nvSpPr>
          <p:spPr>
            <a:xfrm>
              <a:off x="0" y="-9525"/>
              <a:ext cx="865022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04</a:t>
              </a:r>
            </a:p>
          </p:txBody>
        </p:sp>
      </p:grpSp>
      <p:sp>
        <p:nvSpPr>
          <p:cNvPr name="TextBox 54" id="54"/>
          <p:cNvSpPr txBox="true"/>
          <p:nvPr/>
        </p:nvSpPr>
        <p:spPr>
          <a:xfrm rot="0">
            <a:off x="9573768" y="5417820"/>
            <a:ext cx="3338512" cy="47625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C</a:t>
            </a:r>
            <a:r>
              <a:rPr lang="en-US" sz="1575">
                <a:solidFill>
                  <a:srgbClr val="F5F8FC"/>
                </a:solidFill>
                <a:latin typeface="Aptos"/>
                <a:ea typeface="Aptos"/>
                <a:cs typeface="Aptos"/>
                <a:sym typeface="Aptos"/>
              </a:rPr>
              <a:t>hapter 3: System Architecture Design</a:t>
            </a:r>
          </a:p>
          <a:p>
            <a:pPr algn="l">
              <a:lnSpc>
                <a:spcPts val="1889"/>
              </a:lnSpc>
            </a:pPr>
          </a:p>
        </p:txBody>
      </p:sp>
      <p:grpSp>
        <p:nvGrpSpPr>
          <p:cNvPr name="Group 55" id="55"/>
          <p:cNvGrpSpPr/>
          <p:nvPr/>
        </p:nvGrpSpPr>
        <p:grpSpPr>
          <a:xfrm rot="0">
            <a:off x="9573768" y="4924044"/>
            <a:ext cx="685800" cy="301752"/>
            <a:chOff x="0" y="0"/>
            <a:chExt cx="914400" cy="402336"/>
          </a:xfrm>
        </p:grpSpPr>
        <p:sp>
          <p:nvSpPr>
            <p:cNvPr name="Freeform 56" id="56"/>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57" id="57"/>
            <p:cNvSpPr txBox="true"/>
            <p:nvPr/>
          </p:nvSpPr>
          <p:spPr>
            <a:xfrm>
              <a:off x="0" y="0"/>
              <a:ext cx="914400" cy="402336"/>
            </a:xfrm>
            <a:prstGeom prst="rect">
              <a:avLst/>
            </a:prstGeom>
          </p:spPr>
          <p:txBody>
            <a:bodyPr anchor="ctr" rtlCol="false" tIns="0" lIns="0" bIns="0" rIns="0"/>
            <a:lstStyle/>
            <a:p>
              <a:pPr algn="ctr">
                <a:lnSpc>
                  <a:spcPts val="2160"/>
                </a:lnSpc>
              </a:pPr>
              <a:r>
                <a:rPr lang="en-US" sz="1800" b="true">
                  <a:solidFill>
                    <a:srgbClr val="F6C85F"/>
                  </a:solidFill>
                  <a:latin typeface="Aptos Bold"/>
                  <a:ea typeface="Aptos Bold"/>
                  <a:cs typeface="Aptos Bold"/>
                  <a:sym typeface="Aptos Bold"/>
                </a:rPr>
                <a:t>04</a:t>
              </a:r>
            </a:p>
          </p:txBody>
        </p:sp>
      </p:grpSp>
      <p:grpSp>
        <p:nvGrpSpPr>
          <p:cNvPr name="Group 58" id="58"/>
          <p:cNvGrpSpPr/>
          <p:nvPr/>
        </p:nvGrpSpPr>
        <p:grpSpPr>
          <a:xfrm rot="0">
            <a:off x="787908" y="6109716"/>
            <a:ext cx="7874508" cy="1222248"/>
            <a:chOff x="0" y="0"/>
            <a:chExt cx="10499344" cy="1629664"/>
          </a:xfrm>
        </p:grpSpPr>
        <p:sp>
          <p:nvSpPr>
            <p:cNvPr name="Freeform 59" id="59"/>
            <p:cNvSpPr/>
            <p:nvPr/>
          </p:nvSpPr>
          <p:spPr>
            <a:xfrm flipH="false" flipV="false" rot="0">
              <a:off x="0" y="0"/>
              <a:ext cx="10499344" cy="1629664"/>
            </a:xfrm>
            <a:custGeom>
              <a:avLst/>
              <a:gdLst/>
              <a:ahLst/>
              <a:cxnLst/>
              <a:rect r="r" b="b" t="t" l="l"/>
              <a:pathLst>
                <a:path h="1629664" w="10499344">
                  <a:moveTo>
                    <a:pt x="0" y="148209"/>
                  </a:moveTo>
                  <a:cubicBezTo>
                    <a:pt x="0" y="66294"/>
                    <a:pt x="66294" y="0"/>
                    <a:pt x="148209" y="0"/>
                  </a:cubicBezTo>
                  <a:lnTo>
                    <a:pt x="10351135" y="0"/>
                  </a:lnTo>
                  <a:cubicBezTo>
                    <a:pt x="10432923" y="0"/>
                    <a:pt x="10499344" y="66294"/>
                    <a:pt x="10499344" y="148209"/>
                  </a:cubicBezTo>
                  <a:lnTo>
                    <a:pt x="10499344" y="1481455"/>
                  </a:lnTo>
                  <a:cubicBezTo>
                    <a:pt x="10499344" y="1563243"/>
                    <a:pt x="10433050" y="1629664"/>
                    <a:pt x="10351135" y="1629664"/>
                  </a:cubicBezTo>
                  <a:lnTo>
                    <a:pt x="148209" y="1629664"/>
                  </a:lnTo>
                  <a:cubicBezTo>
                    <a:pt x="66294" y="1629664"/>
                    <a:pt x="0" y="1563370"/>
                    <a:pt x="0" y="1481455"/>
                  </a:cubicBezTo>
                  <a:close/>
                </a:path>
              </a:pathLst>
            </a:custGeom>
            <a:solidFill>
              <a:srgbClr val="0B1A2C"/>
            </a:solidFill>
            <a:ln w="15240" cap="sq">
              <a:solidFill>
                <a:srgbClr val="1D3850"/>
              </a:solidFill>
              <a:prstDash val="solid"/>
              <a:miter/>
            </a:ln>
          </p:spPr>
        </p:sp>
      </p:grpSp>
      <p:grpSp>
        <p:nvGrpSpPr>
          <p:cNvPr name="Group 60" id="60"/>
          <p:cNvGrpSpPr/>
          <p:nvPr/>
        </p:nvGrpSpPr>
        <p:grpSpPr>
          <a:xfrm rot="0">
            <a:off x="1865376" y="6391656"/>
            <a:ext cx="6487668" cy="342900"/>
            <a:chOff x="0" y="0"/>
            <a:chExt cx="8650224" cy="457200"/>
          </a:xfrm>
        </p:grpSpPr>
        <p:sp>
          <p:nvSpPr>
            <p:cNvPr name="Freeform 61" id="61"/>
            <p:cNvSpPr/>
            <p:nvPr/>
          </p:nvSpPr>
          <p:spPr>
            <a:xfrm flipH="false" flipV="false" rot="0">
              <a:off x="0" y="0"/>
              <a:ext cx="8650224" cy="457200"/>
            </a:xfrm>
            <a:custGeom>
              <a:avLst/>
              <a:gdLst/>
              <a:ahLst/>
              <a:cxnLst/>
              <a:rect r="r" b="b" t="t" l="l"/>
              <a:pathLst>
                <a:path h="457200" w="8650224">
                  <a:moveTo>
                    <a:pt x="0" y="0"/>
                  </a:moveTo>
                  <a:lnTo>
                    <a:pt x="8650224" y="0"/>
                  </a:lnTo>
                  <a:lnTo>
                    <a:pt x="8650224" y="457200"/>
                  </a:lnTo>
                  <a:lnTo>
                    <a:pt x="0" y="457200"/>
                  </a:lnTo>
                  <a:close/>
                </a:path>
              </a:pathLst>
            </a:custGeom>
            <a:blipFill>
              <a:blip r:embed="rId3">
                <a:alphaModFix amt="0"/>
              </a:blip>
              <a:stretch>
                <a:fillRect l="0" t="-318656" r="0" b="-318656"/>
              </a:stretch>
            </a:blipFill>
          </p:spPr>
        </p:sp>
        <p:sp>
          <p:nvSpPr>
            <p:cNvPr name="TextBox 62" id="62"/>
            <p:cNvSpPr txBox="true"/>
            <p:nvPr/>
          </p:nvSpPr>
          <p:spPr>
            <a:xfrm>
              <a:off x="0" y="-9525"/>
              <a:ext cx="865022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05</a:t>
              </a:r>
            </a:p>
          </p:txBody>
        </p:sp>
      </p:grpSp>
      <p:sp>
        <p:nvSpPr>
          <p:cNvPr name="TextBox 63" id="63"/>
          <p:cNvSpPr txBox="true"/>
          <p:nvPr/>
        </p:nvSpPr>
        <p:spPr>
          <a:xfrm rot="0">
            <a:off x="1097280" y="6967728"/>
            <a:ext cx="4142304" cy="23812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Ch</a:t>
            </a:r>
            <a:r>
              <a:rPr lang="en-US" sz="1575">
                <a:solidFill>
                  <a:srgbClr val="F5F8FC"/>
                </a:solidFill>
                <a:latin typeface="Aptos"/>
                <a:ea typeface="Aptos"/>
                <a:cs typeface="Aptos"/>
                <a:sym typeface="Aptos"/>
              </a:rPr>
              <a:t>apter 4: Hardware &amp; Software Design – ESP32</a:t>
            </a:r>
          </a:p>
        </p:txBody>
      </p:sp>
      <p:grpSp>
        <p:nvGrpSpPr>
          <p:cNvPr name="Group 64" id="64"/>
          <p:cNvGrpSpPr/>
          <p:nvPr/>
        </p:nvGrpSpPr>
        <p:grpSpPr>
          <a:xfrm rot="0">
            <a:off x="1097280" y="6473952"/>
            <a:ext cx="685800" cy="301752"/>
            <a:chOff x="0" y="0"/>
            <a:chExt cx="914400" cy="402336"/>
          </a:xfrm>
        </p:grpSpPr>
        <p:sp>
          <p:nvSpPr>
            <p:cNvPr name="Freeform 65" id="6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66" id="66"/>
            <p:cNvSpPr txBox="true"/>
            <p:nvPr/>
          </p:nvSpPr>
          <p:spPr>
            <a:xfrm>
              <a:off x="0" y="0"/>
              <a:ext cx="914400" cy="402336"/>
            </a:xfrm>
            <a:prstGeom prst="rect">
              <a:avLst/>
            </a:prstGeom>
          </p:spPr>
          <p:txBody>
            <a:bodyPr anchor="ctr" rtlCol="false" tIns="0" lIns="0" bIns="0" rIns="0"/>
            <a:lstStyle/>
            <a:p>
              <a:pPr algn="ctr">
                <a:lnSpc>
                  <a:spcPts val="2160"/>
                </a:lnSpc>
              </a:pPr>
              <a:r>
                <a:rPr lang="en-US" sz="1800" b="true">
                  <a:solidFill>
                    <a:srgbClr val="46D6F5"/>
                  </a:solidFill>
                  <a:latin typeface="Aptos Bold"/>
                  <a:ea typeface="Aptos Bold"/>
                  <a:cs typeface="Aptos Bold"/>
                  <a:sym typeface="Aptos Bold"/>
                </a:rPr>
                <a:t>05</a:t>
              </a:r>
            </a:p>
          </p:txBody>
        </p:sp>
      </p:grpSp>
      <p:grpSp>
        <p:nvGrpSpPr>
          <p:cNvPr name="Group 67" id="67"/>
          <p:cNvGrpSpPr/>
          <p:nvPr/>
        </p:nvGrpSpPr>
        <p:grpSpPr>
          <a:xfrm rot="0">
            <a:off x="9264396" y="6109716"/>
            <a:ext cx="7874508" cy="1222248"/>
            <a:chOff x="0" y="0"/>
            <a:chExt cx="10499344" cy="1629664"/>
          </a:xfrm>
        </p:grpSpPr>
        <p:sp>
          <p:nvSpPr>
            <p:cNvPr name="Freeform 68" id="68"/>
            <p:cNvSpPr/>
            <p:nvPr/>
          </p:nvSpPr>
          <p:spPr>
            <a:xfrm flipH="false" flipV="false" rot="0">
              <a:off x="0" y="0"/>
              <a:ext cx="10499344" cy="1629664"/>
            </a:xfrm>
            <a:custGeom>
              <a:avLst/>
              <a:gdLst/>
              <a:ahLst/>
              <a:cxnLst/>
              <a:rect r="r" b="b" t="t" l="l"/>
              <a:pathLst>
                <a:path h="1629664" w="10499344">
                  <a:moveTo>
                    <a:pt x="0" y="148209"/>
                  </a:moveTo>
                  <a:cubicBezTo>
                    <a:pt x="0" y="66294"/>
                    <a:pt x="66294" y="0"/>
                    <a:pt x="148209" y="0"/>
                  </a:cubicBezTo>
                  <a:lnTo>
                    <a:pt x="10351135" y="0"/>
                  </a:lnTo>
                  <a:cubicBezTo>
                    <a:pt x="10432923" y="0"/>
                    <a:pt x="10499344" y="66294"/>
                    <a:pt x="10499344" y="148209"/>
                  </a:cubicBezTo>
                  <a:lnTo>
                    <a:pt x="10499344" y="1481455"/>
                  </a:lnTo>
                  <a:cubicBezTo>
                    <a:pt x="10499344" y="1563243"/>
                    <a:pt x="10433050" y="1629664"/>
                    <a:pt x="10351135" y="1629664"/>
                  </a:cubicBezTo>
                  <a:lnTo>
                    <a:pt x="148209" y="1629664"/>
                  </a:lnTo>
                  <a:cubicBezTo>
                    <a:pt x="66294" y="1629664"/>
                    <a:pt x="0" y="1563370"/>
                    <a:pt x="0" y="1481455"/>
                  </a:cubicBezTo>
                  <a:close/>
                </a:path>
              </a:pathLst>
            </a:custGeom>
            <a:solidFill>
              <a:srgbClr val="0B1A2C"/>
            </a:solidFill>
            <a:ln w="15240" cap="sq">
              <a:solidFill>
                <a:srgbClr val="1D3850"/>
              </a:solidFill>
              <a:prstDash val="solid"/>
              <a:miter/>
            </a:ln>
          </p:spPr>
        </p:sp>
      </p:grpSp>
      <p:grpSp>
        <p:nvGrpSpPr>
          <p:cNvPr name="Group 69" id="69"/>
          <p:cNvGrpSpPr/>
          <p:nvPr/>
        </p:nvGrpSpPr>
        <p:grpSpPr>
          <a:xfrm rot="0">
            <a:off x="10341864" y="6391656"/>
            <a:ext cx="6487668" cy="342900"/>
            <a:chOff x="0" y="0"/>
            <a:chExt cx="8650224" cy="457200"/>
          </a:xfrm>
        </p:grpSpPr>
        <p:sp>
          <p:nvSpPr>
            <p:cNvPr name="Freeform 70" id="70"/>
            <p:cNvSpPr/>
            <p:nvPr/>
          </p:nvSpPr>
          <p:spPr>
            <a:xfrm flipH="false" flipV="false" rot="0">
              <a:off x="0" y="0"/>
              <a:ext cx="8650224" cy="457200"/>
            </a:xfrm>
            <a:custGeom>
              <a:avLst/>
              <a:gdLst/>
              <a:ahLst/>
              <a:cxnLst/>
              <a:rect r="r" b="b" t="t" l="l"/>
              <a:pathLst>
                <a:path h="457200" w="8650224">
                  <a:moveTo>
                    <a:pt x="0" y="0"/>
                  </a:moveTo>
                  <a:lnTo>
                    <a:pt x="8650224" y="0"/>
                  </a:lnTo>
                  <a:lnTo>
                    <a:pt x="8650224" y="457200"/>
                  </a:lnTo>
                  <a:lnTo>
                    <a:pt x="0" y="457200"/>
                  </a:lnTo>
                  <a:close/>
                </a:path>
              </a:pathLst>
            </a:custGeom>
            <a:blipFill>
              <a:blip r:embed="rId3">
                <a:alphaModFix amt="0"/>
              </a:blip>
              <a:stretch>
                <a:fillRect l="0" t="-318656" r="0" b="-318656"/>
              </a:stretch>
            </a:blipFill>
          </p:spPr>
        </p:sp>
        <p:sp>
          <p:nvSpPr>
            <p:cNvPr name="TextBox 71" id="71"/>
            <p:cNvSpPr txBox="true"/>
            <p:nvPr/>
          </p:nvSpPr>
          <p:spPr>
            <a:xfrm>
              <a:off x="0" y="-9525"/>
              <a:ext cx="865022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06</a:t>
              </a:r>
            </a:p>
          </p:txBody>
        </p:sp>
      </p:grpSp>
      <p:sp>
        <p:nvSpPr>
          <p:cNvPr name="TextBox 72" id="72"/>
          <p:cNvSpPr txBox="true"/>
          <p:nvPr/>
        </p:nvSpPr>
        <p:spPr>
          <a:xfrm rot="0">
            <a:off x="9573768" y="6967728"/>
            <a:ext cx="4580096" cy="47625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Chapte</a:t>
            </a:r>
            <a:r>
              <a:rPr lang="en-US" sz="1575">
                <a:solidFill>
                  <a:srgbClr val="F5F8FC"/>
                </a:solidFill>
                <a:latin typeface="Aptos"/>
                <a:ea typeface="Aptos"/>
                <a:cs typeface="Aptos"/>
                <a:sym typeface="Aptos"/>
              </a:rPr>
              <a:t>r 5: Backend, Database &amp; API Communication</a:t>
            </a:r>
          </a:p>
          <a:p>
            <a:pPr algn="l">
              <a:lnSpc>
                <a:spcPts val="1889"/>
              </a:lnSpc>
            </a:pPr>
          </a:p>
        </p:txBody>
      </p:sp>
      <p:grpSp>
        <p:nvGrpSpPr>
          <p:cNvPr name="Group 73" id="73"/>
          <p:cNvGrpSpPr/>
          <p:nvPr/>
        </p:nvGrpSpPr>
        <p:grpSpPr>
          <a:xfrm rot="0">
            <a:off x="9573768" y="6473952"/>
            <a:ext cx="685800" cy="301752"/>
            <a:chOff x="0" y="0"/>
            <a:chExt cx="914400" cy="402336"/>
          </a:xfrm>
        </p:grpSpPr>
        <p:sp>
          <p:nvSpPr>
            <p:cNvPr name="Freeform 74" id="74"/>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75" id="75"/>
            <p:cNvSpPr txBox="true"/>
            <p:nvPr/>
          </p:nvSpPr>
          <p:spPr>
            <a:xfrm>
              <a:off x="0" y="0"/>
              <a:ext cx="914400" cy="402336"/>
            </a:xfrm>
            <a:prstGeom prst="rect">
              <a:avLst/>
            </a:prstGeom>
          </p:spPr>
          <p:txBody>
            <a:bodyPr anchor="ctr" rtlCol="false" tIns="0" lIns="0" bIns="0" rIns="0"/>
            <a:lstStyle/>
            <a:p>
              <a:pPr algn="ctr">
                <a:lnSpc>
                  <a:spcPts val="2160"/>
                </a:lnSpc>
              </a:pPr>
              <a:r>
                <a:rPr lang="en-US" sz="1800" b="true">
                  <a:solidFill>
                    <a:srgbClr val="76E2A1"/>
                  </a:solidFill>
                  <a:latin typeface="Aptos Bold"/>
                  <a:ea typeface="Aptos Bold"/>
                  <a:cs typeface="Aptos Bold"/>
                  <a:sym typeface="Aptos Bold"/>
                </a:rPr>
                <a:t>06</a:t>
              </a:r>
            </a:p>
          </p:txBody>
        </p:sp>
      </p:grpSp>
      <p:grpSp>
        <p:nvGrpSpPr>
          <p:cNvPr name="Group 76" id="76"/>
          <p:cNvGrpSpPr/>
          <p:nvPr/>
        </p:nvGrpSpPr>
        <p:grpSpPr>
          <a:xfrm rot="0">
            <a:off x="787908" y="7659624"/>
            <a:ext cx="7874508" cy="1222248"/>
            <a:chOff x="0" y="0"/>
            <a:chExt cx="10499344" cy="1629664"/>
          </a:xfrm>
        </p:grpSpPr>
        <p:sp>
          <p:nvSpPr>
            <p:cNvPr name="Freeform 77" id="77"/>
            <p:cNvSpPr/>
            <p:nvPr/>
          </p:nvSpPr>
          <p:spPr>
            <a:xfrm flipH="false" flipV="false" rot="0">
              <a:off x="0" y="0"/>
              <a:ext cx="10499344" cy="1629664"/>
            </a:xfrm>
            <a:custGeom>
              <a:avLst/>
              <a:gdLst/>
              <a:ahLst/>
              <a:cxnLst/>
              <a:rect r="r" b="b" t="t" l="l"/>
              <a:pathLst>
                <a:path h="1629664" w="10499344">
                  <a:moveTo>
                    <a:pt x="0" y="148209"/>
                  </a:moveTo>
                  <a:cubicBezTo>
                    <a:pt x="0" y="66294"/>
                    <a:pt x="66294" y="0"/>
                    <a:pt x="148209" y="0"/>
                  </a:cubicBezTo>
                  <a:lnTo>
                    <a:pt x="10351135" y="0"/>
                  </a:lnTo>
                  <a:cubicBezTo>
                    <a:pt x="10432923" y="0"/>
                    <a:pt x="10499344" y="66294"/>
                    <a:pt x="10499344" y="148209"/>
                  </a:cubicBezTo>
                  <a:lnTo>
                    <a:pt x="10499344" y="1481455"/>
                  </a:lnTo>
                  <a:cubicBezTo>
                    <a:pt x="10499344" y="1563243"/>
                    <a:pt x="10433050" y="1629664"/>
                    <a:pt x="10351135" y="1629664"/>
                  </a:cubicBezTo>
                  <a:lnTo>
                    <a:pt x="148209" y="1629664"/>
                  </a:lnTo>
                  <a:cubicBezTo>
                    <a:pt x="66294" y="1629664"/>
                    <a:pt x="0" y="1563370"/>
                    <a:pt x="0" y="1481455"/>
                  </a:cubicBezTo>
                  <a:close/>
                </a:path>
              </a:pathLst>
            </a:custGeom>
            <a:solidFill>
              <a:srgbClr val="0B1A2C"/>
            </a:solidFill>
            <a:ln w="15240" cap="sq">
              <a:solidFill>
                <a:srgbClr val="1D3850"/>
              </a:solidFill>
              <a:prstDash val="solid"/>
              <a:miter/>
            </a:ln>
          </p:spPr>
        </p:sp>
      </p:grpSp>
      <p:grpSp>
        <p:nvGrpSpPr>
          <p:cNvPr name="Group 78" id="78"/>
          <p:cNvGrpSpPr/>
          <p:nvPr/>
        </p:nvGrpSpPr>
        <p:grpSpPr>
          <a:xfrm rot="0">
            <a:off x="1865376" y="7941564"/>
            <a:ext cx="6487668" cy="342900"/>
            <a:chOff x="0" y="0"/>
            <a:chExt cx="8650224" cy="457200"/>
          </a:xfrm>
        </p:grpSpPr>
        <p:sp>
          <p:nvSpPr>
            <p:cNvPr name="Freeform 79" id="79"/>
            <p:cNvSpPr/>
            <p:nvPr/>
          </p:nvSpPr>
          <p:spPr>
            <a:xfrm flipH="false" flipV="false" rot="0">
              <a:off x="0" y="0"/>
              <a:ext cx="8650224" cy="457200"/>
            </a:xfrm>
            <a:custGeom>
              <a:avLst/>
              <a:gdLst/>
              <a:ahLst/>
              <a:cxnLst/>
              <a:rect r="r" b="b" t="t" l="l"/>
              <a:pathLst>
                <a:path h="457200" w="8650224">
                  <a:moveTo>
                    <a:pt x="0" y="0"/>
                  </a:moveTo>
                  <a:lnTo>
                    <a:pt x="8650224" y="0"/>
                  </a:lnTo>
                  <a:lnTo>
                    <a:pt x="8650224" y="457200"/>
                  </a:lnTo>
                  <a:lnTo>
                    <a:pt x="0" y="457200"/>
                  </a:lnTo>
                  <a:close/>
                </a:path>
              </a:pathLst>
            </a:custGeom>
            <a:blipFill>
              <a:blip r:embed="rId3">
                <a:alphaModFix amt="0"/>
              </a:blip>
              <a:stretch>
                <a:fillRect l="0" t="-318656" r="0" b="-318656"/>
              </a:stretch>
            </a:blipFill>
          </p:spPr>
        </p:sp>
        <p:sp>
          <p:nvSpPr>
            <p:cNvPr name="TextBox 80" id="80"/>
            <p:cNvSpPr txBox="true"/>
            <p:nvPr/>
          </p:nvSpPr>
          <p:spPr>
            <a:xfrm>
              <a:off x="0" y="-9525"/>
              <a:ext cx="865022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07</a:t>
              </a:r>
            </a:p>
          </p:txBody>
        </p:sp>
      </p:grpSp>
      <p:sp>
        <p:nvSpPr>
          <p:cNvPr name="TextBox 81" id="81"/>
          <p:cNvSpPr txBox="true"/>
          <p:nvPr/>
        </p:nvSpPr>
        <p:spPr>
          <a:xfrm rot="0">
            <a:off x="1097280" y="8517636"/>
            <a:ext cx="3774400" cy="47625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C</a:t>
            </a:r>
            <a:r>
              <a:rPr lang="en-US" sz="1575">
                <a:solidFill>
                  <a:srgbClr val="F5F8FC"/>
                </a:solidFill>
                <a:latin typeface="Aptos"/>
                <a:ea typeface="Aptos"/>
                <a:cs typeface="Aptos"/>
                <a:sym typeface="Aptos"/>
              </a:rPr>
              <a:t>hapter 6: Intelligent Monitoring Dashboard</a:t>
            </a:r>
          </a:p>
          <a:p>
            <a:pPr algn="l">
              <a:lnSpc>
                <a:spcPts val="1889"/>
              </a:lnSpc>
            </a:pPr>
          </a:p>
        </p:txBody>
      </p:sp>
      <p:grpSp>
        <p:nvGrpSpPr>
          <p:cNvPr name="Group 82" id="82"/>
          <p:cNvGrpSpPr/>
          <p:nvPr/>
        </p:nvGrpSpPr>
        <p:grpSpPr>
          <a:xfrm rot="0">
            <a:off x="1097280" y="8023860"/>
            <a:ext cx="685800" cy="301752"/>
            <a:chOff x="0" y="0"/>
            <a:chExt cx="914400" cy="402336"/>
          </a:xfrm>
        </p:grpSpPr>
        <p:sp>
          <p:nvSpPr>
            <p:cNvPr name="Freeform 83" id="83"/>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84" id="84"/>
            <p:cNvSpPr txBox="true"/>
            <p:nvPr/>
          </p:nvSpPr>
          <p:spPr>
            <a:xfrm>
              <a:off x="0" y="0"/>
              <a:ext cx="914400" cy="402336"/>
            </a:xfrm>
            <a:prstGeom prst="rect">
              <a:avLst/>
            </a:prstGeom>
          </p:spPr>
          <p:txBody>
            <a:bodyPr anchor="ctr" rtlCol="false" tIns="0" lIns="0" bIns="0" rIns="0"/>
            <a:lstStyle/>
            <a:p>
              <a:pPr algn="ctr">
                <a:lnSpc>
                  <a:spcPts val="2160"/>
                </a:lnSpc>
              </a:pPr>
              <a:r>
                <a:rPr lang="en-US" sz="1800" b="true">
                  <a:solidFill>
                    <a:srgbClr val="FF5E78"/>
                  </a:solidFill>
                  <a:latin typeface="Aptos Bold"/>
                  <a:ea typeface="Aptos Bold"/>
                  <a:cs typeface="Aptos Bold"/>
                  <a:sym typeface="Aptos Bold"/>
                </a:rPr>
                <a:t>07</a:t>
              </a:r>
            </a:p>
          </p:txBody>
        </p:sp>
      </p:grpSp>
      <p:grpSp>
        <p:nvGrpSpPr>
          <p:cNvPr name="Group 85" id="85"/>
          <p:cNvGrpSpPr/>
          <p:nvPr/>
        </p:nvGrpSpPr>
        <p:grpSpPr>
          <a:xfrm rot="0">
            <a:off x="9264396" y="7659624"/>
            <a:ext cx="7874508" cy="1222248"/>
            <a:chOff x="0" y="0"/>
            <a:chExt cx="10499344" cy="1629664"/>
          </a:xfrm>
        </p:grpSpPr>
        <p:sp>
          <p:nvSpPr>
            <p:cNvPr name="Freeform 86" id="86"/>
            <p:cNvSpPr/>
            <p:nvPr/>
          </p:nvSpPr>
          <p:spPr>
            <a:xfrm flipH="false" flipV="false" rot="0">
              <a:off x="0" y="0"/>
              <a:ext cx="10499344" cy="1629664"/>
            </a:xfrm>
            <a:custGeom>
              <a:avLst/>
              <a:gdLst/>
              <a:ahLst/>
              <a:cxnLst/>
              <a:rect r="r" b="b" t="t" l="l"/>
              <a:pathLst>
                <a:path h="1629664" w="10499344">
                  <a:moveTo>
                    <a:pt x="0" y="148209"/>
                  </a:moveTo>
                  <a:cubicBezTo>
                    <a:pt x="0" y="66294"/>
                    <a:pt x="66294" y="0"/>
                    <a:pt x="148209" y="0"/>
                  </a:cubicBezTo>
                  <a:lnTo>
                    <a:pt x="10351135" y="0"/>
                  </a:lnTo>
                  <a:cubicBezTo>
                    <a:pt x="10432923" y="0"/>
                    <a:pt x="10499344" y="66294"/>
                    <a:pt x="10499344" y="148209"/>
                  </a:cubicBezTo>
                  <a:lnTo>
                    <a:pt x="10499344" y="1481455"/>
                  </a:lnTo>
                  <a:cubicBezTo>
                    <a:pt x="10499344" y="1563243"/>
                    <a:pt x="10433050" y="1629664"/>
                    <a:pt x="10351135" y="1629664"/>
                  </a:cubicBezTo>
                  <a:lnTo>
                    <a:pt x="148209" y="1629664"/>
                  </a:lnTo>
                  <a:cubicBezTo>
                    <a:pt x="66294" y="1629664"/>
                    <a:pt x="0" y="1563370"/>
                    <a:pt x="0" y="1481455"/>
                  </a:cubicBezTo>
                  <a:close/>
                </a:path>
              </a:pathLst>
            </a:custGeom>
            <a:solidFill>
              <a:srgbClr val="0B1A2C"/>
            </a:solidFill>
            <a:ln w="15240" cap="sq">
              <a:solidFill>
                <a:srgbClr val="1D3850"/>
              </a:solidFill>
              <a:prstDash val="solid"/>
              <a:miter/>
            </a:ln>
          </p:spPr>
        </p:sp>
      </p:grpSp>
      <p:grpSp>
        <p:nvGrpSpPr>
          <p:cNvPr name="Group 87" id="87"/>
          <p:cNvGrpSpPr/>
          <p:nvPr/>
        </p:nvGrpSpPr>
        <p:grpSpPr>
          <a:xfrm rot="0">
            <a:off x="10341864" y="7941564"/>
            <a:ext cx="6487668" cy="342900"/>
            <a:chOff x="0" y="0"/>
            <a:chExt cx="8650224" cy="457200"/>
          </a:xfrm>
        </p:grpSpPr>
        <p:sp>
          <p:nvSpPr>
            <p:cNvPr name="Freeform 88" id="88"/>
            <p:cNvSpPr/>
            <p:nvPr/>
          </p:nvSpPr>
          <p:spPr>
            <a:xfrm flipH="false" flipV="false" rot="0">
              <a:off x="0" y="0"/>
              <a:ext cx="8650224" cy="457200"/>
            </a:xfrm>
            <a:custGeom>
              <a:avLst/>
              <a:gdLst/>
              <a:ahLst/>
              <a:cxnLst/>
              <a:rect r="r" b="b" t="t" l="l"/>
              <a:pathLst>
                <a:path h="457200" w="8650224">
                  <a:moveTo>
                    <a:pt x="0" y="0"/>
                  </a:moveTo>
                  <a:lnTo>
                    <a:pt x="8650224" y="0"/>
                  </a:lnTo>
                  <a:lnTo>
                    <a:pt x="8650224" y="457200"/>
                  </a:lnTo>
                  <a:lnTo>
                    <a:pt x="0" y="457200"/>
                  </a:lnTo>
                  <a:close/>
                </a:path>
              </a:pathLst>
            </a:custGeom>
            <a:blipFill>
              <a:blip r:embed="rId3">
                <a:alphaModFix amt="0"/>
              </a:blip>
              <a:stretch>
                <a:fillRect l="0" t="-318656" r="0" b="-318656"/>
              </a:stretch>
            </a:blipFill>
          </p:spPr>
        </p:sp>
        <p:sp>
          <p:nvSpPr>
            <p:cNvPr name="TextBox 89" id="89"/>
            <p:cNvSpPr txBox="true"/>
            <p:nvPr/>
          </p:nvSpPr>
          <p:spPr>
            <a:xfrm>
              <a:off x="0" y="-9525"/>
              <a:ext cx="865022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08</a:t>
              </a:r>
            </a:p>
          </p:txBody>
        </p:sp>
      </p:grpSp>
      <p:sp>
        <p:nvSpPr>
          <p:cNvPr name="TextBox 90" id="90"/>
          <p:cNvSpPr txBox="true"/>
          <p:nvPr/>
        </p:nvSpPr>
        <p:spPr>
          <a:xfrm rot="0">
            <a:off x="9573768" y="8517636"/>
            <a:ext cx="5339834" cy="23812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Chap</a:t>
            </a:r>
            <a:r>
              <a:rPr lang="en-US" sz="1575">
                <a:solidFill>
                  <a:srgbClr val="F5F8FC"/>
                </a:solidFill>
                <a:latin typeface="Aptos"/>
                <a:ea typeface="Aptos"/>
                <a:cs typeface="Aptos"/>
                <a:sym typeface="Aptos"/>
              </a:rPr>
              <a:t>ter 7–8: Experimental Results, Conclusion &amp; Future Work</a:t>
            </a:r>
          </a:p>
        </p:txBody>
      </p:sp>
      <p:grpSp>
        <p:nvGrpSpPr>
          <p:cNvPr name="Group 91" id="91"/>
          <p:cNvGrpSpPr/>
          <p:nvPr/>
        </p:nvGrpSpPr>
        <p:grpSpPr>
          <a:xfrm rot="0">
            <a:off x="9573768" y="8023860"/>
            <a:ext cx="685800" cy="301752"/>
            <a:chOff x="0" y="0"/>
            <a:chExt cx="914400" cy="402336"/>
          </a:xfrm>
        </p:grpSpPr>
        <p:sp>
          <p:nvSpPr>
            <p:cNvPr name="Freeform 92" id="92"/>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93" id="93"/>
            <p:cNvSpPr txBox="true"/>
            <p:nvPr/>
          </p:nvSpPr>
          <p:spPr>
            <a:xfrm>
              <a:off x="0" y="0"/>
              <a:ext cx="914400" cy="402336"/>
            </a:xfrm>
            <a:prstGeom prst="rect">
              <a:avLst/>
            </a:prstGeom>
          </p:spPr>
          <p:txBody>
            <a:bodyPr anchor="ctr" rtlCol="false" tIns="0" lIns="0" bIns="0" rIns="0"/>
            <a:lstStyle/>
            <a:p>
              <a:pPr algn="ctr">
                <a:lnSpc>
                  <a:spcPts val="2160"/>
                </a:lnSpc>
              </a:pPr>
              <a:r>
                <a:rPr lang="en-US" sz="1800" b="true">
                  <a:solidFill>
                    <a:srgbClr val="68A8FF"/>
                  </a:solidFill>
                  <a:latin typeface="Aptos Bold"/>
                  <a:ea typeface="Aptos Bold"/>
                  <a:cs typeface="Aptos Bold"/>
                  <a:sym typeface="Aptos Bold"/>
                </a:rPr>
                <a:t>08</a:t>
              </a:r>
            </a:p>
          </p:txBody>
        </p:sp>
      </p:grpSp>
      <p:sp>
        <p:nvSpPr>
          <p:cNvPr name="TextBox 94" id="94"/>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46D6F5"/>
            </a:solidFill>
            <a:ln w="19050" cap="sq">
              <a:solidFill>
                <a:srgbClr val="46D6F5"/>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01</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1</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Cold-chain context and problem statement</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Temperature and humidity must remain stable throughout storage, transportation, and distribution.</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22210" y="3212783"/>
            <a:ext cx="3203067" cy="1872615"/>
            <a:chOff x="0" y="0"/>
            <a:chExt cx="4270756" cy="2496820"/>
          </a:xfrm>
        </p:grpSpPr>
        <p:sp>
          <p:nvSpPr>
            <p:cNvPr name="Freeform 23" id="23"/>
            <p:cNvSpPr/>
            <p:nvPr/>
          </p:nvSpPr>
          <p:spPr>
            <a:xfrm flipH="false" flipV="false" rot="0">
              <a:off x="0" y="0"/>
              <a:ext cx="4270756" cy="2496820"/>
            </a:xfrm>
            <a:custGeom>
              <a:avLst/>
              <a:gdLst/>
              <a:ahLst/>
              <a:cxnLst/>
              <a:rect r="r" b="b" t="t" l="l"/>
              <a:pathLst>
                <a:path h="2496820" w="4270756">
                  <a:moveTo>
                    <a:pt x="0" y="147955"/>
                  </a:moveTo>
                  <a:cubicBezTo>
                    <a:pt x="0" y="66294"/>
                    <a:pt x="66294" y="0"/>
                    <a:pt x="147955" y="0"/>
                  </a:cubicBezTo>
                  <a:lnTo>
                    <a:pt x="4122801" y="0"/>
                  </a:lnTo>
                  <a:cubicBezTo>
                    <a:pt x="4204462" y="0"/>
                    <a:pt x="4270756" y="66294"/>
                    <a:pt x="4270756" y="147955"/>
                  </a:cubicBezTo>
                  <a:lnTo>
                    <a:pt x="4270756" y="2348865"/>
                  </a:lnTo>
                  <a:cubicBezTo>
                    <a:pt x="4270756" y="2430526"/>
                    <a:pt x="4204462" y="2496820"/>
                    <a:pt x="4122801" y="2496820"/>
                  </a:cubicBezTo>
                  <a:lnTo>
                    <a:pt x="147955" y="2496820"/>
                  </a:lnTo>
                  <a:cubicBezTo>
                    <a:pt x="66294" y="2496820"/>
                    <a:pt x="0" y="2430526"/>
                    <a:pt x="0" y="2348865"/>
                  </a:cubicBezTo>
                  <a:close/>
                </a:path>
              </a:pathLst>
            </a:custGeom>
            <a:solidFill>
              <a:srgbClr val="10253B"/>
            </a:solidFill>
            <a:ln w="20955" cap="sq">
              <a:solidFill>
                <a:srgbClr val="68A8FF"/>
              </a:solidFill>
              <a:prstDash val="solid"/>
              <a:miter/>
            </a:ln>
          </p:spPr>
        </p:sp>
      </p:grpSp>
      <p:grpSp>
        <p:nvGrpSpPr>
          <p:cNvPr name="Group 24" id="24"/>
          <p:cNvGrpSpPr/>
          <p:nvPr/>
        </p:nvGrpSpPr>
        <p:grpSpPr>
          <a:xfrm rot="0">
            <a:off x="1097280" y="3415284"/>
            <a:ext cx="2852928" cy="329184"/>
            <a:chOff x="0" y="0"/>
            <a:chExt cx="3803904" cy="438912"/>
          </a:xfrm>
        </p:grpSpPr>
        <p:sp>
          <p:nvSpPr>
            <p:cNvPr name="Freeform 25" id="25"/>
            <p:cNvSpPr/>
            <p:nvPr/>
          </p:nvSpPr>
          <p:spPr>
            <a:xfrm flipH="false" flipV="false" rot="0">
              <a:off x="0" y="0"/>
              <a:ext cx="3803904" cy="438912"/>
            </a:xfrm>
            <a:custGeom>
              <a:avLst/>
              <a:gdLst/>
              <a:ahLst/>
              <a:cxnLst/>
              <a:rect r="r" b="b" t="t" l="l"/>
              <a:pathLst>
                <a:path h="438912" w="3803904">
                  <a:moveTo>
                    <a:pt x="0" y="0"/>
                  </a:moveTo>
                  <a:lnTo>
                    <a:pt x="3803904" y="0"/>
                  </a:lnTo>
                  <a:lnTo>
                    <a:pt x="3803904" y="438912"/>
                  </a:lnTo>
                  <a:lnTo>
                    <a:pt x="0" y="438912"/>
                  </a:lnTo>
                  <a:close/>
                </a:path>
              </a:pathLst>
            </a:custGeom>
            <a:blipFill>
              <a:blip r:embed="rId3">
                <a:alphaModFix amt="0"/>
              </a:blip>
              <a:stretch>
                <a:fillRect l="0" t="-118870" r="0" b="-118870"/>
              </a:stretch>
            </a:blipFill>
          </p:spPr>
        </p:sp>
        <p:sp>
          <p:nvSpPr>
            <p:cNvPr name="TextBox 26" id="26"/>
            <p:cNvSpPr txBox="true"/>
            <p:nvPr/>
          </p:nvSpPr>
          <p:spPr>
            <a:xfrm>
              <a:off x="0" y="0"/>
              <a:ext cx="3803904"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SOURCE</a:t>
              </a:r>
            </a:p>
          </p:txBody>
        </p:sp>
      </p:grpSp>
      <p:grpSp>
        <p:nvGrpSpPr>
          <p:cNvPr name="Group 27" id="27"/>
          <p:cNvGrpSpPr/>
          <p:nvPr/>
        </p:nvGrpSpPr>
        <p:grpSpPr>
          <a:xfrm rot="0">
            <a:off x="1097280" y="3854196"/>
            <a:ext cx="2852928" cy="1110996"/>
            <a:chOff x="0" y="0"/>
            <a:chExt cx="3803904" cy="1481328"/>
          </a:xfrm>
        </p:grpSpPr>
        <p:sp>
          <p:nvSpPr>
            <p:cNvPr name="Freeform 28" id="28"/>
            <p:cNvSpPr/>
            <p:nvPr/>
          </p:nvSpPr>
          <p:spPr>
            <a:xfrm flipH="false" flipV="false" rot="0">
              <a:off x="0" y="0"/>
              <a:ext cx="3803904" cy="1481328"/>
            </a:xfrm>
            <a:custGeom>
              <a:avLst/>
              <a:gdLst/>
              <a:ahLst/>
              <a:cxnLst/>
              <a:rect r="r" b="b" t="t" l="l"/>
              <a:pathLst>
                <a:path h="1481328" w="3803904">
                  <a:moveTo>
                    <a:pt x="0" y="0"/>
                  </a:moveTo>
                  <a:lnTo>
                    <a:pt x="3803904" y="0"/>
                  </a:lnTo>
                  <a:lnTo>
                    <a:pt x="3803904" y="1481328"/>
                  </a:lnTo>
                  <a:lnTo>
                    <a:pt x="0" y="1481328"/>
                  </a:lnTo>
                  <a:close/>
                </a:path>
              </a:pathLst>
            </a:custGeom>
            <a:blipFill>
              <a:blip r:embed="rId3">
                <a:alphaModFix amt="0"/>
              </a:blip>
              <a:stretch>
                <a:fillRect l="0" t="-35" r="0" b="-35"/>
              </a:stretch>
            </a:blipFill>
          </p:spPr>
        </p:sp>
        <p:sp>
          <p:nvSpPr>
            <p:cNvPr name="TextBox 29" id="29"/>
            <p:cNvSpPr txBox="true"/>
            <p:nvPr/>
          </p:nvSpPr>
          <p:spPr>
            <a:xfrm>
              <a:off x="0" y="-9525"/>
              <a:ext cx="3803904" cy="149085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Fresh food /</a:t>
              </a:r>
            </a:p>
            <a:p>
              <a:pPr algn="ctr">
                <a:lnSpc>
                  <a:spcPts val="1530"/>
                </a:lnSpc>
              </a:pPr>
              <a:r>
                <a:rPr lang="en-US" sz="1275">
                  <a:solidFill>
                    <a:srgbClr val="9BAFC2"/>
                  </a:solidFill>
                  <a:latin typeface="Aptos"/>
                  <a:ea typeface="Aptos"/>
                  <a:cs typeface="Aptos"/>
                  <a:sym typeface="Aptos"/>
                </a:rPr>
                <a:t>pharmaceuticals /</a:t>
              </a:r>
            </a:p>
            <a:p>
              <a:pPr algn="ctr">
                <a:lnSpc>
                  <a:spcPts val="1530"/>
                </a:lnSpc>
              </a:pPr>
              <a:r>
                <a:rPr lang="en-US" sz="1275">
                  <a:solidFill>
                    <a:srgbClr val="9BAFC2"/>
                  </a:solidFill>
                  <a:latin typeface="Aptos"/>
                  <a:ea typeface="Aptos"/>
                  <a:cs typeface="Aptos"/>
                  <a:sym typeface="Aptos"/>
                </a:rPr>
                <a:t>vaccines</a:t>
              </a:r>
            </a:p>
          </p:txBody>
        </p:sp>
      </p:grpSp>
      <p:sp>
        <p:nvSpPr>
          <p:cNvPr name="AutoShape 30" id="30"/>
          <p:cNvSpPr/>
          <p:nvPr/>
        </p:nvSpPr>
        <p:spPr>
          <a:xfrm>
            <a:off x="4139753" y="4126038"/>
            <a:ext cx="1072022" cy="0"/>
          </a:xfrm>
          <a:prstGeom prst="line">
            <a:avLst/>
          </a:prstGeom>
          <a:ln cap="rnd" w="19050">
            <a:solidFill>
              <a:srgbClr val="1D3850"/>
            </a:solidFill>
            <a:prstDash val="solid"/>
            <a:headEnd type="none" len="sm" w="sm"/>
            <a:tailEnd type="triangle" len="med" w="lg"/>
          </a:ln>
        </p:spPr>
      </p:sp>
      <p:grpSp>
        <p:nvGrpSpPr>
          <p:cNvPr name="Group 31" id="31"/>
          <p:cNvGrpSpPr/>
          <p:nvPr/>
        </p:nvGrpSpPr>
        <p:grpSpPr>
          <a:xfrm rot="0">
            <a:off x="5146738" y="3212783"/>
            <a:ext cx="3203067" cy="1872615"/>
            <a:chOff x="0" y="0"/>
            <a:chExt cx="4270756" cy="2496820"/>
          </a:xfrm>
        </p:grpSpPr>
        <p:sp>
          <p:nvSpPr>
            <p:cNvPr name="Freeform 32" id="32"/>
            <p:cNvSpPr/>
            <p:nvPr/>
          </p:nvSpPr>
          <p:spPr>
            <a:xfrm flipH="false" flipV="false" rot="0">
              <a:off x="0" y="0"/>
              <a:ext cx="4270756" cy="2496820"/>
            </a:xfrm>
            <a:custGeom>
              <a:avLst/>
              <a:gdLst/>
              <a:ahLst/>
              <a:cxnLst/>
              <a:rect r="r" b="b" t="t" l="l"/>
              <a:pathLst>
                <a:path h="2496820" w="4270756">
                  <a:moveTo>
                    <a:pt x="0" y="147955"/>
                  </a:moveTo>
                  <a:cubicBezTo>
                    <a:pt x="0" y="66294"/>
                    <a:pt x="66294" y="0"/>
                    <a:pt x="147955" y="0"/>
                  </a:cubicBezTo>
                  <a:lnTo>
                    <a:pt x="4122801" y="0"/>
                  </a:lnTo>
                  <a:cubicBezTo>
                    <a:pt x="4204462" y="0"/>
                    <a:pt x="4270756" y="66294"/>
                    <a:pt x="4270756" y="147955"/>
                  </a:cubicBezTo>
                  <a:lnTo>
                    <a:pt x="4270756" y="2348865"/>
                  </a:lnTo>
                  <a:cubicBezTo>
                    <a:pt x="4270756" y="2430526"/>
                    <a:pt x="4204462" y="2496820"/>
                    <a:pt x="4122801" y="2496820"/>
                  </a:cubicBezTo>
                  <a:lnTo>
                    <a:pt x="147955" y="2496820"/>
                  </a:lnTo>
                  <a:cubicBezTo>
                    <a:pt x="66294" y="2496820"/>
                    <a:pt x="0" y="2430526"/>
                    <a:pt x="0" y="2348865"/>
                  </a:cubicBezTo>
                  <a:close/>
                </a:path>
              </a:pathLst>
            </a:custGeom>
            <a:solidFill>
              <a:srgbClr val="10253B"/>
            </a:solidFill>
            <a:ln w="20955" cap="sq">
              <a:solidFill>
                <a:srgbClr val="46D6F5"/>
              </a:solidFill>
              <a:prstDash val="solid"/>
              <a:miter/>
            </a:ln>
          </p:spPr>
        </p:sp>
      </p:grpSp>
      <p:grpSp>
        <p:nvGrpSpPr>
          <p:cNvPr name="Group 33" id="33"/>
          <p:cNvGrpSpPr/>
          <p:nvPr/>
        </p:nvGrpSpPr>
        <p:grpSpPr>
          <a:xfrm rot="0">
            <a:off x="5321808" y="3415284"/>
            <a:ext cx="2852928" cy="329184"/>
            <a:chOff x="0" y="0"/>
            <a:chExt cx="3803904" cy="438912"/>
          </a:xfrm>
        </p:grpSpPr>
        <p:sp>
          <p:nvSpPr>
            <p:cNvPr name="Freeform 34" id="34"/>
            <p:cNvSpPr/>
            <p:nvPr/>
          </p:nvSpPr>
          <p:spPr>
            <a:xfrm flipH="false" flipV="false" rot="0">
              <a:off x="0" y="0"/>
              <a:ext cx="3803904" cy="438912"/>
            </a:xfrm>
            <a:custGeom>
              <a:avLst/>
              <a:gdLst/>
              <a:ahLst/>
              <a:cxnLst/>
              <a:rect r="r" b="b" t="t" l="l"/>
              <a:pathLst>
                <a:path h="438912" w="3803904">
                  <a:moveTo>
                    <a:pt x="0" y="0"/>
                  </a:moveTo>
                  <a:lnTo>
                    <a:pt x="3803904" y="0"/>
                  </a:lnTo>
                  <a:lnTo>
                    <a:pt x="3803904" y="438912"/>
                  </a:lnTo>
                  <a:lnTo>
                    <a:pt x="0" y="438912"/>
                  </a:lnTo>
                  <a:close/>
                </a:path>
              </a:pathLst>
            </a:custGeom>
            <a:blipFill>
              <a:blip r:embed="rId3">
                <a:alphaModFix amt="0"/>
              </a:blip>
              <a:stretch>
                <a:fillRect l="0" t="-118870" r="0" b="-118870"/>
              </a:stretch>
            </a:blipFill>
          </p:spPr>
        </p:sp>
        <p:sp>
          <p:nvSpPr>
            <p:cNvPr name="TextBox 35" id="35"/>
            <p:cNvSpPr txBox="true"/>
            <p:nvPr/>
          </p:nvSpPr>
          <p:spPr>
            <a:xfrm>
              <a:off x="0" y="0"/>
              <a:ext cx="3803904"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TRANSIT</a:t>
              </a:r>
            </a:p>
          </p:txBody>
        </p:sp>
      </p:grpSp>
      <p:grpSp>
        <p:nvGrpSpPr>
          <p:cNvPr name="Group 36" id="36"/>
          <p:cNvGrpSpPr/>
          <p:nvPr/>
        </p:nvGrpSpPr>
        <p:grpSpPr>
          <a:xfrm rot="0">
            <a:off x="5321808" y="3854196"/>
            <a:ext cx="2852928" cy="1110996"/>
            <a:chOff x="0" y="0"/>
            <a:chExt cx="3803904" cy="1481328"/>
          </a:xfrm>
        </p:grpSpPr>
        <p:sp>
          <p:nvSpPr>
            <p:cNvPr name="Freeform 37" id="37"/>
            <p:cNvSpPr/>
            <p:nvPr/>
          </p:nvSpPr>
          <p:spPr>
            <a:xfrm flipH="false" flipV="false" rot="0">
              <a:off x="0" y="0"/>
              <a:ext cx="3803904" cy="1481328"/>
            </a:xfrm>
            <a:custGeom>
              <a:avLst/>
              <a:gdLst/>
              <a:ahLst/>
              <a:cxnLst/>
              <a:rect r="r" b="b" t="t" l="l"/>
              <a:pathLst>
                <a:path h="1481328" w="3803904">
                  <a:moveTo>
                    <a:pt x="0" y="0"/>
                  </a:moveTo>
                  <a:lnTo>
                    <a:pt x="3803904" y="0"/>
                  </a:lnTo>
                  <a:lnTo>
                    <a:pt x="3803904" y="1481328"/>
                  </a:lnTo>
                  <a:lnTo>
                    <a:pt x="0" y="1481328"/>
                  </a:lnTo>
                  <a:close/>
                </a:path>
              </a:pathLst>
            </a:custGeom>
            <a:blipFill>
              <a:blip r:embed="rId3">
                <a:alphaModFix amt="0"/>
              </a:blip>
              <a:stretch>
                <a:fillRect l="0" t="-35" r="0" b="-35"/>
              </a:stretch>
            </a:blipFill>
          </p:spPr>
        </p:sp>
        <p:sp>
          <p:nvSpPr>
            <p:cNvPr name="TextBox 38" id="38"/>
            <p:cNvSpPr txBox="true"/>
            <p:nvPr/>
          </p:nvSpPr>
          <p:spPr>
            <a:xfrm>
              <a:off x="0" y="-9525"/>
              <a:ext cx="3803904" cy="149085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Refrigerated</a:t>
              </a:r>
            </a:p>
            <a:p>
              <a:pPr algn="ctr">
                <a:lnSpc>
                  <a:spcPts val="1530"/>
                </a:lnSpc>
              </a:pPr>
              <a:r>
                <a:rPr lang="en-US" sz="1275">
                  <a:solidFill>
                    <a:srgbClr val="9BAFC2"/>
                  </a:solidFill>
                  <a:latin typeface="Aptos"/>
                  <a:ea typeface="Aptos"/>
                  <a:cs typeface="Aptos"/>
                  <a:sym typeface="Aptos"/>
                </a:rPr>
                <a:t>transport</a:t>
              </a:r>
            </a:p>
          </p:txBody>
        </p:sp>
      </p:grpSp>
      <p:sp>
        <p:nvSpPr>
          <p:cNvPr name="AutoShape 39" id="39"/>
          <p:cNvSpPr/>
          <p:nvPr/>
        </p:nvSpPr>
        <p:spPr>
          <a:xfrm flipV="true">
            <a:off x="8364281" y="4083288"/>
            <a:ext cx="1050854" cy="42750"/>
          </a:xfrm>
          <a:prstGeom prst="line">
            <a:avLst/>
          </a:prstGeom>
          <a:ln cap="rnd" w="19050">
            <a:solidFill>
              <a:srgbClr val="1D3850"/>
            </a:solidFill>
            <a:prstDash val="solid"/>
            <a:headEnd type="none" len="sm" w="sm"/>
            <a:tailEnd type="triangle" len="med" w="lg"/>
          </a:ln>
        </p:spPr>
      </p:sp>
      <p:grpSp>
        <p:nvGrpSpPr>
          <p:cNvPr name="Group 40" id="40"/>
          <p:cNvGrpSpPr/>
          <p:nvPr/>
        </p:nvGrpSpPr>
        <p:grpSpPr>
          <a:xfrm rot="0">
            <a:off x="9371266" y="3212783"/>
            <a:ext cx="3203067" cy="1872615"/>
            <a:chOff x="0" y="0"/>
            <a:chExt cx="4270756" cy="2496820"/>
          </a:xfrm>
        </p:grpSpPr>
        <p:sp>
          <p:nvSpPr>
            <p:cNvPr name="Freeform 41" id="41"/>
            <p:cNvSpPr/>
            <p:nvPr/>
          </p:nvSpPr>
          <p:spPr>
            <a:xfrm flipH="false" flipV="false" rot="0">
              <a:off x="0" y="0"/>
              <a:ext cx="4270756" cy="2496820"/>
            </a:xfrm>
            <a:custGeom>
              <a:avLst/>
              <a:gdLst/>
              <a:ahLst/>
              <a:cxnLst/>
              <a:rect r="r" b="b" t="t" l="l"/>
              <a:pathLst>
                <a:path h="2496820" w="4270756">
                  <a:moveTo>
                    <a:pt x="0" y="147955"/>
                  </a:moveTo>
                  <a:cubicBezTo>
                    <a:pt x="0" y="66294"/>
                    <a:pt x="66294" y="0"/>
                    <a:pt x="147955" y="0"/>
                  </a:cubicBezTo>
                  <a:lnTo>
                    <a:pt x="4122801" y="0"/>
                  </a:lnTo>
                  <a:cubicBezTo>
                    <a:pt x="4204462" y="0"/>
                    <a:pt x="4270756" y="66294"/>
                    <a:pt x="4270756" y="147955"/>
                  </a:cubicBezTo>
                  <a:lnTo>
                    <a:pt x="4270756" y="2348865"/>
                  </a:lnTo>
                  <a:cubicBezTo>
                    <a:pt x="4270756" y="2430526"/>
                    <a:pt x="4204462" y="2496820"/>
                    <a:pt x="4122801" y="2496820"/>
                  </a:cubicBezTo>
                  <a:lnTo>
                    <a:pt x="147955" y="2496820"/>
                  </a:lnTo>
                  <a:cubicBezTo>
                    <a:pt x="66294" y="2496820"/>
                    <a:pt x="0" y="2430526"/>
                    <a:pt x="0" y="2348865"/>
                  </a:cubicBezTo>
                  <a:close/>
                </a:path>
              </a:pathLst>
            </a:custGeom>
            <a:solidFill>
              <a:srgbClr val="10253B"/>
            </a:solidFill>
            <a:ln w="20955" cap="sq">
              <a:solidFill>
                <a:srgbClr val="76E2A1"/>
              </a:solidFill>
              <a:prstDash val="solid"/>
              <a:miter/>
            </a:ln>
          </p:spPr>
        </p:sp>
      </p:grpSp>
      <p:grpSp>
        <p:nvGrpSpPr>
          <p:cNvPr name="Group 42" id="42"/>
          <p:cNvGrpSpPr/>
          <p:nvPr/>
        </p:nvGrpSpPr>
        <p:grpSpPr>
          <a:xfrm rot="0">
            <a:off x="9546336" y="3415284"/>
            <a:ext cx="2852928" cy="329184"/>
            <a:chOff x="0" y="0"/>
            <a:chExt cx="3803904" cy="438912"/>
          </a:xfrm>
        </p:grpSpPr>
        <p:sp>
          <p:nvSpPr>
            <p:cNvPr name="Freeform 43" id="43"/>
            <p:cNvSpPr/>
            <p:nvPr/>
          </p:nvSpPr>
          <p:spPr>
            <a:xfrm flipH="false" flipV="false" rot="0">
              <a:off x="0" y="0"/>
              <a:ext cx="3803904" cy="438912"/>
            </a:xfrm>
            <a:custGeom>
              <a:avLst/>
              <a:gdLst/>
              <a:ahLst/>
              <a:cxnLst/>
              <a:rect r="r" b="b" t="t" l="l"/>
              <a:pathLst>
                <a:path h="438912" w="3803904">
                  <a:moveTo>
                    <a:pt x="0" y="0"/>
                  </a:moveTo>
                  <a:lnTo>
                    <a:pt x="3803904" y="0"/>
                  </a:lnTo>
                  <a:lnTo>
                    <a:pt x="3803904" y="438912"/>
                  </a:lnTo>
                  <a:lnTo>
                    <a:pt x="0" y="438912"/>
                  </a:lnTo>
                  <a:close/>
                </a:path>
              </a:pathLst>
            </a:custGeom>
            <a:blipFill>
              <a:blip r:embed="rId3">
                <a:alphaModFix amt="0"/>
              </a:blip>
              <a:stretch>
                <a:fillRect l="0" t="-118870" r="0" b="-118870"/>
              </a:stretch>
            </a:blipFill>
          </p:spPr>
        </p:sp>
        <p:sp>
          <p:nvSpPr>
            <p:cNvPr name="TextBox 44" id="44"/>
            <p:cNvSpPr txBox="true"/>
            <p:nvPr/>
          </p:nvSpPr>
          <p:spPr>
            <a:xfrm>
              <a:off x="0" y="0"/>
              <a:ext cx="3803904"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STORAGE</a:t>
              </a:r>
            </a:p>
          </p:txBody>
        </p:sp>
      </p:grpSp>
      <p:grpSp>
        <p:nvGrpSpPr>
          <p:cNvPr name="Group 45" id="45"/>
          <p:cNvGrpSpPr/>
          <p:nvPr/>
        </p:nvGrpSpPr>
        <p:grpSpPr>
          <a:xfrm rot="0">
            <a:off x="9546336" y="3854196"/>
            <a:ext cx="2852928" cy="1110996"/>
            <a:chOff x="0" y="0"/>
            <a:chExt cx="3803904" cy="1481328"/>
          </a:xfrm>
        </p:grpSpPr>
        <p:sp>
          <p:nvSpPr>
            <p:cNvPr name="Freeform 46" id="46"/>
            <p:cNvSpPr/>
            <p:nvPr/>
          </p:nvSpPr>
          <p:spPr>
            <a:xfrm flipH="false" flipV="false" rot="0">
              <a:off x="0" y="0"/>
              <a:ext cx="3803904" cy="1481328"/>
            </a:xfrm>
            <a:custGeom>
              <a:avLst/>
              <a:gdLst/>
              <a:ahLst/>
              <a:cxnLst/>
              <a:rect r="r" b="b" t="t" l="l"/>
              <a:pathLst>
                <a:path h="1481328" w="3803904">
                  <a:moveTo>
                    <a:pt x="0" y="0"/>
                  </a:moveTo>
                  <a:lnTo>
                    <a:pt x="3803904" y="0"/>
                  </a:lnTo>
                  <a:lnTo>
                    <a:pt x="3803904" y="1481328"/>
                  </a:lnTo>
                  <a:lnTo>
                    <a:pt x="0" y="1481328"/>
                  </a:lnTo>
                  <a:close/>
                </a:path>
              </a:pathLst>
            </a:custGeom>
            <a:blipFill>
              <a:blip r:embed="rId3">
                <a:alphaModFix amt="0"/>
              </a:blip>
              <a:stretch>
                <a:fillRect l="0" t="-35" r="0" b="-35"/>
              </a:stretch>
            </a:blipFill>
          </p:spPr>
        </p:sp>
        <p:sp>
          <p:nvSpPr>
            <p:cNvPr name="TextBox 47" id="47"/>
            <p:cNvSpPr txBox="true"/>
            <p:nvPr/>
          </p:nvSpPr>
          <p:spPr>
            <a:xfrm>
              <a:off x="0" y="-9525"/>
              <a:ext cx="3803904" cy="149085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Cold warehouse</a:t>
              </a:r>
            </a:p>
            <a:p>
              <a:pPr algn="ctr">
                <a:lnSpc>
                  <a:spcPts val="1530"/>
                </a:lnSpc>
              </a:pPr>
              <a:r>
                <a:rPr lang="en-US" sz="1275">
                  <a:solidFill>
                    <a:srgbClr val="9BAFC2"/>
                  </a:solidFill>
                  <a:latin typeface="Aptos"/>
                  <a:ea typeface="Aptos"/>
                  <a:cs typeface="Aptos"/>
                  <a:sym typeface="Aptos"/>
                </a:rPr>
                <a:t>2–8°C</a:t>
              </a:r>
            </a:p>
          </p:txBody>
        </p:sp>
      </p:grpSp>
      <p:sp>
        <p:nvSpPr>
          <p:cNvPr name="AutoShape 48" id="48"/>
          <p:cNvSpPr/>
          <p:nvPr/>
        </p:nvSpPr>
        <p:spPr>
          <a:xfrm>
            <a:off x="12588809" y="4126038"/>
            <a:ext cx="1093895" cy="23052"/>
          </a:xfrm>
          <a:prstGeom prst="line">
            <a:avLst/>
          </a:prstGeom>
          <a:ln cap="rnd" w="19050">
            <a:solidFill>
              <a:srgbClr val="1D3850"/>
            </a:solidFill>
            <a:prstDash val="solid"/>
            <a:headEnd type="none" len="sm" w="sm"/>
            <a:tailEnd type="triangle" len="med" w="lg"/>
          </a:ln>
        </p:spPr>
      </p:sp>
      <p:grpSp>
        <p:nvGrpSpPr>
          <p:cNvPr name="Group 49" id="49"/>
          <p:cNvGrpSpPr/>
          <p:nvPr/>
        </p:nvGrpSpPr>
        <p:grpSpPr>
          <a:xfrm rot="0">
            <a:off x="13595795" y="3212783"/>
            <a:ext cx="3203067" cy="1872615"/>
            <a:chOff x="0" y="0"/>
            <a:chExt cx="4270756" cy="2496820"/>
          </a:xfrm>
        </p:grpSpPr>
        <p:sp>
          <p:nvSpPr>
            <p:cNvPr name="Freeform 50" id="50"/>
            <p:cNvSpPr/>
            <p:nvPr/>
          </p:nvSpPr>
          <p:spPr>
            <a:xfrm flipH="false" flipV="false" rot="0">
              <a:off x="0" y="0"/>
              <a:ext cx="4270756" cy="2496820"/>
            </a:xfrm>
            <a:custGeom>
              <a:avLst/>
              <a:gdLst/>
              <a:ahLst/>
              <a:cxnLst/>
              <a:rect r="r" b="b" t="t" l="l"/>
              <a:pathLst>
                <a:path h="2496820" w="4270756">
                  <a:moveTo>
                    <a:pt x="0" y="147955"/>
                  </a:moveTo>
                  <a:cubicBezTo>
                    <a:pt x="0" y="66294"/>
                    <a:pt x="66294" y="0"/>
                    <a:pt x="147955" y="0"/>
                  </a:cubicBezTo>
                  <a:lnTo>
                    <a:pt x="4122801" y="0"/>
                  </a:lnTo>
                  <a:cubicBezTo>
                    <a:pt x="4204462" y="0"/>
                    <a:pt x="4270756" y="66294"/>
                    <a:pt x="4270756" y="147955"/>
                  </a:cubicBezTo>
                  <a:lnTo>
                    <a:pt x="4270756" y="2348865"/>
                  </a:lnTo>
                  <a:cubicBezTo>
                    <a:pt x="4270756" y="2430526"/>
                    <a:pt x="4204462" y="2496820"/>
                    <a:pt x="4122801" y="2496820"/>
                  </a:cubicBezTo>
                  <a:lnTo>
                    <a:pt x="147955" y="2496820"/>
                  </a:lnTo>
                  <a:cubicBezTo>
                    <a:pt x="66294" y="2496820"/>
                    <a:pt x="0" y="2430526"/>
                    <a:pt x="0" y="2348865"/>
                  </a:cubicBezTo>
                  <a:close/>
                </a:path>
              </a:pathLst>
            </a:custGeom>
            <a:solidFill>
              <a:srgbClr val="10253B"/>
            </a:solidFill>
            <a:ln w="20955" cap="sq">
              <a:solidFill>
                <a:srgbClr val="F6C85F"/>
              </a:solidFill>
              <a:prstDash val="solid"/>
              <a:miter/>
            </a:ln>
          </p:spPr>
        </p:sp>
      </p:grpSp>
      <p:grpSp>
        <p:nvGrpSpPr>
          <p:cNvPr name="Group 51" id="51"/>
          <p:cNvGrpSpPr/>
          <p:nvPr/>
        </p:nvGrpSpPr>
        <p:grpSpPr>
          <a:xfrm rot="0">
            <a:off x="13770864" y="3415284"/>
            <a:ext cx="2852928" cy="329184"/>
            <a:chOff x="0" y="0"/>
            <a:chExt cx="3803904" cy="438912"/>
          </a:xfrm>
        </p:grpSpPr>
        <p:sp>
          <p:nvSpPr>
            <p:cNvPr name="Freeform 52" id="52"/>
            <p:cNvSpPr/>
            <p:nvPr/>
          </p:nvSpPr>
          <p:spPr>
            <a:xfrm flipH="false" flipV="false" rot="0">
              <a:off x="0" y="0"/>
              <a:ext cx="3803904" cy="438912"/>
            </a:xfrm>
            <a:custGeom>
              <a:avLst/>
              <a:gdLst/>
              <a:ahLst/>
              <a:cxnLst/>
              <a:rect r="r" b="b" t="t" l="l"/>
              <a:pathLst>
                <a:path h="438912" w="3803904">
                  <a:moveTo>
                    <a:pt x="0" y="0"/>
                  </a:moveTo>
                  <a:lnTo>
                    <a:pt x="3803904" y="0"/>
                  </a:lnTo>
                  <a:lnTo>
                    <a:pt x="3803904" y="438912"/>
                  </a:lnTo>
                  <a:lnTo>
                    <a:pt x="0" y="438912"/>
                  </a:lnTo>
                  <a:close/>
                </a:path>
              </a:pathLst>
            </a:custGeom>
            <a:blipFill>
              <a:blip r:embed="rId3">
                <a:alphaModFix amt="0"/>
              </a:blip>
              <a:stretch>
                <a:fillRect l="0" t="-118870" r="0" b="-118870"/>
              </a:stretch>
            </a:blipFill>
          </p:spPr>
        </p:sp>
        <p:sp>
          <p:nvSpPr>
            <p:cNvPr name="TextBox 53" id="53"/>
            <p:cNvSpPr txBox="true"/>
            <p:nvPr/>
          </p:nvSpPr>
          <p:spPr>
            <a:xfrm>
              <a:off x="0" y="0"/>
              <a:ext cx="3803904"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DELIVERY</a:t>
              </a:r>
            </a:p>
          </p:txBody>
        </p:sp>
      </p:grpSp>
      <p:grpSp>
        <p:nvGrpSpPr>
          <p:cNvPr name="Group 54" id="54"/>
          <p:cNvGrpSpPr/>
          <p:nvPr/>
        </p:nvGrpSpPr>
        <p:grpSpPr>
          <a:xfrm rot="0">
            <a:off x="13770864" y="3854196"/>
            <a:ext cx="2852928" cy="1110996"/>
            <a:chOff x="0" y="0"/>
            <a:chExt cx="3803904" cy="1481328"/>
          </a:xfrm>
        </p:grpSpPr>
        <p:sp>
          <p:nvSpPr>
            <p:cNvPr name="Freeform 55" id="55"/>
            <p:cNvSpPr/>
            <p:nvPr/>
          </p:nvSpPr>
          <p:spPr>
            <a:xfrm flipH="false" flipV="false" rot="0">
              <a:off x="0" y="0"/>
              <a:ext cx="3803904" cy="1481328"/>
            </a:xfrm>
            <a:custGeom>
              <a:avLst/>
              <a:gdLst/>
              <a:ahLst/>
              <a:cxnLst/>
              <a:rect r="r" b="b" t="t" l="l"/>
              <a:pathLst>
                <a:path h="1481328" w="3803904">
                  <a:moveTo>
                    <a:pt x="0" y="0"/>
                  </a:moveTo>
                  <a:lnTo>
                    <a:pt x="3803904" y="0"/>
                  </a:lnTo>
                  <a:lnTo>
                    <a:pt x="3803904" y="1481328"/>
                  </a:lnTo>
                  <a:lnTo>
                    <a:pt x="0" y="1481328"/>
                  </a:lnTo>
                  <a:close/>
                </a:path>
              </a:pathLst>
            </a:custGeom>
            <a:blipFill>
              <a:blip r:embed="rId3">
                <a:alphaModFix amt="0"/>
              </a:blip>
              <a:stretch>
                <a:fillRect l="0" t="-35" r="0" b="-35"/>
              </a:stretch>
            </a:blipFill>
          </p:spPr>
        </p:sp>
        <p:sp>
          <p:nvSpPr>
            <p:cNvPr name="TextBox 56" id="56"/>
            <p:cNvSpPr txBox="true"/>
            <p:nvPr/>
          </p:nvSpPr>
          <p:spPr>
            <a:xfrm>
              <a:off x="0" y="-9525"/>
              <a:ext cx="3803904" cy="149085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Distribution &amp;</a:t>
              </a:r>
            </a:p>
            <a:p>
              <a:pPr algn="ctr">
                <a:lnSpc>
                  <a:spcPts val="1530"/>
                </a:lnSpc>
              </a:pPr>
              <a:r>
                <a:rPr lang="en-US" sz="1275">
                  <a:solidFill>
                    <a:srgbClr val="9BAFC2"/>
                  </a:solidFill>
                  <a:latin typeface="Aptos"/>
                  <a:ea typeface="Aptos"/>
                  <a:cs typeface="Aptos"/>
                  <a:sym typeface="Aptos"/>
                </a:rPr>
                <a:t>last mile</a:t>
              </a:r>
            </a:p>
          </p:txBody>
        </p:sp>
      </p:grpSp>
      <p:grpSp>
        <p:nvGrpSpPr>
          <p:cNvPr name="Group 57" id="57"/>
          <p:cNvGrpSpPr/>
          <p:nvPr/>
        </p:nvGrpSpPr>
        <p:grpSpPr>
          <a:xfrm rot="0">
            <a:off x="925068" y="5890260"/>
            <a:ext cx="5021580" cy="2004060"/>
            <a:chOff x="0" y="0"/>
            <a:chExt cx="6695440" cy="2672080"/>
          </a:xfrm>
        </p:grpSpPr>
        <p:sp>
          <p:nvSpPr>
            <p:cNvPr name="Freeform 58" id="58"/>
            <p:cNvSpPr/>
            <p:nvPr/>
          </p:nvSpPr>
          <p:spPr>
            <a:xfrm flipH="false" flipV="false" rot="0">
              <a:off x="0" y="0"/>
              <a:ext cx="6695440" cy="2672080"/>
            </a:xfrm>
            <a:custGeom>
              <a:avLst/>
              <a:gdLst/>
              <a:ahLst/>
              <a:cxnLst/>
              <a:rect r="r" b="b" t="t" l="l"/>
              <a:pathLst>
                <a:path h="2672080" w="6695440">
                  <a:moveTo>
                    <a:pt x="0" y="147447"/>
                  </a:moveTo>
                  <a:cubicBezTo>
                    <a:pt x="0" y="66040"/>
                    <a:pt x="66040" y="0"/>
                    <a:pt x="147447" y="0"/>
                  </a:cubicBezTo>
                  <a:lnTo>
                    <a:pt x="6547993" y="0"/>
                  </a:lnTo>
                  <a:cubicBezTo>
                    <a:pt x="6629400" y="0"/>
                    <a:pt x="6695440" y="66040"/>
                    <a:pt x="6695440" y="147447"/>
                  </a:cubicBezTo>
                  <a:lnTo>
                    <a:pt x="6695440" y="2524633"/>
                  </a:lnTo>
                  <a:cubicBezTo>
                    <a:pt x="6695440" y="2606040"/>
                    <a:pt x="6629400" y="2672080"/>
                    <a:pt x="6547993" y="2672080"/>
                  </a:cubicBezTo>
                  <a:lnTo>
                    <a:pt x="147447" y="2672080"/>
                  </a:lnTo>
                  <a:cubicBezTo>
                    <a:pt x="66040" y="2672080"/>
                    <a:pt x="0" y="2606040"/>
                    <a:pt x="0" y="2524633"/>
                  </a:cubicBezTo>
                  <a:close/>
                </a:path>
              </a:pathLst>
            </a:custGeom>
            <a:solidFill>
              <a:srgbClr val="0E1D30"/>
            </a:solidFill>
            <a:ln w="15240" cap="sq">
              <a:solidFill>
                <a:srgbClr val="1D3850"/>
              </a:solidFill>
              <a:prstDash val="solid"/>
              <a:miter/>
            </a:ln>
          </p:spPr>
        </p:sp>
      </p:grpSp>
      <p:grpSp>
        <p:nvGrpSpPr>
          <p:cNvPr name="Group 59" id="59"/>
          <p:cNvGrpSpPr/>
          <p:nvPr/>
        </p:nvGrpSpPr>
        <p:grpSpPr>
          <a:xfrm rot="0">
            <a:off x="2042213" y="5890260"/>
            <a:ext cx="3634740" cy="342900"/>
            <a:chOff x="0" y="0"/>
            <a:chExt cx="4846320" cy="457200"/>
          </a:xfrm>
        </p:grpSpPr>
        <p:sp>
          <p:nvSpPr>
            <p:cNvPr name="Freeform 60" id="60"/>
            <p:cNvSpPr/>
            <p:nvPr/>
          </p:nvSpPr>
          <p:spPr>
            <a:xfrm flipH="false" flipV="false" rot="0">
              <a:off x="0" y="0"/>
              <a:ext cx="4846320" cy="457200"/>
            </a:xfrm>
            <a:custGeom>
              <a:avLst/>
              <a:gdLst/>
              <a:ahLst/>
              <a:cxnLst/>
              <a:rect r="r" b="b" t="t" l="l"/>
              <a:pathLst>
                <a:path h="457200" w="4846320">
                  <a:moveTo>
                    <a:pt x="0" y="0"/>
                  </a:moveTo>
                  <a:lnTo>
                    <a:pt x="4846320" y="0"/>
                  </a:lnTo>
                  <a:lnTo>
                    <a:pt x="4846320" y="457200"/>
                  </a:lnTo>
                  <a:lnTo>
                    <a:pt x="0" y="457200"/>
                  </a:lnTo>
                  <a:close/>
                </a:path>
              </a:pathLst>
            </a:custGeom>
            <a:blipFill>
              <a:blip r:embed="rId3">
                <a:alphaModFix amt="0"/>
              </a:blip>
              <a:stretch>
                <a:fillRect l="0" t="-156541" r="0" b="-156541"/>
              </a:stretch>
            </a:blipFill>
          </p:spPr>
        </p:sp>
        <p:sp>
          <p:nvSpPr>
            <p:cNvPr name="TextBox 61" id="61"/>
            <p:cNvSpPr txBox="true"/>
            <p:nvPr/>
          </p:nvSpPr>
          <p:spPr>
            <a:xfrm>
              <a:off x="0" y="-9525"/>
              <a:ext cx="484632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SAFE RANGE</a:t>
              </a:r>
            </a:p>
          </p:txBody>
        </p:sp>
      </p:grpSp>
      <p:grpSp>
        <p:nvGrpSpPr>
          <p:cNvPr name="Group 62" id="62"/>
          <p:cNvGrpSpPr/>
          <p:nvPr/>
        </p:nvGrpSpPr>
        <p:grpSpPr>
          <a:xfrm rot="0">
            <a:off x="1748790" y="6361747"/>
            <a:ext cx="4402836" cy="576072"/>
            <a:chOff x="0" y="0"/>
            <a:chExt cx="5870448" cy="768096"/>
          </a:xfrm>
        </p:grpSpPr>
        <p:sp>
          <p:nvSpPr>
            <p:cNvPr name="Freeform 63" id="63"/>
            <p:cNvSpPr/>
            <p:nvPr/>
          </p:nvSpPr>
          <p:spPr>
            <a:xfrm flipH="false" flipV="false" rot="0">
              <a:off x="0" y="0"/>
              <a:ext cx="5870448" cy="768096"/>
            </a:xfrm>
            <a:custGeom>
              <a:avLst/>
              <a:gdLst/>
              <a:ahLst/>
              <a:cxnLst/>
              <a:rect r="r" b="b" t="t" l="l"/>
              <a:pathLst>
                <a:path h="768096" w="5870448">
                  <a:moveTo>
                    <a:pt x="0" y="0"/>
                  </a:moveTo>
                  <a:lnTo>
                    <a:pt x="5870448" y="0"/>
                  </a:lnTo>
                  <a:lnTo>
                    <a:pt x="5870448" y="768096"/>
                  </a:lnTo>
                  <a:lnTo>
                    <a:pt x="0" y="768096"/>
                  </a:lnTo>
                  <a:close/>
                </a:path>
              </a:pathLst>
            </a:custGeom>
            <a:blipFill>
              <a:blip r:embed="rId3">
                <a:alphaModFix amt="0"/>
              </a:blip>
              <a:stretch>
                <a:fillRect l="0" t="-98921" r="0" b="-98921"/>
              </a:stretch>
            </a:blipFill>
          </p:spPr>
        </p:sp>
        <p:sp>
          <p:nvSpPr>
            <p:cNvPr name="TextBox 64" id="64"/>
            <p:cNvSpPr txBox="true"/>
            <p:nvPr/>
          </p:nvSpPr>
          <p:spPr>
            <a:xfrm>
              <a:off x="0" y="0"/>
              <a:ext cx="587044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2.0–8.0°C</a:t>
              </a:r>
            </a:p>
          </p:txBody>
        </p:sp>
      </p:grpSp>
      <p:sp>
        <p:nvSpPr>
          <p:cNvPr name="TextBox 65" id="65"/>
          <p:cNvSpPr txBox="true"/>
          <p:nvPr/>
        </p:nvSpPr>
        <p:spPr>
          <a:xfrm rot="0">
            <a:off x="922210" y="7179945"/>
            <a:ext cx="5024438" cy="71437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WHO </a:t>
            </a:r>
            <a:r>
              <a:rPr lang="en-US" sz="1575">
                <a:solidFill>
                  <a:srgbClr val="F5F8FC"/>
                </a:solidFill>
                <a:latin typeface="Aptos"/>
                <a:ea typeface="Aptos"/>
                <a:cs typeface="Aptos"/>
                <a:sym typeface="Aptos"/>
              </a:rPr>
              <a:t>range stated in the report for temperature-sensitive pharmaceutical products.</a:t>
            </a:r>
          </a:p>
          <a:p>
            <a:pPr algn="l">
              <a:lnSpc>
                <a:spcPts val="1889"/>
              </a:lnSpc>
            </a:pPr>
          </a:p>
        </p:txBody>
      </p:sp>
      <p:grpSp>
        <p:nvGrpSpPr>
          <p:cNvPr name="Group 66" id="66"/>
          <p:cNvGrpSpPr/>
          <p:nvPr/>
        </p:nvGrpSpPr>
        <p:grpSpPr>
          <a:xfrm rot="0">
            <a:off x="6233160" y="5890260"/>
            <a:ext cx="5021580" cy="2004060"/>
            <a:chOff x="0" y="0"/>
            <a:chExt cx="6695440" cy="2672080"/>
          </a:xfrm>
        </p:grpSpPr>
        <p:sp>
          <p:nvSpPr>
            <p:cNvPr name="Freeform 67" id="67"/>
            <p:cNvSpPr/>
            <p:nvPr/>
          </p:nvSpPr>
          <p:spPr>
            <a:xfrm flipH="false" flipV="false" rot="0">
              <a:off x="0" y="0"/>
              <a:ext cx="6695440" cy="2672080"/>
            </a:xfrm>
            <a:custGeom>
              <a:avLst/>
              <a:gdLst/>
              <a:ahLst/>
              <a:cxnLst/>
              <a:rect r="r" b="b" t="t" l="l"/>
              <a:pathLst>
                <a:path h="2672080" w="6695440">
                  <a:moveTo>
                    <a:pt x="0" y="147447"/>
                  </a:moveTo>
                  <a:cubicBezTo>
                    <a:pt x="0" y="66040"/>
                    <a:pt x="66040" y="0"/>
                    <a:pt x="147447" y="0"/>
                  </a:cubicBezTo>
                  <a:lnTo>
                    <a:pt x="6547993" y="0"/>
                  </a:lnTo>
                  <a:cubicBezTo>
                    <a:pt x="6629400" y="0"/>
                    <a:pt x="6695440" y="66040"/>
                    <a:pt x="6695440" y="147447"/>
                  </a:cubicBezTo>
                  <a:lnTo>
                    <a:pt x="6695440" y="2524633"/>
                  </a:lnTo>
                  <a:cubicBezTo>
                    <a:pt x="6695440" y="2606040"/>
                    <a:pt x="6629400" y="2672080"/>
                    <a:pt x="6547993" y="2672080"/>
                  </a:cubicBezTo>
                  <a:lnTo>
                    <a:pt x="147447" y="2672080"/>
                  </a:lnTo>
                  <a:cubicBezTo>
                    <a:pt x="66040" y="2672080"/>
                    <a:pt x="0" y="2606040"/>
                    <a:pt x="0" y="2524633"/>
                  </a:cubicBezTo>
                  <a:close/>
                </a:path>
              </a:pathLst>
            </a:custGeom>
            <a:solidFill>
              <a:srgbClr val="0E1D30"/>
            </a:solidFill>
            <a:ln w="15240" cap="sq">
              <a:solidFill>
                <a:srgbClr val="1D3850"/>
              </a:solidFill>
              <a:prstDash val="solid"/>
              <a:miter/>
            </a:ln>
          </p:spPr>
        </p:sp>
      </p:grpSp>
      <p:grpSp>
        <p:nvGrpSpPr>
          <p:cNvPr name="Group 68" id="68"/>
          <p:cNvGrpSpPr/>
          <p:nvPr/>
        </p:nvGrpSpPr>
        <p:grpSpPr>
          <a:xfrm rot="0">
            <a:off x="7235190" y="5890260"/>
            <a:ext cx="3634740" cy="342900"/>
            <a:chOff x="0" y="0"/>
            <a:chExt cx="4846320" cy="457200"/>
          </a:xfrm>
        </p:grpSpPr>
        <p:sp>
          <p:nvSpPr>
            <p:cNvPr name="Freeform 69" id="69"/>
            <p:cNvSpPr/>
            <p:nvPr/>
          </p:nvSpPr>
          <p:spPr>
            <a:xfrm flipH="false" flipV="false" rot="0">
              <a:off x="0" y="0"/>
              <a:ext cx="4846320" cy="457200"/>
            </a:xfrm>
            <a:custGeom>
              <a:avLst/>
              <a:gdLst/>
              <a:ahLst/>
              <a:cxnLst/>
              <a:rect r="r" b="b" t="t" l="l"/>
              <a:pathLst>
                <a:path h="457200" w="4846320">
                  <a:moveTo>
                    <a:pt x="0" y="0"/>
                  </a:moveTo>
                  <a:lnTo>
                    <a:pt x="4846320" y="0"/>
                  </a:lnTo>
                  <a:lnTo>
                    <a:pt x="4846320" y="457200"/>
                  </a:lnTo>
                  <a:lnTo>
                    <a:pt x="0" y="457200"/>
                  </a:lnTo>
                  <a:close/>
                </a:path>
              </a:pathLst>
            </a:custGeom>
            <a:blipFill>
              <a:blip r:embed="rId3">
                <a:alphaModFix amt="0"/>
              </a:blip>
              <a:stretch>
                <a:fillRect l="0" t="-156541" r="0" b="-156541"/>
              </a:stretch>
            </a:blipFill>
          </p:spPr>
        </p:sp>
        <p:sp>
          <p:nvSpPr>
            <p:cNvPr name="TextBox 70" id="70"/>
            <p:cNvSpPr txBox="true"/>
            <p:nvPr/>
          </p:nvSpPr>
          <p:spPr>
            <a:xfrm>
              <a:off x="0" y="-9525"/>
              <a:ext cx="484632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KEY VARIABLES</a:t>
              </a:r>
            </a:p>
          </p:txBody>
        </p:sp>
      </p:grpSp>
      <p:grpSp>
        <p:nvGrpSpPr>
          <p:cNvPr name="Group 71" id="71"/>
          <p:cNvGrpSpPr/>
          <p:nvPr/>
        </p:nvGrpSpPr>
        <p:grpSpPr>
          <a:xfrm rot="0">
            <a:off x="7059352" y="6325743"/>
            <a:ext cx="4402836" cy="576072"/>
            <a:chOff x="0" y="0"/>
            <a:chExt cx="5870448" cy="768096"/>
          </a:xfrm>
        </p:grpSpPr>
        <p:sp>
          <p:nvSpPr>
            <p:cNvPr name="Freeform 72" id="72"/>
            <p:cNvSpPr/>
            <p:nvPr/>
          </p:nvSpPr>
          <p:spPr>
            <a:xfrm flipH="false" flipV="false" rot="0">
              <a:off x="0" y="0"/>
              <a:ext cx="5870448" cy="768096"/>
            </a:xfrm>
            <a:custGeom>
              <a:avLst/>
              <a:gdLst/>
              <a:ahLst/>
              <a:cxnLst/>
              <a:rect r="r" b="b" t="t" l="l"/>
              <a:pathLst>
                <a:path h="768096" w="5870448">
                  <a:moveTo>
                    <a:pt x="0" y="0"/>
                  </a:moveTo>
                  <a:lnTo>
                    <a:pt x="5870448" y="0"/>
                  </a:lnTo>
                  <a:lnTo>
                    <a:pt x="5870448" y="768096"/>
                  </a:lnTo>
                  <a:lnTo>
                    <a:pt x="0" y="768096"/>
                  </a:lnTo>
                  <a:close/>
                </a:path>
              </a:pathLst>
            </a:custGeom>
            <a:blipFill>
              <a:blip r:embed="rId3">
                <a:alphaModFix amt="0"/>
              </a:blip>
              <a:stretch>
                <a:fillRect l="0" t="-98921" r="0" b="-98921"/>
              </a:stretch>
            </a:blipFill>
          </p:spPr>
        </p:sp>
        <p:sp>
          <p:nvSpPr>
            <p:cNvPr name="TextBox 73" id="73"/>
            <p:cNvSpPr txBox="true"/>
            <p:nvPr/>
          </p:nvSpPr>
          <p:spPr>
            <a:xfrm>
              <a:off x="0" y="0"/>
              <a:ext cx="587044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T + RH</a:t>
              </a:r>
            </a:p>
          </p:txBody>
        </p:sp>
      </p:grpSp>
      <p:sp>
        <p:nvSpPr>
          <p:cNvPr name="TextBox 74" id="74"/>
          <p:cNvSpPr txBox="true"/>
          <p:nvPr/>
        </p:nvSpPr>
        <p:spPr>
          <a:xfrm rot="0">
            <a:off x="6232779" y="7179945"/>
            <a:ext cx="5021580" cy="71437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T</a:t>
            </a:r>
            <a:r>
              <a:rPr lang="en-US" sz="1575">
                <a:solidFill>
                  <a:srgbClr val="F5F8FC"/>
                </a:solidFill>
                <a:latin typeface="Aptos"/>
                <a:ea typeface="Aptos"/>
                <a:cs typeface="Aptos"/>
                <a:sym typeface="Aptos"/>
              </a:rPr>
              <a:t>emperature and relative humidity are continuously monitored.</a:t>
            </a:r>
          </a:p>
          <a:p>
            <a:pPr algn="l">
              <a:lnSpc>
                <a:spcPts val="1889"/>
              </a:lnSpc>
            </a:pPr>
          </a:p>
        </p:txBody>
      </p:sp>
      <p:grpSp>
        <p:nvGrpSpPr>
          <p:cNvPr name="Group 75" id="75"/>
          <p:cNvGrpSpPr/>
          <p:nvPr/>
        </p:nvGrpSpPr>
        <p:grpSpPr>
          <a:xfrm rot="0">
            <a:off x="11541252" y="5890260"/>
            <a:ext cx="5021580" cy="2004060"/>
            <a:chOff x="0" y="0"/>
            <a:chExt cx="6695440" cy="2672080"/>
          </a:xfrm>
        </p:grpSpPr>
        <p:sp>
          <p:nvSpPr>
            <p:cNvPr name="Freeform 76" id="76"/>
            <p:cNvSpPr/>
            <p:nvPr/>
          </p:nvSpPr>
          <p:spPr>
            <a:xfrm flipH="false" flipV="false" rot="0">
              <a:off x="0" y="0"/>
              <a:ext cx="6695440" cy="2672080"/>
            </a:xfrm>
            <a:custGeom>
              <a:avLst/>
              <a:gdLst/>
              <a:ahLst/>
              <a:cxnLst/>
              <a:rect r="r" b="b" t="t" l="l"/>
              <a:pathLst>
                <a:path h="2672080" w="6695440">
                  <a:moveTo>
                    <a:pt x="0" y="147447"/>
                  </a:moveTo>
                  <a:cubicBezTo>
                    <a:pt x="0" y="66040"/>
                    <a:pt x="66040" y="0"/>
                    <a:pt x="147447" y="0"/>
                  </a:cubicBezTo>
                  <a:lnTo>
                    <a:pt x="6547993" y="0"/>
                  </a:lnTo>
                  <a:cubicBezTo>
                    <a:pt x="6629400" y="0"/>
                    <a:pt x="6695440" y="66040"/>
                    <a:pt x="6695440" y="147447"/>
                  </a:cubicBezTo>
                  <a:lnTo>
                    <a:pt x="6695440" y="2524633"/>
                  </a:lnTo>
                  <a:cubicBezTo>
                    <a:pt x="6695440" y="2606040"/>
                    <a:pt x="6629400" y="2672080"/>
                    <a:pt x="6547993" y="2672080"/>
                  </a:cubicBezTo>
                  <a:lnTo>
                    <a:pt x="147447" y="2672080"/>
                  </a:lnTo>
                  <a:cubicBezTo>
                    <a:pt x="66040" y="2672080"/>
                    <a:pt x="0" y="2606040"/>
                    <a:pt x="0" y="2524633"/>
                  </a:cubicBezTo>
                  <a:close/>
                </a:path>
              </a:pathLst>
            </a:custGeom>
            <a:solidFill>
              <a:srgbClr val="0E1D30"/>
            </a:solidFill>
            <a:ln w="15240" cap="sq">
              <a:solidFill>
                <a:srgbClr val="1D3850"/>
              </a:solidFill>
              <a:prstDash val="solid"/>
              <a:miter/>
            </a:ln>
          </p:spPr>
        </p:sp>
      </p:grpSp>
      <p:grpSp>
        <p:nvGrpSpPr>
          <p:cNvPr name="Group 77" id="77"/>
          <p:cNvGrpSpPr/>
          <p:nvPr/>
        </p:nvGrpSpPr>
        <p:grpSpPr>
          <a:xfrm rot="0">
            <a:off x="12618720" y="5890260"/>
            <a:ext cx="3634740" cy="342900"/>
            <a:chOff x="0" y="0"/>
            <a:chExt cx="4846320" cy="457200"/>
          </a:xfrm>
        </p:grpSpPr>
        <p:sp>
          <p:nvSpPr>
            <p:cNvPr name="Freeform 78" id="78"/>
            <p:cNvSpPr/>
            <p:nvPr/>
          </p:nvSpPr>
          <p:spPr>
            <a:xfrm flipH="false" flipV="false" rot="0">
              <a:off x="0" y="0"/>
              <a:ext cx="4846320" cy="457200"/>
            </a:xfrm>
            <a:custGeom>
              <a:avLst/>
              <a:gdLst/>
              <a:ahLst/>
              <a:cxnLst/>
              <a:rect r="r" b="b" t="t" l="l"/>
              <a:pathLst>
                <a:path h="457200" w="4846320">
                  <a:moveTo>
                    <a:pt x="0" y="0"/>
                  </a:moveTo>
                  <a:lnTo>
                    <a:pt x="4846320" y="0"/>
                  </a:lnTo>
                  <a:lnTo>
                    <a:pt x="4846320" y="457200"/>
                  </a:lnTo>
                  <a:lnTo>
                    <a:pt x="0" y="457200"/>
                  </a:lnTo>
                  <a:close/>
                </a:path>
              </a:pathLst>
            </a:custGeom>
            <a:blipFill>
              <a:blip r:embed="rId3">
                <a:alphaModFix amt="0"/>
              </a:blip>
              <a:stretch>
                <a:fillRect l="0" t="-156541" r="0" b="-156541"/>
              </a:stretch>
            </a:blipFill>
          </p:spPr>
        </p:sp>
        <p:sp>
          <p:nvSpPr>
            <p:cNvPr name="TextBox 79" id="79"/>
            <p:cNvSpPr txBox="true"/>
            <p:nvPr/>
          </p:nvSpPr>
          <p:spPr>
            <a:xfrm>
              <a:off x="0" y="-9525"/>
              <a:ext cx="484632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RISK</a:t>
              </a:r>
            </a:p>
          </p:txBody>
        </p:sp>
      </p:grpSp>
      <p:grpSp>
        <p:nvGrpSpPr>
          <p:cNvPr name="Group 80" id="80"/>
          <p:cNvGrpSpPr/>
          <p:nvPr/>
        </p:nvGrpSpPr>
        <p:grpSpPr>
          <a:xfrm rot="0">
            <a:off x="11850624" y="6325743"/>
            <a:ext cx="4402836" cy="1025463"/>
            <a:chOff x="0" y="0"/>
            <a:chExt cx="5870448" cy="1367284"/>
          </a:xfrm>
        </p:grpSpPr>
        <p:sp>
          <p:nvSpPr>
            <p:cNvPr name="Freeform 81" id="81"/>
            <p:cNvSpPr/>
            <p:nvPr/>
          </p:nvSpPr>
          <p:spPr>
            <a:xfrm flipH="false" flipV="false" rot="0">
              <a:off x="0" y="0"/>
              <a:ext cx="5870448" cy="1367284"/>
            </a:xfrm>
            <a:custGeom>
              <a:avLst/>
              <a:gdLst/>
              <a:ahLst/>
              <a:cxnLst/>
              <a:rect r="r" b="b" t="t" l="l"/>
              <a:pathLst>
                <a:path h="1367284" w="5870448">
                  <a:moveTo>
                    <a:pt x="0" y="0"/>
                  </a:moveTo>
                  <a:lnTo>
                    <a:pt x="5870448" y="0"/>
                  </a:lnTo>
                  <a:lnTo>
                    <a:pt x="5870448" y="1367284"/>
                  </a:lnTo>
                  <a:lnTo>
                    <a:pt x="0" y="1367284"/>
                  </a:lnTo>
                  <a:close/>
                </a:path>
              </a:pathLst>
            </a:custGeom>
            <a:blipFill>
              <a:blip r:embed="rId3">
                <a:alphaModFix amt="0"/>
              </a:blip>
              <a:stretch>
                <a:fillRect l="0" t="-55570" r="0" b="-11747"/>
              </a:stretch>
            </a:blipFill>
          </p:spPr>
        </p:sp>
        <p:sp>
          <p:nvSpPr>
            <p:cNvPr name="TextBox 82" id="82"/>
            <p:cNvSpPr txBox="true"/>
            <p:nvPr/>
          </p:nvSpPr>
          <p:spPr>
            <a:xfrm>
              <a:off x="0" y="0"/>
              <a:ext cx="5870448" cy="1367284"/>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Thermal inertia</a:t>
              </a:r>
            </a:p>
            <a:p>
              <a:pPr algn="l">
                <a:lnSpc>
                  <a:spcPts val="3600"/>
                </a:lnSpc>
              </a:pPr>
            </a:p>
          </p:txBody>
        </p:sp>
      </p:grpSp>
      <p:sp>
        <p:nvSpPr>
          <p:cNvPr name="TextBox 83" id="83"/>
          <p:cNvSpPr txBox="true"/>
          <p:nvPr/>
        </p:nvSpPr>
        <p:spPr>
          <a:xfrm rot="0">
            <a:off x="11540490" y="7128510"/>
            <a:ext cx="5022342" cy="71437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Storage quality depends not only on an instantaneous condition, but also on how conditions vary over time.</a:t>
            </a:r>
          </a:p>
          <a:p>
            <a:pPr algn="l">
              <a:lnSpc>
                <a:spcPts val="1889"/>
              </a:lnSpc>
            </a:pPr>
          </a:p>
        </p:txBody>
      </p:sp>
      <p:grpSp>
        <p:nvGrpSpPr>
          <p:cNvPr name="Group 84" id="84"/>
          <p:cNvGrpSpPr/>
          <p:nvPr/>
        </p:nvGrpSpPr>
        <p:grpSpPr>
          <a:xfrm rot="0">
            <a:off x="685800" y="9628632"/>
            <a:ext cx="16733520" cy="233172"/>
            <a:chOff x="0" y="0"/>
            <a:chExt cx="22311360" cy="310896"/>
          </a:xfrm>
        </p:grpSpPr>
        <p:sp>
          <p:nvSpPr>
            <p:cNvPr name="Freeform 85" id="85"/>
            <p:cNvSpPr/>
            <p:nvPr/>
          </p:nvSpPr>
          <p:spPr>
            <a:xfrm flipH="false" flipV="false" rot="0">
              <a:off x="0" y="0"/>
              <a:ext cx="22311361" cy="310896"/>
            </a:xfrm>
            <a:custGeom>
              <a:avLst/>
              <a:gdLst/>
              <a:ahLst/>
              <a:cxnLst/>
              <a:rect r="r" b="b" t="t" l="l"/>
              <a:pathLst>
                <a:path h="310896" w="22311361">
                  <a:moveTo>
                    <a:pt x="0" y="0"/>
                  </a:moveTo>
                  <a:lnTo>
                    <a:pt x="22311361" y="0"/>
                  </a:lnTo>
                  <a:lnTo>
                    <a:pt x="22311361" y="310896"/>
                  </a:lnTo>
                  <a:lnTo>
                    <a:pt x="0" y="310896"/>
                  </a:lnTo>
                  <a:close/>
                </a:path>
              </a:pathLst>
            </a:custGeom>
            <a:blipFill>
              <a:blip r:embed="rId3">
                <a:alphaModFix amt="0"/>
              </a:blip>
              <a:stretch>
                <a:fillRect l="0" t="-1348338" r="0" b="-1348338"/>
              </a:stretch>
            </a:blipFill>
          </p:spPr>
        </p:sp>
        <p:sp>
          <p:nvSpPr>
            <p:cNvPr name="TextBox 86" id="86"/>
            <p:cNvSpPr txBox="true"/>
            <p:nvPr/>
          </p:nvSpPr>
          <p:spPr>
            <a:xfrm>
              <a:off x="0" y="9525"/>
              <a:ext cx="22311360" cy="301371"/>
            </a:xfrm>
            <a:prstGeom prst="rect">
              <a:avLst/>
            </a:prstGeom>
          </p:spPr>
          <p:txBody>
            <a:bodyPr anchor="ctr" rtlCol="false" tIns="0" lIns="0" bIns="0" rIns="0"/>
            <a:lstStyle/>
            <a:p>
              <a:pPr algn="l">
                <a:lnSpc>
                  <a:spcPts val="1296"/>
                </a:lnSpc>
              </a:pPr>
            </a:p>
          </p:txBody>
        </p:sp>
      </p:grpSp>
      <p:sp>
        <p:nvSpPr>
          <p:cNvPr name="TextBox 87" id="87"/>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46D6F5"/>
            </a:solidFill>
            <a:ln w="19050" cap="sq">
              <a:solidFill>
                <a:srgbClr val="46D6F5"/>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01</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1</a:t>
              </a:r>
            </a:p>
          </p:txBody>
        </p:sp>
      </p:grpSp>
      <p:grpSp>
        <p:nvGrpSpPr>
          <p:cNvPr name="Group 15" id="15"/>
          <p:cNvGrpSpPr/>
          <p:nvPr/>
        </p:nvGrpSpPr>
        <p:grpSpPr>
          <a:xfrm rot="0">
            <a:off x="648843" y="1145667"/>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Why instantaneous thresholds fail</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A short temperature spike does not necessarily mean product-level damage.</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685800" y="2945298"/>
            <a:ext cx="8242259" cy="4251960"/>
            <a:chOff x="0" y="0"/>
            <a:chExt cx="10989678" cy="5669280"/>
          </a:xfrm>
        </p:grpSpPr>
        <p:sp>
          <p:nvSpPr>
            <p:cNvPr name="Freeform 23" id="23" descr="/mnt/data/iot_media/image2.png"/>
            <p:cNvSpPr/>
            <p:nvPr/>
          </p:nvSpPr>
          <p:spPr>
            <a:xfrm flipH="false" flipV="false" rot="0">
              <a:off x="0" y="0"/>
              <a:ext cx="10989691" cy="5669280"/>
            </a:xfrm>
            <a:custGeom>
              <a:avLst/>
              <a:gdLst/>
              <a:ahLst/>
              <a:cxnLst/>
              <a:rect r="r" b="b" t="t" l="l"/>
              <a:pathLst>
                <a:path h="5669280" w="10989691">
                  <a:moveTo>
                    <a:pt x="0" y="0"/>
                  </a:moveTo>
                  <a:lnTo>
                    <a:pt x="10989691" y="0"/>
                  </a:lnTo>
                  <a:lnTo>
                    <a:pt x="10989691" y="5669280"/>
                  </a:lnTo>
                  <a:lnTo>
                    <a:pt x="0" y="5669280"/>
                  </a:lnTo>
                  <a:lnTo>
                    <a:pt x="0" y="0"/>
                  </a:lnTo>
                  <a:close/>
                </a:path>
              </a:pathLst>
            </a:custGeom>
            <a:blipFill>
              <a:blip r:embed="rId4"/>
              <a:stretch>
                <a:fillRect l="0" t="0" r="0" b="0"/>
              </a:stretch>
            </a:blipFill>
          </p:spPr>
        </p:sp>
      </p:grpSp>
      <p:grpSp>
        <p:nvGrpSpPr>
          <p:cNvPr name="Group 24" id="24"/>
          <p:cNvGrpSpPr/>
          <p:nvPr/>
        </p:nvGrpSpPr>
        <p:grpSpPr>
          <a:xfrm rot="0">
            <a:off x="1165860" y="7338060"/>
            <a:ext cx="7680960" cy="342900"/>
            <a:chOff x="0" y="0"/>
            <a:chExt cx="10241280" cy="457200"/>
          </a:xfrm>
        </p:grpSpPr>
        <p:sp>
          <p:nvSpPr>
            <p:cNvPr name="Freeform 25" id="25"/>
            <p:cNvSpPr/>
            <p:nvPr/>
          </p:nvSpPr>
          <p:spPr>
            <a:xfrm flipH="false" flipV="false" rot="0">
              <a:off x="0" y="0"/>
              <a:ext cx="10241280" cy="457200"/>
            </a:xfrm>
            <a:custGeom>
              <a:avLst/>
              <a:gdLst/>
              <a:ahLst/>
              <a:cxnLst/>
              <a:rect r="r" b="b" t="t" l="l"/>
              <a:pathLst>
                <a:path h="457200" w="10241280">
                  <a:moveTo>
                    <a:pt x="0" y="0"/>
                  </a:moveTo>
                  <a:lnTo>
                    <a:pt x="10241280" y="0"/>
                  </a:lnTo>
                  <a:lnTo>
                    <a:pt x="10241280" y="457200"/>
                  </a:lnTo>
                  <a:lnTo>
                    <a:pt x="0" y="457200"/>
                  </a:lnTo>
                  <a:close/>
                </a:path>
              </a:pathLst>
            </a:custGeom>
            <a:blipFill>
              <a:blip r:embed="rId3">
                <a:alphaModFix amt="0"/>
              </a:blip>
              <a:stretch>
                <a:fillRect l="0" t="-386464" r="0" b="-386464"/>
              </a:stretch>
            </a:blipFill>
          </p:spPr>
        </p:sp>
        <p:sp>
          <p:nvSpPr>
            <p:cNvPr name="TextBox 26" id="26"/>
            <p:cNvSpPr txBox="true"/>
            <p:nvPr/>
          </p:nvSpPr>
          <p:spPr>
            <a:xfrm>
              <a:off x="0" y="-9525"/>
              <a:ext cx="10241280" cy="466725"/>
            </a:xfrm>
            <a:prstGeom prst="rect">
              <a:avLst/>
            </a:prstGeom>
          </p:spPr>
          <p:txBody>
            <a:bodyPr anchor="ctr" rtlCol="false" tIns="0" lIns="0" bIns="0" rIns="0"/>
            <a:lstStyle/>
            <a:p>
              <a:pPr algn="ctr">
                <a:lnSpc>
                  <a:spcPts val="1530"/>
                </a:lnSpc>
              </a:pPr>
              <a:r>
                <a:rPr lang="en-US" sz="1275" i="true">
                  <a:solidFill>
                    <a:srgbClr val="9BAFC2"/>
                  </a:solidFill>
                  <a:latin typeface="Aptos Italics"/>
                  <a:ea typeface="Aptos Italics"/>
                  <a:cs typeface="Aptos Italics"/>
                  <a:sym typeface="Aptos Italics"/>
                </a:rPr>
                <a:t>INSTANTANEOUS THRESHOLD</a:t>
              </a:r>
            </a:p>
          </p:txBody>
        </p:sp>
      </p:grpSp>
      <p:grpSp>
        <p:nvGrpSpPr>
          <p:cNvPr name="Group 27" id="27"/>
          <p:cNvGrpSpPr/>
          <p:nvPr/>
        </p:nvGrpSpPr>
        <p:grpSpPr>
          <a:xfrm rot="0">
            <a:off x="9730740" y="3009900"/>
            <a:ext cx="3512820" cy="1770888"/>
            <a:chOff x="0" y="0"/>
            <a:chExt cx="4683760" cy="2361184"/>
          </a:xfrm>
        </p:grpSpPr>
        <p:sp>
          <p:nvSpPr>
            <p:cNvPr name="Freeform 28" id="28"/>
            <p:cNvSpPr/>
            <p:nvPr/>
          </p:nvSpPr>
          <p:spPr>
            <a:xfrm flipH="false" flipV="false" rot="0">
              <a:off x="0" y="0"/>
              <a:ext cx="4683760" cy="2361184"/>
            </a:xfrm>
            <a:custGeom>
              <a:avLst/>
              <a:gdLst/>
              <a:ahLst/>
              <a:cxnLst/>
              <a:rect r="r" b="b" t="t" l="l"/>
              <a:pathLst>
                <a:path h="2361184" w="4683760">
                  <a:moveTo>
                    <a:pt x="0" y="147574"/>
                  </a:moveTo>
                  <a:cubicBezTo>
                    <a:pt x="0" y="66040"/>
                    <a:pt x="66040" y="0"/>
                    <a:pt x="147574" y="0"/>
                  </a:cubicBezTo>
                  <a:lnTo>
                    <a:pt x="4536186" y="0"/>
                  </a:lnTo>
                  <a:cubicBezTo>
                    <a:pt x="4617720" y="0"/>
                    <a:pt x="4683760" y="66040"/>
                    <a:pt x="4683760" y="147574"/>
                  </a:cubicBezTo>
                  <a:lnTo>
                    <a:pt x="4683760" y="2213610"/>
                  </a:lnTo>
                  <a:cubicBezTo>
                    <a:pt x="4683760" y="2295144"/>
                    <a:pt x="4617720" y="2361184"/>
                    <a:pt x="4536186" y="2361184"/>
                  </a:cubicBezTo>
                  <a:lnTo>
                    <a:pt x="147574" y="2361184"/>
                  </a:lnTo>
                  <a:cubicBezTo>
                    <a:pt x="66040" y="2361184"/>
                    <a:pt x="0" y="2295144"/>
                    <a:pt x="0" y="2213610"/>
                  </a:cubicBezTo>
                  <a:close/>
                </a:path>
              </a:pathLst>
            </a:custGeom>
            <a:solidFill>
              <a:srgbClr val="0E1D30"/>
            </a:solidFill>
            <a:ln w="15240" cap="sq">
              <a:solidFill>
                <a:srgbClr val="1D3850"/>
              </a:solidFill>
              <a:prstDash val="solid"/>
              <a:miter/>
            </a:ln>
          </p:spPr>
        </p:sp>
      </p:grpSp>
      <p:grpSp>
        <p:nvGrpSpPr>
          <p:cNvPr name="Group 29" id="29"/>
          <p:cNvGrpSpPr/>
          <p:nvPr/>
        </p:nvGrpSpPr>
        <p:grpSpPr>
          <a:xfrm rot="0">
            <a:off x="10808208" y="3291840"/>
            <a:ext cx="2125980" cy="342900"/>
            <a:chOff x="0" y="0"/>
            <a:chExt cx="2834640" cy="457200"/>
          </a:xfrm>
        </p:grpSpPr>
        <p:sp>
          <p:nvSpPr>
            <p:cNvPr name="Freeform 30" id="30"/>
            <p:cNvSpPr/>
            <p:nvPr/>
          </p:nvSpPr>
          <p:spPr>
            <a:xfrm flipH="false" flipV="false" rot="0">
              <a:off x="0" y="0"/>
              <a:ext cx="2834640" cy="457200"/>
            </a:xfrm>
            <a:custGeom>
              <a:avLst/>
              <a:gdLst/>
              <a:ahLst/>
              <a:cxnLst/>
              <a:rect r="r" b="b" t="t" l="l"/>
              <a:pathLst>
                <a:path h="457200" w="2834640">
                  <a:moveTo>
                    <a:pt x="0" y="0"/>
                  </a:moveTo>
                  <a:lnTo>
                    <a:pt x="2834640" y="0"/>
                  </a:lnTo>
                  <a:lnTo>
                    <a:pt x="2834640" y="457200"/>
                  </a:lnTo>
                  <a:lnTo>
                    <a:pt x="0" y="457200"/>
                  </a:lnTo>
                  <a:close/>
                </a:path>
              </a:pathLst>
            </a:custGeom>
            <a:blipFill>
              <a:blip r:embed="rId3">
                <a:alphaModFix amt="0"/>
              </a:blip>
              <a:stretch>
                <a:fillRect l="0" t="-70807" r="0" b="-70807"/>
              </a:stretch>
            </a:blipFill>
          </p:spPr>
        </p:sp>
        <p:sp>
          <p:nvSpPr>
            <p:cNvPr name="TextBox 31" id="31"/>
            <p:cNvSpPr txBox="true"/>
            <p:nvPr/>
          </p:nvSpPr>
          <p:spPr>
            <a:xfrm>
              <a:off x="0" y="-9525"/>
              <a:ext cx="283464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EVENT</a:t>
              </a:r>
            </a:p>
          </p:txBody>
        </p:sp>
      </p:grpSp>
      <p:grpSp>
        <p:nvGrpSpPr>
          <p:cNvPr name="Group 32" id="32"/>
          <p:cNvGrpSpPr/>
          <p:nvPr/>
        </p:nvGrpSpPr>
        <p:grpSpPr>
          <a:xfrm rot="0">
            <a:off x="10040112" y="3922776"/>
            <a:ext cx="2894076" cy="576072"/>
            <a:chOff x="0" y="0"/>
            <a:chExt cx="3858768" cy="768096"/>
          </a:xfrm>
        </p:grpSpPr>
        <p:sp>
          <p:nvSpPr>
            <p:cNvPr name="Freeform 33" id="33"/>
            <p:cNvSpPr/>
            <p:nvPr/>
          </p:nvSpPr>
          <p:spPr>
            <a:xfrm flipH="false" flipV="false" rot="0">
              <a:off x="0" y="0"/>
              <a:ext cx="3858768" cy="768096"/>
            </a:xfrm>
            <a:custGeom>
              <a:avLst/>
              <a:gdLst/>
              <a:ahLst/>
              <a:cxnLst/>
              <a:rect r="r" b="b" t="t" l="l"/>
              <a:pathLst>
                <a:path h="768096" w="3858768">
                  <a:moveTo>
                    <a:pt x="0" y="0"/>
                  </a:moveTo>
                  <a:lnTo>
                    <a:pt x="3858768" y="0"/>
                  </a:lnTo>
                  <a:lnTo>
                    <a:pt x="3858768" y="768096"/>
                  </a:lnTo>
                  <a:lnTo>
                    <a:pt x="0" y="768096"/>
                  </a:lnTo>
                  <a:close/>
                </a:path>
              </a:pathLst>
            </a:custGeom>
            <a:blipFill>
              <a:blip r:embed="rId3">
                <a:alphaModFix amt="0"/>
              </a:blip>
              <a:stretch>
                <a:fillRect l="0" t="-47889" r="0" b="-47889"/>
              </a:stretch>
            </a:blipFill>
          </p:spPr>
        </p:sp>
        <p:sp>
          <p:nvSpPr>
            <p:cNvPr name="TextBox 34" id="34"/>
            <p:cNvSpPr txBox="true"/>
            <p:nvPr/>
          </p:nvSpPr>
          <p:spPr>
            <a:xfrm>
              <a:off x="0" y="0"/>
              <a:ext cx="385876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30 s</a:t>
              </a:r>
            </a:p>
          </p:txBody>
        </p:sp>
      </p:grpSp>
      <p:grpSp>
        <p:nvGrpSpPr>
          <p:cNvPr name="Group 35" id="35"/>
          <p:cNvGrpSpPr/>
          <p:nvPr/>
        </p:nvGrpSpPr>
        <p:grpSpPr>
          <a:xfrm rot="0">
            <a:off x="13543788" y="3009900"/>
            <a:ext cx="3512820" cy="1770888"/>
            <a:chOff x="0" y="0"/>
            <a:chExt cx="4683760" cy="2361184"/>
          </a:xfrm>
        </p:grpSpPr>
        <p:sp>
          <p:nvSpPr>
            <p:cNvPr name="Freeform 36" id="36"/>
            <p:cNvSpPr/>
            <p:nvPr/>
          </p:nvSpPr>
          <p:spPr>
            <a:xfrm flipH="false" flipV="false" rot="0">
              <a:off x="0" y="0"/>
              <a:ext cx="4683760" cy="2361184"/>
            </a:xfrm>
            <a:custGeom>
              <a:avLst/>
              <a:gdLst/>
              <a:ahLst/>
              <a:cxnLst/>
              <a:rect r="r" b="b" t="t" l="l"/>
              <a:pathLst>
                <a:path h="2361184" w="4683760">
                  <a:moveTo>
                    <a:pt x="0" y="147574"/>
                  </a:moveTo>
                  <a:cubicBezTo>
                    <a:pt x="0" y="66040"/>
                    <a:pt x="66040" y="0"/>
                    <a:pt x="147574" y="0"/>
                  </a:cubicBezTo>
                  <a:lnTo>
                    <a:pt x="4536186" y="0"/>
                  </a:lnTo>
                  <a:cubicBezTo>
                    <a:pt x="4617720" y="0"/>
                    <a:pt x="4683760" y="66040"/>
                    <a:pt x="4683760" y="147574"/>
                  </a:cubicBezTo>
                  <a:lnTo>
                    <a:pt x="4683760" y="2213610"/>
                  </a:lnTo>
                  <a:cubicBezTo>
                    <a:pt x="4683760" y="2295144"/>
                    <a:pt x="4617720" y="2361184"/>
                    <a:pt x="4536186" y="2361184"/>
                  </a:cubicBezTo>
                  <a:lnTo>
                    <a:pt x="147574" y="2361184"/>
                  </a:lnTo>
                  <a:cubicBezTo>
                    <a:pt x="66040" y="2361184"/>
                    <a:pt x="0" y="2295144"/>
                    <a:pt x="0" y="2213610"/>
                  </a:cubicBezTo>
                  <a:close/>
                </a:path>
              </a:pathLst>
            </a:custGeom>
            <a:solidFill>
              <a:srgbClr val="0E1D30"/>
            </a:solidFill>
            <a:ln w="15240" cap="sq">
              <a:solidFill>
                <a:srgbClr val="1D3850"/>
              </a:solidFill>
              <a:prstDash val="solid"/>
              <a:miter/>
            </a:ln>
          </p:spPr>
        </p:sp>
      </p:grpSp>
      <p:grpSp>
        <p:nvGrpSpPr>
          <p:cNvPr name="Group 37" id="37"/>
          <p:cNvGrpSpPr/>
          <p:nvPr/>
        </p:nvGrpSpPr>
        <p:grpSpPr>
          <a:xfrm rot="0">
            <a:off x="14621256" y="3291840"/>
            <a:ext cx="2125980" cy="342900"/>
            <a:chOff x="0" y="0"/>
            <a:chExt cx="2834640" cy="457200"/>
          </a:xfrm>
        </p:grpSpPr>
        <p:sp>
          <p:nvSpPr>
            <p:cNvPr name="Freeform 38" id="38"/>
            <p:cNvSpPr/>
            <p:nvPr/>
          </p:nvSpPr>
          <p:spPr>
            <a:xfrm flipH="false" flipV="false" rot="0">
              <a:off x="0" y="0"/>
              <a:ext cx="2834640" cy="457200"/>
            </a:xfrm>
            <a:custGeom>
              <a:avLst/>
              <a:gdLst/>
              <a:ahLst/>
              <a:cxnLst/>
              <a:rect r="r" b="b" t="t" l="l"/>
              <a:pathLst>
                <a:path h="457200" w="2834640">
                  <a:moveTo>
                    <a:pt x="0" y="0"/>
                  </a:moveTo>
                  <a:lnTo>
                    <a:pt x="2834640" y="0"/>
                  </a:lnTo>
                  <a:lnTo>
                    <a:pt x="2834640" y="457200"/>
                  </a:lnTo>
                  <a:lnTo>
                    <a:pt x="0" y="457200"/>
                  </a:lnTo>
                  <a:close/>
                </a:path>
              </a:pathLst>
            </a:custGeom>
            <a:blipFill>
              <a:blip r:embed="rId3">
                <a:alphaModFix amt="0"/>
              </a:blip>
              <a:stretch>
                <a:fillRect l="0" t="-70807" r="0" b="-70807"/>
              </a:stretch>
            </a:blipFill>
          </p:spPr>
        </p:sp>
        <p:sp>
          <p:nvSpPr>
            <p:cNvPr name="TextBox 39" id="39"/>
            <p:cNvSpPr txBox="true"/>
            <p:nvPr/>
          </p:nvSpPr>
          <p:spPr>
            <a:xfrm>
              <a:off x="0" y="-9525"/>
              <a:ext cx="283464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SENSOR</a:t>
              </a:r>
            </a:p>
          </p:txBody>
        </p:sp>
      </p:grpSp>
      <p:grpSp>
        <p:nvGrpSpPr>
          <p:cNvPr name="Group 40" id="40"/>
          <p:cNvGrpSpPr/>
          <p:nvPr/>
        </p:nvGrpSpPr>
        <p:grpSpPr>
          <a:xfrm rot="0">
            <a:off x="13853160" y="3922776"/>
            <a:ext cx="2894076" cy="576072"/>
            <a:chOff x="0" y="0"/>
            <a:chExt cx="3858768" cy="768096"/>
          </a:xfrm>
        </p:grpSpPr>
        <p:sp>
          <p:nvSpPr>
            <p:cNvPr name="Freeform 41" id="41"/>
            <p:cNvSpPr/>
            <p:nvPr/>
          </p:nvSpPr>
          <p:spPr>
            <a:xfrm flipH="false" flipV="false" rot="0">
              <a:off x="0" y="0"/>
              <a:ext cx="3858768" cy="768096"/>
            </a:xfrm>
            <a:custGeom>
              <a:avLst/>
              <a:gdLst/>
              <a:ahLst/>
              <a:cxnLst/>
              <a:rect r="r" b="b" t="t" l="l"/>
              <a:pathLst>
                <a:path h="768096" w="3858768">
                  <a:moveTo>
                    <a:pt x="0" y="0"/>
                  </a:moveTo>
                  <a:lnTo>
                    <a:pt x="3858768" y="0"/>
                  </a:lnTo>
                  <a:lnTo>
                    <a:pt x="3858768" y="768096"/>
                  </a:lnTo>
                  <a:lnTo>
                    <a:pt x="0" y="768096"/>
                  </a:lnTo>
                  <a:close/>
                </a:path>
              </a:pathLst>
            </a:custGeom>
            <a:blipFill>
              <a:blip r:embed="rId3">
                <a:alphaModFix amt="0"/>
              </a:blip>
              <a:stretch>
                <a:fillRect l="0" t="-47889" r="0" b="-47889"/>
              </a:stretch>
            </a:blipFill>
          </p:spPr>
        </p:sp>
        <p:sp>
          <p:nvSpPr>
            <p:cNvPr name="TextBox 42" id="42"/>
            <p:cNvSpPr txBox="true"/>
            <p:nvPr/>
          </p:nvSpPr>
          <p:spPr>
            <a:xfrm>
              <a:off x="0" y="0"/>
              <a:ext cx="385876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&gt; 8°C</a:t>
              </a:r>
            </a:p>
          </p:txBody>
        </p:sp>
      </p:grpSp>
      <p:grpSp>
        <p:nvGrpSpPr>
          <p:cNvPr name="Group 43" id="43"/>
          <p:cNvGrpSpPr/>
          <p:nvPr/>
        </p:nvGrpSpPr>
        <p:grpSpPr>
          <a:xfrm rot="0">
            <a:off x="9730740" y="5094732"/>
            <a:ext cx="7325868" cy="1770888"/>
            <a:chOff x="0" y="0"/>
            <a:chExt cx="9767824" cy="2361184"/>
          </a:xfrm>
        </p:grpSpPr>
        <p:sp>
          <p:nvSpPr>
            <p:cNvPr name="Freeform 44" id="44"/>
            <p:cNvSpPr/>
            <p:nvPr/>
          </p:nvSpPr>
          <p:spPr>
            <a:xfrm flipH="false" flipV="false" rot="0">
              <a:off x="0" y="0"/>
              <a:ext cx="9767824" cy="2361184"/>
            </a:xfrm>
            <a:custGeom>
              <a:avLst/>
              <a:gdLst/>
              <a:ahLst/>
              <a:cxnLst/>
              <a:rect r="r" b="b" t="t" l="l"/>
              <a:pathLst>
                <a:path h="2361184" w="9767824">
                  <a:moveTo>
                    <a:pt x="0" y="147574"/>
                  </a:moveTo>
                  <a:cubicBezTo>
                    <a:pt x="0" y="66040"/>
                    <a:pt x="66040" y="0"/>
                    <a:pt x="147574" y="0"/>
                  </a:cubicBezTo>
                  <a:lnTo>
                    <a:pt x="9620250" y="0"/>
                  </a:lnTo>
                  <a:cubicBezTo>
                    <a:pt x="9701784" y="0"/>
                    <a:pt x="9767824" y="66040"/>
                    <a:pt x="9767824" y="147574"/>
                  </a:cubicBezTo>
                  <a:lnTo>
                    <a:pt x="9767824" y="2213610"/>
                  </a:lnTo>
                  <a:cubicBezTo>
                    <a:pt x="9767824" y="2295144"/>
                    <a:pt x="9701784" y="2361184"/>
                    <a:pt x="9620250" y="2361184"/>
                  </a:cubicBezTo>
                  <a:lnTo>
                    <a:pt x="147574" y="2361184"/>
                  </a:lnTo>
                  <a:cubicBezTo>
                    <a:pt x="66040" y="2361184"/>
                    <a:pt x="0" y="2295144"/>
                    <a:pt x="0" y="2213610"/>
                  </a:cubicBezTo>
                  <a:close/>
                </a:path>
              </a:pathLst>
            </a:custGeom>
            <a:solidFill>
              <a:srgbClr val="0E1D30"/>
            </a:solidFill>
            <a:ln w="15240" cap="sq">
              <a:solidFill>
                <a:srgbClr val="1D3850"/>
              </a:solidFill>
              <a:prstDash val="solid"/>
              <a:miter/>
            </a:ln>
          </p:spPr>
        </p:sp>
      </p:grpSp>
      <p:grpSp>
        <p:nvGrpSpPr>
          <p:cNvPr name="Group 45" id="45"/>
          <p:cNvGrpSpPr/>
          <p:nvPr/>
        </p:nvGrpSpPr>
        <p:grpSpPr>
          <a:xfrm rot="0">
            <a:off x="10808208" y="5376672"/>
            <a:ext cx="5939028" cy="342900"/>
            <a:chOff x="0" y="0"/>
            <a:chExt cx="7918704" cy="457200"/>
          </a:xfrm>
        </p:grpSpPr>
        <p:sp>
          <p:nvSpPr>
            <p:cNvPr name="Freeform 46" id="46"/>
            <p:cNvSpPr/>
            <p:nvPr/>
          </p:nvSpPr>
          <p:spPr>
            <a:xfrm flipH="false" flipV="false" rot="0">
              <a:off x="0" y="0"/>
              <a:ext cx="7918704" cy="457200"/>
            </a:xfrm>
            <a:custGeom>
              <a:avLst/>
              <a:gdLst/>
              <a:ahLst/>
              <a:cxnLst/>
              <a:rect r="r" b="b" t="t" l="l"/>
              <a:pathLst>
                <a:path h="457200" w="7918704">
                  <a:moveTo>
                    <a:pt x="0" y="0"/>
                  </a:moveTo>
                  <a:lnTo>
                    <a:pt x="7918704" y="0"/>
                  </a:lnTo>
                  <a:lnTo>
                    <a:pt x="7918704" y="457200"/>
                  </a:lnTo>
                  <a:lnTo>
                    <a:pt x="0" y="457200"/>
                  </a:lnTo>
                  <a:close/>
                </a:path>
              </a:pathLst>
            </a:custGeom>
            <a:blipFill>
              <a:blip r:embed="rId3">
                <a:alphaModFix amt="0"/>
              </a:blip>
              <a:stretch>
                <a:fillRect l="0" t="-287480" r="0" b="-287480"/>
              </a:stretch>
            </a:blipFill>
          </p:spPr>
        </p:sp>
        <p:sp>
          <p:nvSpPr>
            <p:cNvPr name="TextBox 47" id="47"/>
            <p:cNvSpPr txBox="true"/>
            <p:nvPr/>
          </p:nvSpPr>
          <p:spPr>
            <a:xfrm>
              <a:off x="0" y="-9525"/>
              <a:ext cx="791870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CORE PROBLEM</a:t>
              </a:r>
            </a:p>
          </p:txBody>
        </p:sp>
      </p:grpSp>
      <p:sp>
        <p:nvSpPr>
          <p:cNvPr name="TextBox 48" id="48"/>
          <p:cNvSpPr txBox="true"/>
          <p:nvPr/>
        </p:nvSpPr>
        <p:spPr>
          <a:xfrm rot="0">
            <a:off x="10040112" y="5952744"/>
            <a:ext cx="6707124" cy="47625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The alarm cannot distinguish a short disturbance from a prolonged violation.</a:t>
            </a:r>
          </a:p>
          <a:p>
            <a:pPr algn="l">
              <a:lnSpc>
                <a:spcPts val="1889"/>
              </a:lnSpc>
            </a:pPr>
          </a:p>
        </p:txBody>
      </p:sp>
      <p:grpSp>
        <p:nvGrpSpPr>
          <p:cNvPr name="Group 49" id="49"/>
          <p:cNvGrpSpPr/>
          <p:nvPr/>
        </p:nvGrpSpPr>
        <p:grpSpPr>
          <a:xfrm rot="0">
            <a:off x="9730740" y="7152132"/>
            <a:ext cx="7325868" cy="1290828"/>
            <a:chOff x="0" y="0"/>
            <a:chExt cx="9767824" cy="1721104"/>
          </a:xfrm>
        </p:grpSpPr>
        <p:sp>
          <p:nvSpPr>
            <p:cNvPr name="Freeform 50" id="50"/>
            <p:cNvSpPr/>
            <p:nvPr/>
          </p:nvSpPr>
          <p:spPr>
            <a:xfrm flipH="false" flipV="false" rot="0">
              <a:off x="0" y="0"/>
              <a:ext cx="9767824" cy="1721104"/>
            </a:xfrm>
            <a:custGeom>
              <a:avLst/>
              <a:gdLst/>
              <a:ahLst/>
              <a:cxnLst/>
              <a:rect r="r" b="b" t="t" l="l"/>
              <a:pathLst>
                <a:path h="1721104" w="9767824">
                  <a:moveTo>
                    <a:pt x="0" y="148082"/>
                  </a:moveTo>
                  <a:cubicBezTo>
                    <a:pt x="0" y="66294"/>
                    <a:pt x="66294" y="0"/>
                    <a:pt x="148082" y="0"/>
                  </a:cubicBezTo>
                  <a:lnTo>
                    <a:pt x="9619742" y="0"/>
                  </a:lnTo>
                  <a:cubicBezTo>
                    <a:pt x="9701530" y="0"/>
                    <a:pt x="9767824" y="66294"/>
                    <a:pt x="9767824" y="148082"/>
                  </a:cubicBezTo>
                  <a:lnTo>
                    <a:pt x="9767824" y="1573022"/>
                  </a:lnTo>
                  <a:cubicBezTo>
                    <a:pt x="9767824" y="1654810"/>
                    <a:pt x="9701530" y="1721104"/>
                    <a:pt x="9619742" y="1721104"/>
                  </a:cubicBezTo>
                  <a:lnTo>
                    <a:pt x="148082" y="1721104"/>
                  </a:lnTo>
                  <a:cubicBezTo>
                    <a:pt x="66294" y="1721104"/>
                    <a:pt x="0" y="1654810"/>
                    <a:pt x="0" y="1573022"/>
                  </a:cubicBezTo>
                  <a:close/>
                </a:path>
              </a:pathLst>
            </a:custGeom>
            <a:solidFill>
              <a:srgbClr val="0E1D30"/>
            </a:solidFill>
            <a:ln w="15240" cap="sq">
              <a:solidFill>
                <a:srgbClr val="1D3850"/>
              </a:solidFill>
              <a:prstDash val="solid"/>
              <a:miter/>
            </a:ln>
          </p:spPr>
        </p:sp>
      </p:grpSp>
      <p:grpSp>
        <p:nvGrpSpPr>
          <p:cNvPr name="Group 51" id="51"/>
          <p:cNvGrpSpPr/>
          <p:nvPr/>
        </p:nvGrpSpPr>
        <p:grpSpPr>
          <a:xfrm rot="0">
            <a:off x="10742406" y="7338060"/>
            <a:ext cx="5939028" cy="342900"/>
            <a:chOff x="0" y="0"/>
            <a:chExt cx="7918704" cy="457200"/>
          </a:xfrm>
        </p:grpSpPr>
        <p:sp>
          <p:nvSpPr>
            <p:cNvPr name="Freeform 52" id="52"/>
            <p:cNvSpPr/>
            <p:nvPr/>
          </p:nvSpPr>
          <p:spPr>
            <a:xfrm flipH="false" flipV="false" rot="0">
              <a:off x="0" y="0"/>
              <a:ext cx="7918704" cy="457200"/>
            </a:xfrm>
            <a:custGeom>
              <a:avLst/>
              <a:gdLst/>
              <a:ahLst/>
              <a:cxnLst/>
              <a:rect r="r" b="b" t="t" l="l"/>
              <a:pathLst>
                <a:path h="457200" w="7918704">
                  <a:moveTo>
                    <a:pt x="0" y="0"/>
                  </a:moveTo>
                  <a:lnTo>
                    <a:pt x="7918704" y="0"/>
                  </a:lnTo>
                  <a:lnTo>
                    <a:pt x="7918704" y="457200"/>
                  </a:lnTo>
                  <a:lnTo>
                    <a:pt x="0" y="457200"/>
                  </a:lnTo>
                  <a:close/>
                </a:path>
              </a:pathLst>
            </a:custGeom>
            <a:blipFill>
              <a:blip r:embed="rId3">
                <a:alphaModFix amt="0"/>
              </a:blip>
              <a:stretch>
                <a:fillRect l="0" t="-287480" r="0" b="-287480"/>
              </a:stretch>
            </a:blipFill>
          </p:spPr>
        </p:sp>
        <p:sp>
          <p:nvSpPr>
            <p:cNvPr name="TextBox 53" id="53"/>
            <p:cNvSpPr txBox="true"/>
            <p:nvPr/>
          </p:nvSpPr>
          <p:spPr>
            <a:xfrm>
              <a:off x="0" y="-9525"/>
              <a:ext cx="791870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CONSEQUENCE</a:t>
              </a:r>
            </a:p>
          </p:txBody>
        </p:sp>
      </p:grpSp>
      <p:sp>
        <p:nvSpPr>
          <p:cNvPr name="TextBox 54" id="54"/>
          <p:cNvSpPr txBox="true"/>
          <p:nvPr/>
        </p:nvSpPr>
        <p:spPr>
          <a:xfrm rot="0">
            <a:off x="9730740" y="7728585"/>
            <a:ext cx="7325868" cy="71437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False alarms can make operators complacent and cause critical incidents to be missed.</a:t>
            </a:r>
          </a:p>
          <a:p>
            <a:pPr algn="l">
              <a:lnSpc>
                <a:spcPts val="1889"/>
              </a:lnSpc>
            </a:pPr>
          </a:p>
        </p:txBody>
      </p:sp>
      <p:sp>
        <p:nvSpPr>
          <p:cNvPr name="TextBox 55" id="55"/>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46D6F5"/>
            </a:solidFill>
            <a:ln w="19050" cap="sq">
              <a:solidFill>
                <a:srgbClr val="46D6F5"/>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01</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1</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The core idea: thermal exposure</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Assess incident se</a:t>
              </a:r>
              <a:r>
                <a:rPr lang="en-US" sz="1575">
                  <a:solidFill>
                    <a:srgbClr val="9BAFC2"/>
                  </a:solidFill>
                  <a:latin typeface="Aptos"/>
                  <a:ea typeface="Aptos"/>
                  <a:cs typeface="Aptos"/>
                  <a:sym typeface="Aptos"/>
                </a:rPr>
                <a:t>verity from temperature deviation and cumulative exposure duration.</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839915" y="3212783"/>
            <a:ext cx="3175635" cy="1735455"/>
            <a:chOff x="0" y="0"/>
            <a:chExt cx="4234180" cy="2313940"/>
          </a:xfrm>
        </p:grpSpPr>
        <p:sp>
          <p:nvSpPr>
            <p:cNvPr name="Freeform 23" id="23"/>
            <p:cNvSpPr/>
            <p:nvPr/>
          </p:nvSpPr>
          <p:spPr>
            <a:xfrm flipH="false" flipV="false" rot="0">
              <a:off x="0" y="0"/>
              <a:ext cx="4234180" cy="2313940"/>
            </a:xfrm>
            <a:custGeom>
              <a:avLst/>
              <a:gdLst/>
              <a:ahLst/>
              <a:cxnLst/>
              <a:rect r="r" b="b" t="t" l="l"/>
              <a:pathLst>
                <a:path h="2313940" w="4234180">
                  <a:moveTo>
                    <a:pt x="0" y="148082"/>
                  </a:moveTo>
                  <a:cubicBezTo>
                    <a:pt x="0" y="66294"/>
                    <a:pt x="66294" y="0"/>
                    <a:pt x="148082" y="0"/>
                  </a:cubicBezTo>
                  <a:lnTo>
                    <a:pt x="4086098" y="0"/>
                  </a:lnTo>
                  <a:cubicBezTo>
                    <a:pt x="4167886" y="0"/>
                    <a:pt x="4234180" y="66294"/>
                    <a:pt x="4234180" y="148082"/>
                  </a:cubicBezTo>
                  <a:lnTo>
                    <a:pt x="4234180" y="2165858"/>
                  </a:lnTo>
                  <a:cubicBezTo>
                    <a:pt x="4234180" y="2247646"/>
                    <a:pt x="4167886" y="2313940"/>
                    <a:pt x="4086098" y="2313940"/>
                  </a:cubicBezTo>
                  <a:lnTo>
                    <a:pt x="148082" y="2313940"/>
                  </a:lnTo>
                  <a:cubicBezTo>
                    <a:pt x="66294" y="2313940"/>
                    <a:pt x="0" y="2247646"/>
                    <a:pt x="0" y="2165858"/>
                  </a:cubicBezTo>
                  <a:close/>
                </a:path>
              </a:pathLst>
            </a:custGeom>
            <a:solidFill>
              <a:srgbClr val="10253B"/>
            </a:solidFill>
            <a:ln w="20955" cap="sq">
              <a:solidFill>
                <a:srgbClr val="FF5E78"/>
              </a:solidFill>
              <a:prstDash val="solid"/>
              <a:miter/>
            </a:ln>
          </p:spPr>
        </p:sp>
      </p:grpSp>
      <p:grpSp>
        <p:nvGrpSpPr>
          <p:cNvPr name="Group 24" id="24"/>
          <p:cNvGrpSpPr/>
          <p:nvPr/>
        </p:nvGrpSpPr>
        <p:grpSpPr>
          <a:xfrm rot="0">
            <a:off x="1014984" y="3415284"/>
            <a:ext cx="2825496" cy="329184"/>
            <a:chOff x="0" y="0"/>
            <a:chExt cx="3767328" cy="438912"/>
          </a:xfrm>
        </p:grpSpPr>
        <p:sp>
          <p:nvSpPr>
            <p:cNvPr name="Freeform 25" id="25"/>
            <p:cNvSpPr/>
            <p:nvPr/>
          </p:nvSpPr>
          <p:spPr>
            <a:xfrm flipH="false" flipV="false" rot="0">
              <a:off x="0" y="0"/>
              <a:ext cx="3767328" cy="438912"/>
            </a:xfrm>
            <a:custGeom>
              <a:avLst/>
              <a:gdLst/>
              <a:ahLst/>
              <a:cxnLst/>
              <a:rect r="r" b="b" t="t" l="l"/>
              <a:pathLst>
                <a:path h="438912" w="3767328">
                  <a:moveTo>
                    <a:pt x="0" y="0"/>
                  </a:moveTo>
                  <a:lnTo>
                    <a:pt x="3767328" y="0"/>
                  </a:lnTo>
                  <a:lnTo>
                    <a:pt x="3767328" y="438912"/>
                  </a:lnTo>
                  <a:lnTo>
                    <a:pt x="0" y="438912"/>
                  </a:lnTo>
                  <a:close/>
                </a:path>
              </a:pathLst>
            </a:custGeom>
            <a:blipFill>
              <a:blip r:embed="rId3">
                <a:alphaModFix amt="0"/>
              </a:blip>
              <a:stretch>
                <a:fillRect l="0" t="-117246" r="0" b="-117246"/>
              </a:stretch>
            </a:blipFill>
          </p:spPr>
        </p:sp>
        <p:sp>
          <p:nvSpPr>
            <p:cNvPr name="TextBox 26" id="26"/>
            <p:cNvSpPr txBox="true"/>
            <p:nvPr/>
          </p:nvSpPr>
          <p:spPr>
            <a:xfrm>
              <a:off x="0" y="0"/>
              <a:ext cx="376732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OLD LOGIC</a:t>
              </a:r>
            </a:p>
          </p:txBody>
        </p:sp>
      </p:grpSp>
      <p:grpSp>
        <p:nvGrpSpPr>
          <p:cNvPr name="Group 27" id="27"/>
          <p:cNvGrpSpPr/>
          <p:nvPr/>
        </p:nvGrpSpPr>
        <p:grpSpPr>
          <a:xfrm rot="0">
            <a:off x="1014984" y="3854196"/>
            <a:ext cx="2825496" cy="973836"/>
            <a:chOff x="0" y="0"/>
            <a:chExt cx="3767328" cy="1298448"/>
          </a:xfrm>
        </p:grpSpPr>
        <p:sp>
          <p:nvSpPr>
            <p:cNvPr name="Freeform 28" id="28"/>
            <p:cNvSpPr/>
            <p:nvPr/>
          </p:nvSpPr>
          <p:spPr>
            <a:xfrm flipH="false" flipV="false" rot="0">
              <a:off x="0" y="0"/>
              <a:ext cx="3767328" cy="1298448"/>
            </a:xfrm>
            <a:custGeom>
              <a:avLst/>
              <a:gdLst/>
              <a:ahLst/>
              <a:cxnLst/>
              <a:rect r="r" b="b" t="t" l="l"/>
              <a:pathLst>
                <a:path h="1298448" w="3767328">
                  <a:moveTo>
                    <a:pt x="0" y="0"/>
                  </a:moveTo>
                  <a:lnTo>
                    <a:pt x="3767328" y="0"/>
                  </a:lnTo>
                  <a:lnTo>
                    <a:pt x="3767328" y="1298448"/>
                  </a:lnTo>
                  <a:lnTo>
                    <a:pt x="0" y="1298448"/>
                  </a:lnTo>
                  <a:close/>
                </a:path>
              </a:pathLst>
            </a:custGeom>
            <a:blipFill>
              <a:blip r:embed="rId3">
                <a:alphaModFix amt="0"/>
              </a:blip>
              <a:stretch>
                <a:fillRect l="0" t="-6534" r="0" b="-6534"/>
              </a:stretch>
            </a:blipFill>
          </p:spPr>
        </p:sp>
        <p:sp>
          <p:nvSpPr>
            <p:cNvPr name="TextBox 29" id="29"/>
            <p:cNvSpPr txBox="true"/>
            <p:nvPr/>
          </p:nvSpPr>
          <p:spPr>
            <a:xfrm>
              <a:off x="0" y="-9525"/>
              <a:ext cx="3767328" cy="130797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T &gt; limit</a:t>
              </a:r>
            </a:p>
            <a:p>
              <a:pPr algn="ctr">
                <a:lnSpc>
                  <a:spcPts val="1530"/>
                </a:lnSpc>
              </a:pPr>
              <a:r>
                <a:rPr lang="en-US" sz="1275">
                  <a:solidFill>
                    <a:srgbClr val="9BAFC2"/>
                  </a:solidFill>
                  <a:latin typeface="Aptos"/>
                  <a:ea typeface="Aptos"/>
                  <a:cs typeface="Aptos"/>
                  <a:sym typeface="Aptos"/>
                </a:rPr>
                <a:t>→ alarm</a:t>
              </a:r>
            </a:p>
          </p:txBody>
        </p:sp>
      </p:grpSp>
      <p:sp>
        <p:nvSpPr>
          <p:cNvPr name="AutoShape 30" id="30"/>
          <p:cNvSpPr/>
          <p:nvPr/>
        </p:nvSpPr>
        <p:spPr>
          <a:xfrm rot="86940">
            <a:off x="4068080" y="4077843"/>
            <a:ext cx="1506198" cy="0"/>
          </a:xfrm>
          <a:prstGeom prst="line">
            <a:avLst/>
          </a:prstGeom>
          <a:ln cap="rnd" w="19050">
            <a:solidFill>
              <a:srgbClr val="1D3850"/>
            </a:solidFill>
            <a:prstDash val="solid"/>
            <a:headEnd type="none" len="sm" w="sm"/>
            <a:tailEnd type="triangle" len="med" w="lg"/>
          </a:ln>
        </p:spPr>
      </p:sp>
      <p:grpSp>
        <p:nvGrpSpPr>
          <p:cNvPr name="Group 31" id="31"/>
          <p:cNvGrpSpPr/>
          <p:nvPr/>
        </p:nvGrpSpPr>
        <p:grpSpPr>
          <a:xfrm rot="0">
            <a:off x="5613082" y="3212783"/>
            <a:ext cx="3175635" cy="1735455"/>
            <a:chOff x="0" y="0"/>
            <a:chExt cx="4234180" cy="2313940"/>
          </a:xfrm>
        </p:grpSpPr>
        <p:sp>
          <p:nvSpPr>
            <p:cNvPr name="Freeform 32" id="32"/>
            <p:cNvSpPr/>
            <p:nvPr/>
          </p:nvSpPr>
          <p:spPr>
            <a:xfrm flipH="false" flipV="false" rot="0">
              <a:off x="0" y="0"/>
              <a:ext cx="4234180" cy="2313940"/>
            </a:xfrm>
            <a:custGeom>
              <a:avLst/>
              <a:gdLst/>
              <a:ahLst/>
              <a:cxnLst/>
              <a:rect r="r" b="b" t="t" l="l"/>
              <a:pathLst>
                <a:path h="2313940" w="4234180">
                  <a:moveTo>
                    <a:pt x="0" y="148082"/>
                  </a:moveTo>
                  <a:cubicBezTo>
                    <a:pt x="0" y="66294"/>
                    <a:pt x="66294" y="0"/>
                    <a:pt x="148082" y="0"/>
                  </a:cubicBezTo>
                  <a:lnTo>
                    <a:pt x="4086098" y="0"/>
                  </a:lnTo>
                  <a:cubicBezTo>
                    <a:pt x="4167886" y="0"/>
                    <a:pt x="4234180" y="66294"/>
                    <a:pt x="4234180" y="148082"/>
                  </a:cubicBezTo>
                  <a:lnTo>
                    <a:pt x="4234180" y="2165858"/>
                  </a:lnTo>
                  <a:cubicBezTo>
                    <a:pt x="4234180" y="2247646"/>
                    <a:pt x="4167886" y="2313940"/>
                    <a:pt x="4086098" y="2313940"/>
                  </a:cubicBezTo>
                  <a:lnTo>
                    <a:pt x="148082" y="2313940"/>
                  </a:lnTo>
                  <a:cubicBezTo>
                    <a:pt x="66294" y="2313940"/>
                    <a:pt x="0" y="2247646"/>
                    <a:pt x="0" y="2165858"/>
                  </a:cubicBezTo>
                  <a:close/>
                </a:path>
              </a:pathLst>
            </a:custGeom>
            <a:solidFill>
              <a:srgbClr val="10253B"/>
            </a:solidFill>
            <a:ln w="20955" cap="sq">
              <a:solidFill>
                <a:srgbClr val="46D6F5"/>
              </a:solidFill>
              <a:prstDash val="solid"/>
              <a:miter/>
            </a:ln>
          </p:spPr>
        </p:sp>
      </p:grpSp>
      <p:grpSp>
        <p:nvGrpSpPr>
          <p:cNvPr name="Group 33" id="33"/>
          <p:cNvGrpSpPr/>
          <p:nvPr/>
        </p:nvGrpSpPr>
        <p:grpSpPr>
          <a:xfrm rot="0">
            <a:off x="5788152" y="3415284"/>
            <a:ext cx="2825496" cy="329184"/>
            <a:chOff x="0" y="0"/>
            <a:chExt cx="3767328" cy="438912"/>
          </a:xfrm>
        </p:grpSpPr>
        <p:sp>
          <p:nvSpPr>
            <p:cNvPr name="Freeform 34" id="34"/>
            <p:cNvSpPr/>
            <p:nvPr/>
          </p:nvSpPr>
          <p:spPr>
            <a:xfrm flipH="false" flipV="false" rot="0">
              <a:off x="0" y="0"/>
              <a:ext cx="3767328" cy="438912"/>
            </a:xfrm>
            <a:custGeom>
              <a:avLst/>
              <a:gdLst/>
              <a:ahLst/>
              <a:cxnLst/>
              <a:rect r="r" b="b" t="t" l="l"/>
              <a:pathLst>
                <a:path h="438912" w="3767328">
                  <a:moveTo>
                    <a:pt x="0" y="0"/>
                  </a:moveTo>
                  <a:lnTo>
                    <a:pt x="3767328" y="0"/>
                  </a:lnTo>
                  <a:lnTo>
                    <a:pt x="3767328" y="438912"/>
                  </a:lnTo>
                  <a:lnTo>
                    <a:pt x="0" y="438912"/>
                  </a:lnTo>
                  <a:close/>
                </a:path>
              </a:pathLst>
            </a:custGeom>
            <a:blipFill>
              <a:blip r:embed="rId3">
                <a:alphaModFix amt="0"/>
              </a:blip>
              <a:stretch>
                <a:fillRect l="0" t="-117246" r="0" b="-117246"/>
              </a:stretch>
            </a:blipFill>
          </p:spPr>
        </p:sp>
        <p:sp>
          <p:nvSpPr>
            <p:cNvPr name="TextBox 35" id="35"/>
            <p:cNvSpPr txBox="true"/>
            <p:nvPr/>
          </p:nvSpPr>
          <p:spPr>
            <a:xfrm>
              <a:off x="0" y="0"/>
              <a:ext cx="376732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PROJECT LOGIC</a:t>
              </a:r>
            </a:p>
          </p:txBody>
        </p:sp>
      </p:grpSp>
      <p:grpSp>
        <p:nvGrpSpPr>
          <p:cNvPr name="Group 36" id="36"/>
          <p:cNvGrpSpPr/>
          <p:nvPr/>
        </p:nvGrpSpPr>
        <p:grpSpPr>
          <a:xfrm rot="0">
            <a:off x="5788152" y="3854196"/>
            <a:ext cx="2825496" cy="973836"/>
            <a:chOff x="0" y="0"/>
            <a:chExt cx="3767328" cy="1298448"/>
          </a:xfrm>
        </p:grpSpPr>
        <p:sp>
          <p:nvSpPr>
            <p:cNvPr name="Freeform 37" id="37"/>
            <p:cNvSpPr/>
            <p:nvPr/>
          </p:nvSpPr>
          <p:spPr>
            <a:xfrm flipH="false" flipV="false" rot="0">
              <a:off x="0" y="0"/>
              <a:ext cx="3767328" cy="1298448"/>
            </a:xfrm>
            <a:custGeom>
              <a:avLst/>
              <a:gdLst/>
              <a:ahLst/>
              <a:cxnLst/>
              <a:rect r="r" b="b" t="t" l="l"/>
              <a:pathLst>
                <a:path h="1298448" w="3767328">
                  <a:moveTo>
                    <a:pt x="0" y="0"/>
                  </a:moveTo>
                  <a:lnTo>
                    <a:pt x="3767328" y="0"/>
                  </a:lnTo>
                  <a:lnTo>
                    <a:pt x="3767328" y="1298448"/>
                  </a:lnTo>
                  <a:lnTo>
                    <a:pt x="0" y="1298448"/>
                  </a:lnTo>
                  <a:close/>
                </a:path>
              </a:pathLst>
            </a:custGeom>
            <a:blipFill>
              <a:blip r:embed="rId3">
                <a:alphaModFix amt="0"/>
              </a:blip>
              <a:stretch>
                <a:fillRect l="0" t="-6534" r="0" b="-6534"/>
              </a:stretch>
            </a:blipFill>
          </p:spPr>
        </p:sp>
        <p:sp>
          <p:nvSpPr>
            <p:cNvPr name="TextBox 38" id="38"/>
            <p:cNvSpPr txBox="true"/>
            <p:nvPr/>
          </p:nvSpPr>
          <p:spPr>
            <a:xfrm>
              <a:off x="0" y="-9525"/>
              <a:ext cx="3767328" cy="130797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temperature deviation ×</a:t>
              </a:r>
            </a:p>
            <a:p>
              <a:pPr algn="ctr">
                <a:lnSpc>
                  <a:spcPts val="1530"/>
                </a:lnSpc>
              </a:pPr>
              <a:r>
                <a:rPr lang="en-US" sz="1275">
                  <a:solidFill>
                    <a:srgbClr val="9BAFC2"/>
                  </a:solidFill>
                  <a:latin typeface="Aptos"/>
                  <a:ea typeface="Aptos"/>
                  <a:cs typeface="Aptos"/>
                  <a:sym typeface="Aptos"/>
                </a:rPr>
                <a:t>exposure duration</a:t>
              </a:r>
            </a:p>
          </p:txBody>
        </p:sp>
      </p:grpSp>
      <p:sp>
        <p:nvSpPr>
          <p:cNvPr name="AutoShape 39" id="39"/>
          <p:cNvSpPr/>
          <p:nvPr/>
        </p:nvSpPr>
        <p:spPr>
          <a:xfrm rot="86940">
            <a:off x="8868680" y="4077843"/>
            <a:ext cx="1506198" cy="0"/>
          </a:xfrm>
          <a:prstGeom prst="line">
            <a:avLst/>
          </a:prstGeom>
          <a:ln cap="rnd" w="19050">
            <a:solidFill>
              <a:srgbClr val="1D3850"/>
            </a:solidFill>
            <a:prstDash val="solid"/>
            <a:headEnd type="none" len="sm" w="sm"/>
            <a:tailEnd type="triangle" len="med" w="lg"/>
          </a:ln>
        </p:spPr>
      </p:sp>
      <p:grpSp>
        <p:nvGrpSpPr>
          <p:cNvPr name="Group 40" id="40"/>
          <p:cNvGrpSpPr/>
          <p:nvPr/>
        </p:nvGrpSpPr>
        <p:grpSpPr>
          <a:xfrm rot="0">
            <a:off x="10413682" y="3212783"/>
            <a:ext cx="3175635" cy="1735455"/>
            <a:chOff x="0" y="0"/>
            <a:chExt cx="4234180" cy="2313940"/>
          </a:xfrm>
        </p:grpSpPr>
        <p:sp>
          <p:nvSpPr>
            <p:cNvPr name="Freeform 41" id="41"/>
            <p:cNvSpPr/>
            <p:nvPr/>
          </p:nvSpPr>
          <p:spPr>
            <a:xfrm flipH="false" flipV="false" rot="0">
              <a:off x="0" y="0"/>
              <a:ext cx="4234180" cy="2313940"/>
            </a:xfrm>
            <a:custGeom>
              <a:avLst/>
              <a:gdLst/>
              <a:ahLst/>
              <a:cxnLst/>
              <a:rect r="r" b="b" t="t" l="l"/>
              <a:pathLst>
                <a:path h="2313940" w="4234180">
                  <a:moveTo>
                    <a:pt x="0" y="148082"/>
                  </a:moveTo>
                  <a:cubicBezTo>
                    <a:pt x="0" y="66294"/>
                    <a:pt x="66294" y="0"/>
                    <a:pt x="148082" y="0"/>
                  </a:cubicBezTo>
                  <a:lnTo>
                    <a:pt x="4086098" y="0"/>
                  </a:lnTo>
                  <a:cubicBezTo>
                    <a:pt x="4167886" y="0"/>
                    <a:pt x="4234180" y="66294"/>
                    <a:pt x="4234180" y="148082"/>
                  </a:cubicBezTo>
                  <a:lnTo>
                    <a:pt x="4234180" y="2165858"/>
                  </a:lnTo>
                  <a:cubicBezTo>
                    <a:pt x="4234180" y="2247646"/>
                    <a:pt x="4167886" y="2313940"/>
                    <a:pt x="4086098" y="2313940"/>
                  </a:cubicBezTo>
                  <a:lnTo>
                    <a:pt x="148082" y="2313940"/>
                  </a:lnTo>
                  <a:cubicBezTo>
                    <a:pt x="66294" y="2313940"/>
                    <a:pt x="0" y="2247646"/>
                    <a:pt x="0" y="2165858"/>
                  </a:cubicBezTo>
                  <a:close/>
                </a:path>
              </a:pathLst>
            </a:custGeom>
            <a:solidFill>
              <a:srgbClr val="10253B"/>
            </a:solidFill>
            <a:ln w="20955" cap="sq">
              <a:solidFill>
                <a:srgbClr val="76E2A1"/>
              </a:solidFill>
              <a:prstDash val="solid"/>
              <a:miter/>
            </a:ln>
          </p:spPr>
        </p:sp>
      </p:grpSp>
      <p:grpSp>
        <p:nvGrpSpPr>
          <p:cNvPr name="Group 42" id="42"/>
          <p:cNvGrpSpPr/>
          <p:nvPr/>
        </p:nvGrpSpPr>
        <p:grpSpPr>
          <a:xfrm rot="0">
            <a:off x="10588752" y="3415284"/>
            <a:ext cx="2825496" cy="329184"/>
            <a:chOff x="0" y="0"/>
            <a:chExt cx="3767328" cy="438912"/>
          </a:xfrm>
        </p:grpSpPr>
        <p:sp>
          <p:nvSpPr>
            <p:cNvPr name="Freeform 43" id="43"/>
            <p:cNvSpPr/>
            <p:nvPr/>
          </p:nvSpPr>
          <p:spPr>
            <a:xfrm flipH="false" flipV="false" rot="0">
              <a:off x="0" y="0"/>
              <a:ext cx="3767328" cy="438912"/>
            </a:xfrm>
            <a:custGeom>
              <a:avLst/>
              <a:gdLst/>
              <a:ahLst/>
              <a:cxnLst/>
              <a:rect r="r" b="b" t="t" l="l"/>
              <a:pathLst>
                <a:path h="438912" w="3767328">
                  <a:moveTo>
                    <a:pt x="0" y="0"/>
                  </a:moveTo>
                  <a:lnTo>
                    <a:pt x="3767328" y="0"/>
                  </a:lnTo>
                  <a:lnTo>
                    <a:pt x="3767328" y="438912"/>
                  </a:lnTo>
                  <a:lnTo>
                    <a:pt x="0" y="438912"/>
                  </a:lnTo>
                  <a:close/>
                </a:path>
              </a:pathLst>
            </a:custGeom>
            <a:blipFill>
              <a:blip r:embed="rId3">
                <a:alphaModFix amt="0"/>
              </a:blip>
              <a:stretch>
                <a:fillRect l="0" t="-117246" r="0" b="-117246"/>
              </a:stretch>
            </a:blipFill>
          </p:spPr>
        </p:sp>
        <p:sp>
          <p:nvSpPr>
            <p:cNvPr name="TextBox 44" id="44"/>
            <p:cNvSpPr txBox="true"/>
            <p:nvPr/>
          </p:nvSpPr>
          <p:spPr>
            <a:xfrm>
              <a:off x="0" y="0"/>
              <a:ext cx="376732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THERMAL FSM</a:t>
              </a:r>
            </a:p>
          </p:txBody>
        </p:sp>
      </p:grpSp>
      <p:grpSp>
        <p:nvGrpSpPr>
          <p:cNvPr name="Group 45" id="45"/>
          <p:cNvGrpSpPr/>
          <p:nvPr/>
        </p:nvGrpSpPr>
        <p:grpSpPr>
          <a:xfrm rot="0">
            <a:off x="10588752" y="3854196"/>
            <a:ext cx="2825496" cy="973836"/>
            <a:chOff x="0" y="0"/>
            <a:chExt cx="3767328" cy="1298448"/>
          </a:xfrm>
        </p:grpSpPr>
        <p:sp>
          <p:nvSpPr>
            <p:cNvPr name="Freeform 46" id="46"/>
            <p:cNvSpPr/>
            <p:nvPr/>
          </p:nvSpPr>
          <p:spPr>
            <a:xfrm flipH="false" flipV="false" rot="0">
              <a:off x="0" y="0"/>
              <a:ext cx="3767328" cy="1298448"/>
            </a:xfrm>
            <a:custGeom>
              <a:avLst/>
              <a:gdLst/>
              <a:ahLst/>
              <a:cxnLst/>
              <a:rect r="r" b="b" t="t" l="l"/>
              <a:pathLst>
                <a:path h="1298448" w="3767328">
                  <a:moveTo>
                    <a:pt x="0" y="0"/>
                  </a:moveTo>
                  <a:lnTo>
                    <a:pt x="3767328" y="0"/>
                  </a:lnTo>
                  <a:lnTo>
                    <a:pt x="3767328" y="1298448"/>
                  </a:lnTo>
                  <a:lnTo>
                    <a:pt x="0" y="1298448"/>
                  </a:lnTo>
                  <a:close/>
                </a:path>
              </a:pathLst>
            </a:custGeom>
            <a:blipFill>
              <a:blip r:embed="rId3">
                <a:alphaModFix amt="0"/>
              </a:blip>
              <a:stretch>
                <a:fillRect l="0" t="-6534" r="0" b="-6534"/>
              </a:stretch>
            </a:blipFill>
          </p:spPr>
        </p:sp>
        <p:sp>
          <p:nvSpPr>
            <p:cNvPr name="TextBox 47" id="47"/>
            <p:cNvSpPr txBox="true"/>
            <p:nvPr/>
          </p:nvSpPr>
          <p:spPr>
            <a:xfrm>
              <a:off x="0" y="-9525"/>
              <a:ext cx="3767328" cy="130797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STATE_NORMAL →</a:t>
              </a:r>
            </a:p>
            <a:p>
              <a:pPr algn="ctr">
                <a:lnSpc>
                  <a:spcPts val="1530"/>
                </a:lnSpc>
              </a:pPr>
              <a:r>
                <a:rPr lang="en-US" sz="1275">
                  <a:solidFill>
                    <a:srgbClr val="9BAFC2"/>
                  </a:solidFill>
                  <a:latin typeface="Aptos"/>
                  <a:ea typeface="Aptos"/>
                  <a:cs typeface="Aptos"/>
                  <a:sym typeface="Aptos"/>
                </a:rPr>
                <a:t>STATE_WARNING → STATE_VIOLATION</a:t>
              </a:r>
            </a:p>
          </p:txBody>
        </p:sp>
      </p:grpSp>
      <p:sp>
        <p:nvSpPr>
          <p:cNvPr name="AutoShape 48" id="48"/>
          <p:cNvSpPr/>
          <p:nvPr/>
        </p:nvSpPr>
        <p:spPr>
          <a:xfrm rot="86940">
            <a:off x="13669280" y="4077843"/>
            <a:ext cx="1506198" cy="0"/>
          </a:xfrm>
          <a:prstGeom prst="line">
            <a:avLst/>
          </a:prstGeom>
          <a:ln cap="rnd" w="19050">
            <a:solidFill>
              <a:srgbClr val="1D3850"/>
            </a:solidFill>
            <a:prstDash val="solid"/>
            <a:headEnd type="none" len="sm" w="sm"/>
            <a:tailEnd type="triangle" len="med" w="lg"/>
          </a:ln>
        </p:spPr>
      </p:sp>
      <p:grpSp>
        <p:nvGrpSpPr>
          <p:cNvPr name="Group 49" id="49"/>
          <p:cNvGrpSpPr/>
          <p:nvPr/>
        </p:nvGrpSpPr>
        <p:grpSpPr>
          <a:xfrm rot="0">
            <a:off x="15214282" y="3212783"/>
            <a:ext cx="2146935" cy="1735455"/>
            <a:chOff x="0" y="0"/>
            <a:chExt cx="2862580" cy="2313940"/>
          </a:xfrm>
        </p:grpSpPr>
        <p:sp>
          <p:nvSpPr>
            <p:cNvPr name="Freeform 50" id="50"/>
            <p:cNvSpPr/>
            <p:nvPr/>
          </p:nvSpPr>
          <p:spPr>
            <a:xfrm flipH="false" flipV="false" rot="0">
              <a:off x="0" y="0"/>
              <a:ext cx="2862580" cy="2313940"/>
            </a:xfrm>
            <a:custGeom>
              <a:avLst/>
              <a:gdLst/>
              <a:ahLst/>
              <a:cxnLst/>
              <a:rect r="r" b="b" t="t" l="l"/>
              <a:pathLst>
                <a:path h="2313940" w="2862580">
                  <a:moveTo>
                    <a:pt x="0" y="148082"/>
                  </a:moveTo>
                  <a:cubicBezTo>
                    <a:pt x="0" y="66294"/>
                    <a:pt x="66294" y="0"/>
                    <a:pt x="148082" y="0"/>
                  </a:cubicBezTo>
                  <a:lnTo>
                    <a:pt x="2714498" y="0"/>
                  </a:lnTo>
                  <a:cubicBezTo>
                    <a:pt x="2796286" y="0"/>
                    <a:pt x="2862580" y="66294"/>
                    <a:pt x="2862580" y="148082"/>
                  </a:cubicBezTo>
                  <a:lnTo>
                    <a:pt x="2862580" y="2165858"/>
                  </a:lnTo>
                  <a:cubicBezTo>
                    <a:pt x="2862580" y="2247646"/>
                    <a:pt x="2796286" y="2313940"/>
                    <a:pt x="2714498" y="2313940"/>
                  </a:cubicBezTo>
                  <a:lnTo>
                    <a:pt x="148082" y="2313940"/>
                  </a:lnTo>
                  <a:cubicBezTo>
                    <a:pt x="66294" y="2313940"/>
                    <a:pt x="0" y="2247646"/>
                    <a:pt x="0" y="2165858"/>
                  </a:cubicBezTo>
                  <a:close/>
                </a:path>
              </a:pathLst>
            </a:custGeom>
            <a:solidFill>
              <a:srgbClr val="10253B"/>
            </a:solidFill>
            <a:ln w="20955" cap="sq">
              <a:solidFill>
                <a:srgbClr val="F6C85F"/>
              </a:solidFill>
              <a:prstDash val="solid"/>
              <a:miter/>
            </a:ln>
          </p:spPr>
        </p:sp>
      </p:grpSp>
      <p:grpSp>
        <p:nvGrpSpPr>
          <p:cNvPr name="Group 51" id="51"/>
          <p:cNvGrpSpPr/>
          <p:nvPr/>
        </p:nvGrpSpPr>
        <p:grpSpPr>
          <a:xfrm rot="0">
            <a:off x="15389352" y="3415284"/>
            <a:ext cx="1796796" cy="329184"/>
            <a:chOff x="0" y="0"/>
            <a:chExt cx="2395728" cy="438912"/>
          </a:xfrm>
        </p:grpSpPr>
        <p:sp>
          <p:nvSpPr>
            <p:cNvPr name="Freeform 52" id="52"/>
            <p:cNvSpPr/>
            <p:nvPr/>
          </p:nvSpPr>
          <p:spPr>
            <a:xfrm flipH="false" flipV="false" rot="0">
              <a:off x="0" y="0"/>
              <a:ext cx="2395728" cy="438912"/>
            </a:xfrm>
            <a:custGeom>
              <a:avLst/>
              <a:gdLst/>
              <a:ahLst/>
              <a:cxnLst/>
              <a:rect r="r" b="b" t="t" l="l"/>
              <a:pathLst>
                <a:path h="438912" w="2395728">
                  <a:moveTo>
                    <a:pt x="0" y="0"/>
                  </a:moveTo>
                  <a:lnTo>
                    <a:pt x="2395728" y="0"/>
                  </a:lnTo>
                  <a:lnTo>
                    <a:pt x="2395728" y="438912"/>
                  </a:lnTo>
                  <a:lnTo>
                    <a:pt x="0" y="438912"/>
                  </a:lnTo>
                  <a:close/>
                </a:path>
              </a:pathLst>
            </a:custGeom>
            <a:blipFill>
              <a:blip r:embed="rId3">
                <a:alphaModFix amt="0"/>
              </a:blip>
              <a:stretch>
                <a:fillRect l="0" t="-56355" r="0" b="-56355"/>
              </a:stretch>
            </a:blipFill>
          </p:spPr>
        </p:sp>
        <p:sp>
          <p:nvSpPr>
            <p:cNvPr name="TextBox 53" id="53"/>
            <p:cNvSpPr txBox="true"/>
            <p:nvPr/>
          </p:nvSpPr>
          <p:spPr>
            <a:xfrm>
              <a:off x="0" y="0"/>
              <a:ext cx="239572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ACTION</a:t>
              </a:r>
            </a:p>
          </p:txBody>
        </p:sp>
      </p:grpSp>
      <p:grpSp>
        <p:nvGrpSpPr>
          <p:cNvPr name="Group 54" id="54"/>
          <p:cNvGrpSpPr/>
          <p:nvPr/>
        </p:nvGrpSpPr>
        <p:grpSpPr>
          <a:xfrm rot="0">
            <a:off x="15389352" y="3854196"/>
            <a:ext cx="1796796" cy="973836"/>
            <a:chOff x="0" y="0"/>
            <a:chExt cx="2395728" cy="1298448"/>
          </a:xfrm>
        </p:grpSpPr>
        <p:sp>
          <p:nvSpPr>
            <p:cNvPr name="Freeform 55" id="55"/>
            <p:cNvSpPr/>
            <p:nvPr/>
          </p:nvSpPr>
          <p:spPr>
            <a:xfrm flipH="false" flipV="false" rot="0">
              <a:off x="0" y="0"/>
              <a:ext cx="2395728" cy="1298448"/>
            </a:xfrm>
            <a:custGeom>
              <a:avLst/>
              <a:gdLst/>
              <a:ahLst/>
              <a:cxnLst/>
              <a:rect r="r" b="b" t="t" l="l"/>
              <a:pathLst>
                <a:path h="1298448" w="2395728">
                  <a:moveTo>
                    <a:pt x="0" y="0"/>
                  </a:moveTo>
                  <a:lnTo>
                    <a:pt x="2395728" y="0"/>
                  </a:lnTo>
                  <a:lnTo>
                    <a:pt x="2395728" y="1298448"/>
                  </a:lnTo>
                  <a:lnTo>
                    <a:pt x="0" y="1298448"/>
                  </a:lnTo>
                  <a:close/>
                </a:path>
              </a:pathLst>
            </a:custGeom>
            <a:blipFill>
              <a:blip r:embed="rId3">
                <a:alphaModFix amt="0"/>
              </a:blip>
              <a:stretch>
                <a:fillRect l="-19538" t="0" r="-19538" b="0"/>
              </a:stretch>
            </a:blipFill>
          </p:spPr>
        </p:sp>
        <p:sp>
          <p:nvSpPr>
            <p:cNvPr name="TextBox 56" id="56"/>
            <p:cNvSpPr txBox="true"/>
            <p:nvPr/>
          </p:nvSpPr>
          <p:spPr>
            <a:xfrm>
              <a:off x="0" y="-9525"/>
              <a:ext cx="2395728" cy="130797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alert /</a:t>
              </a:r>
            </a:p>
            <a:p>
              <a:pPr algn="ctr">
                <a:lnSpc>
                  <a:spcPts val="1530"/>
                </a:lnSpc>
              </a:pPr>
              <a:r>
                <a:rPr lang="en-US" sz="1275">
                  <a:solidFill>
                    <a:srgbClr val="9BAFC2"/>
                  </a:solidFill>
                  <a:latin typeface="Aptos"/>
                  <a:ea typeface="Aptos"/>
                  <a:cs typeface="Aptos"/>
                  <a:sym typeface="Aptos"/>
                </a:rPr>
                <a:t>cooling</a:t>
              </a:r>
            </a:p>
          </p:txBody>
        </p:sp>
      </p:grpSp>
      <p:grpSp>
        <p:nvGrpSpPr>
          <p:cNvPr name="Group 57" id="57"/>
          <p:cNvGrpSpPr/>
          <p:nvPr/>
        </p:nvGrpSpPr>
        <p:grpSpPr>
          <a:xfrm rot="0">
            <a:off x="8633460" y="6192012"/>
            <a:ext cx="2004060" cy="426720"/>
            <a:chOff x="0" y="0"/>
            <a:chExt cx="2672080" cy="568960"/>
          </a:xfrm>
        </p:grpSpPr>
        <p:sp>
          <p:nvSpPr>
            <p:cNvPr name="Freeform 58" id="58"/>
            <p:cNvSpPr/>
            <p:nvPr/>
          </p:nvSpPr>
          <p:spPr>
            <a:xfrm flipH="false" flipV="false" rot="0">
              <a:off x="0" y="0"/>
              <a:ext cx="2672080" cy="568960"/>
            </a:xfrm>
            <a:custGeom>
              <a:avLst/>
              <a:gdLst/>
              <a:ahLst/>
              <a:cxnLst/>
              <a:rect r="r" b="b" t="t" l="l"/>
              <a:pathLst>
                <a:path h="568960" w="2672080">
                  <a:moveTo>
                    <a:pt x="0" y="113792"/>
                  </a:moveTo>
                  <a:cubicBezTo>
                    <a:pt x="0" y="50927"/>
                    <a:pt x="50927" y="0"/>
                    <a:pt x="113792" y="0"/>
                  </a:cubicBezTo>
                  <a:lnTo>
                    <a:pt x="2558288" y="0"/>
                  </a:lnTo>
                  <a:cubicBezTo>
                    <a:pt x="2621153" y="0"/>
                    <a:pt x="2672080" y="50927"/>
                    <a:pt x="2672080" y="113792"/>
                  </a:cubicBezTo>
                  <a:lnTo>
                    <a:pt x="2672080" y="455168"/>
                  </a:lnTo>
                  <a:cubicBezTo>
                    <a:pt x="2672080" y="518033"/>
                    <a:pt x="2621153" y="568960"/>
                    <a:pt x="2558288" y="568960"/>
                  </a:cubicBezTo>
                  <a:lnTo>
                    <a:pt x="113792" y="568960"/>
                  </a:lnTo>
                  <a:cubicBezTo>
                    <a:pt x="50927" y="568960"/>
                    <a:pt x="0" y="518033"/>
                    <a:pt x="0" y="455168"/>
                  </a:cubicBezTo>
                  <a:close/>
                </a:path>
              </a:pathLst>
            </a:custGeom>
            <a:solidFill>
              <a:srgbClr val="76E2A1">
                <a:alpha val="3137"/>
              </a:srgbClr>
            </a:solidFill>
            <a:ln w="15240" cap="sq">
              <a:solidFill>
                <a:srgbClr val="76E2A1"/>
              </a:solidFill>
              <a:prstDash val="solid"/>
              <a:miter/>
            </a:ln>
          </p:spPr>
        </p:sp>
      </p:grpSp>
      <p:grpSp>
        <p:nvGrpSpPr>
          <p:cNvPr name="Group 59" id="59"/>
          <p:cNvGrpSpPr/>
          <p:nvPr/>
        </p:nvGrpSpPr>
        <p:grpSpPr>
          <a:xfrm rot="0">
            <a:off x="8641080" y="6295644"/>
            <a:ext cx="1988820" cy="178308"/>
            <a:chOff x="0" y="0"/>
            <a:chExt cx="2651760" cy="237744"/>
          </a:xfrm>
        </p:grpSpPr>
        <p:sp>
          <p:nvSpPr>
            <p:cNvPr name="Freeform 60" id="60"/>
            <p:cNvSpPr/>
            <p:nvPr/>
          </p:nvSpPr>
          <p:spPr>
            <a:xfrm flipH="false" flipV="false" rot="0">
              <a:off x="0" y="0"/>
              <a:ext cx="2651760" cy="237744"/>
            </a:xfrm>
            <a:custGeom>
              <a:avLst/>
              <a:gdLst/>
              <a:ahLst/>
              <a:cxnLst/>
              <a:rect r="r" b="b" t="t" l="l"/>
              <a:pathLst>
                <a:path h="237744" w="2651760">
                  <a:moveTo>
                    <a:pt x="0" y="0"/>
                  </a:moveTo>
                  <a:lnTo>
                    <a:pt x="2651760" y="0"/>
                  </a:lnTo>
                  <a:lnTo>
                    <a:pt x="2651760" y="237744"/>
                  </a:lnTo>
                  <a:lnTo>
                    <a:pt x="0" y="237744"/>
                  </a:lnTo>
                  <a:close/>
                </a:path>
              </a:pathLst>
            </a:custGeom>
            <a:blipFill>
              <a:blip r:embed="rId3">
                <a:alphaModFix amt="0"/>
              </a:blip>
              <a:stretch>
                <a:fillRect l="0" t="-167333" r="0" b="-167333"/>
              </a:stretch>
            </a:blipFill>
          </p:spPr>
        </p:sp>
        <p:sp>
          <p:nvSpPr>
            <p:cNvPr name="TextBox 61" id="61"/>
            <p:cNvSpPr txBox="true"/>
            <p:nvPr/>
          </p:nvSpPr>
          <p:spPr>
            <a:xfrm>
              <a:off x="0" y="0"/>
              <a:ext cx="2651760" cy="237744"/>
            </a:xfrm>
            <a:prstGeom prst="rect">
              <a:avLst/>
            </a:prstGeom>
          </p:spPr>
          <p:txBody>
            <a:bodyPr anchor="ctr" rtlCol="false" tIns="0" lIns="0" bIns="0" rIns="0"/>
            <a:lstStyle/>
            <a:p>
              <a:pPr algn="ctr">
                <a:lnSpc>
                  <a:spcPts val="1439"/>
                </a:lnSpc>
              </a:pPr>
              <a:r>
                <a:rPr lang="en-US" sz="1200" b="true">
                  <a:solidFill>
                    <a:srgbClr val="76E2A1"/>
                  </a:solidFill>
                  <a:latin typeface="Aptos Bold"/>
                  <a:ea typeface="Aptos Bold"/>
                  <a:cs typeface="Aptos Bold"/>
                  <a:sym typeface="Aptos Bold"/>
                </a:rPr>
                <a:t>LOW DURATION</a:t>
              </a:r>
            </a:p>
          </p:txBody>
        </p:sp>
      </p:grpSp>
      <p:grpSp>
        <p:nvGrpSpPr>
          <p:cNvPr name="Group 62" id="62"/>
          <p:cNvGrpSpPr/>
          <p:nvPr/>
        </p:nvGrpSpPr>
        <p:grpSpPr>
          <a:xfrm rot="0">
            <a:off x="10965180" y="6192012"/>
            <a:ext cx="2278380" cy="426720"/>
            <a:chOff x="0" y="0"/>
            <a:chExt cx="3037840" cy="568960"/>
          </a:xfrm>
        </p:grpSpPr>
        <p:sp>
          <p:nvSpPr>
            <p:cNvPr name="Freeform 63" id="63"/>
            <p:cNvSpPr/>
            <p:nvPr/>
          </p:nvSpPr>
          <p:spPr>
            <a:xfrm flipH="false" flipV="false" rot="0">
              <a:off x="0" y="0"/>
              <a:ext cx="3037840" cy="568960"/>
            </a:xfrm>
            <a:custGeom>
              <a:avLst/>
              <a:gdLst/>
              <a:ahLst/>
              <a:cxnLst/>
              <a:rect r="r" b="b" t="t" l="l"/>
              <a:pathLst>
                <a:path h="568960" w="3037840">
                  <a:moveTo>
                    <a:pt x="0" y="113792"/>
                  </a:moveTo>
                  <a:cubicBezTo>
                    <a:pt x="0" y="50927"/>
                    <a:pt x="50927" y="0"/>
                    <a:pt x="113792" y="0"/>
                  </a:cubicBezTo>
                  <a:lnTo>
                    <a:pt x="2924048" y="0"/>
                  </a:lnTo>
                  <a:cubicBezTo>
                    <a:pt x="2986913" y="0"/>
                    <a:pt x="3037840" y="50927"/>
                    <a:pt x="3037840" y="113792"/>
                  </a:cubicBezTo>
                  <a:lnTo>
                    <a:pt x="3037840" y="455168"/>
                  </a:lnTo>
                  <a:cubicBezTo>
                    <a:pt x="3037840" y="518033"/>
                    <a:pt x="2986913" y="568960"/>
                    <a:pt x="2924048" y="568960"/>
                  </a:cubicBezTo>
                  <a:lnTo>
                    <a:pt x="113792" y="568960"/>
                  </a:lnTo>
                  <a:cubicBezTo>
                    <a:pt x="50927" y="568960"/>
                    <a:pt x="0" y="518033"/>
                    <a:pt x="0" y="455168"/>
                  </a:cubicBezTo>
                  <a:close/>
                </a:path>
              </a:pathLst>
            </a:custGeom>
            <a:solidFill>
              <a:srgbClr val="FF5E78">
                <a:alpha val="3137"/>
              </a:srgbClr>
            </a:solidFill>
            <a:ln w="15240" cap="sq">
              <a:solidFill>
                <a:srgbClr val="FF5E78"/>
              </a:solidFill>
              <a:prstDash val="solid"/>
              <a:miter/>
            </a:ln>
          </p:spPr>
        </p:sp>
      </p:grpSp>
      <p:grpSp>
        <p:nvGrpSpPr>
          <p:cNvPr name="Group 64" id="64"/>
          <p:cNvGrpSpPr/>
          <p:nvPr/>
        </p:nvGrpSpPr>
        <p:grpSpPr>
          <a:xfrm rot="0">
            <a:off x="10972800" y="6295644"/>
            <a:ext cx="2263140" cy="178308"/>
            <a:chOff x="0" y="0"/>
            <a:chExt cx="3017520" cy="237744"/>
          </a:xfrm>
        </p:grpSpPr>
        <p:sp>
          <p:nvSpPr>
            <p:cNvPr name="Freeform 65" id="65"/>
            <p:cNvSpPr/>
            <p:nvPr/>
          </p:nvSpPr>
          <p:spPr>
            <a:xfrm flipH="false" flipV="false" rot="0">
              <a:off x="0" y="0"/>
              <a:ext cx="3017520" cy="237744"/>
            </a:xfrm>
            <a:custGeom>
              <a:avLst/>
              <a:gdLst/>
              <a:ahLst/>
              <a:cxnLst/>
              <a:rect r="r" b="b" t="t" l="l"/>
              <a:pathLst>
                <a:path h="237744" w="3017520">
                  <a:moveTo>
                    <a:pt x="0" y="0"/>
                  </a:moveTo>
                  <a:lnTo>
                    <a:pt x="3017520" y="0"/>
                  </a:lnTo>
                  <a:lnTo>
                    <a:pt x="3017520" y="237744"/>
                  </a:lnTo>
                  <a:lnTo>
                    <a:pt x="0" y="237744"/>
                  </a:lnTo>
                  <a:close/>
                </a:path>
              </a:pathLst>
            </a:custGeom>
            <a:blipFill>
              <a:blip r:embed="rId3">
                <a:alphaModFix amt="0"/>
              </a:blip>
              <a:stretch>
                <a:fillRect l="0" t="-197310" r="0" b="-197310"/>
              </a:stretch>
            </a:blipFill>
          </p:spPr>
        </p:sp>
        <p:sp>
          <p:nvSpPr>
            <p:cNvPr name="TextBox 66" id="66"/>
            <p:cNvSpPr txBox="true"/>
            <p:nvPr/>
          </p:nvSpPr>
          <p:spPr>
            <a:xfrm>
              <a:off x="0" y="0"/>
              <a:ext cx="3017520" cy="237744"/>
            </a:xfrm>
            <a:prstGeom prst="rect">
              <a:avLst/>
            </a:prstGeom>
          </p:spPr>
          <p:txBody>
            <a:bodyPr anchor="ctr" rtlCol="false" tIns="0" lIns="0" bIns="0" rIns="0"/>
            <a:lstStyle/>
            <a:p>
              <a:pPr algn="ctr">
                <a:lnSpc>
                  <a:spcPts val="1439"/>
                </a:lnSpc>
              </a:pPr>
              <a:r>
                <a:rPr lang="en-US" sz="1200" b="true">
                  <a:solidFill>
                    <a:srgbClr val="FF5E78"/>
                  </a:solidFill>
                  <a:latin typeface="Aptos Bold"/>
                  <a:ea typeface="Aptos Bold"/>
                  <a:cs typeface="Aptos Bold"/>
                  <a:sym typeface="Aptos Bold"/>
                </a:rPr>
                <a:t>HIGH DURATION</a:t>
              </a:r>
            </a:p>
          </p:txBody>
        </p:sp>
      </p:grpSp>
      <p:grpSp>
        <p:nvGrpSpPr>
          <p:cNvPr name="Group 67" id="67"/>
          <p:cNvGrpSpPr/>
          <p:nvPr/>
        </p:nvGrpSpPr>
        <p:grpSpPr>
          <a:xfrm rot="0">
            <a:off x="8633460" y="6905244"/>
            <a:ext cx="8135112" cy="1633728"/>
            <a:chOff x="0" y="0"/>
            <a:chExt cx="10846816" cy="2178304"/>
          </a:xfrm>
        </p:grpSpPr>
        <p:sp>
          <p:nvSpPr>
            <p:cNvPr name="Freeform 68" id="68"/>
            <p:cNvSpPr/>
            <p:nvPr/>
          </p:nvSpPr>
          <p:spPr>
            <a:xfrm flipH="false" flipV="false" rot="0">
              <a:off x="0" y="0"/>
              <a:ext cx="10846816" cy="2178304"/>
            </a:xfrm>
            <a:custGeom>
              <a:avLst/>
              <a:gdLst/>
              <a:ahLst/>
              <a:cxnLst/>
              <a:rect r="r" b="b" t="t" l="l"/>
              <a:pathLst>
                <a:path h="2178304" w="10846816">
                  <a:moveTo>
                    <a:pt x="0" y="147701"/>
                  </a:moveTo>
                  <a:cubicBezTo>
                    <a:pt x="0" y="66167"/>
                    <a:pt x="66167" y="0"/>
                    <a:pt x="147701" y="0"/>
                  </a:cubicBezTo>
                  <a:lnTo>
                    <a:pt x="10699115" y="0"/>
                  </a:lnTo>
                  <a:cubicBezTo>
                    <a:pt x="10780649" y="0"/>
                    <a:pt x="10846816" y="66167"/>
                    <a:pt x="10846816" y="147701"/>
                  </a:cubicBezTo>
                  <a:lnTo>
                    <a:pt x="10846816" y="2030603"/>
                  </a:lnTo>
                  <a:cubicBezTo>
                    <a:pt x="10846816" y="2112137"/>
                    <a:pt x="10780649" y="2178304"/>
                    <a:pt x="10699115" y="2178304"/>
                  </a:cubicBezTo>
                  <a:lnTo>
                    <a:pt x="147701" y="2178304"/>
                  </a:lnTo>
                  <a:cubicBezTo>
                    <a:pt x="66167" y="2178304"/>
                    <a:pt x="0" y="2112137"/>
                    <a:pt x="0" y="2030603"/>
                  </a:cubicBezTo>
                  <a:close/>
                </a:path>
              </a:pathLst>
            </a:custGeom>
            <a:solidFill>
              <a:srgbClr val="0E1D30"/>
            </a:solidFill>
            <a:ln w="15240" cap="sq">
              <a:solidFill>
                <a:srgbClr val="1D3850"/>
              </a:solidFill>
              <a:prstDash val="solid"/>
              <a:miter/>
            </a:ln>
          </p:spPr>
        </p:sp>
      </p:grpSp>
      <p:grpSp>
        <p:nvGrpSpPr>
          <p:cNvPr name="Group 69" id="69"/>
          <p:cNvGrpSpPr/>
          <p:nvPr/>
        </p:nvGrpSpPr>
        <p:grpSpPr>
          <a:xfrm rot="0">
            <a:off x="9710928" y="7187184"/>
            <a:ext cx="6748272" cy="342900"/>
            <a:chOff x="0" y="0"/>
            <a:chExt cx="8997696" cy="457200"/>
          </a:xfrm>
        </p:grpSpPr>
        <p:sp>
          <p:nvSpPr>
            <p:cNvPr name="Freeform 70" id="70"/>
            <p:cNvSpPr/>
            <p:nvPr/>
          </p:nvSpPr>
          <p:spPr>
            <a:xfrm flipH="false" flipV="false" rot="0">
              <a:off x="0" y="0"/>
              <a:ext cx="8997696" cy="457200"/>
            </a:xfrm>
            <a:custGeom>
              <a:avLst/>
              <a:gdLst/>
              <a:ahLst/>
              <a:cxnLst/>
              <a:rect r="r" b="b" t="t" l="l"/>
              <a:pathLst>
                <a:path h="457200" w="8997696">
                  <a:moveTo>
                    <a:pt x="0" y="0"/>
                  </a:moveTo>
                  <a:lnTo>
                    <a:pt x="8997696" y="0"/>
                  </a:lnTo>
                  <a:lnTo>
                    <a:pt x="8997696" y="457200"/>
                  </a:lnTo>
                  <a:lnTo>
                    <a:pt x="0" y="457200"/>
                  </a:lnTo>
                  <a:close/>
                </a:path>
              </a:pathLst>
            </a:custGeom>
            <a:blipFill>
              <a:blip r:embed="rId3">
                <a:alphaModFix amt="0"/>
              </a:blip>
              <a:stretch>
                <a:fillRect l="0" t="-333465" r="0" b="-333465"/>
              </a:stretch>
            </a:blipFill>
          </p:spPr>
        </p:sp>
        <p:sp>
          <p:nvSpPr>
            <p:cNvPr name="TextBox 71" id="71"/>
            <p:cNvSpPr txBox="true"/>
            <p:nvPr/>
          </p:nvSpPr>
          <p:spPr>
            <a:xfrm>
              <a:off x="0" y="-9525"/>
              <a:ext cx="8997696"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DECISION PRINCIPLE</a:t>
              </a:r>
            </a:p>
          </p:txBody>
        </p:sp>
      </p:grpSp>
      <p:sp>
        <p:nvSpPr>
          <p:cNvPr name="Freeform 72" id="72"/>
          <p:cNvSpPr/>
          <p:nvPr/>
        </p:nvSpPr>
        <p:spPr>
          <a:xfrm flipH="false" flipV="false" rot="0">
            <a:off x="111968" y="5956483"/>
            <a:ext cx="8197642" cy="3147202"/>
          </a:xfrm>
          <a:custGeom>
            <a:avLst/>
            <a:gdLst/>
            <a:ahLst/>
            <a:cxnLst/>
            <a:rect r="r" b="b" t="t" l="l"/>
            <a:pathLst>
              <a:path h="3147202" w="8197642">
                <a:moveTo>
                  <a:pt x="0" y="0"/>
                </a:moveTo>
                <a:lnTo>
                  <a:pt x="8197642" y="0"/>
                </a:lnTo>
                <a:lnTo>
                  <a:pt x="8197642" y="3147202"/>
                </a:lnTo>
                <a:lnTo>
                  <a:pt x="0" y="3147202"/>
                </a:lnTo>
                <a:lnTo>
                  <a:pt x="0" y="0"/>
                </a:lnTo>
                <a:close/>
              </a:path>
            </a:pathLst>
          </a:custGeom>
          <a:blipFill>
            <a:blip r:embed="rId4"/>
            <a:stretch>
              <a:fillRect l="0" t="-3278" r="0" b="-3278"/>
            </a:stretch>
          </a:blipFill>
        </p:spPr>
      </p:sp>
      <p:sp>
        <p:nvSpPr>
          <p:cNvPr name="TextBox 73" id="73"/>
          <p:cNvSpPr txBox="true"/>
          <p:nvPr/>
        </p:nvSpPr>
        <p:spPr>
          <a:xfrm rot="0">
            <a:off x="8942832" y="7763256"/>
            <a:ext cx="7516368" cy="47625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Severity depends on both how far temperature moves beyond the safe band and how long exposure persists.</a:t>
            </a:r>
          </a:p>
        </p:txBody>
      </p:sp>
      <p:sp>
        <p:nvSpPr>
          <p:cNvPr name="TextBox 74" id="74"/>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46D6F5"/>
            </a:solidFill>
            <a:ln w="19050" cap="sq">
              <a:solidFill>
                <a:srgbClr val="46D6F5"/>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01</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1</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Research o</a:t>
              </a:r>
              <a:r>
                <a:rPr lang="en-US" sz="3750" b="true">
                  <a:solidFill>
                    <a:srgbClr val="F5F8FC"/>
                  </a:solidFill>
                  <a:latin typeface="Aptos Bold"/>
                  <a:ea typeface="Aptos Bold"/>
                  <a:cs typeface="Aptos Bold"/>
                  <a:sym typeface="Aptos Bold"/>
                </a:rPr>
                <a:t>bjectives &amp; scope</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A small-scale prototype validating the monitoring algorithm and end-to-end data pipeline.</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25068" y="3009900"/>
            <a:ext cx="7805928" cy="2182368"/>
            <a:chOff x="0" y="0"/>
            <a:chExt cx="10407904" cy="2909824"/>
          </a:xfrm>
        </p:grpSpPr>
        <p:sp>
          <p:nvSpPr>
            <p:cNvPr name="Freeform 23" id="23"/>
            <p:cNvSpPr/>
            <p:nvPr/>
          </p:nvSpPr>
          <p:spPr>
            <a:xfrm flipH="false" flipV="false" rot="0">
              <a:off x="0" y="0"/>
              <a:ext cx="10407903" cy="2909824"/>
            </a:xfrm>
            <a:custGeom>
              <a:avLst/>
              <a:gdLst/>
              <a:ahLst/>
              <a:cxnLst/>
              <a:rect r="r" b="b" t="t" l="l"/>
              <a:pathLst>
                <a:path h="2909824" w="10407903">
                  <a:moveTo>
                    <a:pt x="0" y="147320"/>
                  </a:moveTo>
                  <a:cubicBezTo>
                    <a:pt x="0" y="65913"/>
                    <a:pt x="65913" y="0"/>
                    <a:pt x="147320" y="0"/>
                  </a:cubicBezTo>
                  <a:lnTo>
                    <a:pt x="10260584" y="0"/>
                  </a:lnTo>
                  <a:cubicBezTo>
                    <a:pt x="10341990" y="0"/>
                    <a:pt x="10407903" y="65913"/>
                    <a:pt x="10407903" y="147320"/>
                  </a:cubicBezTo>
                  <a:lnTo>
                    <a:pt x="10407903" y="2762504"/>
                  </a:lnTo>
                  <a:cubicBezTo>
                    <a:pt x="10407903" y="2843911"/>
                    <a:pt x="10341990" y="2909824"/>
                    <a:pt x="10260584" y="2909824"/>
                  </a:cubicBezTo>
                  <a:lnTo>
                    <a:pt x="147320" y="2909824"/>
                  </a:lnTo>
                  <a:cubicBezTo>
                    <a:pt x="65913" y="2909824"/>
                    <a:pt x="0" y="2843911"/>
                    <a:pt x="0" y="2762504"/>
                  </a:cubicBezTo>
                  <a:close/>
                </a:path>
              </a:pathLst>
            </a:custGeom>
            <a:solidFill>
              <a:srgbClr val="0E1D30"/>
            </a:solidFill>
            <a:ln w="15240" cap="sq">
              <a:solidFill>
                <a:srgbClr val="1D3850"/>
              </a:solidFill>
              <a:prstDash val="solid"/>
              <a:miter/>
            </a:ln>
          </p:spPr>
        </p:sp>
      </p:grpSp>
      <p:grpSp>
        <p:nvGrpSpPr>
          <p:cNvPr name="Group 24" id="24"/>
          <p:cNvGrpSpPr/>
          <p:nvPr/>
        </p:nvGrpSpPr>
        <p:grpSpPr>
          <a:xfrm rot="0">
            <a:off x="2002536" y="3291840"/>
            <a:ext cx="6419088" cy="342900"/>
            <a:chOff x="0" y="0"/>
            <a:chExt cx="8558784" cy="457200"/>
          </a:xfrm>
        </p:grpSpPr>
        <p:sp>
          <p:nvSpPr>
            <p:cNvPr name="Freeform 25" id="25"/>
            <p:cNvSpPr/>
            <p:nvPr/>
          </p:nvSpPr>
          <p:spPr>
            <a:xfrm flipH="false" flipV="false" rot="0">
              <a:off x="0" y="0"/>
              <a:ext cx="8558784" cy="457200"/>
            </a:xfrm>
            <a:custGeom>
              <a:avLst/>
              <a:gdLst/>
              <a:ahLst/>
              <a:cxnLst/>
              <a:rect r="r" b="b" t="t" l="l"/>
              <a:pathLst>
                <a:path h="457200" w="8558784">
                  <a:moveTo>
                    <a:pt x="0" y="0"/>
                  </a:moveTo>
                  <a:lnTo>
                    <a:pt x="8558784" y="0"/>
                  </a:lnTo>
                  <a:lnTo>
                    <a:pt x="8558784" y="457200"/>
                  </a:lnTo>
                  <a:lnTo>
                    <a:pt x="0" y="457200"/>
                  </a:lnTo>
                  <a:close/>
                </a:path>
              </a:pathLst>
            </a:custGeom>
            <a:blipFill>
              <a:blip r:embed="rId3">
                <a:alphaModFix amt="0"/>
              </a:blip>
              <a:stretch>
                <a:fillRect l="0" t="-314759" r="0" b="-314759"/>
              </a:stretch>
            </a:blipFill>
          </p:spPr>
        </p:sp>
        <p:sp>
          <p:nvSpPr>
            <p:cNvPr name="TextBox 26" id="26"/>
            <p:cNvSpPr txBox="true"/>
            <p:nvPr/>
          </p:nvSpPr>
          <p:spPr>
            <a:xfrm>
              <a:off x="0" y="-9525"/>
              <a:ext cx="855878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01</a:t>
              </a:r>
            </a:p>
          </p:txBody>
        </p:sp>
      </p:grpSp>
      <p:grpSp>
        <p:nvGrpSpPr>
          <p:cNvPr name="Group 27" id="27"/>
          <p:cNvGrpSpPr/>
          <p:nvPr/>
        </p:nvGrpSpPr>
        <p:grpSpPr>
          <a:xfrm rot="0">
            <a:off x="1234440" y="3922776"/>
            <a:ext cx="7187184" cy="1025463"/>
            <a:chOff x="0" y="0"/>
            <a:chExt cx="9582912" cy="1367284"/>
          </a:xfrm>
        </p:grpSpPr>
        <p:sp>
          <p:nvSpPr>
            <p:cNvPr name="Freeform 28" id="28"/>
            <p:cNvSpPr/>
            <p:nvPr/>
          </p:nvSpPr>
          <p:spPr>
            <a:xfrm flipH="false" flipV="false" rot="0">
              <a:off x="0" y="0"/>
              <a:ext cx="9582912" cy="1367284"/>
            </a:xfrm>
            <a:custGeom>
              <a:avLst/>
              <a:gdLst/>
              <a:ahLst/>
              <a:cxnLst/>
              <a:rect r="r" b="b" t="t" l="l"/>
              <a:pathLst>
                <a:path h="1367284" w="9582912">
                  <a:moveTo>
                    <a:pt x="0" y="0"/>
                  </a:moveTo>
                  <a:lnTo>
                    <a:pt x="9582912" y="0"/>
                  </a:lnTo>
                  <a:lnTo>
                    <a:pt x="9582912" y="1367284"/>
                  </a:lnTo>
                  <a:lnTo>
                    <a:pt x="0" y="1367284"/>
                  </a:lnTo>
                  <a:close/>
                </a:path>
              </a:pathLst>
            </a:custGeom>
            <a:blipFill>
              <a:blip r:embed="rId3">
                <a:alphaModFix amt="0"/>
              </a:blip>
              <a:stretch>
                <a:fillRect l="0" t="-108476" r="0" b="-64653"/>
              </a:stretch>
            </a:blipFill>
          </p:spPr>
        </p:sp>
        <p:sp>
          <p:nvSpPr>
            <p:cNvPr name="TextBox 29" id="29"/>
            <p:cNvSpPr txBox="true"/>
            <p:nvPr/>
          </p:nvSpPr>
          <p:spPr>
            <a:xfrm>
              <a:off x="0" y="0"/>
              <a:ext cx="9582912" cy="1367284"/>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Continuous</a:t>
              </a:r>
              <a:r>
                <a:rPr lang="en-US" sz="3000" b="true">
                  <a:solidFill>
                    <a:srgbClr val="F5F8FC"/>
                  </a:solidFill>
                  <a:latin typeface="Aptos Bold"/>
                  <a:ea typeface="Aptos Bold"/>
                  <a:cs typeface="Aptos Bold"/>
                  <a:sym typeface="Aptos Bold"/>
                </a:rPr>
                <a:t> monitoring</a:t>
              </a:r>
            </a:p>
            <a:p>
              <a:pPr algn="l">
                <a:lnSpc>
                  <a:spcPts val="3600"/>
                </a:lnSpc>
              </a:pPr>
            </a:p>
          </p:txBody>
        </p:sp>
      </p:grpSp>
      <p:sp>
        <p:nvSpPr>
          <p:cNvPr name="TextBox 30" id="30"/>
          <p:cNvSpPr txBox="true"/>
          <p:nvPr/>
        </p:nvSpPr>
        <p:spPr>
          <a:xfrm rot="0">
            <a:off x="1234440" y="4636008"/>
            <a:ext cx="7187184" cy="47625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Me</a:t>
            </a:r>
            <a:r>
              <a:rPr lang="en-US" sz="1575">
                <a:solidFill>
                  <a:srgbClr val="F5F8FC"/>
                </a:solidFill>
                <a:latin typeface="Aptos"/>
                <a:ea typeface="Aptos"/>
                <a:cs typeface="Aptos"/>
                <a:sym typeface="Aptos"/>
              </a:rPr>
              <a:t>asure temperature, humidity, and storage-door status in real time.</a:t>
            </a:r>
          </a:p>
          <a:p>
            <a:pPr algn="l">
              <a:lnSpc>
                <a:spcPts val="1889"/>
              </a:lnSpc>
            </a:pPr>
          </a:p>
        </p:txBody>
      </p:sp>
      <p:grpSp>
        <p:nvGrpSpPr>
          <p:cNvPr name="Group 31" id="31"/>
          <p:cNvGrpSpPr/>
          <p:nvPr/>
        </p:nvGrpSpPr>
        <p:grpSpPr>
          <a:xfrm rot="0">
            <a:off x="9264396" y="3009900"/>
            <a:ext cx="7805928" cy="2182368"/>
            <a:chOff x="0" y="0"/>
            <a:chExt cx="10407904" cy="2909824"/>
          </a:xfrm>
        </p:grpSpPr>
        <p:sp>
          <p:nvSpPr>
            <p:cNvPr name="Freeform 32" id="32"/>
            <p:cNvSpPr/>
            <p:nvPr/>
          </p:nvSpPr>
          <p:spPr>
            <a:xfrm flipH="false" flipV="false" rot="0">
              <a:off x="0" y="0"/>
              <a:ext cx="10407903" cy="2909824"/>
            </a:xfrm>
            <a:custGeom>
              <a:avLst/>
              <a:gdLst/>
              <a:ahLst/>
              <a:cxnLst/>
              <a:rect r="r" b="b" t="t" l="l"/>
              <a:pathLst>
                <a:path h="2909824" w="10407903">
                  <a:moveTo>
                    <a:pt x="0" y="147320"/>
                  </a:moveTo>
                  <a:cubicBezTo>
                    <a:pt x="0" y="65913"/>
                    <a:pt x="65913" y="0"/>
                    <a:pt x="147320" y="0"/>
                  </a:cubicBezTo>
                  <a:lnTo>
                    <a:pt x="10260584" y="0"/>
                  </a:lnTo>
                  <a:cubicBezTo>
                    <a:pt x="10341990" y="0"/>
                    <a:pt x="10407903" y="65913"/>
                    <a:pt x="10407903" y="147320"/>
                  </a:cubicBezTo>
                  <a:lnTo>
                    <a:pt x="10407903" y="2762504"/>
                  </a:lnTo>
                  <a:cubicBezTo>
                    <a:pt x="10407903" y="2843911"/>
                    <a:pt x="10341990" y="2909824"/>
                    <a:pt x="10260584" y="2909824"/>
                  </a:cubicBezTo>
                  <a:lnTo>
                    <a:pt x="147320" y="2909824"/>
                  </a:lnTo>
                  <a:cubicBezTo>
                    <a:pt x="65913" y="2909824"/>
                    <a:pt x="0" y="2843911"/>
                    <a:pt x="0" y="2762504"/>
                  </a:cubicBezTo>
                  <a:close/>
                </a:path>
              </a:pathLst>
            </a:custGeom>
            <a:solidFill>
              <a:srgbClr val="0E1D30"/>
            </a:solidFill>
            <a:ln w="15240" cap="sq">
              <a:solidFill>
                <a:srgbClr val="1D3850"/>
              </a:solidFill>
              <a:prstDash val="solid"/>
              <a:miter/>
            </a:ln>
          </p:spPr>
        </p:sp>
      </p:grpSp>
      <p:grpSp>
        <p:nvGrpSpPr>
          <p:cNvPr name="Group 33" id="33"/>
          <p:cNvGrpSpPr/>
          <p:nvPr/>
        </p:nvGrpSpPr>
        <p:grpSpPr>
          <a:xfrm rot="0">
            <a:off x="10341864" y="3291840"/>
            <a:ext cx="6419088" cy="342900"/>
            <a:chOff x="0" y="0"/>
            <a:chExt cx="8558784" cy="457200"/>
          </a:xfrm>
        </p:grpSpPr>
        <p:sp>
          <p:nvSpPr>
            <p:cNvPr name="Freeform 34" id="34"/>
            <p:cNvSpPr/>
            <p:nvPr/>
          </p:nvSpPr>
          <p:spPr>
            <a:xfrm flipH="false" flipV="false" rot="0">
              <a:off x="0" y="0"/>
              <a:ext cx="8558784" cy="457200"/>
            </a:xfrm>
            <a:custGeom>
              <a:avLst/>
              <a:gdLst/>
              <a:ahLst/>
              <a:cxnLst/>
              <a:rect r="r" b="b" t="t" l="l"/>
              <a:pathLst>
                <a:path h="457200" w="8558784">
                  <a:moveTo>
                    <a:pt x="0" y="0"/>
                  </a:moveTo>
                  <a:lnTo>
                    <a:pt x="8558784" y="0"/>
                  </a:lnTo>
                  <a:lnTo>
                    <a:pt x="8558784" y="457200"/>
                  </a:lnTo>
                  <a:lnTo>
                    <a:pt x="0" y="457200"/>
                  </a:lnTo>
                  <a:close/>
                </a:path>
              </a:pathLst>
            </a:custGeom>
            <a:blipFill>
              <a:blip r:embed="rId3">
                <a:alphaModFix amt="0"/>
              </a:blip>
              <a:stretch>
                <a:fillRect l="0" t="-314759" r="0" b="-314759"/>
              </a:stretch>
            </a:blipFill>
          </p:spPr>
        </p:sp>
        <p:sp>
          <p:nvSpPr>
            <p:cNvPr name="TextBox 35" id="35"/>
            <p:cNvSpPr txBox="true"/>
            <p:nvPr/>
          </p:nvSpPr>
          <p:spPr>
            <a:xfrm>
              <a:off x="0" y="-9525"/>
              <a:ext cx="855878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02</a:t>
              </a:r>
            </a:p>
          </p:txBody>
        </p:sp>
      </p:grpSp>
      <p:grpSp>
        <p:nvGrpSpPr>
          <p:cNvPr name="Group 36" id="36"/>
          <p:cNvGrpSpPr/>
          <p:nvPr/>
        </p:nvGrpSpPr>
        <p:grpSpPr>
          <a:xfrm rot="0">
            <a:off x="9573768" y="3922776"/>
            <a:ext cx="7187184" cy="1025463"/>
            <a:chOff x="0" y="0"/>
            <a:chExt cx="9582912" cy="1367284"/>
          </a:xfrm>
        </p:grpSpPr>
        <p:sp>
          <p:nvSpPr>
            <p:cNvPr name="Freeform 37" id="37"/>
            <p:cNvSpPr/>
            <p:nvPr/>
          </p:nvSpPr>
          <p:spPr>
            <a:xfrm flipH="false" flipV="false" rot="0">
              <a:off x="0" y="0"/>
              <a:ext cx="9582912" cy="1367284"/>
            </a:xfrm>
            <a:custGeom>
              <a:avLst/>
              <a:gdLst/>
              <a:ahLst/>
              <a:cxnLst/>
              <a:rect r="r" b="b" t="t" l="l"/>
              <a:pathLst>
                <a:path h="1367284" w="9582912">
                  <a:moveTo>
                    <a:pt x="0" y="0"/>
                  </a:moveTo>
                  <a:lnTo>
                    <a:pt x="9582912" y="0"/>
                  </a:lnTo>
                  <a:lnTo>
                    <a:pt x="9582912" y="1367284"/>
                  </a:lnTo>
                  <a:lnTo>
                    <a:pt x="0" y="1367284"/>
                  </a:lnTo>
                  <a:close/>
                </a:path>
              </a:pathLst>
            </a:custGeom>
            <a:blipFill>
              <a:blip r:embed="rId3">
                <a:alphaModFix amt="0"/>
              </a:blip>
              <a:stretch>
                <a:fillRect l="0" t="-108476" r="0" b="-64653"/>
              </a:stretch>
            </a:blipFill>
          </p:spPr>
        </p:sp>
        <p:sp>
          <p:nvSpPr>
            <p:cNvPr name="TextBox 38" id="38"/>
            <p:cNvSpPr txBox="true"/>
            <p:nvPr/>
          </p:nvSpPr>
          <p:spPr>
            <a:xfrm>
              <a:off x="0" y="0"/>
              <a:ext cx="9582912" cy="1367284"/>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D</a:t>
              </a:r>
              <a:r>
                <a:rPr lang="en-US" sz="3000" b="true">
                  <a:solidFill>
                    <a:srgbClr val="F5F8FC"/>
                  </a:solidFill>
                  <a:latin typeface="Aptos Bold"/>
                  <a:ea typeface="Aptos Bold"/>
                  <a:cs typeface="Aptos Bold"/>
                  <a:sym typeface="Aptos Bold"/>
                </a:rPr>
                <a:t>uration-aware assessment</a:t>
              </a:r>
            </a:p>
            <a:p>
              <a:pPr algn="l">
                <a:lnSpc>
                  <a:spcPts val="3600"/>
                </a:lnSpc>
              </a:pPr>
            </a:p>
          </p:txBody>
        </p:sp>
      </p:grpSp>
      <p:sp>
        <p:nvSpPr>
          <p:cNvPr name="TextBox 39" id="39"/>
          <p:cNvSpPr txBox="true"/>
          <p:nvPr/>
        </p:nvSpPr>
        <p:spPr>
          <a:xfrm rot="0">
            <a:off x="9573768" y="4636008"/>
            <a:ext cx="7187184" cy="71437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Distinguish short-t</a:t>
            </a:r>
            <a:r>
              <a:rPr lang="en-US" sz="1575">
                <a:solidFill>
                  <a:srgbClr val="F5F8FC"/>
                </a:solidFill>
                <a:latin typeface="Aptos"/>
                <a:ea typeface="Aptos"/>
                <a:cs typeface="Aptos"/>
                <a:sym typeface="Aptos"/>
              </a:rPr>
              <a:t>erm disturbances from severe violations using temperature deviation and duration.</a:t>
            </a:r>
          </a:p>
          <a:p>
            <a:pPr algn="l">
              <a:lnSpc>
                <a:spcPts val="1889"/>
              </a:lnSpc>
            </a:pPr>
          </a:p>
        </p:txBody>
      </p:sp>
      <p:grpSp>
        <p:nvGrpSpPr>
          <p:cNvPr name="Group 40" id="40"/>
          <p:cNvGrpSpPr/>
          <p:nvPr/>
        </p:nvGrpSpPr>
        <p:grpSpPr>
          <a:xfrm rot="0">
            <a:off x="925068" y="5588508"/>
            <a:ext cx="7805928" cy="2182368"/>
            <a:chOff x="0" y="0"/>
            <a:chExt cx="10407904" cy="2909824"/>
          </a:xfrm>
        </p:grpSpPr>
        <p:sp>
          <p:nvSpPr>
            <p:cNvPr name="Freeform 41" id="41"/>
            <p:cNvSpPr/>
            <p:nvPr/>
          </p:nvSpPr>
          <p:spPr>
            <a:xfrm flipH="false" flipV="false" rot="0">
              <a:off x="0" y="0"/>
              <a:ext cx="10407903" cy="2909824"/>
            </a:xfrm>
            <a:custGeom>
              <a:avLst/>
              <a:gdLst/>
              <a:ahLst/>
              <a:cxnLst/>
              <a:rect r="r" b="b" t="t" l="l"/>
              <a:pathLst>
                <a:path h="2909824" w="10407903">
                  <a:moveTo>
                    <a:pt x="0" y="147320"/>
                  </a:moveTo>
                  <a:cubicBezTo>
                    <a:pt x="0" y="65913"/>
                    <a:pt x="65913" y="0"/>
                    <a:pt x="147320" y="0"/>
                  </a:cubicBezTo>
                  <a:lnTo>
                    <a:pt x="10260584" y="0"/>
                  </a:lnTo>
                  <a:cubicBezTo>
                    <a:pt x="10341990" y="0"/>
                    <a:pt x="10407903" y="65913"/>
                    <a:pt x="10407903" y="147320"/>
                  </a:cubicBezTo>
                  <a:lnTo>
                    <a:pt x="10407903" y="2762504"/>
                  </a:lnTo>
                  <a:cubicBezTo>
                    <a:pt x="10407903" y="2843911"/>
                    <a:pt x="10341990" y="2909824"/>
                    <a:pt x="10260584" y="2909824"/>
                  </a:cubicBezTo>
                  <a:lnTo>
                    <a:pt x="147320" y="2909824"/>
                  </a:lnTo>
                  <a:cubicBezTo>
                    <a:pt x="65913" y="2909824"/>
                    <a:pt x="0" y="2843911"/>
                    <a:pt x="0" y="2762504"/>
                  </a:cubicBezTo>
                  <a:close/>
                </a:path>
              </a:pathLst>
            </a:custGeom>
            <a:solidFill>
              <a:srgbClr val="0E1D30"/>
            </a:solidFill>
            <a:ln w="15240" cap="sq">
              <a:solidFill>
                <a:srgbClr val="1D3850"/>
              </a:solidFill>
              <a:prstDash val="solid"/>
              <a:miter/>
            </a:ln>
          </p:spPr>
        </p:sp>
      </p:grpSp>
      <p:grpSp>
        <p:nvGrpSpPr>
          <p:cNvPr name="Group 42" id="42"/>
          <p:cNvGrpSpPr/>
          <p:nvPr/>
        </p:nvGrpSpPr>
        <p:grpSpPr>
          <a:xfrm rot="0">
            <a:off x="2002536" y="5870448"/>
            <a:ext cx="6419088" cy="342900"/>
            <a:chOff x="0" y="0"/>
            <a:chExt cx="8558784" cy="457200"/>
          </a:xfrm>
        </p:grpSpPr>
        <p:sp>
          <p:nvSpPr>
            <p:cNvPr name="Freeform 43" id="43"/>
            <p:cNvSpPr/>
            <p:nvPr/>
          </p:nvSpPr>
          <p:spPr>
            <a:xfrm flipH="false" flipV="false" rot="0">
              <a:off x="0" y="0"/>
              <a:ext cx="8558784" cy="457200"/>
            </a:xfrm>
            <a:custGeom>
              <a:avLst/>
              <a:gdLst/>
              <a:ahLst/>
              <a:cxnLst/>
              <a:rect r="r" b="b" t="t" l="l"/>
              <a:pathLst>
                <a:path h="457200" w="8558784">
                  <a:moveTo>
                    <a:pt x="0" y="0"/>
                  </a:moveTo>
                  <a:lnTo>
                    <a:pt x="8558784" y="0"/>
                  </a:lnTo>
                  <a:lnTo>
                    <a:pt x="8558784" y="457200"/>
                  </a:lnTo>
                  <a:lnTo>
                    <a:pt x="0" y="457200"/>
                  </a:lnTo>
                  <a:close/>
                </a:path>
              </a:pathLst>
            </a:custGeom>
            <a:blipFill>
              <a:blip r:embed="rId3">
                <a:alphaModFix amt="0"/>
              </a:blip>
              <a:stretch>
                <a:fillRect l="0" t="-314759" r="0" b="-314759"/>
              </a:stretch>
            </a:blipFill>
          </p:spPr>
        </p:sp>
        <p:sp>
          <p:nvSpPr>
            <p:cNvPr name="TextBox 44" id="44"/>
            <p:cNvSpPr txBox="true"/>
            <p:nvPr/>
          </p:nvSpPr>
          <p:spPr>
            <a:xfrm>
              <a:off x="0" y="-9525"/>
              <a:ext cx="855878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03</a:t>
              </a:r>
            </a:p>
          </p:txBody>
        </p:sp>
      </p:grpSp>
      <p:grpSp>
        <p:nvGrpSpPr>
          <p:cNvPr name="Group 45" id="45"/>
          <p:cNvGrpSpPr/>
          <p:nvPr/>
        </p:nvGrpSpPr>
        <p:grpSpPr>
          <a:xfrm rot="0">
            <a:off x="1234440" y="6501384"/>
            <a:ext cx="7187184" cy="1025463"/>
            <a:chOff x="0" y="0"/>
            <a:chExt cx="9582912" cy="1367284"/>
          </a:xfrm>
        </p:grpSpPr>
        <p:sp>
          <p:nvSpPr>
            <p:cNvPr name="Freeform 46" id="46"/>
            <p:cNvSpPr/>
            <p:nvPr/>
          </p:nvSpPr>
          <p:spPr>
            <a:xfrm flipH="false" flipV="false" rot="0">
              <a:off x="0" y="0"/>
              <a:ext cx="9582912" cy="1367284"/>
            </a:xfrm>
            <a:custGeom>
              <a:avLst/>
              <a:gdLst/>
              <a:ahLst/>
              <a:cxnLst/>
              <a:rect r="r" b="b" t="t" l="l"/>
              <a:pathLst>
                <a:path h="1367284" w="9582912">
                  <a:moveTo>
                    <a:pt x="0" y="0"/>
                  </a:moveTo>
                  <a:lnTo>
                    <a:pt x="9582912" y="0"/>
                  </a:lnTo>
                  <a:lnTo>
                    <a:pt x="9582912" y="1367284"/>
                  </a:lnTo>
                  <a:lnTo>
                    <a:pt x="0" y="1367284"/>
                  </a:lnTo>
                  <a:close/>
                </a:path>
              </a:pathLst>
            </a:custGeom>
            <a:blipFill>
              <a:blip r:embed="rId3">
                <a:alphaModFix amt="0"/>
              </a:blip>
              <a:stretch>
                <a:fillRect l="0" t="-108476" r="0" b="-64653"/>
              </a:stretch>
            </a:blipFill>
          </p:spPr>
        </p:sp>
        <p:sp>
          <p:nvSpPr>
            <p:cNvPr name="TextBox 47" id="47"/>
            <p:cNvSpPr txBox="true"/>
            <p:nvPr/>
          </p:nvSpPr>
          <p:spPr>
            <a:xfrm>
              <a:off x="0" y="0"/>
              <a:ext cx="9582912" cy="1367284"/>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F</a:t>
              </a:r>
              <a:r>
                <a:rPr lang="en-US" sz="3000" b="true">
                  <a:solidFill>
                    <a:srgbClr val="F5F8FC"/>
                  </a:solidFill>
                  <a:latin typeface="Aptos Bold"/>
                  <a:ea typeface="Aptos Bold"/>
                  <a:cs typeface="Aptos Bold"/>
                  <a:sym typeface="Aptos Bold"/>
                </a:rPr>
                <a:t>ault-tolerant data</a:t>
              </a:r>
            </a:p>
            <a:p>
              <a:pPr algn="l">
                <a:lnSpc>
                  <a:spcPts val="3600"/>
                </a:lnSpc>
              </a:pPr>
            </a:p>
          </p:txBody>
        </p:sp>
      </p:grpSp>
      <p:sp>
        <p:nvSpPr>
          <p:cNvPr name="TextBox 48" id="48"/>
          <p:cNvSpPr txBox="true"/>
          <p:nvPr/>
        </p:nvSpPr>
        <p:spPr>
          <a:xfrm rot="0">
            <a:off x="1234440" y="7214616"/>
            <a:ext cx="7187184" cy="47625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Pre</a:t>
            </a:r>
            <a:r>
              <a:rPr lang="en-US" sz="1575">
                <a:solidFill>
                  <a:srgbClr val="F5F8FC"/>
                </a:solidFill>
                <a:latin typeface="Aptos"/>
                <a:ea typeface="Aptos"/>
                <a:cs typeface="Aptos"/>
                <a:sym typeface="Aptos"/>
              </a:rPr>
              <a:t>serve telemetry during network disconnection and synchronize after recovery.</a:t>
            </a:r>
          </a:p>
          <a:p>
            <a:pPr algn="l">
              <a:lnSpc>
                <a:spcPts val="1889"/>
              </a:lnSpc>
            </a:pPr>
          </a:p>
        </p:txBody>
      </p:sp>
      <p:grpSp>
        <p:nvGrpSpPr>
          <p:cNvPr name="Group 49" id="49"/>
          <p:cNvGrpSpPr/>
          <p:nvPr/>
        </p:nvGrpSpPr>
        <p:grpSpPr>
          <a:xfrm rot="0">
            <a:off x="9264396" y="5588508"/>
            <a:ext cx="7805928" cy="2182368"/>
            <a:chOff x="0" y="0"/>
            <a:chExt cx="10407904" cy="2909824"/>
          </a:xfrm>
        </p:grpSpPr>
        <p:sp>
          <p:nvSpPr>
            <p:cNvPr name="Freeform 50" id="50"/>
            <p:cNvSpPr/>
            <p:nvPr/>
          </p:nvSpPr>
          <p:spPr>
            <a:xfrm flipH="false" flipV="false" rot="0">
              <a:off x="0" y="0"/>
              <a:ext cx="10407903" cy="2909824"/>
            </a:xfrm>
            <a:custGeom>
              <a:avLst/>
              <a:gdLst/>
              <a:ahLst/>
              <a:cxnLst/>
              <a:rect r="r" b="b" t="t" l="l"/>
              <a:pathLst>
                <a:path h="2909824" w="10407903">
                  <a:moveTo>
                    <a:pt x="0" y="147320"/>
                  </a:moveTo>
                  <a:cubicBezTo>
                    <a:pt x="0" y="65913"/>
                    <a:pt x="65913" y="0"/>
                    <a:pt x="147320" y="0"/>
                  </a:cubicBezTo>
                  <a:lnTo>
                    <a:pt x="10260584" y="0"/>
                  </a:lnTo>
                  <a:cubicBezTo>
                    <a:pt x="10341990" y="0"/>
                    <a:pt x="10407903" y="65913"/>
                    <a:pt x="10407903" y="147320"/>
                  </a:cubicBezTo>
                  <a:lnTo>
                    <a:pt x="10407903" y="2762504"/>
                  </a:lnTo>
                  <a:cubicBezTo>
                    <a:pt x="10407903" y="2843911"/>
                    <a:pt x="10341990" y="2909824"/>
                    <a:pt x="10260584" y="2909824"/>
                  </a:cubicBezTo>
                  <a:lnTo>
                    <a:pt x="147320" y="2909824"/>
                  </a:lnTo>
                  <a:cubicBezTo>
                    <a:pt x="65913" y="2909824"/>
                    <a:pt x="0" y="2843911"/>
                    <a:pt x="0" y="2762504"/>
                  </a:cubicBezTo>
                  <a:close/>
                </a:path>
              </a:pathLst>
            </a:custGeom>
            <a:solidFill>
              <a:srgbClr val="0E1D30"/>
            </a:solidFill>
            <a:ln w="15240" cap="sq">
              <a:solidFill>
                <a:srgbClr val="1D3850"/>
              </a:solidFill>
              <a:prstDash val="solid"/>
              <a:miter/>
            </a:ln>
          </p:spPr>
        </p:sp>
      </p:grpSp>
      <p:grpSp>
        <p:nvGrpSpPr>
          <p:cNvPr name="Group 51" id="51"/>
          <p:cNvGrpSpPr/>
          <p:nvPr/>
        </p:nvGrpSpPr>
        <p:grpSpPr>
          <a:xfrm rot="0">
            <a:off x="10341864" y="5870448"/>
            <a:ext cx="6419088" cy="342900"/>
            <a:chOff x="0" y="0"/>
            <a:chExt cx="8558784" cy="457200"/>
          </a:xfrm>
        </p:grpSpPr>
        <p:sp>
          <p:nvSpPr>
            <p:cNvPr name="Freeform 52" id="52"/>
            <p:cNvSpPr/>
            <p:nvPr/>
          </p:nvSpPr>
          <p:spPr>
            <a:xfrm flipH="false" flipV="false" rot="0">
              <a:off x="0" y="0"/>
              <a:ext cx="8558784" cy="457200"/>
            </a:xfrm>
            <a:custGeom>
              <a:avLst/>
              <a:gdLst/>
              <a:ahLst/>
              <a:cxnLst/>
              <a:rect r="r" b="b" t="t" l="l"/>
              <a:pathLst>
                <a:path h="457200" w="8558784">
                  <a:moveTo>
                    <a:pt x="0" y="0"/>
                  </a:moveTo>
                  <a:lnTo>
                    <a:pt x="8558784" y="0"/>
                  </a:lnTo>
                  <a:lnTo>
                    <a:pt x="8558784" y="457200"/>
                  </a:lnTo>
                  <a:lnTo>
                    <a:pt x="0" y="457200"/>
                  </a:lnTo>
                  <a:close/>
                </a:path>
              </a:pathLst>
            </a:custGeom>
            <a:blipFill>
              <a:blip r:embed="rId3">
                <a:alphaModFix amt="0"/>
              </a:blip>
              <a:stretch>
                <a:fillRect l="0" t="-314759" r="0" b="-314759"/>
              </a:stretch>
            </a:blipFill>
          </p:spPr>
        </p:sp>
        <p:sp>
          <p:nvSpPr>
            <p:cNvPr name="TextBox 53" id="53"/>
            <p:cNvSpPr txBox="true"/>
            <p:nvPr/>
          </p:nvSpPr>
          <p:spPr>
            <a:xfrm>
              <a:off x="0" y="-9525"/>
              <a:ext cx="855878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04</a:t>
              </a:r>
            </a:p>
          </p:txBody>
        </p:sp>
      </p:grpSp>
      <p:grpSp>
        <p:nvGrpSpPr>
          <p:cNvPr name="Group 54" id="54"/>
          <p:cNvGrpSpPr/>
          <p:nvPr/>
        </p:nvGrpSpPr>
        <p:grpSpPr>
          <a:xfrm rot="0">
            <a:off x="9573768" y="6501384"/>
            <a:ext cx="7187184" cy="1025463"/>
            <a:chOff x="0" y="0"/>
            <a:chExt cx="9582912" cy="1367284"/>
          </a:xfrm>
        </p:grpSpPr>
        <p:sp>
          <p:nvSpPr>
            <p:cNvPr name="Freeform 55" id="55"/>
            <p:cNvSpPr/>
            <p:nvPr/>
          </p:nvSpPr>
          <p:spPr>
            <a:xfrm flipH="false" flipV="false" rot="0">
              <a:off x="0" y="0"/>
              <a:ext cx="9582912" cy="1367284"/>
            </a:xfrm>
            <a:custGeom>
              <a:avLst/>
              <a:gdLst/>
              <a:ahLst/>
              <a:cxnLst/>
              <a:rect r="r" b="b" t="t" l="l"/>
              <a:pathLst>
                <a:path h="1367284" w="9582912">
                  <a:moveTo>
                    <a:pt x="0" y="0"/>
                  </a:moveTo>
                  <a:lnTo>
                    <a:pt x="9582912" y="0"/>
                  </a:lnTo>
                  <a:lnTo>
                    <a:pt x="9582912" y="1367284"/>
                  </a:lnTo>
                  <a:lnTo>
                    <a:pt x="0" y="1367284"/>
                  </a:lnTo>
                  <a:close/>
                </a:path>
              </a:pathLst>
            </a:custGeom>
            <a:blipFill>
              <a:blip r:embed="rId3">
                <a:alphaModFix amt="0"/>
              </a:blip>
              <a:stretch>
                <a:fillRect l="0" t="-108476" r="0" b="-64653"/>
              </a:stretch>
            </a:blipFill>
          </p:spPr>
        </p:sp>
        <p:sp>
          <p:nvSpPr>
            <p:cNvPr name="TextBox 56" id="56"/>
            <p:cNvSpPr txBox="true"/>
            <p:nvPr/>
          </p:nvSpPr>
          <p:spPr>
            <a:xfrm>
              <a:off x="0" y="0"/>
              <a:ext cx="9582912" cy="1367284"/>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M</a:t>
              </a:r>
              <a:r>
                <a:rPr lang="en-US" sz="3000" b="true">
                  <a:solidFill>
                    <a:srgbClr val="F5F8FC"/>
                  </a:solidFill>
                  <a:latin typeface="Aptos Bold"/>
                  <a:ea typeface="Aptos Bold"/>
                  <a:cs typeface="Aptos Bold"/>
                  <a:sym typeface="Aptos Bold"/>
                </a:rPr>
                <a:t>onitoring dashboard</a:t>
              </a:r>
            </a:p>
            <a:p>
              <a:pPr algn="l">
                <a:lnSpc>
                  <a:spcPts val="3600"/>
                </a:lnSpc>
              </a:pPr>
            </a:p>
          </p:txBody>
        </p:sp>
      </p:grpSp>
      <p:sp>
        <p:nvSpPr>
          <p:cNvPr name="TextBox 57" id="57"/>
          <p:cNvSpPr txBox="true"/>
          <p:nvPr/>
        </p:nvSpPr>
        <p:spPr>
          <a:xfrm rot="0">
            <a:off x="9573768" y="7214616"/>
            <a:ext cx="7187184" cy="23812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Visualize historical data, compliance status, and multi-level alerts.</a:t>
            </a:r>
          </a:p>
        </p:txBody>
      </p:sp>
      <p:sp>
        <p:nvSpPr>
          <p:cNvPr name="TextBox 58" id="58"/>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76E2A1"/>
            </a:solidFill>
            <a:ln w="19050" cap="sq">
              <a:solidFill>
                <a:srgbClr val="76E2A1"/>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02</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2</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Thermal exposure: the math</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The report converts the c</a:t>
              </a:r>
              <a:r>
                <a:rPr lang="en-US" sz="1575">
                  <a:solidFill>
                    <a:srgbClr val="9BAFC2"/>
                  </a:solidFill>
                  <a:latin typeface="Aptos"/>
                  <a:ea typeface="Aptos"/>
                  <a:cs typeface="Aptos"/>
                  <a:sym typeface="Aptos"/>
                </a:rPr>
                <a:t>ontinuous Degree-Time model into a discrete accumulation on the ESP32.</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842772" y="3009900"/>
            <a:ext cx="7997952" cy="1743456"/>
            <a:chOff x="0" y="0"/>
            <a:chExt cx="10663936" cy="2324608"/>
          </a:xfrm>
        </p:grpSpPr>
        <p:sp>
          <p:nvSpPr>
            <p:cNvPr name="Freeform 23" id="23"/>
            <p:cNvSpPr/>
            <p:nvPr/>
          </p:nvSpPr>
          <p:spPr>
            <a:xfrm flipH="false" flipV="false" rot="0">
              <a:off x="0" y="0"/>
              <a:ext cx="10663936" cy="2324608"/>
            </a:xfrm>
            <a:custGeom>
              <a:avLst/>
              <a:gdLst/>
              <a:ahLst/>
              <a:cxnLst/>
              <a:rect r="r" b="b" t="t" l="l"/>
              <a:pathLst>
                <a:path h="2324608" w="10663936">
                  <a:moveTo>
                    <a:pt x="0" y="147574"/>
                  </a:moveTo>
                  <a:cubicBezTo>
                    <a:pt x="0" y="66040"/>
                    <a:pt x="66040" y="0"/>
                    <a:pt x="147574" y="0"/>
                  </a:cubicBezTo>
                  <a:lnTo>
                    <a:pt x="10516362" y="0"/>
                  </a:lnTo>
                  <a:cubicBezTo>
                    <a:pt x="10597896" y="0"/>
                    <a:pt x="10663936" y="66040"/>
                    <a:pt x="10663936" y="147574"/>
                  </a:cubicBezTo>
                  <a:lnTo>
                    <a:pt x="10663936" y="2177034"/>
                  </a:lnTo>
                  <a:cubicBezTo>
                    <a:pt x="10663936" y="2258568"/>
                    <a:pt x="10597896" y="2324608"/>
                    <a:pt x="10516362" y="2324608"/>
                  </a:cubicBezTo>
                  <a:lnTo>
                    <a:pt x="147574" y="2324608"/>
                  </a:lnTo>
                  <a:cubicBezTo>
                    <a:pt x="66040" y="2324608"/>
                    <a:pt x="0" y="2258568"/>
                    <a:pt x="0" y="2177034"/>
                  </a:cubicBezTo>
                  <a:close/>
                </a:path>
              </a:pathLst>
            </a:custGeom>
            <a:solidFill>
              <a:srgbClr val="0E1D30"/>
            </a:solidFill>
            <a:ln w="15240" cap="sq">
              <a:solidFill>
                <a:srgbClr val="1D3850"/>
              </a:solidFill>
              <a:prstDash val="solid"/>
              <a:miter/>
            </a:ln>
          </p:spPr>
        </p:sp>
      </p:grpSp>
      <p:grpSp>
        <p:nvGrpSpPr>
          <p:cNvPr name="Group 24" id="24"/>
          <p:cNvGrpSpPr/>
          <p:nvPr/>
        </p:nvGrpSpPr>
        <p:grpSpPr>
          <a:xfrm rot="0">
            <a:off x="1920240" y="3291840"/>
            <a:ext cx="6611112" cy="342900"/>
            <a:chOff x="0" y="0"/>
            <a:chExt cx="8814816" cy="457200"/>
          </a:xfrm>
        </p:grpSpPr>
        <p:sp>
          <p:nvSpPr>
            <p:cNvPr name="Freeform 25" id="25"/>
            <p:cNvSpPr/>
            <p:nvPr/>
          </p:nvSpPr>
          <p:spPr>
            <a:xfrm flipH="false" flipV="false" rot="0">
              <a:off x="0" y="0"/>
              <a:ext cx="8814816" cy="457200"/>
            </a:xfrm>
            <a:custGeom>
              <a:avLst/>
              <a:gdLst/>
              <a:ahLst/>
              <a:cxnLst/>
              <a:rect r="r" b="b" t="t" l="l"/>
              <a:pathLst>
                <a:path h="457200" w="8814816">
                  <a:moveTo>
                    <a:pt x="0" y="0"/>
                  </a:moveTo>
                  <a:lnTo>
                    <a:pt x="8814816" y="0"/>
                  </a:lnTo>
                  <a:lnTo>
                    <a:pt x="8814816" y="457200"/>
                  </a:lnTo>
                  <a:lnTo>
                    <a:pt x="0" y="457200"/>
                  </a:lnTo>
                  <a:close/>
                </a:path>
              </a:pathLst>
            </a:custGeom>
            <a:blipFill>
              <a:blip r:embed="rId3">
                <a:alphaModFix amt="0"/>
              </a:blip>
              <a:stretch>
                <a:fillRect l="0" t="-325671" r="0" b="-325671"/>
              </a:stretch>
            </a:blipFill>
          </p:spPr>
        </p:sp>
        <p:sp>
          <p:nvSpPr>
            <p:cNvPr name="TextBox 26" id="26"/>
            <p:cNvSpPr txBox="true"/>
            <p:nvPr/>
          </p:nvSpPr>
          <p:spPr>
            <a:xfrm>
              <a:off x="0" y="-9525"/>
              <a:ext cx="8814816"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CONTINUOUS MODEL</a:t>
              </a:r>
            </a:p>
          </p:txBody>
        </p:sp>
      </p:grpSp>
      <p:sp>
        <p:nvSpPr>
          <p:cNvPr name="TextBox 27" id="27"/>
          <p:cNvSpPr txBox="true"/>
          <p:nvPr/>
        </p:nvSpPr>
        <p:spPr>
          <a:xfrm rot="0">
            <a:off x="1152144" y="3867912"/>
            <a:ext cx="7379208" cy="630936"/>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E = ∫ f(T(t)) dt</a:t>
            </a:r>
          </a:p>
        </p:txBody>
      </p:sp>
      <p:grpSp>
        <p:nvGrpSpPr>
          <p:cNvPr name="Group 28" id="28"/>
          <p:cNvGrpSpPr/>
          <p:nvPr/>
        </p:nvGrpSpPr>
        <p:grpSpPr>
          <a:xfrm rot="0">
            <a:off x="9140952" y="3009900"/>
            <a:ext cx="8189976" cy="1743456"/>
            <a:chOff x="0" y="0"/>
            <a:chExt cx="10919968" cy="2324608"/>
          </a:xfrm>
        </p:grpSpPr>
        <p:sp>
          <p:nvSpPr>
            <p:cNvPr name="Freeform 29" id="29"/>
            <p:cNvSpPr/>
            <p:nvPr/>
          </p:nvSpPr>
          <p:spPr>
            <a:xfrm flipH="false" flipV="false" rot="0">
              <a:off x="0" y="0"/>
              <a:ext cx="10919968" cy="2324608"/>
            </a:xfrm>
            <a:custGeom>
              <a:avLst/>
              <a:gdLst/>
              <a:ahLst/>
              <a:cxnLst/>
              <a:rect r="r" b="b" t="t" l="l"/>
              <a:pathLst>
                <a:path h="2324608" w="10919968">
                  <a:moveTo>
                    <a:pt x="0" y="147574"/>
                  </a:moveTo>
                  <a:cubicBezTo>
                    <a:pt x="0" y="66040"/>
                    <a:pt x="66040" y="0"/>
                    <a:pt x="147574" y="0"/>
                  </a:cubicBezTo>
                  <a:lnTo>
                    <a:pt x="10772394" y="0"/>
                  </a:lnTo>
                  <a:cubicBezTo>
                    <a:pt x="10853927" y="0"/>
                    <a:pt x="10919968" y="66040"/>
                    <a:pt x="10919968" y="147574"/>
                  </a:cubicBezTo>
                  <a:lnTo>
                    <a:pt x="10919968" y="2177034"/>
                  </a:lnTo>
                  <a:cubicBezTo>
                    <a:pt x="10919968" y="2258568"/>
                    <a:pt x="10853927" y="2324608"/>
                    <a:pt x="10772394" y="2324608"/>
                  </a:cubicBezTo>
                  <a:lnTo>
                    <a:pt x="147574" y="2324608"/>
                  </a:lnTo>
                  <a:cubicBezTo>
                    <a:pt x="66040" y="2324608"/>
                    <a:pt x="0" y="2258568"/>
                    <a:pt x="0" y="2177034"/>
                  </a:cubicBezTo>
                  <a:close/>
                </a:path>
              </a:pathLst>
            </a:custGeom>
            <a:solidFill>
              <a:srgbClr val="0E1D30"/>
            </a:solidFill>
            <a:ln w="15240" cap="sq">
              <a:solidFill>
                <a:srgbClr val="1D3850"/>
              </a:solidFill>
              <a:prstDash val="solid"/>
              <a:miter/>
            </a:ln>
          </p:spPr>
        </p:sp>
      </p:grpSp>
      <p:grpSp>
        <p:nvGrpSpPr>
          <p:cNvPr name="Group 30" id="30"/>
          <p:cNvGrpSpPr/>
          <p:nvPr/>
        </p:nvGrpSpPr>
        <p:grpSpPr>
          <a:xfrm rot="0">
            <a:off x="10218420" y="3291840"/>
            <a:ext cx="6803136" cy="342900"/>
            <a:chOff x="0" y="0"/>
            <a:chExt cx="9070848" cy="457200"/>
          </a:xfrm>
        </p:grpSpPr>
        <p:sp>
          <p:nvSpPr>
            <p:cNvPr name="Freeform 31" id="31"/>
            <p:cNvSpPr/>
            <p:nvPr/>
          </p:nvSpPr>
          <p:spPr>
            <a:xfrm flipH="false" flipV="false" rot="0">
              <a:off x="0" y="0"/>
              <a:ext cx="9070848" cy="457200"/>
            </a:xfrm>
            <a:custGeom>
              <a:avLst/>
              <a:gdLst/>
              <a:ahLst/>
              <a:cxnLst/>
              <a:rect r="r" b="b" t="t" l="l"/>
              <a:pathLst>
                <a:path h="457200" w="9070848">
                  <a:moveTo>
                    <a:pt x="0" y="0"/>
                  </a:moveTo>
                  <a:lnTo>
                    <a:pt x="9070848" y="0"/>
                  </a:lnTo>
                  <a:lnTo>
                    <a:pt x="9070848" y="457200"/>
                  </a:lnTo>
                  <a:lnTo>
                    <a:pt x="0" y="457200"/>
                  </a:lnTo>
                  <a:close/>
                </a:path>
              </a:pathLst>
            </a:custGeom>
            <a:blipFill>
              <a:blip r:embed="rId3">
                <a:alphaModFix amt="0"/>
              </a:blip>
              <a:stretch>
                <a:fillRect l="0" t="-336583" r="0" b="-336583"/>
              </a:stretch>
            </a:blipFill>
          </p:spPr>
        </p:sp>
        <p:sp>
          <p:nvSpPr>
            <p:cNvPr name="TextBox 32" id="32"/>
            <p:cNvSpPr txBox="true"/>
            <p:nvPr/>
          </p:nvSpPr>
          <p:spPr>
            <a:xfrm>
              <a:off x="0" y="-9525"/>
              <a:ext cx="9070848"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DISCRETE EMBEDDED MODEL</a:t>
              </a:r>
            </a:p>
          </p:txBody>
        </p:sp>
      </p:grpSp>
      <p:sp>
        <p:nvSpPr>
          <p:cNvPr name="TextBox 33" id="33"/>
          <p:cNvSpPr txBox="true"/>
          <p:nvPr/>
        </p:nvSpPr>
        <p:spPr>
          <a:xfrm rot="0">
            <a:off x="9450324" y="3867912"/>
            <a:ext cx="7571232" cy="23812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E = Σ f(Tᵢ) · Δtᵢ    [°C·min]</a:t>
            </a:r>
          </a:p>
        </p:txBody>
      </p:sp>
      <p:grpSp>
        <p:nvGrpSpPr>
          <p:cNvPr name="Group 34" id="34"/>
          <p:cNvGrpSpPr/>
          <p:nvPr/>
        </p:nvGrpSpPr>
        <p:grpSpPr>
          <a:xfrm rot="0">
            <a:off x="932688" y="5239512"/>
            <a:ext cx="15841980" cy="548640"/>
            <a:chOff x="0" y="0"/>
            <a:chExt cx="21122640" cy="731520"/>
          </a:xfrm>
        </p:grpSpPr>
        <p:sp>
          <p:nvSpPr>
            <p:cNvPr name="Freeform 35" id="35"/>
            <p:cNvSpPr/>
            <p:nvPr/>
          </p:nvSpPr>
          <p:spPr>
            <a:xfrm flipH="false" flipV="false" rot="0">
              <a:off x="0" y="0"/>
              <a:ext cx="21122639" cy="731520"/>
            </a:xfrm>
            <a:custGeom>
              <a:avLst/>
              <a:gdLst/>
              <a:ahLst/>
              <a:cxnLst/>
              <a:rect r="r" b="b" t="t" l="l"/>
              <a:pathLst>
                <a:path h="731520" w="21122639">
                  <a:moveTo>
                    <a:pt x="0" y="0"/>
                  </a:moveTo>
                  <a:lnTo>
                    <a:pt x="21122639" y="0"/>
                  </a:lnTo>
                  <a:lnTo>
                    <a:pt x="21122639" y="731520"/>
                  </a:lnTo>
                  <a:lnTo>
                    <a:pt x="0" y="731520"/>
                  </a:lnTo>
                  <a:close/>
                </a:path>
              </a:pathLst>
            </a:custGeom>
            <a:blipFill>
              <a:blip r:embed="rId3">
                <a:alphaModFix amt="0"/>
              </a:blip>
              <a:stretch>
                <a:fillRect l="0" t="-512630" r="0" b="-512630"/>
              </a:stretch>
            </a:blipFill>
          </p:spPr>
        </p:sp>
        <p:sp>
          <p:nvSpPr>
            <p:cNvPr name="TextBox 36" id="36"/>
            <p:cNvSpPr txBox="true"/>
            <p:nvPr/>
          </p:nvSpPr>
          <p:spPr>
            <a:xfrm>
              <a:off x="0" y="-9525"/>
              <a:ext cx="21122640" cy="741045"/>
            </a:xfrm>
            <a:prstGeom prst="rect">
              <a:avLst/>
            </a:prstGeom>
          </p:spPr>
          <p:txBody>
            <a:bodyPr anchor="ctr" rtlCol="false" tIns="0" lIns="0" bIns="0" rIns="0"/>
            <a:lstStyle/>
            <a:p>
              <a:pPr algn="ctr">
                <a:lnSpc>
                  <a:spcPts val="2520"/>
                </a:lnSpc>
              </a:pPr>
              <a:r>
                <a:rPr lang="en-US" sz="2100" b="true">
                  <a:solidFill>
                    <a:srgbClr val="F5F8FC"/>
                  </a:solidFill>
                  <a:latin typeface="Aptos Bold"/>
                  <a:ea typeface="Aptos Bold"/>
                  <a:cs typeface="Aptos Bold"/>
                  <a:sym typeface="Aptos Bold"/>
                </a:rPr>
                <a:t>f(T) acts as a filter: only harmful deviations contribute to exposure.</a:t>
              </a:r>
            </a:p>
          </p:txBody>
        </p:sp>
      </p:grpSp>
      <p:grpSp>
        <p:nvGrpSpPr>
          <p:cNvPr name="Group 37" id="37"/>
          <p:cNvGrpSpPr/>
          <p:nvPr/>
        </p:nvGrpSpPr>
        <p:grpSpPr>
          <a:xfrm rot="0">
            <a:off x="1361123" y="6367462"/>
            <a:ext cx="3587115" cy="1612011"/>
            <a:chOff x="0" y="0"/>
            <a:chExt cx="4782820" cy="2149348"/>
          </a:xfrm>
        </p:grpSpPr>
        <p:sp>
          <p:nvSpPr>
            <p:cNvPr name="Freeform 38" id="38"/>
            <p:cNvSpPr/>
            <p:nvPr/>
          </p:nvSpPr>
          <p:spPr>
            <a:xfrm flipH="false" flipV="false" rot="0">
              <a:off x="0" y="0"/>
              <a:ext cx="4782820" cy="2149348"/>
            </a:xfrm>
            <a:custGeom>
              <a:avLst/>
              <a:gdLst/>
              <a:ahLst/>
              <a:cxnLst/>
              <a:rect r="r" b="b" t="t" l="l"/>
              <a:pathLst>
                <a:path h="2149348" w="4782820">
                  <a:moveTo>
                    <a:pt x="0" y="148209"/>
                  </a:moveTo>
                  <a:cubicBezTo>
                    <a:pt x="0" y="66421"/>
                    <a:pt x="66421" y="0"/>
                    <a:pt x="148209" y="0"/>
                  </a:cubicBezTo>
                  <a:lnTo>
                    <a:pt x="4634611" y="0"/>
                  </a:lnTo>
                  <a:cubicBezTo>
                    <a:pt x="4716526" y="0"/>
                    <a:pt x="4782820" y="66421"/>
                    <a:pt x="4782820" y="148209"/>
                  </a:cubicBezTo>
                  <a:lnTo>
                    <a:pt x="4782820" y="2001139"/>
                  </a:lnTo>
                  <a:cubicBezTo>
                    <a:pt x="4782820" y="2083054"/>
                    <a:pt x="4716399" y="2149348"/>
                    <a:pt x="4634611" y="2149348"/>
                  </a:cubicBezTo>
                  <a:lnTo>
                    <a:pt x="148209" y="2149348"/>
                  </a:lnTo>
                  <a:cubicBezTo>
                    <a:pt x="66421" y="2149348"/>
                    <a:pt x="0" y="2082927"/>
                    <a:pt x="0" y="2001139"/>
                  </a:cubicBezTo>
                  <a:close/>
                </a:path>
              </a:pathLst>
            </a:custGeom>
            <a:solidFill>
              <a:srgbClr val="10253B"/>
            </a:solidFill>
            <a:ln w="20955" cap="sq">
              <a:solidFill>
                <a:srgbClr val="68A8FF"/>
              </a:solidFill>
              <a:prstDash val="solid"/>
              <a:miter/>
            </a:ln>
          </p:spPr>
        </p:sp>
      </p:grpSp>
      <p:grpSp>
        <p:nvGrpSpPr>
          <p:cNvPr name="Group 39" id="39"/>
          <p:cNvGrpSpPr/>
          <p:nvPr/>
        </p:nvGrpSpPr>
        <p:grpSpPr>
          <a:xfrm rot="0">
            <a:off x="1536192" y="6569964"/>
            <a:ext cx="3236976" cy="329184"/>
            <a:chOff x="0" y="0"/>
            <a:chExt cx="4315968" cy="438912"/>
          </a:xfrm>
        </p:grpSpPr>
        <p:sp>
          <p:nvSpPr>
            <p:cNvPr name="Freeform 40" id="40"/>
            <p:cNvSpPr/>
            <p:nvPr/>
          </p:nvSpPr>
          <p:spPr>
            <a:xfrm flipH="false" flipV="false" rot="0">
              <a:off x="0" y="0"/>
              <a:ext cx="4315968" cy="438912"/>
            </a:xfrm>
            <a:custGeom>
              <a:avLst/>
              <a:gdLst/>
              <a:ahLst/>
              <a:cxnLst/>
              <a:rect r="r" b="b" t="t" l="l"/>
              <a:pathLst>
                <a:path h="438912" w="4315968">
                  <a:moveTo>
                    <a:pt x="0" y="0"/>
                  </a:moveTo>
                  <a:lnTo>
                    <a:pt x="4315968" y="0"/>
                  </a:lnTo>
                  <a:lnTo>
                    <a:pt x="4315968" y="438912"/>
                  </a:lnTo>
                  <a:lnTo>
                    <a:pt x="0" y="438912"/>
                  </a:lnTo>
                  <a:close/>
                </a:path>
              </a:pathLst>
            </a:custGeom>
            <a:blipFill>
              <a:blip r:embed="rId3">
                <a:alphaModFix amt="0"/>
              </a:blip>
              <a:stretch>
                <a:fillRect l="0" t="-141602" r="0" b="-141602"/>
              </a:stretch>
            </a:blipFill>
          </p:spPr>
        </p:sp>
        <p:sp>
          <p:nvSpPr>
            <p:cNvPr name="TextBox 41" id="41"/>
            <p:cNvSpPr txBox="true"/>
            <p:nvPr/>
          </p:nvSpPr>
          <p:spPr>
            <a:xfrm>
              <a:off x="0" y="0"/>
              <a:ext cx="431596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SAMPLE</a:t>
              </a:r>
            </a:p>
          </p:txBody>
        </p:sp>
      </p:grpSp>
      <p:grpSp>
        <p:nvGrpSpPr>
          <p:cNvPr name="Group 42" id="42"/>
          <p:cNvGrpSpPr/>
          <p:nvPr/>
        </p:nvGrpSpPr>
        <p:grpSpPr>
          <a:xfrm rot="0">
            <a:off x="1536192" y="7008876"/>
            <a:ext cx="3236976" cy="850392"/>
            <a:chOff x="0" y="0"/>
            <a:chExt cx="4315968" cy="1133856"/>
          </a:xfrm>
        </p:grpSpPr>
        <p:sp>
          <p:nvSpPr>
            <p:cNvPr name="Freeform 43" id="43"/>
            <p:cNvSpPr/>
            <p:nvPr/>
          </p:nvSpPr>
          <p:spPr>
            <a:xfrm flipH="false" flipV="false" rot="0">
              <a:off x="0" y="0"/>
              <a:ext cx="4315968" cy="1133856"/>
            </a:xfrm>
            <a:custGeom>
              <a:avLst/>
              <a:gdLst/>
              <a:ahLst/>
              <a:cxnLst/>
              <a:rect r="r" b="b" t="t" l="l"/>
              <a:pathLst>
                <a:path h="1133856" w="4315968">
                  <a:moveTo>
                    <a:pt x="0" y="0"/>
                  </a:moveTo>
                  <a:lnTo>
                    <a:pt x="4315968" y="0"/>
                  </a:lnTo>
                  <a:lnTo>
                    <a:pt x="4315968" y="1133856"/>
                  </a:lnTo>
                  <a:lnTo>
                    <a:pt x="0" y="1133856"/>
                  </a:lnTo>
                  <a:close/>
                </a:path>
              </a:pathLst>
            </a:custGeom>
            <a:blipFill>
              <a:blip r:embed="rId3">
                <a:alphaModFix amt="0"/>
              </a:blip>
              <a:stretch>
                <a:fillRect l="0" t="-24168" r="0" b="-24168"/>
              </a:stretch>
            </a:blipFill>
          </p:spPr>
        </p:sp>
        <p:sp>
          <p:nvSpPr>
            <p:cNvPr name="TextBox 44" id="44"/>
            <p:cNvSpPr txBox="true"/>
            <p:nvPr/>
          </p:nvSpPr>
          <p:spPr>
            <a:xfrm>
              <a:off x="0" y="-9525"/>
              <a:ext cx="4315968" cy="1143381"/>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Tᵢ at sampling time tᵢ</a:t>
              </a:r>
            </a:p>
          </p:txBody>
        </p:sp>
      </p:grpSp>
      <p:sp>
        <p:nvSpPr>
          <p:cNvPr name="AutoShape 45" id="45"/>
          <p:cNvSpPr/>
          <p:nvPr/>
        </p:nvSpPr>
        <p:spPr>
          <a:xfrm rot="94920">
            <a:off x="5084969" y="7163943"/>
            <a:ext cx="1241774" cy="0"/>
          </a:xfrm>
          <a:prstGeom prst="line">
            <a:avLst/>
          </a:prstGeom>
          <a:ln cap="rnd" w="19050">
            <a:solidFill>
              <a:srgbClr val="1D3850"/>
            </a:solidFill>
            <a:prstDash val="solid"/>
            <a:headEnd type="none" len="sm" w="sm"/>
            <a:tailEnd type="triangle" len="med" w="lg"/>
          </a:ln>
        </p:spPr>
      </p:sp>
      <p:grpSp>
        <p:nvGrpSpPr>
          <p:cNvPr name="Group 46" id="46"/>
          <p:cNvGrpSpPr/>
          <p:nvPr/>
        </p:nvGrpSpPr>
        <p:grpSpPr>
          <a:xfrm rot="0">
            <a:off x="6367462" y="6367462"/>
            <a:ext cx="4135755" cy="1612011"/>
            <a:chOff x="0" y="0"/>
            <a:chExt cx="5514340" cy="2149348"/>
          </a:xfrm>
        </p:grpSpPr>
        <p:sp>
          <p:nvSpPr>
            <p:cNvPr name="Freeform 47" id="47"/>
            <p:cNvSpPr/>
            <p:nvPr/>
          </p:nvSpPr>
          <p:spPr>
            <a:xfrm flipH="false" flipV="false" rot="0">
              <a:off x="0" y="0"/>
              <a:ext cx="5514340" cy="2149348"/>
            </a:xfrm>
            <a:custGeom>
              <a:avLst/>
              <a:gdLst/>
              <a:ahLst/>
              <a:cxnLst/>
              <a:rect r="r" b="b" t="t" l="l"/>
              <a:pathLst>
                <a:path h="2149348" w="5514340">
                  <a:moveTo>
                    <a:pt x="0" y="148209"/>
                  </a:moveTo>
                  <a:cubicBezTo>
                    <a:pt x="0" y="66421"/>
                    <a:pt x="66421" y="0"/>
                    <a:pt x="148209" y="0"/>
                  </a:cubicBezTo>
                  <a:lnTo>
                    <a:pt x="5366131" y="0"/>
                  </a:lnTo>
                  <a:cubicBezTo>
                    <a:pt x="5448046" y="0"/>
                    <a:pt x="5514340" y="66421"/>
                    <a:pt x="5514340" y="148209"/>
                  </a:cubicBezTo>
                  <a:lnTo>
                    <a:pt x="5514340" y="2001139"/>
                  </a:lnTo>
                  <a:cubicBezTo>
                    <a:pt x="5514340" y="2083054"/>
                    <a:pt x="5447919" y="2149348"/>
                    <a:pt x="5366131" y="2149348"/>
                  </a:cubicBezTo>
                  <a:lnTo>
                    <a:pt x="148209" y="2149348"/>
                  </a:lnTo>
                  <a:cubicBezTo>
                    <a:pt x="66421" y="2149348"/>
                    <a:pt x="0" y="2082927"/>
                    <a:pt x="0" y="2001139"/>
                  </a:cubicBezTo>
                  <a:close/>
                </a:path>
              </a:pathLst>
            </a:custGeom>
            <a:solidFill>
              <a:srgbClr val="10253B"/>
            </a:solidFill>
            <a:ln w="20955" cap="sq">
              <a:solidFill>
                <a:srgbClr val="46D6F5"/>
              </a:solidFill>
              <a:prstDash val="solid"/>
              <a:miter/>
            </a:ln>
          </p:spPr>
        </p:sp>
      </p:grpSp>
      <p:grpSp>
        <p:nvGrpSpPr>
          <p:cNvPr name="Group 48" id="48"/>
          <p:cNvGrpSpPr/>
          <p:nvPr/>
        </p:nvGrpSpPr>
        <p:grpSpPr>
          <a:xfrm rot="0">
            <a:off x="6542532" y="6569964"/>
            <a:ext cx="3785616" cy="329184"/>
            <a:chOff x="0" y="0"/>
            <a:chExt cx="5047488" cy="438912"/>
          </a:xfrm>
        </p:grpSpPr>
        <p:sp>
          <p:nvSpPr>
            <p:cNvPr name="Freeform 49" id="49"/>
            <p:cNvSpPr/>
            <p:nvPr/>
          </p:nvSpPr>
          <p:spPr>
            <a:xfrm flipH="false" flipV="false" rot="0">
              <a:off x="0" y="0"/>
              <a:ext cx="5047488" cy="438912"/>
            </a:xfrm>
            <a:custGeom>
              <a:avLst/>
              <a:gdLst/>
              <a:ahLst/>
              <a:cxnLst/>
              <a:rect r="r" b="b" t="t" l="l"/>
              <a:pathLst>
                <a:path h="438912" w="5047488">
                  <a:moveTo>
                    <a:pt x="0" y="0"/>
                  </a:moveTo>
                  <a:lnTo>
                    <a:pt x="5047488" y="0"/>
                  </a:lnTo>
                  <a:lnTo>
                    <a:pt x="5047488" y="438912"/>
                  </a:lnTo>
                  <a:lnTo>
                    <a:pt x="0" y="438912"/>
                  </a:lnTo>
                  <a:close/>
                </a:path>
              </a:pathLst>
            </a:custGeom>
            <a:blipFill>
              <a:blip r:embed="rId3">
                <a:alphaModFix amt="0"/>
              </a:blip>
              <a:stretch>
                <a:fillRect l="0" t="-174077" r="0" b="-174077"/>
              </a:stretch>
            </a:blipFill>
          </p:spPr>
        </p:sp>
        <p:sp>
          <p:nvSpPr>
            <p:cNvPr name="TextBox 50" id="50"/>
            <p:cNvSpPr txBox="true"/>
            <p:nvPr/>
          </p:nvSpPr>
          <p:spPr>
            <a:xfrm>
              <a:off x="0" y="0"/>
              <a:ext cx="504748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FILTER</a:t>
              </a:r>
            </a:p>
          </p:txBody>
        </p:sp>
      </p:grpSp>
      <p:grpSp>
        <p:nvGrpSpPr>
          <p:cNvPr name="Group 51" id="51"/>
          <p:cNvGrpSpPr/>
          <p:nvPr/>
        </p:nvGrpSpPr>
        <p:grpSpPr>
          <a:xfrm rot="0">
            <a:off x="6542532" y="7008876"/>
            <a:ext cx="3785616" cy="850392"/>
            <a:chOff x="0" y="0"/>
            <a:chExt cx="5047488" cy="1133856"/>
          </a:xfrm>
        </p:grpSpPr>
        <p:sp>
          <p:nvSpPr>
            <p:cNvPr name="Freeform 52" id="52"/>
            <p:cNvSpPr/>
            <p:nvPr/>
          </p:nvSpPr>
          <p:spPr>
            <a:xfrm flipH="false" flipV="false" rot="0">
              <a:off x="0" y="0"/>
              <a:ext cx="5047488" cy="1133856"/>
            </a:xfrm>
            <a:custGeom>
              <a:avLst/>
              <a:gdLst/>
              <a:ahLst/>
              <a:cxnLst/>
              <a:rect r="r" b="b" t="t" l="l"/>
              <a:pathLst>
                <a:path h="1133856" w="5047488">
                  <a:moveTo>
                    <a:pt x="0" y="0"/>
                  </a:moveTo>
                  <a:lnTo>
                    <a:pt x="5047488" y="0"/>
                  </a:lnTo>
                  <a:lnTo>
                    <a:pt x="5047488" y="1133856"/>
                  </a:lnTo>
                  <a:lnTo>
                    <a:pt x="0" y="1133856"/>
                  </a:lnTo>
                  <a:close/>
                </a:path>
              </a:pathLst>
            </a:custGeom>
            <a:blipFill>
              <a:blip r:embed="rId3">
                <a:alphaModFix amt="0"/>
              </a:blip>
              <a:stretch>
                <a:fillRect l="0" t="-36739" r="0" b="-36739"/>
              </a:stretch>
            </a:blipFill>
          </p:spPr>
        </p:sp>
        <p:sp>
          <p:nvSpPr>
            <p:cNvPr name="TextBox 53" id="53"/>
            <p:cNvSpPr txBox="true"/>
            <p:nvPr/>
          </p:nvSpPr>
          <p:spPr>
            <a:xfrm>
              <a:off x="0" y="-9525"/>
              <a:ext cx="5047488" cy="1143381"/>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Inside safe band?</a:t>
              </a:r>
            </a:p>
            <a:p>
              <a:pPr algn="ctr">
                <a:lnSpc>
                  <a:spcPts val="1530"/>
                </a:lnSpc>
              </a:pPr>
              <a:r>
                <a:rPr lang="en-US" sz="1275">
                  <a:solidFill>
                    <a:srgbClr val="9BAFC2"/>
                  </a:solidFill>
                  <a:latin typeface="Aptos"/>
                  <a:ea typeface="Aptos"/>
                  <a:cs typeface="Aptos"/>
                  <a:sym typeface="Aptos"/>
                </a:rPr>
                <a:t>Violation amplitude</a:t>
              </a:r>
            </a:p>
            <a:p>
              <a:pPr algn="ctr">
                <a:lnSpc>
                  <a:spcPts val="1530"/>
                </a:lnSpc>
              </a:pPr>
            </a:p>
          </p:txBody>
        </p:sp>
      </p:grpSp>
      <p:sp>
        <p:nvSpPr>
          <p:cNvPr name="AutoShape 54" id="54"/>
          <p:cNvSpPr/>
          <p:nvPr/>
        </p:nvSpPr>
        <p:spPr>
          <a:xfrm rot="98220">
            <a:off x="10681087" y="7163943"/>
            <a:ext cx="1200636" cy="0"/>
          </a:xfrm>
          <a:prstGeom prst="line">
            <a:avLst/>
          </a:prstGeom>
          <a:ln cap="rnd" w="19050">
            <a:solidFill>
              <a:srgbClr val="1D3850"/>
            </a:solidFill>
            <a:prstDash val="solid"/>
            <a:headEnd type="none" len="sm" w="sm"/>
            <a:tailEnd type="triangle" len="med" w="lg"/>
          </a:ln>
        </p:spPr>
      </p:sp>
      <p:grpSp>
        <p:nvGrpSpPr>
          <p:cNvPr name="Group 55" id="55"/>
          <p:cNvGrpSpPr/>
          <p:nvPr/>
        </p:nvGrpSpPr>
        <p:grpSpPr>
          <a:xfrm rot="0">
            <a:off x="11922443" y="6367462"/>
            <a:ext cx="4410075" cy="1612011"/>
            <a:chOff x="0" y="0"/>
            <a:chExt cx="5880100" cy="2149348"/>
          </a:xfrm>
        </p:grpSpPr>
        <p:sp>
          <p:nvSpPr>
            <p:cNvPr name="Freeform 56" id="56"/>
            <p:cNvSpPr/>
            <p:nvPr/>
          </p:nvSpPr>
          <p:spPr>
            <a:xfrm flipH="false" flipV="false" rot="0">
              <a:off x="0" y="0"/>
              <a:ext cx="5880100" cy="2149348"/>
            </a:xfrm>
            <a:custGeom>
              <a:avLst/>
              <a:gdLst/>
              <a:ahLst/>
              <a:cxnLst/>
              <a:rect r="r" b="b" t="t" l="l"/>
              <a:pathLst>
                <a:path h="2149348" w="5880100">
                  <a:moveTo>
                    <a:pt x="0" y="148209"/>
                  </a:moveTo>
                  <a:cubicBezTo>
                    <a:pt x="0" y="66421"/>
                    <a:pt x="66421" y="0"/>
                    <a:pt x="148209" y="0"/>
                  </a:cubicBezTo>
                  <a:lnTo>
                    <a:pt x="5731891" y="0"/>
                  </a:lnTo>
                  <a:cubicBezTo>
                    <a:pt x="5813679" y="0"/>
                    <a:pt x="5880100" y="66421"/>
                    <a:pt x="5880100" y="148209"/>
                  </a:cubicBezTo>
                  <a:lnTo>
                    <a:pt x="5880100" y="2001139"/>
                  </a:lnTo>
                  <a:cubicBezTo>
                    <a:pt x="5880100" y="2083054"/>
                    <a:pt x="5813679" y="2149348"/>
                    <a:pt x="5731891" y="2149348"/>
                  </a:cubicBezTo>
                  <a:lnTo>
                    <a:pt x="148209" y="2149348"/>
                  </a:lnTo>
                  <a:cubicBezTo>
                    <a:pt x="66421" y="2149348"/>
                    <a:pt x="0" y="2082927"/>
                    <a:pt x="0" y="2001139"/>
                  </a:cubicBezTo>
                  <a:close/>
                </a:path>
              </a:pathLst>
            </a:custGeom>
            <a:solidFill>
              <a:srgbClr val="10253B"/>
            </a:solidFill>
            <a:ln w="20955" cap="sq">
              <a:solidFill>
                <a:srgbClr val="76E2A1"/>
              </a:solidFill>
              <a:prstDash val="solid"/>
              <a:miter/>
            </a:ln>
          </p:spPr>
        </p:sp>
      </p:grpSp>
      <p:grpSp>
        <p:nvGrpSpPr>
          <p:cNvPr name="Group 57" id="57"/>
          <p:cNvGrpSpPr/>
          <p:nvPr/>
        </p:nvGrpSpPr>
        <p:grpSpPr>
          <a:xfrm rot="0">
            <a:off x="12097512" y="6569964"/>
            <a:ext cx="4059936" cy="329184"/>
            <a:chOff x="0" y="0"/>
            <a:chExt cx="5413248" cy="438912"/>
          </a:xfrm>
        </p:grpSpPr>
        <p:sp>
          <p:nvSpPr>
            <p:cNvPr name="Freeform 58" id="58"/>
            <p:cNvSpPr/>
            <p:nvPr/>
          </p:nvSpPr>
          <p:spPr>
            <a:xfrm flipH="false" flipV="false" rot="0">
              <a:off x="0" y="0"/>
              <a:ext cx="5413248" cy="438912"/>
            </a:xfrm>
            <a:custGeom>
              <a:avLst/>
              <a:gdLst/>
              <a:ahLst/>
              <a:cxnLst/>
              <a:rect r="r" b="b" t="t" l="l"/>
              <a:pathLst>
                <a:path h="438912" w="5413248">
                  <a:moveTo>
                    <a:pt x="0" y="0"/>
                  </a:moveTo>
                  <a:lnTo>
                    <a:pt x="5413248" y="0"/>
                  </a:lnTo>
                  <a:lnTo>
                    <a:pt x="5413248" y="438912"/>
                  </a:lnTo>
                  <a:lnTo>
                    <a:pt x="0" y="438912"/>
                  </a:lnTo>
                  <a:close/>
                </a:path>
              </a:pathLst>
            </a:custGeom>
            <a:blipFill>
              <a:blip r:embed="rId3">
                <a:alphaModFix amt="0"/>
              </a:blip>
              <a:stretch>
                <a:fillRect l="0" t="-190315" r="0" b="-190315"/>
              </a:stretch>
            </a:blipFill>
          </p:spPr>
        </p:sp>
        <p:sp>
          <p:nvSpPr>
            <p:cNvPr name="TextBox 59" id="59"/>
            <p:cNvSpPr txBox="true"/>
            <p:nvPr/>
          </p:nvSpPr>
          <p:spPr>
            <a:xfrm>
              <a:off x="0" y="0"/>
              <a:ext cx="541324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ACCUMULATE</a:t>
              </a:r>
            </a:p>
          </p:txBody>
        </p:sp>
      </p:grpSp>
      <p:grpSp>
        <p:nvGrpSpPr>
          <p:cNvPr name="Group 60" id="60"/>
          <p:cNvGrpSpPr/>
          <p:nvPr/>
        </p:nvGrpSpPr>
        <p:grpSpPr>
          <a:xfrm rot="0">
            <a:off x="12097512" y="7008876"/>
            <a:ext cx="4059936" cy="850392"/>
            <a:chOff x="0" y="0"/>
            <a:chExt cx="5413248" cy="1133856"/>
          </a:xfrm>
        </p:grpSpPr>
        <p:sp>
          <p:nvSpPr>
            <p:cNvPr name="Freeform 61" id="61"/>
            <p:cNvSpPr/>
            <p:nvPr/>
          </p:nvSpPr>
          <p:spPr>
            <a:xfrm flipH="false" flipV="false" rot="0">
              <a:off x="0" y="0"/>
              <a:ext cx="5413248" cy="1133856"/>
            </a:xfrm>
            <a:custGeom>
              <a:avLst/>
              <a:gdLst/>
              <a:ahLst/>
              <a:cxnLst/>
              <a:rect r="r" b="b" t="t" l="l"/>
              <a:pathLst>
                <a:path h="1133856" w="5413248">
                  <a:moveTo>
                    <a:pt x="0" y="0"/>
                  </a:moveTo>
                  <a:lnTo>
                    <a:pt x="5413248" y="0"/>
                  </a:lnTo>
                  <a:lnTo>
                    <a:pt x="5413248" y="1133856"/>
                  </a:lnTo>
                  <a:lnTo>
                    <a:pt x="0" y="1133856"/>
                  </a:lnTo>
                  <a:close/>
                </a:path>
              </a:pathLst>
            </a:custGeom>
            <a:blipFill>
              <a:blip r:embed="rId3">
                <a:alphaModFix amt="0"/>
              </a:blip>
              <a:stretch>
                <a:fillRect l="0" t="-43025" r="0" b="-43025"/>
              </a:stretch>
            </a:blipFill>
          </p:spPr>
        </p:sp>
        <p:sp>
          <p:nvSpPr>
            <p:cNvPr name="TextBox 62" id="62"/>
            <p:cNvSpPr txBox="true"/>
            <p:nvPr/>
          </p:nvSpPr>
          <p:spPr>
            <a:xfrm>
              <a:off x="0" y="-9525"/>
              <a:ext cx="5413248" cy="1143381"/>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E += f(Tᵢ) · Δtᵢ</a:t>
              </a:r>
            </a:p>
            <a:p>
              <a:pPr algn="ctr">
                <a:lnSpc>
                  <a:spcPts val="1530"/>
                </a:lnSpc>
              </a:pPr>
            </a:p>
          </p:txBody>
        </p:sp>
      </p:grpSp>
      <p:grpSp>
        <p:nvGrpSpPr>
          <p:cNvPr name="Group 63" id="63"/>
          <p:cNvGrpSpPr/>
          <p:nvPr/>
        </p:nvGrpSpPr>
        <p:grpSpPr>
          <a:xfrm rot="0">
            <a:off x="685800" y="9628632"/>
            <a:ext cx="16733520" cy="233172"/>
            <a:chOff x="0" y="0"/>
            <a:chExt cx="22311360" cy="310896"/>
          </a:xfrm>
        </p:grpSpPr>
        <p:sp>
          <p:nvSpPr>
            <p:cNvPr name="Freeform 64" id="64"/>
            <p:cNvSpPr/>
            <p:nvPr/>
          </p:nvSpPr>
          <p:spPr>
            <a:xfrm flipH="false" flipV="false" rot="0">
              <a:off x="0" y="0"/>
              <a:ext cx="22311361" cy="310896"/>
            </a:xfrm>
            <a:custGeom>
              <a:avLst/>
              <a:gdLst/>
              <a:ahLst/>
              <a:cxnLst/>
              <a:rect r="r" b="b" t="t" l="l"/>
              <a:pathLst>
                <a:path h="310896" w="22311361">
                  <a:moveTo>
                    <a:pt x="0" y="0"/>
                  </a:moveTo>
                  <a:lnTo>
                    <a:pt x="22311361" y="0"/>
                  </a:lnTo>
                  <a:lnTo>
                    <a:pt x="22311361" y="310896"/>
                  </a:lnTo>
                  <a:lnTo>
                    <a:pt x="0" y="310896"/>
                  </a:lnTo>
                  <a:close/>
                </a:path>
              </a:pathLst>
            </a:custGeom>
            <a:blipFill>
              <a:blip r:embed="rId3">
                <a:alphaModFix amt="0"/>
              </a:blip>
              <a:stretch>
                <a:fillRect l="0" t="-1348338" r="0" b="-1348338"/>
              </a:stretch>
            </a:blipFill>
          </p:spPr>
        </p:sp>
        <p:sp>
          <p:nvSpPr>
            <p:cNvPr name="TextBox 65" id="65"/>
            <p:cNvSpPr txBox="true"/>
            <p:nvPr/>
          </p:nvSpPr>
          <p:spPr>
            <a:xfrm>
              <a:off x="0" y="9525"/>
              <a:ext cx="22311360" cy="301371"/>
            </a:xfrm>
            <a:prstGeom prst="rect">
              <a:avLst/>
            </a:prstGeom>
          </p:spPr>
          <p:txBody>
            <a:bodyPr anchor="ctr" rtlCol="false" tIns="0" lIns="0" bIns="0" rIns="0"/>
            <a:lstStyle/>
            <a:p>
              <a:pPr algn="l">
                <a:lnSpc>
                  <a:spcPts val="1296"/>
                </a:lnSpc>
              </a:pPr>
            </a:p>
          </p:txBody>
        </p:sp>
      </p:grpSp>
      <p:sp>
        <p:nvSpPr>
          <p:cNvPr name="TextBox 66" id="66"/>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76E2A1"/>
            </a:solidFill>
            <a:ln w="19050" cap="sq">
              <a:solidFill>
                <a:srgbClr val="76E2A1"/>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02</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2</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Central microcontroller:</a:t>
              </a:r>
              <a:r>
                <a:rPr lang="en-US" sz="3750" b="true">
                  <a:solidFill>
                    <a:srgbClr val="F5F8FC"/>
                  </a:solidFill>
                  <a:latin typeface="Aptos Bold"/>
                  <a:ea typeface="Aptos Bold"/>
                  <a:cs typeface="Aptos Bold"/>
                  <a:sym typeface="Aptos Bold"/>
                </a:rPr>
                <a:t> ESP32</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The ESP32 DevKit V1 is the Edge Computing Node for acquisition, processing, wireless communication, and local buffering.</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87552" y="2992593"/>
            <a:ext cx="4869180" cy="5344220"/>
            <a:chOff x="0" y="0"/>
            <a:chExt cx="6492240" cy="7125627"/>
          </a:xfrm>
        </p:grpSpPr>
        <p:sp>
          <p:nvSpPr>
            <p:cNvPr name="Freeform 23" id="23" descr="/mnt/data/iot_media/image13.png"/>
            <p:cNvSpPr/>
            <p:nvPr/>
          </p:nvSpPr>
          <p:spPr>
            <a:xfrm flipH="false" flipV="false" rot="0">
              <a:off x="0" y="0"/>
              <a:ext cx="6492240" cy="7125589"/>
            </a:xfrm>
            <a:custGeom>
              <a:avLst/>
              <a:gdLst/>
              <a:ahLst/>
              <a:cxnLst/>
              <a:rect r="r" b="b" t="t" l="l"/>
              <a:pathLst>
                <a:path h="7125589" w="6492240">
                  <a:moveTo>
                    <a:pt x="0" y="0"/>
                  </a:moveTo>
                  <a:lnTo>
                    <a:pt x="6492240" y="0"/>
                  </a:lnTo>
                  <a:lnTo>
                    <a:pt x="6492240" y="7125589"/>
                  </a:lnTo>
                  <a:lnTo>
                    <a:pt x="0" y="7125589"/>
                  </a:lnTo>
                  <a:lnTo>
                    <a:pt x="0" y="0"/>
                  </a:lnTo>
                  <a:close/>
                </a:path>
              </a:pathLst>
            </a:custGeom>
            <a:blipFill>
              <a:blip r:embed="rId4"/>
              <a:stretch>
                <a:fillRect l="0" t="0" r="0" b="0"/>
              </a:stretch>
            </a:blipFill>
          </p:spPr>
        </p:sp>
      </p:grpSp>
      <p:grpSp>
        <p:nvGrpSpPr>
          <p:cNvPr name="Group 24" id="24"/>
          <p:cNvGrpSpPr/>
          <p:nvPr/>
        </p:nvGrpSpPr>
        <p:grpSpPr>
          <a:xfrm rot="0">
            <a:off x="1267968" y="8427720"/>
            <a:ext cx="3307080" cy="426720"/>
            <a:chOff x="0" y="0"/>
            <a:chExt cx="4409440" cy="568960"/>
          </a:xfrm>
        </p:grpSpPr>
        <p:sp>
          <p:nvSpPr>
            <p:cNvPr name="Freeform 25" id="25"/>
            <p:cNvSpPr/>
            <p:nvPr/>
          </p:nvSpPr>
          <p:spPr>
            <a:xfrm flipH="false" flipV="false" rot="0">
              <a:off x="0" y="0"/>
              <a:ext cx="4409440" cy="568960"/>
            </a:xfrm>
            <a:custGeom>
              <a:avLst/>
              <a:gdLst/>
              <a:ahLst/>
              <a:cxnLst/>
              <a:rect r="r" b="b" t="t" l="l"/>
              <a:pathLst>
                <a:path h="568960" w="4409440">
                  <a:moveTo>
                    <a:pt x="0" y="113792"/>
                  </a:moveTo>
                  <a:cubicBezTo>
                    <a:pt x="0" y="50927"/>
                    <a:pt x="50927" y="0"/>
                    <a:pt x="113792" y="0"/>
                  </a:cubicBezTo>
                  <a:lnTo>
                    <a:pt x="4295648" y="0"/>
                  </a:lnTo>
                  <a:cubicBezTo>
                    <a:pt x="4358513" y="0"/>
                    <a:pt x="4409440" y="50927"/>
                    <a:pt x="4409440" y="113792"/>
                  </a:cubicBezTo>
                  <a:lnTo>
                    <a:pt x="4409440" y="455168"/>
                  </a:lnTo>
                  <a:cubicBezTo>
                    <a:pt x="4409440" y="518033"/>
                    <a:pt x="4358513" y="568960"/>
                    <a:pt x="4295648" y="568960"/>
                  </a:cubicBezTo>
                  <a:lnTo>
                    <a:pt x="113792" y="568960"/>
                  </a:lnTo>
                  <a:cubicBezTo>
                    <a:pt x="50927" y="568960"/>
                    <a:pt x="0" y="518033"/>
                    <a:pt x="0" y="455168"/>
                  </a:cubicBezTo>
                  <a:close/>
                </a:path>
              </a:pathLst>
            </a:custGeom>
            <a:solidFill>
              <a:srgbClr val="46D6F5">
                <a:alpha val="3137"/>
              </a:srgbClr>
            </a:solidFill>
            <a:ln w="15240" cap="sq">
              <a:solidFill>
                <a:srgbClr val="46D6F5"/>
              </a:solidFill>
              <a:prstDash val="solid"/>
              <a:miter/>
            </a:ln>
          </p:spPr>
        </p:sp>
      </p:grpSp>
      <p:grpSp>
        <p:nvGrpSpPr>
          <p:cNvPr name="Group 26" id="26"/>
          <p:cNvGrpSpPr/>
          <p:nvPr/>
        </p:nvGrpSpPr>
        <p:grpSpPr>
          <a:xfrm rot="0">
            <a:off x="1275588" y="8531352"/>
            <a:ext cx="3291840" cy="178308"/>
            <a:chOff x="0" y="0"/>
            <a:chExt cx="4389120" cy="237744"/>
          </a:xfrm>
        </p:grpSpPr>
        <p:sp>
          <p:nvSpPr>
            <p:cNvPr name="Freeform 27" id="27"/>
            <p:cNvSpPr/>
            <p:nvPr/>
          </p:nvSpPr>
          <p:spPr>
            <a:xfrm flipH="false" flipV="false" rot="0">
              <a:off x="0" y="0"/>
              <a:ext cx="4389120" cy="237744"/>
            </a:xfrm>
            <a:custGeom>
              <a:avLst/>
              <a:gdLst/>
              <a:ahLst/>
              <a:cxnLst/>
              <a:rect r="r" b="b" t="t" l="l"/>
              <a:pathLst>
                <a:path h="237744" w="4389120">
                  <a:moveTo>
                    <a:pt x="0" y="0"/>
                  </a:moveTo>
                  <a:lnTo>
                    <a:pt x="4389120" y="0"/>
                  </a:lnTo>
                  <a:lnTo>
                    <a:pt x="4389120" y="237744"/>
                  </a:lnTo>
                  <a:lnTo>
                    <a:pt x="0" y="237744"/>
                  </a:lnTo>
                  <a:close/>
                </a:path>
              </a:pathLst>
            </a:custGeom>
            <a:blipFill>
              <a:blip r:embed="rId3">
                <a:alphaModFix amt="0"/>
              </a:blip>
              <a:stretch>
                <a:fillRect l="0" t="-309723" r="0" b="-309723"/>
              </a:stretch>
            </a:blipFill>
          </p:spPr>
        </p:sp>
        <p:sp>
          <p:nvSpPr>
            <p:cNvPr name="TextBox 28" id="28"/>
            <p:cNvSpPr txBox="true"/>
            <p:nvPr/>
          </p:nvSpPr>
          <p:spPr>
            <a:xfrm>
              <a:off x="0" y="0"/>
              <a:ext cx="4389120" cy="237744"/>
            </a:xfrm>
            <a:prstGeom prst="rect">
              <a:avLst/>
            </a:prstGeom>
          </p:spPr>
          <p:txBody>
            <a:bodyPr anchor="ctr" rtlCol="false" tIns="0" lIns="0" bIns="0" rIns="0"/>
            <a:lstStyle/>
            <a:p>
              <a:pPr algn="ctr">
                <a:lnSpc>
                  <a:spcPts val="1439"/>
                </a:lnSpc>
              </a:pPr>
              <a:r>
                <a:rPr lang="en-US" sz="1200" b="true">
                  <a:solidFill>
                    <a:srgbClr val="46D6F5"/>
                  </a:solidFill>
                  <a:latin typeface="Aptos Bold"/>
                  <a:ea typeface="Aptos Bold"/>
                  <a:cs typeface="Aptos Bold"/>
                  <a:sym typeface="Aptos Bold"/>
                </a:rPr>
                <a:t>ESP32-WROOM-32</a:t>
              </a:r>
            </a:p>
          </p:txBody>
        </p:sp>
      </p:grpSp>
      <p:grpSp>
        <p:nvGrpSpPr>
          <p:cNvPr name="Group 29" id="29"/>
          <p:cNvGrpSpPr/>
          <p:nvPr/>
        </p:nvGrpSpPr>
        <p:grpSpPr>
          <a:xfrm rot="0">
            <a:off x="6370320" y="3009900"/>
            <a:ext cx="3101340" cy="2004060"/>
            <a:chOff x="0" y="0"/>
            <a:chExt cx="4135120" cy="2672080"/>
          </a:xfrm>
        </p:grpSpPr>
        <p:sp>
          <p:nvSpPr>
            <p:cNvPr name="Freeform 30" id="30"/>
            <p:cNvSpPr/>
            <p:nvPr/>
          </p:nvSpPr>
          <p:spPr>
            <a:xfrm flipH="false" flipV="false" rot="0">
              <a:off x="0" y="0"/>
              <a:ext cx="4135120" cy="2672080"/>
            </a:xfrm>
            <a:custGeom>
              <a:avLst/>
              <a:gdLst/>
              <a:ahLst/>
              <a:cxnLst/>
              <a:rect r="r" b="b" t="t" l="l"/>
              <a:pathLst>
                <a:path h="2672080" w="4135120">
                  <a:moveTo>
                    <a:pt x="0" y="147447"/>
                  </a:moveTo>
                  <a:cubicBezTo>
                    <a:pt x="0" y="66040"/>
                    <a:pt x="66040" y="0"/>
                    <a:pt x="147447" y="0"/>
                  </a:cubicBezTo>
                  <a:lnTo>
                    <a:pt x="3987673" y="0"/>
                  </a:lnTo>
                  <a:cubicBezTo>
                    <a:pt x="4069080" y="0"/>
                    <a:pt x="4135120" y="66040"/>
                    <a:pt x="4135120" y="147447"/>
                  </a:cubicBezTo>
                  <a:lnTo>
                    <a:pt x="4135120" y="2524633"/>
                  </a:lnTo>
                  <a:cubicBezTo>
                    <a:pt x="4135120" y="2606040"/>
                    <a:pt x="4069080" y="2672080"/>
                    <a:pt x="3987673" y="2672080"/>
                  </a:cubicBezTo>
                  <a:lnTo>
                    <a:pt x="147447" y="2672080"/>
                  </a:lnTo>
                  <a:cubicBezTo>
                    <a:pt x="66040" y="2672080"/>
                    <a:pt x="0" y="2606040"/>
                    <a:pt x="0" y="2524633"/>
                  </a:cubicBezTo>
                  <a:close/>
                </a:path>
              </a:pathLst>
            </a:custGeom>
            <a:solidFill>
              <a:srgbClr val="0E1D30"/>
            </a:solidFill>
            <a:ln w="15240" cap="sq">
              <a:solidFill>
                <a:srgbClr val="1D3850"/>
              </a:solidFill>
              <a:prstDash val="solid"/>
              <a:miter/>
            </a:ln>
          </p:spPr>
        </p:sp>
      </p:grpSp>
      <p:grpSp>
        <p:nvGrpSpPr>
          <p:cNvPr name="Group 31" id="31"/>
          <p:cNvGrpSpPr/>
          <p:nvPr/>
        </p:nvGrpSpPr>
        <p:grpSpPr>
          <a:xfrm rot="0">
            <a:off x="7447788" y="3291840"/>
            <a:ext cx="1714500" cy="342900"/>
            <a:chOff x="0" y="0"/>
            <a:chExt cx="2286000" cy="457200"/>
          </a:xfrm>
        </p:grpSpPr>
        <p:sp>
          <p:nvSpPr>
            <p:cNvPr name="Freeform 32" id="32"/>
            <p:cNvSpPr/>
            <p:nvPr/>
          </p:nvSpPr>
          <p:spPr>
            <a:xfrm flipH="false" flipV="false" rot="0">
              <a:off x="0" y="0"/>
              <a:ext cx="2286000" cy="457200"/>
            </a:xfrm>
            <a:custGeom>
              <a:avLst/>
              <a:gdLst/>
              <a:ahLst/>
              <a:cxnLst/>
              <a:rect r="r" b="b" t="t" l="l"/>
              <a:pathLst>
                <a:path h="457200" w="2286000">
                  <a:moveTo>
                    <a:pt x="0" y="0"/>
                  </a:moveTo>
                  <a:lnTo>
                    <a:pt x="2286000" y="0"/>
                  </a:lnTo>
                  <a:lnTo>
                    <a:pt x="2286000" y="457200"/>
                  </a:lnTo>
                  <a:lnTo>
                    <a:pt x="0" y="457200"/>
                  </a:lnTo>
                  <a:close/>
                </a:path>
              </a:pathLst>
            </a:custGeom>
            <a:blipFill>
              <a:blip r:embed="rId3">
                <a:alphaModFix amt="0"/>
              </a:blip>
              <a:stretch>
                <a:fillRect l="0" t="-47425" r="0" b="-47425"/>
              </a:stretch>
            </a:blipFill>
          </p:spPr>
        </p:sp>
        <p:sp>
          <p:nvSpPr>
            <p:cNvPr name="TextBox 33" id="33"/>
            <p:cNvSpPr txBox="true"/>
            <p:nvPr/>
          </p:nvSpPr>
          <p:spPr>
            <a:xfrm>
              <a:off x="0" y="-9525"/>
              <a:ext cx="228600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CPU</a:t>
              </a:r>
            </a:p>
          </p:txBody>
        </p:sp>
      </p:grpSp>
      <p:grpSp>
        <p:nvGrpSpPr>
          <p:cNvPr name="Group 34" id="34"/>
          <p:cNvGrpSpPr/>
          <p:nvPr/>
        </p:nvGrpSpPr>
        <p:grpSpPr>
          <a:xfrm rot="0">
            <a:off x="6679692" y="3922776"/>
            <a:ext cx="2482596" cy="576072"/>
            <a:chOff x="0" y="0"/>
            <a:chExt cx="3310128" cy="768096"/>
          </a:xfrm>
        </p:grpSpPr>
        <p:sp>
          <p:nvSpPr>
            <p:cNvPr name="Freeform 35" id="35"/>
            <p:cNvSpPr/>
            <p:nvPr/>
          </p:nvSpPr>
          <p:spPr>
            <a:xfrm flipH="false" flipV="false" rot="0">
              <a:off x="0" y="0"/>
              <a:ext cx="3310128" cy="768096"/>
            </a:xfrm>
            <a:custGeom>
              <a:avLst/>
              <a:gdLst/>
              <a:ahLst/>
              <a:cxnLst/>
              <a:rect r="r" b="b" t="t" l="l"/>
              <a:pathLst>
                <a:path h="768096" w="3310128">
                  <a:moveTo>
                    <a:pt x="0" y="0"/>
                  </a:moveTo>
                  <a:lnTo>
                    <a:pt x="3310128" y="0"/>
                  </a:lnTo>
                  <a:lnTo>
                    <a:pt x="3310128" y="768096"/>
                  </a:lnTo>
                  <a:lnTo>
                    <a:pt x="0" y="768096"/>
                  </a:lnTo>
                  <a:close/>
                </a:path>
              </a:pathLst>
            </a:custGeom>
            <a:blipFill>
              <a:blip r:embed="rId3">
                <a:alphaModFix amt="0"/>
              </a:blip>
              <a:stretch>
                <a:fillRect l="0" t="-33971" r="0" b="-33971"/>
              </a:stretch>
            </a:blipFill>
          </p:spPr>
        </p:sp>
        <p:sp>
          <p:nvSpPr>
            <p:cNvPr name="TextBox 36" id="36"/>
            <p:cNvSpPr txBox="true"/>
            <p:nvPr/>
          </p:nvSpPr>
          <p:spPr>
            <a:xfrm>
              <a:off x="0" y="0"/>
              <a:ext cx="331012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240 MHz</a:t>
              </a:r>
            </a:p>
          </p:txBody>
        </p:sp>
      </p:grpSp>
      <p:sp>
        <p:nvSpPr>
          <p:cNvPr name="TextBox 37" id="37"/>
          <p:cNvSpPr txBox="true"/>
          <p:nvPr/>
        </p:nvSpPr>
        <p:spPr>
          <a:xfrm rot="0">
            <a:off x="6679692" y="4636008"/>
            <a:ext cx="2482596" cy="13716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32-bit dual-core</a:t>
            </a:r>
          </a:p>
        </p:txBody>
      </p:sp>
      <p:grpSp>
        <p:nvGrpSpPr>
          <p:cNvPr name="Group 38" id="38"/>
          <p:cNvGrpSpPr/>
          <p:nvPr/>
        </p:nvGrpSpPr>
        <p:grpSpPr>
          <a:xfrm rot="0">
            <a:off x="9703308" y="3009900"/>
            <a:ext cx="3101340" cy="2004060"/>
            <a:chOff x="0" y="0"/>
            <a:chExt cx="4135120" cy="2672080"/>
          </a:xfrm>
        </p:grpSpPr>
        <p:sp>
          <p:nvSpPr>
            <p:cNvPr name="Freeform 39" id="39"/>
            <p:cNvSpPr/>
            <p:nvPr/>
          </p:nvSpPr>
          <p:spPr>
            <a:xfrm flipH="false" flipV="false" rot="0">
              <a:off x="0" y="0"/>
              <a:ext cx="4135120" cy="2672080"/>
            </a:xfrm>
            <a:custGeom>
              <a:avLst/>
              <a:gdLst/>
              <a:ahLst/>
              <a:cxnLst/>
              <a:rect r="r" b="b" t="t" l="l"/>
              <a:pathLst>
                <a:path h="2672080" w="4135120">
                  <a:moveTo>
                    <a:pt x="0" y="147447"/>
                  </a:moveTo>
                  <a:cubicBezTo>
                    <a:pt x="0" y="66040"/>
                    <a:pt x="66040" y="0"/>
                    <a:pt x="147447" y="0"/>
                  </a:cubicBezTo>
                  <a:lnTo>
                    <a:pt x="3987673" y="0"/>
                  </a:lnTo>
                  <a:cubicBezTo>
                    <a:pt x="4069080" y="0"/>
                    <a:pt x="4135120" y="66040"/>
                    <a:pt x="4135120" y="147447"/>
                  </a:cubicBezTo>
                  <a:lnTo>
                    <a:pt x="4135120" y="2524633"/>
                  </a:lnTo>
                  <a:cubicBezTo>
                    <a:pt x="4135120" y="2606040"/>
                    <a:pt x="4069080" y="2672080"/>
                    <a:pt x="3987673" y="2672080"/>
                  </a:cubicBezTo>
                  <a:lnTo>
                    <a:pt x="147447" y="2672080"/>
                  </a:lnTo>
                  <a:cubicBezTo>
                    <a:pt x="66040" y="2672080"/>
                    <a:pt x="0" y="2606040"/>
                    <a:pt x="0" y="2524633"/>
                  </a:cubicBezTo>
                  <a:close/>
                </a:path>
              </a:pathLst>
            </a:custGeom>
            <a:solidFill>
              <a:srgbClr val="0E1D30"/>
            </a:solidFill>
            <a:ln w="15240" cap="sq">
              <a:solidFill>
                <a:srgbClr val="1D3850"/>
              </a:solidFill>
              <a:prstDash val="solid"/>
              <a:miter/>
            </a:ln>
          </p:spPr>
        </p:sp>
      </p:grpSp>
      <p:grpSp>
        <p:nvGrpSpPr>
          <p:cNvPr name="Group 40" id="40"/>
          <p:cNvGrpSpPr/>
          <p:nvPr/>
        </p:nvGrpSpPr>
        <p:grpSpPr>
          <a:xfrm rot="0">
            <a:off x="10780776" y="3291840"/>
            <a:ext cx="1714500" cy="342900"/>
            <a:chOff x="0" y="0"/>
            <a:chExt cx="2286000" cy="457200"/>
          </a:xfrm>
        </p:grpSpPr>
        <p:sp>
          <p:nvSpPr>
            <p:cNvPr name="Freeform 41" id="41"/>
            <p:cNvSpPr/>
            <p:nvPr/>
          </p:nvSpPr>
          <p:spPr>
            <a:xfrm flipH="false" flipV="false" rot="0">
              <a:off x="0" y="0"/>
              <a:ext cx="2286000" cy="457200"/>
            </a:xfrm>
            <a:custGeom>
              <a:avLst/>
              <a:gdLst/>
              <a:ahLst/>
              <a:cxnLst/>
              <a:rect r="r" b="b" t="t" l="l"/>
              <a:pathLst>
                <a:path h="457200" w="2286000">
                  <a:moveTo>
                    <a:pt x="0" y="0"/>
                  </a:moveTo>
                  <a:lnTo>
                    <a:pt x="2286000" y="0"/>
                  </a:lnTo>
                  <a:lnTo>
                    <a:pt x="2286000" y="457200"/>
                  </a:lnTo>
                  <a:lnTo>
                    <a:pt x="0" y="457200"/>
                  </a:lnTo>
                  <a:close/>
                </a:path>
              </a:pathLst>
            </a:custGeom>
            <a:blipFill>
              <a:blip r:embed="rId3">
                <a:alphaModFix amt="0"/>
              </a:blip>
              <a:stretch>
                <a:fillRect l="0" t="-47425" r="0" b="-47425"/>
              </a:stretch>
            </a:blipFill>
          </p:spPr>
        </p:sp>
        <p:sp>
          <p:nvSpPr>
            <p:cNvPr name="TextBox 42" id="42"/>
            <p:cNvSpPr txBox="true"/>
            <p:nvPr/>
          </p:nvSpPr>
          <p:spPr>
            <a:xfrm>
              <a:off x="0" y="-9525"/>
              <a:ext cx="228600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RAM</a:t>
              </a:r>
            </a:p>
          </p:txBody>
        </p:sp>
      </p:grpSp>
      <p:grpSp>
        <p:nvGrpSpPr>
          <p:cNvPr name="Group 43" id="43"/>
          <p:cNvGrpSpPr/>
          <p:nvPr/>
        </p:nvGrpSpPr>
        <p:grpSpPr>
          <a:xfrm rot="0">
            <a:off x="10012680" y="3922776"/>
            <a:ext cx="2482596" cy="576072"/>
            <a:chOff x="0" y="0"/>
            <a:chExt cx="3310128" cy="768096"/>
          </a:xfrm>
        </p:grpSpPr>
        <p:sp>
          <p:nvSpPr>
            <p:cNvPr name="Freeform 44" id="44"/>
            <p:cNvSpPr/>
            <p:nvPr/>
          </p:nvSpPr>
          <p:spPr>
            <a:xfrm flipH="false" flipV="false" rot="0">
              <a:off x="0" y="0"/>
              <a:ext cx="3310128" cy="768096"/>
            </a:xfrm>
            <a:custGeom>
              <a:avLst/>
              <a:gdLst/>
              <a:ahLst/>
              <a:cxnLst/>
              <a:rect r="r" b="b" t="t" l="l"/>
              <a:pathLst>
                <a:path h="768096" w="3310128">
                  <a:moveTo>
                    <a:pt x="0" y="0"/>
                  </a:moveTo>
                  <a:lnTo>
                    <a:pt x="3310128" y="0"/>
                  </a:lnTo>
                  <a:lnTo>
                    <a:pt x="3310128" y="768096"/>
                  </a:lnTo>
                  <a:lnTo>
                    <a:pt x="0" y="768096"/>
                  </a:lnTo>
                  <a:close/>
                </a:path>
              </a:pathLst>
            </a:custGeom>
            <a:blipFill>
              <a:blip r:embed="rId3">
                <a:alphaModFix amt="0"/>
              </a:blip>
              <a:stretch>
                <a:fillRect l="0" t="-33971" r="0" b="-33971"/>
              </a:stretch>
            </a:blipFill>
          </p:spPr>
        </p:sp>
        <p:sp>
          <p:nvSpPr>
            <p:cNvPr name="TextBox 45" id="45"/>
            <p:cNvSpPr txBox="true"/>
            <p:nvPr/>
          </p:nvSpPr>
          <p:spPr>
            <a:xfrm>
              <a:off x="0" y="0"/>
              <a:ext cx="331012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520 KB</a:t>
              </a:r>
            </a:p>
          </p:txBody>
        </p:sp>
      </p:grpSp>
      <p:sp>
        <p:nvSpPr>
          <p:cNvPr name="TextBox 46" id="46"/>
          <p:cNvSpPr txBox="true"/>
          <p:nvPr/>
        </p:nvSpPr>
        <p:spPr>
          <a:xfrm rot="0">
            <a:off x="10012680" y="4636008"/>
            <a:ext cx="2482596" cy="13716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Internal memory</a:t>
            </a:r>
          </a:p>
        </p:txBody>
      </p:sp>
      <p:grpSp>
        <p:nvGrpSpPr>
          <p:cNvPr name="Group 47" id="47"/>
          <p:cNvGrpSpPr/>
          <p:nvPr/>
        </p:nvGrpSpPr>
        <p:grpSpPr>
          <a:xfrm rot="0">
            <a:off x="13036296" y="3009900"/>
            <a:ext cx="3855720" cy="2004060"/>
            <a:chOff x="0" y="0"/>
            <a:chExt cx="5140960" cy="2672080"/>
          </a:xfrm>
        </p:grpSpPr>
        <p:sp>
          <p:nvSpPr>
            <p:cNvPr name="Freeform 48" id="48"/>
            <p:cNvSpPr/>
            <p:nvPr/>
          </p:nvSpPr>
          <p:spPr>
            <a:xfrm flipH="false" flipV="false" rot="0">
              <a:off x="0" y="0"/>
              <a:ext cx="5140960" cy="2672080"/>
            </a:xfrm>
            <a:custGeom>
              <a:avLst/>
              <a:gdLst/>
              <a:ahLst/>
              <a:cxnLst/>
              <a:rect r="r" b="b" t="t" l="l"/>
              <a:pathLst>
                <a:path h="2672080" w="5140960">
                  <a:moveTo>
                    <a:pt x="0" y="147447"/>
                  </a:moveTo>
                  <a:cubicBezTo>
                    <a:pt x="0" y="66040"/>
                    <a:pt x="66040" y="0"/>
                    <a:pt x="147447" y="0"/>
                  </a:cubicBezTo>
                  <a:lnTo>
                    <a:pt x="4993513" y="0"/>
                  </a:lnTo>
                  <a:cubicBezTo>
                    <a:pt x="5074920" y="0"/>
                    <a:pt x="5140960" y="66040"/>
                    <a:pt x="5140960" y="147447"/>
                  </a:cubicBezTo>
                  <a:lnTo>
                    <a:pt x="5140960" y="2524633"/>
                  </a:lnTo>
                  <a:cubicBezTo>
                    <a:pt x="5140960" y="2606040"/>
                    <a:pt x="5074920" y="2672080"/>
                    <a:pt x="4993513" y="2672080"/>
                  </a:cubicBezTo>
                  <a:lnTo>
                    <a:pt x="147447" y="2672080"/>
                  </a:lnTo>
                  <a:cubicBezTo>
                    <a:pt x="66040" y="2672080"/>
                    <a:pt x="0" y="2606040"/>
                    <a:pt x="0" y="2524633"/>
                  </a:cubicBezTo>
                  <a:close/>
                </a:path>
              </a:pathLst>
            </a:custGeom>
            <a:solidFill>
              <a:srgbClr val="0E1D30"/>
            </a:solidFill>
            <a:ln w="15240" cap="sq">
              <a:solidFill>
                <a:srgbClr val="1D3850"/>
              </a:solidFill>
              <a:prstDash val="solid"/>
              <a:miter/>
            </a:ln>
          </p:spPr>
        </p:sp>
      </p:grpSp>
      <p:grpSp>
        <p:nvGrpSpPr>
          <p:cNvPr name="Group 49" id="49"/>
          <p:cNvGrpSpPr/>
          <p:nvPr/>
        </p:nvGrpSpPr>
        <p:grpSpPr>
          <a:xfrm rot="0">
            <a:off x="14113764" y="3291840"/>
            <a:ext cx="2468880" cy="342900"/>
            <a:chOff x="0" y="0"/>
            <a:chExt cx="3291840" cy="457200"/>
          </a:xfrm>
        </p:grpSpPr>
        <p:sp>
          <p:nvSpPr>
            <p:cNvPr name="Freeform 50" id="50"/>
            <p:cNvSpPr/>
            <p:nvPr/>
          </p:nvSpPr>
          <p:spPr>
            <a:xfrm flipH="false" flipV="false" rot="0">
              <a:off x="0" y="0"/>
              <a:ext cx="3291840" cy="457200"/>
            </a:xfrm>
            <a:custGeom>
              <a:avLst/>
              <a:gdLst/>
              <a:ahLst/>
              <a:cxnLst/>
              <a:rect r="r" b="b" t="t" l="l"/>
              <a:pathLst>
                <a:path h="457200" w="3291840">
                  <a:moveTo>
                    <a:pt x="0" y="0"/>
                  </a:moveTo>
                  <a:lnTo>
                    <a:pt x="3291840" y="0"/>
                  </a:lnTo>
                  <a:lnTo>
                    <a:pt x="3291840" y="457200"/>
                  </a:lnTo>
                  <a:lnTo>
                    <a:pt x="0" y="457200"/>
                  </a:lnTo>
                  <a:close/>
                </a:path>
              </a:pathLst>
            </a:custGeom>
            <a:blipFill>
              <a:blip r:embed="rId3">
                <a:alphaModFix amt="0"/>
              </a:blip>
              <a:stretch>
                <a:fillRect l="0" t="-90292" r="0" b="-90292"/>
              </a:stretch>
            </a:blipFill>
          </p:spPr>
        </p:sp>
        <p:sp>
          <p:nvSpPr>
            <p:cNvPr name="TextBox 51" id="51"/>
            <p:cNvSpPr txBox="true"/>
            <p:nvPr/>
          </p:nvSpPr>
          <p:spPr>
            <a:xfrm>
              <a:off x="0" y="-9525"/>
              <a:ext cx="329184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WIRELESS</a:t>
              </a:r>
            </a:p>
          </p:txBody>
        </p:sp>
      </p:grpSp>
      <p:grpSp>
        <p:nvGrpSpPr>
          <p:cNvPr name="Group 52" id="52"/>
          <p:cNvGrpSpPr/>
          <p:nvPr/>
        </p:nvGrpSpPr>
        <p:grpSpPr>
          <a:xfrm rot="0">
            <a:off x="13345668" y="3922776"/>
            <a:ext cx="3236976" cy="576072"/>
            <a:chOff x="0" y="0"/>
            <a:chExt cx="4315968" cy="768096"/>
          </a:xfrm>
        </p:grpSpPr>
        <p:sp>
          <p:nvSpPr>
            <p:cNvPr name="Freeform 53" id="53"/>
            <p:cNvSpPr/>
            <p:nvPr/>
          </p:nvSpPr>
          <p:spPr>
            <a:xfrm flipH="false" flipV="false" rot="0">
              <a:off x="0" y="0"/>
              <a:ext cx="4315968" cy="768096"/>
            </a:xfrm>
            <a:custGeom>
              <a:avLst/>
              <a:gdLst/>
              <a:ahLst/>
              <a:cxnLst/>
              <a:rect r="r" b="b" t="t" l="l"/>
              <a:pathLst>
                <a:path h="768096" w="4315968">
                  <a:moveTo>
                    <a:pt x="0" y="0"/>
                  </a:moveTo>
                  <a:lnTo>
                    <a:pt x="4315968" y="0"/>
                  </a:lnTo>
                  <a:lnTo>
                    <a:pt x="4315968" y="768096"/>
                  </a:lnTo>
                  <a:lnTo>
                    <a:pt x="0" y="768096"/>
                  </a:lnTo>
                  <a:close/>
                </a:path>
              </a:pathLst>
            </a:custGeom>
            <a:blipFill>
              <a:blip r:embed="rId3">
                <a:alphaModFix amt="0"/>
              </a:blip>
              <a:stretch>
                <a:fillRect l="0" t="-59487" r="0" b="-59487"/>
              </a:stretch>
            </a:blipFill>
          </p:spPr>
        </p:sp>
        <p:sp>
          <p:nvSpPr>
            <p:cNvPr name="TextBox 54" id="54"/>
            <p:cNvSpPr txBox="true"/>
            <p:nvPr/>
          </p:nvSpPr>
          <p:spPr>
            <a:xfrm>
              <a:off x="0" y="0"/>
              <a:ext cx="431596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Wi-Fi + BT</a:t>
              </a:r>
            </a:p>
          </p:txBody>
        </p:sp>
      </p:grpSp>
      <p:sp>
        <p:nvSpPr>
          <p:cNvPr name="TextBox 55" id="55"/>
          <p:cNvSpPr txBox="true"/>
          <p:nvPr/>
        </p:nvSpPr>
        <p:spPr>
          <a:xfrm rot="0">
            <a:off x="13345668" y="4636008"/>
            <a:ext cx="3236976" cy="13716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802.11 b/g/n + Bluetooth v4.2</a:t>
            </a:r>
          </a:p>
        </p:txBody>
      </p:sp>
      <p:grpSp>
        <p:nvGrpSpPr>
          <p:cNvPr name="Group 56" id="56"/>
          <p:cNvGrpSpPr/>
          <p:nvPr/>
        </p:nvGrpSpPr>
        <p:grpSpPr>
          <a:xfrm rot="0">
            <a:off x="6370320" y="5341620"/>
            <a:ext cx="10521696" cy="2141220"/>
            <a:chOff x="0" y="0"/>
            <a:chExt cx="14028928" cy="2854960"/>
          </a:xfrm>
        </p:grpSpPr>
        <p:sp>
          <p:nvSpPr>
            <p:cNvPr name="Freeform 57" id="57"/>
            <p:cNvSpPr/>
            <p:nvPr/>
          </p:nvSpPr>
          <p:spPr>
            <a:xfrm flipH="false" flipV="false" rot="0">
              <a:off x="0" y="0"/>
              <a:ext cx="14028928" cy="2854960"/>
            </a:xfrm>
            <a:custGeom>
              <a:avLst/>
              <a:gdLst/>
              <a:ahLst/>
              <a:cxnLst/>
              <a:rect r="r" b="b" t="t" l="l"/>
              <a:pathLst>
                <a:path h="2854960" w="14028928">
                  <a:moveTo>
                    <a:pt x="0" y="147320"/>
                  </a:moveTo>
                  <a:cubicBezTo>
                    <a:pt x="0" y="65913"/>
                    <a:pt x="65913" y="0"/>
                    <a:pt x="147320" y="0"/>
                  </a:cubicBezTo>
                  <a:lnTo>
                    <a:pt x="13881608" y="0"/>
                  </a:lnTo>
                  <a:cubicBezTo>
                    <a:pt x="13963016" y="0"/>
                    <a:pt x="14028928" y="65913"/>
                    <a:pt x="14028928" y="147320"/>
                  </a:cubicBezTo>
                  <a:lnTo>
                    <a:pt x="14028928" y="2707640"/>
                  </a:lnTo>
                  <a:cubicBezTo>
                    <a:pt x="14028928" y="2789047"/>
                    <a:pt x="13963016" y="2854960"/>
                    <a:pt x="13881608" y="2854960"/>
                  </a:cubicBezTo>
                  <a:lnTo>
                    <a:pt x="147320" y="2854960"/>
                  </a:lnTo>
                  <a:cubicBezTo>
                    <a:pt x="65913" y="2854960"/>
                    <a:pt x="0" y="2789047"/>
                    <a:pt x="0" y="2707640"/>
                  </a:cubicBezTo>
                  <a:close/>
                </a:path>
              </a:pathLst>
            </a:custGeom>
            <a:solidFill>
              <a:srgbClr val="0E1D30"/>
            </a:solidFill>
            <a:ln w="15240" cap="sq">
              <a:solidFill>
                <a:srgbClr val="1D3850"/>
              </a:solidFill>
              <a:prstDash val="solid"/>
              <a:miter/>
            </a:ln>
          </p:spPr>
        </p:sp>
      </p:grpSp>
      <p:grpSp>
        <p:nvGrpSpPr>
          <p:cNvPr name="Group 58" id="58"/>
          <p:cNvGrpSpPr/>
          <p:nvPr/>
        </p:nvGrpSpPr>
        <p:grpSpPr>
          <a:xfrm rot="0">
            <a:off x="7447788" y="5623560"/>
            <a:ext cx="9134856" cy="342900"/>
            <a:chOff x="0" y="0"/>
            <a:chExt cx="12179808" cy="457200"/>
          </a:xfrm>
        </p:grpSpPr>
        <p:sp>
          <p:nvSpPr>
            <p:cNvPr name="Freeform 59" id="59"/>
            <p:cNvSpPr/>
            <p:nvPr/>
          </p:nvSpPr>
          <p:spPr>
            <a:xfrm flipH="false" flipV="false" rot="0">
              <a:off x="0" y="0"/>
              <a:ext cx="12179808" cy="457200"/>
            </a:xfrm>
            <a:custGeom>
              <a:avLst/>
              <a:gdLst/>
              <a:ahLst/>
              <a:cxnLst/>
              <a:rect r="r" b="b" t="t" l="l"/>
              <a:pathLst>
                <a:path h="457200" w="12179808">
                  <a:moveTo>
                    <a:pt x="0" y="0"/>
                  </a:moveTo>
                  <a:lnTo>
                    <a:pt x="12179808" y="0"/>
                  </a:lnTo>
                  <a:lnTo>
                    <a:pt x="12179808" y="457200"/>
                  </a:lnTo>
                  <a:lnTo>
                    <a:pt x="0" y="457200"/>
                  </a:lnTo>
                  <a:close/>
                </a:path>
              </a:pathLst>
            </a:custGeom>
            <a:blipFill>
              <a:blip r:embed="rId3">
                <a:alphaModFix amt="0"/>
              </a:blip>
              <a:stretch>
                <a:fillRect l="0" t="-469081" r="0" b="-469081"/>
              </a:stretch>
            </a:blipFill>
          </p:spPr>
        </p:sp>
        <p:sp>
          <p:nvSpPr>
            <p:cNvPr name="TextBox 60" id="60"/>
            <p:cNvSpPr txBox="true"/>
            <p:nvPr/>
          </p:nvSpPr>
          <p:spPr>
            <a:xfrm>
              <a:off x="0" y="-9525"/>
              <a:ext cx="12179808"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EDGE ROLE</a:t>
              </a:r>
            </a:p>
          </p:txBody>
        </p:sp>
      </p:grpSp>
      <p:sp>
        <p:nvSpPr>
          <p:cNvPr name="TextBox 61" id="61"/>
          <p:cNvSpPr txBox="true"/>
          <p:nvPr/>
        </p:nvSpPr>
        <p:spPr>
          <a:xfrm rot="0">
            <a:off x="6679692" y="6242685"/>
            <a:ext cx="9902952" cy="71437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Runs signal filtering, Thermal FSM, thermal exposure calculation, actuator control, MQTT communication, and a 100-record offline buffer.</a:t>
            </a:r>
          </a:p>
          <a:p>
            <a:pPr algn="l">
              <a:lnSpc>
                <a:spcPts val="1889"/>
              </a:lnSpc>
            </a:pPr>
          </a:p>
        </p:txBody>
      </p:sp>
      <p:grpSp>
        <p:nvGrpSpPr>
          <p:cNvPr name="Group 62" id="62"/>
          <p:cNvGrpSpPr/>
          <p:nvPr/>
        </p:nvGrpSpPr>
        <p:grpSpPr>
          <a:xfrm rot="0">
            <a:off x="6370320" y="7783068"/>
            <a:ext cx="10521696" cy="1030224"/>
            <a:chOff x="0" y="0"/>
            <a:chExt cx="14028928" cy="1373632"/>
          </a:xfrm>
        </p:grpSpPr>
        <p:sp>
          <p:nvSpPr>
            <p:cNvPr name="Freeform 63" id="63"/>
            <p:cNvSpPr/>
            <p:nvPr/>
          </p:nvSpPr>
          <p:spPr>
            <a:xfrm flipH="false" flipV="false" rot="0">
              <a:off x="0" y="0"/>
              <a:ext cx="14028928" cy="1373632"/>
            </a:xfrm>
            <a:custGeom>
              <a:avLst/>
              <a:gdLst/>
              <a:ahLst/>
              <a:cxnLst/>
              <a:rect r="r" b="b" t="t" l="l"/>
              <a:pathLst>
                <a:path h="1373632" w="14028928">
                  <a:moveTo>
                    <a:pt x="0" y="148463"/>
                  </a:moveTo>
                  <a:cubicBezTo>
                    <a:pt x="0" y="66548"/>
                    <a:pt x="66548" y="0"/>
                    <a:pt x="148463" y="0"/>
                  </a:cubicBezTo>
                  <a:lnTo>
                    <a:pt x="13880464" y="0"/>
                  </a:lnTo>
                  <a:cubicBezTo>
                    <a:pt x="13962506" y="0"/>
                    <a:pt x="14028928" y="66548"/>
                    <a:pt x="14028928" y="148463"/>
                  </a:cubicBezTo>
                  <a:lnTo>
                    <a:pt x="14028928" y="1225169"/>
                  </a:lnTo>
                  <a:cubicBezTo>
                    <a:pt x="14028928" y="1307211"/>
                    <a:pt x="13962379" y="1373632"/>
                    <a:pt x="13880464" y="1373632"/>
                  </a:cubicBezTo>
                  <a:lnTo>
                    <a:pt x="148463" y="1373632"/>
                  </a:lnTo>
                  <a:cubicBezTo>
                    <a:pt x="66548" y="1373632"/>
                    <a:pt x="0" y="1307084"/>
                    <a:pt x="0" y="1225169"/>
                  </a:cubicBezTo>
                  <a:close/>
                </a:path>
              </a:pathLst>
            </a:custGeom>
            <a:solidFill>
              <a:srgbClr val="0E1D30"/>
            </a:solidFill>
            <a:ln w="15240" cap="sq">
              <a:solidFill>
                <a:srgbClr val="1D3850"/>
              </a:solidFill>
              <a:prstDash val="solid"/>
              <a:miter/>
            </a:ln>
          </p:spPr>
        </p:sp>
      </p:grpSp>
      <p:grpSp>
        <p:nvGrpSpPr>
          <p:cNvPr name="Group 64" id="64"/>
          <p:cNvGrpSpPr/>
          <p:nvPr/>
        </p:nvGrpSpPr>
        <p:grpSpPr>
          <a:xfrm rot="0">
            <a:off x="7063740" y="8111799"/>
            <a:ext cx="9134856" cy="450028"/>
            <a:chOff x="0" y="0"/>
            <a:chExt cx="12179808" cy="600038"/>
          </a:xfrm>
        </p:grpSpPr>
        <p:sp>
          <p:nvSpPr>
            <p:cNvPr name="Freeform 65" id="65"/>
            <p:cNvSpPr/>
            <p:nvPr/>
          </p:nvSpPr>
          <p:spPr>
            <a:xfrm flipH="false" flipV="false" rot="0">
              <a:off x="0" y="0"/>
              <a:ext cx="12179808" cy="600038"/>
            </a:xfrm>
            <a:custGeom>
              <a:avLst/>
              <a:gdLst/>
              <a:ahLst/>
              <a:cxnLst/>
              <a:rect r="r" b="b" t="t" l="l"/>
              <a:pathLst>
                <a:path h="600038" w="12179808">
                  <a:moveTo>
                    <a:pt x="0" y="0"/>
                  </a:moveTo>
                  <a:lnTo>
                    <a:pt x="12179808" y="0"/>
                  </a:lnTo>
                  <a:lnTo>
                    <a:pt x="12179808" y="600038"/>
                  </a:lnTo>
                  <a:lnTo>
                    <a:pt x="0" y="600038"/>
                  </a:lnTo>
                  <a:close/>
                </a:path>
              </a:pathLst>
            </a:custGeom>
            <a:blipFill>
              <a:blip r:embed="rId3">
                <a:alphaModFix amt="0"/>
              </a:blip>
              <a:stretch>
                <a:fillRect l="0" t="-357417" r="0" b="-333612"/>
              </a:stretch>
            </a:blipFill>
          </p:spPr>
        </p:sp>
        <p:sp>
          <p:nvSpPr>
            <p:cNvPr name="TextBox 66" id="66"/>
            <p:cNvSpPr txBox="true"/>
            <p:nvPr/>
          </p:nvSpPr>
          <p:spPr>
            <a:xfrm>
              <a:off x="0" y="-9525"/>
              <a:ext cx="12179808" cy="609563"/>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Supports concurrent edge processing while reducing the amount of raw data sent upstream.</a:t>
              </a:r>
            </a:p>
            <a:p>
              <a:pPr algn="l">
                <a:lnSpc>
                  <a:spcPts val="1620"/>
                </a:lnSpc>
              </a:pPr>
            </a:p>
          </p:txBody>
        </p:sp>
      </p:grpSp>
      <p:sp>
        <p:nvSpPr>
          <p:cNvPr name="TextBox 67" id="67"/>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76E2A1"/>
            </a:solidFill>
            <a:ln w="19050" cap="sq">
              <a:solidFill>
                <a:srgbClr val="76E2A1"/>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02</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2</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Environmental sensing</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Two sensors monitor the warehouse microenvironment and provide complementary temperature measurements.</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891540" y="3072384"/>
            <a:ext cx="2880360" cy="2880360"/>
            <a:chOff x="0" y="0"/>
            <a:chExt cx="3840480" cy="3840480"/>
          </a:xfrm>
        </p:grpSpPr>
        <p:sp>
          <p:nvSpPr>
            <p:cNvPr name="Freeform 23" id="23" descr="/mnt/data/iot_media/image14.png"/>
            <p:cNvSpPr/>
            <p:nvPr/>
          </p:nvSpPr>
          <p:spPr>
            <a:xfrm flipH="false" flipV="false" rot="0">
              <a:off x="0" y="0"/>
              <a:ext cx="3840480" cy="3840480"/>
            </a:xfrm>
            <a:custGeom>
              <a:avLst/>
              <a:gdLst/>
              <a:ahLst/>
              <a:cxnLst/>
              <a:rect r="r" b="b" t="t" l="l"/>
              <a:pathLst>
                <a:path h="3840480" w="3840480">
                  <a:moveTo>
                    <a:pt x="0" y="0"/>
                  </a:moveTo>
                  <a:lnTo>
                    <a:pt x="3840480" y="0"/>
                  </a:lnTo>
                  <a:lnTo>
                    <a:pt x="3840480" y="3840480"/>
                  </a:lnTo>
                  <a:lnTo>
                    <a:pt x="0" y="3840480"/>
                  </a:lnTo>
                  <a:lnTo>
                    <a:pt x="0" y="0"/>
                  </a:lnTo>
                  <a:close/>
                </a:path>
              </a:pathLst>
            </a:custGeom>
            <a:blipFill>
              <a:blip r:embed="rId4"/>
              <a:stretch>
                <a:fillRect l="0" t="0" r="0" b="0"/>
              </a:stretch>
            </a:blipFill>
          </p:spPr>
        </p:sp>
      </p:grpSp>
      <p:grpSp>
        <p:nvGrpSpPr>
          <p:cNvPr name="Group 24" id="24"/>
          <p:cNvGrpSpPr/>
          <p:nvPr/>
        </p:nvGrpSpPr>
        <p:grpSpPr>
          <a:xfrm rot="0">
            <a:off x="4046220" y="3072384"/>
            <a:ext cx="2880360" cy="2880360"/>
            <a:chOff x="0" y="0"/>
            <a:chExt cx="3840480" cy="3840480"/>
          </a:xfrm>
        </p:grpSpPr>
        <p:sp>
          <p:nvSpPr>
            <p:cNvPr name="Freeform 25" id="25" descr="/mnt/data/iot_media/image16.png"/>
            <p:cNvSpPr/>
            <p:nvPr/>
          </p:nvSpPr>
          <p:spPr>
            <a:xfrm flipH="false" flipV="false" rot="0">
              <a:off x="0" y="0"/>
              <a:ext cx="3840480" cy="3840480"/>
            </a:xfrm>
            <a:custGeom>
              <a:avLst/>
              <a:gdLst/>
              <a:ahLst/>
              <a:cxnLst/>
              <a:rect r="r" b="b" t="t" l="l"/>
              <a:pathLst>
                <a:path h="3840480" w="3840480">
                  <a:moveTo>
                    <a:pt x="0" y="0"/>
                  </a:moveTo>
                  <a:lnTo>
                    <a:pt x="3840480" y="0"/>
                  </a:lnTo>
                  <a:lnTo>
                    <a:pt x="3840480" y="3840480"/>
                  </a:lnTo>
                  <a:lnTo>
                    <a:pt x="0" y="3840480"/>
                  </a:lnTo>
                  <a:lnTo>
                    <a:pt x="0" y="0"/>
                  </a:lnTo>
                  <a:close/>
                </a:path>
              </a:pathLst>
            </a:custGeom>
            <a:blipFill>
              <a:blip r:embed="rId5"/>
              <a:stretch>
                <a:fillRect l="0" t="0" r="0" b="0"/>
              </a:stretch>
            </a:blipFill>
          </p:spPr>
        </p:sp>
      </p:grpSp>
      <p:grpSp>
        <p:nvGrpSpPr>
          <p:cNvPr name="Group 26" id="26"/>
          <p:cNvGrpSpPr/>
          <p:nvPr/>
        </p:nvGrpSpPr>
        <p:grpSpPr>
          <a:xfrm rot="0">
            <a:off x="1418844" y="6054852"/>
            <a:ext cx="1866900" cy="426720"/>
            <a:chOff x="0" y="0"/>
            <a:chExt cx="2489200" cy="568960"/>
          </a:xfrm>
        </p:grpSpPr>
        <p:sp>
          <p:nvSpPr>
            <p:cNvPr name="Freeform 27" id="27"/>
            <p:cNvSpPr/>
            <p:nvPr/>
          </p:nvSpPr>
          <p:spPr>
            <a:xfrm flipH="false" flipV="false" rot="0">
              <a:off x="0" y="0"/>
              <a:ext cx="2489200" cy="568960"/>
            </a:xfrm>
            <a:custGeom>
              <a:avLst/>
              <a:gdLst/>
              <a:ahLst/>
              <a:cxnLst/>
              <a:rect r="r" b="b" t="t" l="l"/>
              <a:pathLst>
                <a:path h="568960" w="2489200">
                  <a:moveTo>
                    <a:pt x="0" y="113792"/>
                  </a:moveTo>
                  <a:cubicBezTo>
                    <a:pt x="0" y="50927"/>
                    <a:pt x="50927" y="0"/>
                    <a:pt x="113792" y="0"/>
                  </a:cubicBezTo>
                  <a:lnTo>
                    <a:pt x="2375408" y="0"/>
                  </a:lnTo>
                  <a:cubicBezTo>
                    <a:pt x="2438273" y="0"/>
                    <a:pt x="2489200" y="50927"/>
                    <a:pt x="2489200" y="113792"/>
                  </a:cubicBezTo>
                  <a:lnTo>
                    <a:pt x="2489200" y="455168"/>
                  </a:lnTo>
                  <a:cubicBezTo>
                    <a:pt x="2489200" y="518033"/>
                    <a:pt x="2438273" y="568960"/>
                    <a:pt x="2375408" y="568960"/>
                  </a:cubicBezTo>
                  <a:lnTo>
                    <a:pt x="113792" y="568960"/>
                  </a:lnTo>
                  <a:cubicBezTo>
                    <a:pt x="50927" y="568960"/>
                    <a:pt x="0" y="518033"/>
                    <a:pt x="0" y="455168"/>
                  </a:cubicBezTo>
                  <a:close/>
                </a:path>
              </a:pathLst>
            </a:custGeom>
            <a:solidFill>
              <a:srgbClr val="46D6F5">
                <a:alpha val="3137"/>
              </a:srgbClr>
            </a:solidFill>
            <a:ln w="15240" cap="sq">
              <a:solidFill>
                <a:srgbClr val="46D6F5"/>
              </a:solidFill>
              <a:prstDash val="solid"/>
              <a:miter/>
            </a:ln>
          </p:spPr>
        </p:sp>
      </p:grpSp>
      <p:grpSp>
        <p:nvGrpSpPr>
          <p:cNvPr name="Group 28" id="28"/>
          <p:cNvGrpSpPr/>
          <p:nvPr/>
        </p:nvGrpSpPr>
        <p:grpSpPr>
          <a:xfrm rot="0">
            <a:off x="1426464" y="6158484"/>
            <a:ext cx="1851660" cy="178308"/>
            <a:chOff x="0" y="0"/>
            <a:chExt cx="2468880" cy="237744"/>
          </a:xfrm>
        </p:grpSpPr>
        <p:sp>
          <p:nvSpPr>
            <p:cNvPr name="Freeform 29" id="29"/>
            <p:cNvSpPr/>
            <p:nvPr/>
          </p:nvSpPr>
          <p:spPr>
            <a:xfrm flipH="false" flipV="false" rot="0">
              <a:off x="0" y="0"/>
              <a:ext cx="2468880" cy="237744"/>
            </a:xfrm>
            <a:custGeom>
              <a:avLst/>
              <a:gdLst/>
              <a:ahLst/>
              <a:cxnLst/>
              <a:rect r="r" b="b" t="t" l="l"/>
              <a:pathLst>
                <a:path h="237744" w="2468880">
                  <a:moveTo>
                    <a:pt x="0" y="0"/>
                  </a:moveTo>
                  <a:lnTo>
                    <a:pt x="2468880" y="0"/>
                  </a:lnTo>
                  <a:lnTo>
                    <a:pt x="2468880" y="237744"/>
                  </a:lnTo>
                  <a:lnTo>
                    <a:pt x="0" y="237744"/>
                  </a:lnTo>
                  <a:close/>
                </a:path>
              </a:pathLst>
            </a:custGeom>
            <a:blipFill>
              <a:blip r:embed="rId3">
                <a:alphaModFix amt="0"/>
              </a:blip>
              <a:stretch>
                <a:fillRect l="0" t="-152344" r="0" b="-152344"/>
              </a:stretch>
            </a:blipFill>
          </p:spPr>
        </p:sp>
        <p:sp>
          <p:nvSpPr>
            <p:cNvPr name="TextBox 30" id="30"/>
            <p:cNvSpPr txBox="true"/>
            <p:nvPr/>
          </p:nvSpPr>
          <p:spPr>
            <a:xfrm>
              <a:off x="0" y="0"/>
              <a:ext cx="2468880" cy="237744"/>
            </a:xfrm>
            <a:prstGeom prst="rect">
              <a:avLst/>
            </a:prstGeom>
          </p:spPr>
          <p:txBody>
            <a:bodyPr anchor="ctr" rtlCol="false" tIns="0" lIns="0" bIns="0" rIns="0"/>
            <a:lstStyle/>
            <a:p>
              <a:pPr algn="ctr">
                <a:lnSpc>
                  <a:spcPts val="1439"/>
                </a:lnSpc>
              </a:pPr>
              <a:r>
                <a:rPr lang="en-US" sz="1200" b="true">
                  <a:solidFill>
                    <a:srgbClr val="46D6F5"/>
                  </a:solidFill>
                  <a:latin typeface="Aptos Bold"/>
                  <a:ea typeface="Aptos Bold"/>
                  <a:cs typeface="Aptos Bold"/>
                  <a:sym typeface="Aptos Bold"/>
                </a:rPr>
                <a:t>DHT22</a:t>
              </a:r>
            </a:p>
          </p:txBody>
        </p:sp>
      </p:grpSp>
      <p:grpSp>
        <p:nvGrpSpPr>
          <p:cNvPr name="Group 31" id="31"/>
          <p:cNvGrpSpPr/>
          <p:nvPr/>
        </p:nvGrpSpPr>
        <p:grpSpPr>
          <a:xfrm rot="0">
            <a:off x="4450080" y="6054852"/>
            <a:ext cx="2237232" cy="426720"/>
            <a:chOff x="0" y="0"/>
            <a:chExt cx="2982976" cy="568960"/>
          </a:xfrm>
        </p:grpSpPr>
        <p:sp>
          <p:nvSpPr>
            <p:cNvPr name="Freeform 32" id="32"/>
            <p:cNvSpPr/>
            <p:nvPr/>
          </p:nvSpPr>
          <p:spPr>
            <a:xfrm flipH="false" flipV="false" rot="0">
              <a:off x="0" y="0"/>
              <a:ext cx="2982976" cy="568960"/>
            </a:xfrm>
            <a:custGeom>
              <a:avLst/>
              <a:gdLst/>
              <a:ahLst/>
              <a:cxnLst/>
              <a:rect r="r" b="b" t="t" l="l"/>
              <a:pathLst>
                <a:path h="568960" w="2982976">
                  <a:moveTo>
                    <a:pt x="0" y="113792"/>
                  </a:moveTo>
                  <a:cubicBezTo>
                    <a:pt x="0" y="50927"/>
                    <a:pt x="50927" y="0"/>
                    <a:pt x="113792" y="0"/>
                  </a:cubicBezTo>
                  <a:lnTo>
                    <a:pt x="2869184" y="0"/>
                  </a:lnTo>
                  <a:cubicBezTo>
                    <a:pt x="2932049" y="0"/>
                    <a:pt x="2982976" y="50927"/>
                    <a:pt x="2982976" y="113792"/>
                  </a:cubicBezTo>
                  <a:lnTo>
                    <a:pt x="2982976" y="455168"/>
                  </a:lnTo>
                  <a:cubicBezTo>
                    <a:pt x="2982976" y="518033"/>
                    <a:pt x="2932049" y="568960"/>
                    <a:pt x="2869184" y="568960"/>
                  </a:cubicBezTo>
                  <a:lnTo>
                    <a:pt x="113792" y="568960"/>
                  </a:lnTo>
                  <a:cubicBezTo>
                    <a:pt x="50927" y="568960"/>
                    <a:pt x="0" y="518033"/>
                    <a:pt x="0" y="455168"/>
                  </a:cubicBezTo>
                  <a:close/>
                </a:path>
              </a:pathLst>
            </a:custGeom>
            <a:solidFill>
              <a:srgbClr val="76E2A1">
                <a:alpha val="3137"/>
              </a:srgbClr>
            </a:solidFill>
            <a:ln w="15240" cap="sq">
              <a:solidFill>
                <a:srgbClr val="76E2A1"/>
              </a:solidFill>
              <a:prstDash val="solid"/>
              <a:miter/>
            </a:ln>
          </p:spPr>
        </p:sp>
      </p:grpSp>
      <p:grpSp>
        <p:nvGrpSpPr>
          <p:cNvPr name="Group 33" id="33"/>
          <p:cNvGrpSpPr/>
          <p:nvPr/>
        </p:nvGrpSpPr>
        <p:grpSpPr>
          <a:xfrm rot="0">
            <a:off x="4457700" y="6158484"/>
            <a:ext cx="2221992" cy="178308"/>
            <a:chOff x="0" y="0"/>
            <a:chExt cx="2962656" cy="237744"/>
          </a:xfrm>
        </p:grpSpPr>
        <p:sp>
          <p:nvSpPr>
            <p:cNvPr name="Freeform 34" id="34"/>
            <p:cNvSpPr/>
            <p:nvPr/>
          </p:nvSpPr>
          <p:spPr>
            <a:xfrm flipH="false" flipV="false" rot="0">
              <a:off x="0" y="0"/>
              <a:ext cx="2962656" cy="237744"/>
            </a:xfrm>
            <a:custGeom>
              <a:avLst/>
              <a:gdLst/>
              <a:ahLst/>
              <a:cxnLst/>
              <a:rect r="r" b="b" t="t" l="l"/>
              <a:pathLst>
                <a:path h="237744" w="2962656">
                  <a:moveTo>
                    <a:pt x="0" y="0"/>
                  </a:moveTo>
                  <a:lnTo>
                    <a:pt x="2962656" y="0"/>
                  </a:lnTo>
                  <a:lnTo>
                    <a:pt x="2962656" y="237744"/>
                  </a:lnTo>
                  <a:lnTo>
                    <a:pt x="0" y="237744"/>
                  </a:lnTo>
                  <a:close/>
                </a:path>
              </a:pathLst>
            </a:custGeom>
            <a:blipFill>
              <a:blip r:embed="rId3">
                <a:alphaModFix amt="0"/>
              </a:blip>
              <a:stretch>
                <a:fillRect l="0" t="-192813" r="0" b="-192813"/>
              </a:stretch>
            </a:blipFill>
          </p:spPr>
        </p:sp>
        <p:sp>
          <p:nvSpPr>
            <p:cNvPr name="TextBox 35" id="35"/>
            <p:cNvSpPr txBox="true"/>
            <p:nvPr/>
          </p:nvSpPr>
          <p:spPr>
            <a:xfrm>
              <a:off x="0" y="0"/>
              <a:ext cx="2962656" cy="237744"/>
            </a:xfrm>
            <a:prstGeom prst="rect">
              <a:avLst/>
            </a:prstGeom>
          </p:spPr>
          <p:txBody>
            <a:bodyPr anchor="ctr" rtlCol="false" tIns="0" lIns="0" bIns="0" rIns="0"/>
            <a:lstStyle/>
            <a:p>
              <a:pPr algn="ctr">
                <a:lnSpc>
                  <a:spcPts val="1439"/>
                </a:lnSpc>
              </a:pPr>
              <a:r>
                <a:rPr lang="en-US" sz="1200" b="true">
                  <a:solidFill>
                    <a:srgbClr val="76E2A1"/>
                  </a:solidFill>
                  <a:latin typeface="Aptos Bold"/>
                  <a:ea typeface="Aptos Bold"/>
                  <a:cs typeface="Aptos Bold"/>
                  <a:sym typeface="Aptos Bold"/>
                </a:rPr>
                <a:t>DS18B20</a:t>
              </a:r>
            </a:p>
          </p:txBody>
        </p:sp>
      </p:grpSp>
      <p:grpSp>
        <p:nvGrpSpPr>
          <p:cNvPr name="Group 36" id="36"/>
          <p:cNvGrpSpPr/>
          <p:nvPr/>
        </p:nvGrpSpPr>
        <p:grpSpPr>
          <a:xfrm rot="0">
            <a:off x="7467600" y="3009900"/>
            <a:ext cx="4198620" cy="2004060"/>
            <a:chOff x="0" y="0"/>
            <a:chExt cx="5598160" cy="2672080"/>
          </a:xfrm>
        </p:grpSpPr>
        <p:sp>
          <p:nvSpPr>
            <p:cNvPr name="Freeform 37" id="37"/>
            <p:cNvSpPr/>
            <p:nvPr/>
          </p:nvSpPr>
          <p:spPr>
            <a:xfrm flipH="false" flipV="false" rot="0">
              <a:off x="0" y="0"/>
              <a:ext cx="5598160" cy="2672080"/>
            </a:xfrm>
            <a:custGeom>
              <a:avLst/>
              <a:gdLst/>
              <a:ahLst/>
              <a:cxnLst/>
              <a:rect r="r" b="b" t="t" l="l"/>
              <a:pathLst>
                <a:path h="2672080" w="5598160">
                  <a:moveTo>
                    <a:pt x="0" y="147447"/>
                  </a:moveTo>
                  <a:cubicBezTo>
                    <a:pt x="0" y="66040"/>
                    <a:pt x="66040" y="0"/>
                    <a:pt x="147447" y="0"/>
                  </a:cubicBezTo>
                  <a:lnTo>
                    <a:pt x="5450713" y="0"/>
                  </a:lnTo>
                  <a:cubicBezTo>
                    <a:pt x="5532120" y="0"/>
                    <a:pt x="5598160" y="66040"/>
                    <a:pt x="5598160" y="147447"/>
                  </a:cubicBezTo>
                  <a:lnTo>
                    <a:pt x="5598160" y="2524633"/>
                  </a:lnTo>
                  <a:cubicBezTo>
                    <a:pt x="5598160" y="2606040"/>
                    <a:pt x="5532120" y="2672080"/>
                    <a:pt x="5450713" y="2672080"/>
                  </a:cubicBezTo>
                  <a:lnTo>
                    <a:pt x="147447" y="2672080"/>
                  </a:lnTo>
                  <a:cubicBezTo>
                    <a:pt x="66040" y="2672080"/>
                    <a:pt x="0" y="2606040"/>
                    <a:pt x="0" y="2524633"/>
                  </a:cubicBezTo>
                  <a:close/>
                </a:path>
              </a:pathLst>
            </a:custGeom>
            <a:solidFill>
              <a:srgbClr val="0E1D30"/>
            </a:solidFill>
            <a:ln w="15240" cap="sq">
              <a:solidFill>
                <a:srgbClr val="1D3850"/>
              </a:solidFill>
              <a:prstDash val="solid"/>
              <a:miter/>
            </a:ln>
          </p:spPr>
        </p:sp>
      </p:grpSp>
      <p:grpSp>
        <p:nvGrpSpPr>
          <p:cNvPr name="Group 38" id="38"/>
          <p:cNvGrpSpPr/>
          <p:nvPr/>
        </p:nvGrpSpPr>
        <p:grpSpPr>
          <a:xfrm rot="0">
            <a:off x="8709573" y="3009900"/>
            <a:ext cx="2811780" cy="342900"/>
            <a:chOff x="0" y="0"/>
            <a:chExt cx="3749040" cy="457200"/>
          </a:xfrm>
        </p:grpSpPr>
        <p:sp>
          <p:nvSpPr>
            <p:cNvPr name="Freeform 39" id="39"/>
            <p:cNvSpPr/>
            <p:nvPr/>
          </p:nvSpPr>
          <p:spPr>
            <a:xfrm flipH="false" flipV="false" rot="0">
              <a:off x="0" y="0"/>
              <a:ext cx="3749040" cy="457200"/>
            </a:xfrm>
            <a:custGeom>
              <a:avLst/>
              <a:gdLst/>
              <a:ahLst/>
              <a:cxnLst/>
              <a:rect r="r" b="b" t="t" l="l"/>
              <a:pathLst>
                <a:path h="457200" w="3749040">
                  <a:moveTo>
                    <a:pt x="0" y="0"/>
                  </a:moveTo>
                  <a:lnTo>
                    <a:pt x="3749040" y="0"/>
                  </a:lnTo>
                  <a:lnTo>
                    <a:pt x="3749040" y="457200"/>
                  </a:lnTo>
                  <a:lnTo>
                    <a:pt x="0" y="457200"/>
                  </a:lnTo>
                  <a:close/>
                </a:path>
              </a:pathLst>
            </a:custGeom>
            <a:blipFill>
              <a:blip r:embed="rId3">
                <a:alphaModFix amt="0"/>
              </a:blip>
              <a:stretch>
                <a:fillRect l="0" t="-109777" r="0" b="-109777"/>
              </a:stretch>
            </a:blipFill>
          </p:spPr>
        </p:sp>
        <p:sp>
          <p:nvSpPr>
            <p:cNvPr name="TextBox 40" id="40"/>
            <p:cNvSpPr txBox="true"/>
            <p:nvPr/>
          </p:nvSpPr>
          <p:spPr>
            <a:xfrm>
              <a:off x="0" y="-9525"/>
              <a:ext cx="374904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DHT22</a:t>
              </a:r>
            </a:p>
          </p:txBody>
        </p:sp>
      </p:grpSp>
      <p:grpSp>
        <p:nvGrpSpPr>
          <p:cNvPr name="Group 41" id="41"/>
          <p:cNvGrpSpPr/>
          <p:nvPr/>
        </p:nvGrpSpPr>
        <p:grpSpPr>
          <a:xfrm rot="0">
            <a:off x="7804404" y="3499199"/>
            <a:ext cx="3579876" cy="1025463"/>
            <a:chOff x="0" y="0"/>
            <a:chExt cx="4773168" cy="1367284"/>
          </a:xfrm>
        </p:grpSpPr>
        <p:sp>
          <p:nvSpPr>
            <p:cNvPr name="Freeform 42" id="42"/>
            <p:cNvSpPr/>
            <p:nvPr/>
          </p:nvSpPr>
          <p:spPr>
            <a:xfrm flipH="false" flipV="false" rot="0">
              <a:off x="0" y="0"/>
              <a:ext cx="4773168" cy="1367284"/>
            </a:xfrm>
            <a:custGeom>
              <a:avLst/>
              <a:gdLst/>
              <a:ahLst/>
              <a:cxnLst/>
              <a:rect r="r" b="b" t="t" l="l"/>
              <a:pathLst>
                <a:path h="1367284" w="4773168">
                  <a:moveTo>
                    <a:pt x="0" y="0"/>
                  </a:moveTo>
                  <a:lnTo>
                    <a:pt x="4773168" y="0"/>
                  </a:lnTo>
                  <a:lnTo>
                    <a:pt x="4773168" y="1367284"/>
                  </a:lnTo>
                  <a:lnTo>
                    <a:pt x="0" y="1367284"/>
                  </a:lnTo>
                  <a:close/>
                </a:path>
              </a:pathLst>
            </a:custGeom>
            <a:blipFill>
              <a:blip r:embed="rId3">
                <a:alphaModFix amt="0"/>
              </a:blip>
              <a:stretch>
                <a:fillRect l="0" t="-39933" r="0" b="3889"/>
              </a:stretch>
            </a:blipFill>
          </p:spPr>
        </p:sp>
        <p:sp>
          <p:nvSpPr>
            <p:cNvPr name="TextBox 43" id="43"/>
            <p:cNvSpPr txBox="true"/>
            <p:nvPr/>
          </p:nvSpPr>
          <p:spPr>
            <a:xfrm>
              <a:off x="0" y="0"/>
              <a:ext cx="4773168" cy="1367284"/>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Temperature + RH</a:t>
              </a:r>
            </a:p>
            <a:p>
              <a:pPr algn="l">
                <a:lnSpc>
                  <a:spcPts val="3600"/>
                </a:lnSpc>
              </a:pPr>
            </a:p>
          </p:txBody>
        </p:sp>
      </p:grpSp>
      <p:sp>
        <p:nvSpPr>
          <p:cNvPr name="TextBox 44" id="44"/>
          <p:cNvSpPr txBox="true"/>
          <p:nvPr/>
        </p:nvSpPr>
        <p:spPr>
          <a:xfrm rot="0">
            <a:off x="7495032" y="4278821"/>
            <a:ext cx="4198620" cy="71437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Air temperature: −40°C to 80°C; humidity: 0–100%RH; connected to GPIO 27.</a:t>
            </a:r>
          </a:p>
          <a:p>
            <a:pPr algn="l">
              <a:lnSpc>
                <a:spcPts val="1889"/>
              </a:lnSpc>
            </a:pPr>
          </a:p>
        </p:txBody>
      </p:sp>
      <p:grpSp>
        <p:nvGrpSpPr>
          <p:cNvPr name="Group 45" id="45"/>
          <p:cNvGrpSpPr/>
          <p:nvPr/>
        </p:nvGrpSpPr>
        <p:grpSpPr>
          <a:xfrm rot="0">
            <a:off x="11952732" y="3009900"/>
            <a:ext cx="4678680" cy="2004060"/>
            <a:chOff x="0" y="0"/>
            <a:chExt cx="6238240" cy="2672080"/>
          </a:xfrm>
        </p:grpSpPr>
        <p:sp>
          <p:nvSpPr>
            <p:cNvPr name="Freeform 46" id="46"/>
            <p:cNvSpPr/>
            <p:nvPr/>
          </p:nvSpPr>
          <p:spPr>
            <a:xfrm flipH="false" flipV="false" rot="0">
              <a:off x="0" y="0"/>
              <a:ext cx="6238240" cy="2672080"/>
            </a:xfrm>
            <a:custGeom>
              <a:avLst/>
              <a:gdLst/>
              <a:ahLst/>
              <a:cxnLst/>
              <a:rect r="r" b="b" t="t" l="l"/>
              <a:pathLst>
                <a:path h="2672080" w="6238240">
                  <a:moveTo>
                    <a:pt x="0" y="147447"/>
                  </a:moveTo>
                  <a:cubicBezTo>
                    <a:pt x="0" y="66040"/>
                    <a:pt x="66040" y="0"/>
                    <a:pt x="147447" y="0"/>
                  </a:cubicBezTo>
                  <a:lnTo>
                    <a:pt x="6090793" y="0"/>
                  </a:lnTo>
                  <a:cubicBezTo>
                    <a:pt x="6172200" y="0"/>
                    <a:pt x="6238240" y="66040"/>
                    <a:pt x="6238240" y="147447"/>
                  </a:cubicBezTo>
                  <a:lnTo>
                    <a:pt x="6238240" y="2524633"/>
                  </a:lnTo>
                  <a:cubicBezTo>
                    <a:pt x="6238240" y="2606040"/>
                    <a:pt x="6172200" y="2672080"/>
                    <a:pt x="6090793" y="2672080"/>
                  </a:cubicBezTo>
                  <a:lnTo>
                    <a:pt x="147447" y="2672080"/>
                  </a:lnTo>
                  <a:cubicBezTo>
                    <a:pt x="66040" y="2672080"/>
                    <a:pt x="0" y="2606040"/>
                    <a:pt x="0" y="2524633"/>
                  </a:cubicBezTo>
                  <a:close/>
                </a:path>
              </a:pathLst>
            </a:custGeom>
            <a:solidFill>
              <a:srgbClr val="0E1D30"/>
            </a:solidFill>
            <a:ln w="15240" cap="sq">
              <a:solidFill>
                <a:srgbClr val="1D3850"/>
              </a:solidFill>
              <a:prstDash val="solid"/>
              <a:miter/>
            </a:ln>
          </p:spPr>
        </p:sp>
      </p:grpSp>
      <p:grpSp>
        <p:nvGrpSpPr>
          <p:cNvPr name="Group 47" id="47"/>
          <p:cNvGrpSpPr/>
          <p:nvPr/>
        </p:nvGrpSpPr>
        <p:grpSpPr>
          <a:xfrm rot="0">
            <a:off x="13030200" y="3009900"/>
            <a:ext cx="3291840" cy="342900"/>
            <a:chOff x="0" y="0"/>
            <a:chExt cx="4389120" cy="457200"/>
          </a:xfrm>
        </p:grpSpPr>
        <p:sp>
          <p:nvSpPr>
            <p:cNvPr name="Freeform 48" id="48"/>
            <p:cNvSpPr/>
            <p:nvPr/>
          </p:nvSpPr>
          <p:spPr>
            <a:xfrm flipH="false" flipV="false" rot="0">
              <a:off x="0" y="0"/>
              <a:ext cx="4389120" cy="457200"/>
            </a:xfrm>
            <a:custGeom>
              <a:avLst/>
              <a:gdLst/>
              <a:ahLst/>
              <a:cxnLst/>
              <a:rect r="r" b="b" t="t" l="l"/>
              <a:pathLst>
                <a:path h="457200" w="4389120">
                  <a:moveTo>
                    <a:pt x="0" y="0"/>
                  </a:moveTo>
                  <a:lnTo>
                    <a:pt x="4389120" y="0"/>
                  </a:lnTo>
                  <a:lnTo>
                    <a:pt x="4389120" y="457200"/>
                  </a:lnTo>
                  <a:lnTo>
                    <a:pt x="0" y="457200"/>
                  </a:lnTo>
                  <a:close/>
                </a:path>
              </a:pathLst>
            </a:custGeom>
            <a:blipFill>
              <a:blip r:embed="rId3">
                <a:alphaModFix amt="0"/>
              </a:blip>
              <a:stretch>
                <a:fillRect l="0" t="-137056" r="0" b="-137056"/>
              </a:stretch>
            </a:blipFill>
          </p:spPr>
        </p:sp>
        <p:sp>
          <p:nvSpPr>
            <p:cNvPr name="TextBox 49" id="49"/>
            <p:cNvSpPr txBox="true"/>
            <p:nvPr/>
          </p:nvSpPr>
          <p:spPr>
            <a:xfrm>
              <a:off x="0" y="-9525"/>
              <a:ext cx="438912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DS18B20</a:t>
              </a:r>
            </a:p>
          </p:txBody>
        </p:sp>
      </p:grpSp>
      <p:grpSp>
        <p:nvGrpSpPr>
          <p:cNvPr name="Group 50" id="50"/>
          <p:cNvGrpSpPr/>
          <p:nvPr/>
        </p:nvGrpSpPr>
        <p:grpSpPr>
          <a:xfrm rot="0">
            <a:off x="12433554" y="3384042"/>
            <a:ext cx="4059936" cy="1025463"/>
            <a:chOff x="0" y="0"/>
            <a:chExt cx="5413248" cy="1367284"/>
          </a:xfrm>
        </p:grpSpPr>
        <p:sp>
          <p:nvSpPr>
            <p:cNvPr name="Freeform 51" id="51"/>
            <p:cNvSpPr/>
            <p:nvPr/>
          </p:nvSpPr>
          <p:spPr>
            <a:xfrm flipH="false" flipV="false" rot="0">
              <a:off x="0" y="0"/>
              <a:ext cx="5413248" cy="1367284"/>
            </a:xfrm>
            <a:custGeom>
              <a:avLst/>
              <a:gdLst/>
              <a:ahLst/>
              <a:cxnLst/>
              <a:rect r="r" b="b" t="t" l="l"/>
              <a:pathLst>
                <a:path h="1367284" w="5413248">
                  <a:moveTo>
                    <a:pt x="0" y="0"/>
                  </a:moveTo>
                  <a:lnTo>
                    <a:pt x="5413248" y="0"/>
                  </a:lnTo>
                  <a:lnTo>
                    <a:pt x="5413248" y="1367284"/>
                  </a:lnTo>
                  <a:lnTo>
                    <a:pt x="0" y="1367284"/>
                  </a:lnTo>
                  <a:close/>
                </a:path>
              </a:pathLst>
            </a:custGeom>
            <a:blipFill>
              <a:blip r:embed="rId3">
                <a:alphaModFix amt="0"/>
              </a:blip>
              <a:stretch>
                <a:fillRect l="0" t="-49055" r="0" b="-5232"/>
              </a:stretch>
            </a:blipFill>
          </p:spPr>
        </p:sp>
        <p:sp>
          <p:nvSpPr>
            <p:cNvPr name="TextBox 52" id="52"/>
            <p:cNvSpPr txBox="true"/>
            <p:nvPr/>
          </p:nvSpPr>
          <p:spPr>
            <a:xfrm>
              <a:off x="0" y="0"/>
              <a:ext cx="5413248" cy="1367284"/>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Waterproof p</a:t>
              </a:r>
              <a:r>
                <a:rPr lang="en-US" sz="3000" b="true">
                  <a:solidFill>
                    <a:srgbClr val="F5F8FC"/>
                  </a:solidFill>
                  <a:latin typeface="Aptos Bold"/>
                  <a:ea typeface="Aptos Bold"/>
                  <a:cs typeface="Aptos Bold"/>
                  <a:sym typeface="Aptos Bold"/>
                </a:rPr>
                <a:t>robe</a:t>
              </a:r>
            </a:p>
            <a:p>
              <a:pPr algn="l">
                <a:lnSpc>
                  <a:spcPts val="3600"/>
                </a:lnSpc>
              </a:pPr>
            </a:p>
          </p:txBody>
        </p:sp>
      </p:grpSp>
      <p:sp>
        <p:nvSpPr>
          <p:cNvPr name="TextBox 53" id="53"/>
          <p:cNvSpPr txBox="true"/>
          <p:nvPr/>
        </p:nvSpPr>
        <p:spPr>
          <a:xfrm rot="0">
            <a:off x="11952732" y="4140708"/>
            <a:ext cx="4661535" cy="71437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T</a:t>
            </a:r>
            <a:r>
              <a:rPr lang="en-US" sz="1575">
                <a:solidFill>
                  <a:srgbClr val="F5F8FC"/>
                </a:solidFill>
                <a:latin typeface="Aptos"/>
                <a:ea typeface="Aptos"/>
                <a:cs typeface="Aptos"/>
                <a:sym typeface="Aptos"/>
              </a:rPr>
              <a:t>emperature: −55°C to 125°C; accuracy 0.5°C; 1-Wire via GPIO 14.</a:t>
            </a:r>
          </a:p>
          <a:p>
            <a:pPr algn="l">
              <a:lnSpc>
                <a:spcPts val="1889"/>
              </a:lnSpc>
            </a:pPr>
          </a:p>
        </p:txBody>
      </p:sp>
      <p:grpSp>
        <p:nvGrpSpPr>
          <p:cNvPr name="Group 54" id="54"/>
          <p:cNvGrpSpPr/>
          <p:nvPr/>
        </p:nvGrpSpPr>
        <p:grpSpPr>
          <a:xfrm rot="0">
            <a:off x="7467600" y="5369052"/>
            <a:ext cx="9163812" cy="2182368"/>
            <a:chOff x="0" y="0"/>
            <a:chExt cx="12218416" cy="2909824"/>
          </a:xfrm>
        </p:grpSpPr>
        <p:sp>
          <p:nvSpPr>
            <p:cNvPr name="Freeform 55" id="55"/>
            <p:cNvSpPr/>
            <p:nvPr/>
          </p:nvSpPr>
          <p:spPr>
            <a:xfrm flipH="false" flipV="false" rot="0">
              <a:off x="0" y="0"/>
              <a:ext cx="12218415" cy="2909824"/>
            </a:xfrm>
            <a:custGeom>
              <a:avLst/>
              <a:gdLst/>
              <a:ahLst/>
              <a:cxnLst/>
              <a:rect r="r" b="b" t="t" l="l"/>
              <a:pathLst>
                <a:path h="2909824" w="12218415">
                  <a:moveTo>
                    <a:pt x="0" y="147320"/>
                  </a:moveTo>
                  <a:cubicBezTo>
                    <a:pt x="0" y="65913"/>
                    <a:pt x="65913" y="0"/>
                    <a:pt x="147320" y="0"/>
                  </a:cubicBezTo>
                  <a:lnTo>
                    <a:pt x="12071096" y="0"/>
                  </a:lnTo>
                  <a:cubicBezTo>
                    <a:pt x="12152502" y="0"/>
                    <a:pt x="12218415" y="65913"/>
                    <a:pt x="12218415" y="147320"/>
                  </a:cubicBezTo>
                  <a:lnTo>
                    <a:pt x="12218415" y="2762504"/>
                  </a:lnTo>
                  <a:cubicBezTo>
                    <a:pt x="12218415" y="2843911"/>
                    <a:pt x="12152502" y="2909824"/>
                    <a:pt x="12071096" y="2909824"/>
                  </a:cubicBezTo>
                  <a:lnTo>
                    <a:pt x="147320" y="2909824"/>
                  </a:lnTo>
                  <a:cubicBezTo>
                    <a:pt x="65913" y="2909824"/>
                    <a:pt x="0" y="2843911"/>
                    <a:pt x="0" y="2762504"/>
                  </a:cubicBezTo>
                  <a:close/>
                </a:path>
              </a:pathLst>
            </a:custGeom>
            <a:solidFill>
              <a:srgbClr val="0E1D30"/>
            </a:solidFill>
            <a:ln w="15240" cap="sq">
              <a:solidFill>
                <a:srgbClr val="1D3850"/>
              </a:solidFill>
              <a:prstDash val="solid"/>
              <a:miter/>
            </a:ln>
          </p:spPr>
        </p:sp>
      </p:grpSp>
      <p:grpSp>
        <p:nvGrpSpPr>
          <p:cNvPr name="Group 56" id="56"/>
          <p:cNvGrpSpPr/>
          <p:nvPr/>
        </p:nvGrpSpPr>
        <p:grpSpPr>
          <a:xfrm rot="0">
            <a:off x="8545068" y="5650992"/>
            <a:ext cx="7776972" cy="342900"/>
            <a:chOff x="0" y="0"/>
            <a:chExt cx="10369296" cy="457200"/>
          </a:xfrm>
        </p:grpSpPr>
        <p:sp>
          <p:nvSpPr>
            <p:cNvPr name="Freeform 57" id="57"/>
            <p:cNvSpPr/>
            <p:nvPr/>
          </p:nvSpPr>
          <p:spPr>
            <a:xfrm flipH="false" flipV="false" rot="0">
              <a:off x="0" y="0"/>
              <a:ext cx="10369296" cy="457200"/>
            </a:xfrm>
            <a:custGeom>
              <a:avLst/>
              <a:gdLst/>
              <a:ahLst/>
              <a:cxnLst/>
              <a:rect r="r" b="b" t="t" l="l"/>
              <a:pathLst>
                <a:path h="457200" w="10369296">
                  <a:moveTo>
                    <a:pt x="0" y="0"/>
                  </a:moveTo>
                  <a:lnTo>
                    <a:pt x="10369296" y="0"/>
                  </a:lnTo>
                  <a:lnTo>
                    <a:pt x="10369296" y="457200"/>
                  </a:lnTo>
                  <a:lnTo>
                    <a:pt x="0" y="457200"/>
                  </a:lnTo>
                  <a:close/>
                </a:path>
              </a:pathLst>
            </a:custGeom>
            <a:blipFill>
              <a:blip r:embed="rId3">
                <a:alphaModFix amt="0"/>
              </a:blip>
              <a:stretch>
                <a:fillRect l="0" t="-391920" r="0" b="-391920"/>
              </a:stretch>
            </a:blipFill>
          </p:spPr>
        </p:sp>
        <p:sp>
          <p:nvSpPr>
            <p:cNvPr name="TextBox 58" id="58"/>
            <p:cNvSpPr txBox="true"/>
            <p:nvPr/>
          </p:nvSpPr>
          <p:spPr>
            <a:xfrm>
              <a:off x="0" y="-9525"/>
              <a:ext cx="10369296"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WHY TWO SENSORS?</a:t>
              </a:r>
            </a:p>
          </p:txBody>
        </p:sp>
      </p:grpSp>
      <p:sp>
        <p:nvSpPr>
          <p:cNvPr name="TextBox 59" id="59"/>
          <p:cNvSpPr txBox="true"/>
          <p:nvPr/>
        </p:nvSpPr>
        <p:spPr>
          <a:xfrm rot="0">
            <a:off x="7776972" y="6227064"/>
            <a:ext cx="8545068" cy="71437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DHT22 measures ambient a</a:t>
            </a:r>
            <a:r>
              <a:rPr lang="en-US" sz="1575">
                <a:solidFill>
                  <a:srgbClr val="F5F8FC"/>
                </a:solidFill>
                <a:latin typeface="Aptos"/>
                <a:ea typeface="Aptos"/>
                <a:cs typeface="Aptos"/>
                <a:sym typeface="Aptos"/>
              </a:rPr>
              <a:t>ir temperature and humidity; DS18B20 measures deeper/local temperature.</a:t>
            </a:r>
          </a:p>
          <a:p>
            <a:pPr algn="l">
              <a:lnSpc>
                <a:spcPts val="1889"/>
              </a:lnSpc>
            </a:pPr>
          </a:p>
        </p:txBody>
      </p:sp>
      <p:grpSp>
        <p:nvGrpSpPr>
          <p:cNvPr name="Group 60" id="60"/>
          <p:cNvGrpSpPr/>
          <p:nvPr/>
        </p:nvGrpSpPr>
        <p:grpSpPr>
          <a:xfrm rot="0">
            <a:off x="7467600" y="7879080"/>
            <a:ext cx="9163812" cy="975360"/>
            <a:chOff x="0" y="0"/>
            <a:chExt cx="12218416" cy="1300480"/>
          </a:xfrm>
        </p:grpSpPr>
        <p:sp>
          <p:nvSpPr>
            <p:cNvPr name="Freeform 61" id="61"/>
            <p:cNvSpPr/>
            <p:nvPr/>
          </p:nvSpPr>
          <p:spPr>
            <a:xfrm flipH="false" flipV="false" rot="0">
              <a:off x="0" y="0"/>
              <a:ext cx="12218416" cy="1300480"/>
            </a:xfrm>
            <a:custGeom>
              <a:avLst/>
              <a:gdLst/>
              <a:ahLst/>
              <a:cxnLst/>
              <a:rect r="r" b="b" t="t" l="l"/>
              <a:pathLst>
                <a:path h="1300480" w="12218416">
                  <a:moveTo>
                    <a:pt x="0" y="148590"/>
                  </a:moveTo>
                  <a:cubicBezTo>
                    <a:pt x="0" y="66548"/>
                    <a:pt x="66548" y="0"/>
                    <a:pt x="148590" y="0"/>
                  </a:cubicBezTo>
                  <a:lnTo>
                    <a:pt x="12069826" y="0"/>
                  </a:lnTo>
                  <a:cubicBezTo>
                    <a:pt x="12151868" y="0"/>
                    <a:pt x="12218416" y="66548"/>
                    <a:pt x="12218416" y="148590"/>
                  </a:cubicBezTo>
                  <a:lnTo>
                    <a:pt x="12218416" y="1151890"/>
                  </a:lnTo>
                  <a:cubicBezTo>
                    <a:pt x="12218416" y="1233932"/>
                    <a:pt x="12151868" y="1300480"/>
                    <a:pt x="12069826" y="1300480"/>
                  </a:cubicBezTo>
                  <a:lnTo>
                    <a:pt x="148590" y="1300480"/>
                  </a:lnTo>
                  <a:cubicBezTo>
                    <a:pt x="66548" y="1300480"/>
                    <a:pt x="0" y="1233932"/>
                    <a:pt x="0" y="1151890"/>
                  </a:cubicBezTo>
                  <a:close/>
                </a:path>
              </a:pathLst>
            </a:custGeom>
            <a:solidFill>
              <a:srgbClr val="0E1D30"/>
            </a:solidFill>
            <a:ln w="15240" cap="sq">
              <a:solidFill>
                <a:srgbClr val="1D3850"/>
              </a:solidFill>
              <a:prstDash val="solid"/>
              <a:miter/>
            </a:ln>
          </p:spPr>
        </p:sp>
      </p:grpSp>
      <p:grpSp>
        <p:nvGrpSpPr>
          <p:cNvPr name="Group 62" id="62"/>
          <p:cNvGrpSpPr/>
          <p:nvPr/>
        </p:nvGrpSpPr>
        <p:grpSpPr>
          <a:xfrm rot="0">
            <a:off x="8545068" y="7879080"/>
            <a:ext cx="7776972" cy="466725"/>
            <a:chOff x="0" y="0"/>
            <a:chExt cx="10369296" cy="622300"/>
          </a:xfrm>
        </p:grpSpPr>
        <p:sp>
          <p:nvSpPr>
            <p:cNvPr name="Freeform 63" id="63"/>
            <p:cNvSpPr/>
            <p:nvPr/>
          </p:nvSpPr>
          <p:spPr>
            <a:xfrm flipH="false" flipV="false" rot="0">
              <a:off x="0" y="0"/>
              <a:ext cx="10369296" cy="622300"/>
            </a:xfrm>
            <a:custGeom>
              <a:avLst/>
              <a:gdLst/>
              <a:ahLst/>
              <a:cxnLst/>
              <a:rect r="r" b="b" t="t" l="l"/>
              <a:pathLst>
                <a:path h="622300" w="10369296">
                  <a:moveTo>
                    <a:pt x="0" y="0"/>
                  </a:moveTo>
                  <a:lnTo>
                    <a:pt x="10369296" y="0"/>
                  </a:lnTo>
                  <a:lnTo>
                    <a:pt x="10369296" y="622300"/>
                  </a:lnTo>
                  <a:lnTo>
                    <a:pt x="0" y="622300"/>
                  </a:lnTo>
                  <a:close/>
                </a:path>
              </a:pathLst>
            </a:custGeom>
            <a:blipFill>
              <a:blip r:embed="rId3">
                <a:alphaModFix amt="0"/>
              </a:blip>
              <a:stretch>
                <a:fillRect l="0" t="-287941" r="0" b="-261411"/>
              </a:stretch>
            </a:blipFill>
          </p:spPr>
        </p:sp>
        <p:sp>
          <p:nvSpPr>
            <p:cNvPr name="TextBox 64" id="64"/>
            <p:cNvSpPr txBox="true"/>
            <p:nvPr/>
          </p:nvSpPr>
          <p:spPr>
            <a:xfrm>
              <a:off x="0" y="-9525"/>
              <a:ext cx="10369296" cy="6318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REFERENCE CALIBRATION</a:t>
              </a:r>
            </a:p>
          </p:txBody>
        </p:sp>
      </p:grpSp>
      <p:sp>
        <p:nvSpPr>
          <p:cNvPr name="TextBox 65" id="65"/>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9</a:t>
            </a:r>
          </a:p>
        </p:txBody>
      </p:sp>
      <p:sp>
        <p:nvSpPr>
          <p:cNvPr name="TextBox 66" id="66"/>
          <p:cNvSpPr txBox="true"/>
          <p:nvPr/>
        </p:nvSpPr>
        <p:spPr>
          <a:xfrm rot="0">
            <a:off x="7495032" y="8473440"/>
            <a:ext cx="9119235" cy="476250"/>
          </a:xfrm>
          <a:prstGeom prst="rect">
            <a:avLst/>
          </a:prstGeom>
        </p:spPr>
        <p:txBody>
          <a:bodyPr anchor="t" rtlCol="false" tIns="0" lIns="0" bIns="0" rIns="0">
            <a:spAutoFit/>
          </a:bodyPr>
          <a:lstStyle/>
          <a:p>
            <a:pPr algn="ctr">
              <a:lnSpc>
                <a:spcPts val="1889"/>
              </a:lnSpc>
              <a:spcBef>
                <a:spcPct val="0"/>
              </a:spcBef>
            </a:pPr>
            <a:r>
              <a:rPr lang="en-US" sz="1574">
                <a:solidFill>
                  <a:srgbClr val="FFFFFF"/>
                </a:solidFill>
                <a:latin typeface="Aptos"/>
                <a:ea typeface="Aptos"/>
                <a:cs typeface="Aptos"/>
                <a:sym typeface="Aptos"/>
              </a:rPr>
              <a:t>Cr</a:t>
            </a:r>
            <a:r>
              <a:rPr lang="en-US" sz="1574">
                <a:solidFill>
                  <a:srgbClr val="FFFFFF"/>
                </a:solidFill>
                <a:latin typeface="Aptos"/>
                <a:ea typeface="Aptos"/>
                <a:cs typeface="Aptos"/>
                <a:sym typeface="Aptos"/>
              </a:rPr>
              <a:t>oss-calibration against a reference thermometer; the report states MAE below 0.25°C for 30 samples.</a:t>
            </a:r>
          </a:p>
          <a:p>
            <a:pPr algn="ctr">
              <a:lnSpc>
                <a:spcPts val="188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76E2A1"/>
            </a:solidFill>
            <a:ln w="19050" cap="sq">
              <a:solidFill>
                <a:srgbClr val="76E2A1"/>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02</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2</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DS18B20 1-Wire hardware</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A 4.7 kΩ pull-up stabilizes the DS18B20 DQ line.</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1018223" y="3487103"/>
            <a:ext cx="2969895" cy="1419987"/>
            <a:chOff x="0" y="0"/>
            <a:chExt cx="3959860" cy="1893316"/>
          </a:xfrm>
        </p:grpSpPr>
        <p:sp>
          <p:nvSpPr>
            <p:cNvPr name="Freeform 23" id="23"/>
            <p:cNvSpPr/>
            <p:nvPr/>
          </p:nvSpPr>
          <p:spPr>
            <a:xfrm flipH="false" flipV="false" rot="0">
              <a:off x="0" y="0"/>
              <a:ext cx="3959860" cy="1893316"/>
            </a:xfrm>
            <a:custGeom>
              <a:avLst/>
              <a:gdLst/>
              <a:ahLst/>
              <a:cxnLst/>
              <a:rect r="r" b="b" t="t" l="l"/>
              <a:pathLst>
                <a:path h="1893316" w="3959860">
                  <a:moveTo>
                    <a:pt x="0" y="148463"/>
                  </a:moveTo>
                  <a:cubicBezTo>
                    <a:pt x="0" y="66421"/>
                    <a:pt x="66421" y="0"/>
                    <a:pt x="148463" y="0"/>
                  </a:cubicBezTo>
                  <a:lnTo>
                    <a:pt x="3811397" y="0"/>
                  </a:lnTo>
                  <a:cubicBezTo>
                    <a:pt x="3893439" y="0"/>
                    <a:pt x="3959860" y="66421"/>
                    <a:pt x="3959860" y="148463"/>
                  </a:cubicBezTo>
                  <a:lnTo>
                    <a:pt x="3959860" y="1744853"/>
                  </a:lnTo>
                  <a:cubicBezTo>
                    <a:pt x="3959860" y="1826895"/>
                    <a:pt x="3893439" y="1893316"/>
                    <a:pt x="3811397" y="1893316"/>
                  </a:cubicBezTo>
                  <a:lnTo>
                    <a:pt x="148463" y="1893316"/>
                  </a:lnTo>
                  <a:cubicBezTo>
                    <a:pt x="66421" y="1893316"/>
                    <a:pt x="0" y="1826895"/>
                    <a:pt x="0" y="1744853"/>
                  </a:cubicBezTo>
                  <a:close/>
                </a:path>
              </a:pathLst>
            </a:custGeom>
            <a:solidFill>
              <a:srgbClr val="10253B"/>
            </a:solidFill>
            <a:ln w="20955" cap="sq">
              <a:solidFill>
                <a:srgbClr val="46D6F5"/>
              </a:solidFill>
              <a:prstDash val="solid"/>
              <a:miter/>
            </a:ln>
          </p:spPr>
        </p:sp>
      </p:grpSp>
      <p:grpSp>
        <p:nvGrpSpPr>
          <p:cNvPr name="Group 24" id="24"/>
          <p:cNvGrpSpPr/>
          <p:nvPr/>
        </p:nvGrpSpPr>
        <p:grpSpPr>
          <a:xfrm rot="0">
            <a:off x="1193292" y="3689604"/>
            <a:ext cx="2619756" cy="329184"/>
            <a:chOff x="0" y="0"/>
            <a:chExt cx="3493008" cy="438912"/>
          </a:xfrm>
        </p:grpSpPr>
        <p:sp>
          <p:nvSpPr>
            <p:cNvPr name="Freeform 25" id="25"/>
            <p:cNvSpPr/>
            <p:nvPr/>
          </p:nvSpPr>
          <p:spPr>
            <a:xfrm flipH="false" flipV="false" rot="0">
              <a:off x="0" y="0"/>
              <a:ext cx="3493008" cy="438912"/>
            </a:xfrm>
            <a:custGeom>
              <a:avLst/>
              <a:gdLst/>
              <a:ahLst/>
              <a:cxnLst/>
              <a:rect r="r" b="b" t="t" l="l"/>
              <a:pathLst>
                <a:path h="438912" w="3493008">
                  <a:moveTo>
                    <a:pt x="0" y="0"/>
                  </a:moveTo>
                  <a:lnTo>
                    <a:pt x="3493008" y="0"/>
                  </a:lnTo>
                  <a:lnTo>
                    <a:pt x="3493008" y="438912"/>
                  </a:lnTo>
                  <a:lnTo>
                    <a:pt x="0" y="438912"/>
                  </a:lnTo>
                  <a:close/>
                </a:path>
              </a:pathLst>
            </a:custGeom>
            <a:blipFill>
              <a:blip r:embed="rId3">
                <a:alphaModFix amt="0"/>
              </a:blip>
              <a:stretch>
                <a:fillRect l="0" t="-105068" r="0" b="-105068"/>
              </a:stretch>
            </a:blipFill>
          </p:spPr>
        </p:sp>
        <p:sp>
          <p:nvSpPr>
            <p:cNvPr name="TextBox 26" id="26"/>
            <p:cNvSpPr txBox="true"/>
            <p:nvPr/>
          </p:nvSpPr>
          <p:spPr>
            <a:xfrm>
              <a:off x="0" y="0"/>
              <a:ext cx="349300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ESP32</a:t>
              </a:r>
            </a:p>
          </p:txBody>
        </p:sp>
      </p:grpSp>
      <p:grpSp>
        <p:nvGrpSpPr>
          <p:cNvPr name="Group 27" id="27"/>
          <p:cNvGrpSpPr/>
          <p:nvPr/>
        </p:nvGrpSpPr>
        <p:grpSpPr>
          <a:xfrm rot="0">
            <a:off x="1193292" y="4128516"/>
            <a:ext cx="2619756" cy="658368"/>
            <a:chOff x="0" y="0"/>
            <a:chExt cx="3493008" cy="877824"/>
          </a:xfrm>
        </p:grpSpPr>
        <p:sp>
          <p:nvSpPr>
            <p:cNvPr name="Freeform 28" id="28"/>
            <p:cNvSpPr/>
            <p:nvPr/>
          </p:nvSpPr>
          <p:spPr>
            <a:xfrm flipH="false" flipV="false" rot="0">
              <a:off x="0" y="0"/>
              <a:ext cx="3493008" cy="877824"/>
            </a:xfrm>
            <a:custGeom>
              <a:avLst/>
              <a:gdLst/>
              <a:ahLst/>
              <a:cxnLst/>
              <a:rect r="r" b="b" t="t" l="l"/>
              <a:pathLst>
                <a:path h="877824" w="3493008">
                  <a:moveTo>
                    <a:pt x="0" y="0"/>
                  </a:moveTo>
                  <a:lnTo>
                    <a:pt x="3493008" y="0"/>
                  </a:lnTo>
                  <a:lnTo>
                    <a:pt x="3493008" y="877824"/>
                  </a:lnTo>
                  <a:lnTo>
                    <a:pt x="0" y="877824"/>
                  </a:lnTo>
                  <a:close/>
                </a:path>
              </a:pathLst>
            </a:custGeom>
            <a:blipFill>
              <a:blip r:embed="rId3">
                <a:alphaModFix amt="0"/>
              </a:blip>
              <a:stretch>
                <a:fillRect l="0" t="-27534" r="0" b="-27534"/>
              </a:stretch>
            </a:blipFill>
          </p:spPr>
        </p:sp>
        <p:sp>
          <p:nvSpPr>
            <p:cNvPr name="TextBox 29" id="29"/>
            <p:cNvSpPr txBox="true"/>
            <p:nvPr/>
          </p:nvSpPr>
          <p:spPr>
            <a:xfrm>
              <a:off x="0" y="-9525"/>
              <a:ext cx="3493008" cy="887349"/>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GPIO 14</a:t>
              </a:r>
            </a:p>
          </p:txBody>
        </p:sp>
      </p:grpSp>
      <p:sp>
        <p:nvSpPr>
          <p:cNvPr name="AutoShape 30" id="30"/>
          <p:cNvSpPr/>
          <p:nvPr/>
        </p:nvSpPr>
        <p:spPr>
          <a:xfrm rot="73560">
            <a:off x="4068118" y="4187571"/>
            <a:ext cx="1780442" cy="0"/>
          </a:xfrm>
          <a:prstGeom prst="line">
            <a:avLst/>
          </a:prstGeom>
          <a:ln cap="rnd" w="19050">
            <a:solidFill>
              <a:srgbClr val="46D6F5"/>
            </a:solidFill>
            <a:prstDash val="solid"/>
            <a:headEnd type="none" len="sm" w="sm"/>
            <a:tailEnd type="triangle" len="med" w="lg"/>
          </a:ln>
        </p:spPr>
      </p:sp>
      <p:grpSp>
        <p:nvGrpSpPr>
          <p:cNvPr name="Group 31" id="31"/>
          <p:cNvGrpSpPr/>
          <p:nvPr/>
        </p:nvGrpSpPr>
        <p:grpSpPr>
          <a:xfrm rot="0">
            <a:off x="5887403" y="3487103"/>
            <a:ext cx="2969895" cy="1419987"/>
            <a:chOff x="0" y="0"/>
            <a:chExt cx="3959860" cy="1893316"/>
          </a:xfrm>
        </p:grpSpPr>
        <p:sp>
          <p:nvSpPr>
            <p:cNvPr name="Freeform 32" id="32"/>
            <p:cNvSpPr/>
            <p:nvPr/>
          </p:nvSpPr>
          <p:spPr>
            <a:xfrm flipH="false" flipV="false" rot="0">
              <a:off x="0" y="0"/>
              <a:ext cx="3959860" cy="1893316"/>
            </a:xfrm>
            <a:custGeom>
              <a:avLst/>
              <a:gdLst/>
              <a:ahLst/>
              <a:cxnLst/>
              <a:rect r="r" b="b" t="t" l="l"/>
              <a:pathLst>
                <a:path h="1893316" w="3959860">
                  <a:moveTo>
                    <a:pt x="0" y="148463"/>
                  </a:moveTo>
                  <a:cubicBezTo>
                    <a:pt x="0" y="66421"/>
                    <a:pt x="66421" y="0"/>
                    <a:pt x="148463" y="0"/>
                  </a:cubicBezTo>
                  <a:lnTo>
                    <a:pt x="3811397" y="0"/>
                  </a:lnTo>
                  <a:cubicBezTo>
                    <a:pt x="3893439" y="0"/>
                    <a:pt x="3959860" y="66421"/>
                    <a:pt x="3959860" y="148463"/>
                  </a:cubicBezTo>
                  <a:lnTo>
                    <a:pt x="3959860" y="1744853"/>
                  </a:lnTo>
                  <a:cubicBezTo>
                    <a:pt x="3959860" y="1826895"/>
                    <a:pt x="3893439" y="1893316"/>
                    <a:pt x="3811397" y="1893316"/>
                  </a:cubicBezTo>
                  <a:lnTo>
                    <a:pt x="148463" y="1893316"/>
                  </a:lnTo>
                  <a:cubicBezTo>
                    <a:pt x="66421" y="1893316"/>
                    <a:pt x="0" y="1826895"/>
                    <a:pt x="0" y="1744853"/>
                  </a:cubicBezTo>
                  <a:close/>
                </a:path>
              </a:pathLst>
            </a:custGeom>
            <a:solidFill>
              <a:srgbClr val="10253B"/>
            </a:solidFill>
            <a:ln w="20955" cap="sq">
              <a:solidFill>
                <a:srgbClr val="F6C85F"/>
              </a:solidFill>
              <a:prstDash val="solid"/>
              <a:miter/>
            </a:ln>
          </p:spPr>
        </p:sp>
      </p:grpSp>
      <p:grpSp>
        <p:nvGrpSpPr>
          <p:cNvPr name="Group 33" id="33"/>
          <p:cNvGrpSpPr/>
          <p:nvPr/>
        </p:nvGrpSpPr>
        <p:grpSpPr>
          <a:xfrm rot="0">
            <a:off x="6062472" y="3689604"/>
            <a:ext cx="2619756" cy="329184"/>
            <a:chOff x="0" y="0"/>
            <a:chExt cx="3493008" cy="438912"/>
          </a:xfrm>
        </p:grpSpPr>
        <p:sp>
          <p:nvSpPr>
            <p:cNvPr name="Freeform 34" id="34"/>
            <p:cNvSpPr/>
            <p:nvPr/>
          </p:nvSpPr>
          <p:spPr>
            <a:xfrm flipH="false" flipV="false" rot="0">
              <a:off x="0" y="0"/>
              <a:ext cx="3493008" cy="438912"/>
            </a:xfrm>
            <a:custGeom>
              <a:avLst/>
              <a:gdLst/>
              <a:ahLst/>
              <a:cxnLst/>
              <a:rect r="r" b="b" t="t" l="l"/>
              <a:pathLst>
                <a:path h="438912" w="3493008">
                  <a:moveTo>
                    <a:pt x="0" y="0"/>
                  </a:moveTo>
                  <a:lnTo>
                    <a:pt x="3493008" y="0"/>
                  </a:lnTo>
                  <a:lnTo>
                    <a:pt x="3493008" y="438912"/>
                  </a:lnTo>
                  <a:lnTo>
                    <a:pt x="0" y="438912"/>
                  </a:lnTo>
                  <a:close/>
                </a:path>
              </a:pathLst>
            </a:custGeom>
            <a:blipFill>
              <a:blip r:embed="rId3">
                <a:alphaModFix amt="0"/>
              </a:blip>
              <a:stretch>
                <a:fillRect l="0" t="-105068" r="0" b="-105068"/>
              </a:stretch>
            </a:blipFill>
          </p:spPr>
        </p:sp>
        <p:sp>
          <p:nvSpPr>
            <p:cNvPr name="TextBox 35" id="35"/>
            <p:cNvSpPr txBox="true"/>
            <p:nvPr/>
          </p:nvSpPr>
          <p:spPr>
            <a:xfrm>
              <a:off x="0" y="0"/>
              <a:ext cx="349300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DQ BUS</a:t>
              </a:r>
            </a:p>
          </p:txBody>
        </p:sp>
      </p:grpSp>
      <p:grpSp>
        <p:nvGrpSpPr>
          <p:cNvPr name="Group 36" id="36"/>
          <p:cNvGrpSpPr/>
          <p:nvPr/>
        </p:nvGrpSpPr>
        <p:grpSpPr>
          <a:xfrm rot="0">
            <a:off x="6062472" y="4128516"/>
            <a:ext cx="2619756" cy="658368"/>
            <a:chOff x="0" y="0"/>
            <a:chExt cx="3493008" cy="877824"/>
          </a:xfrm>
        </p:grpSpPr>
        <p:sp>
          <p:nvSpPr>
            <p:cNvPr name="Freeform 37" id="37"/>
            <p:cNvSpPr/>
            <p:nvPr/>
          </p:nvSpPr>
          <p:spPr>
            <a:xfrm flipH="false" flipV="false" rot="0">
              <a:off x="0" y="0"/>
              <a:ext cx="3493008" cy="877824"/>
            </a:xfrm>
            <a:custGeom>
              <a:avLst/>
              <a:gdLst/>
              <a:ahLst/>
              <a:cxnLst/>
              <a:rect r="r" b="b" t="t" l="l"/>
              <a:pathLst>
                <a:path h="877824" w="3493008">
                  <a:moveTo>
                    <a:pt x="0" y="0"/>
                  </a:moveTo>
                  <a:lnTo>
                    <a:pt x="3493008" y="0"/>
                  </a:lnTo>
                  <a:lnTo>
                    <a:pt x="3493008" y="877824"/>
                  </a:lnTo>
                  <a:lnTo>
                    <a:pt x="0" y="877824"/>
                  </a:lnTo>
                  <a:close/>
                </a:path>
              </a:pathLst>
            </a:custGeom>
            <a:blipFill>
              <a:blip r:embed="rId3">
                <a:alphaModFix amt="0"/>
              </a:blip>
              <a:stretch>
                <a:fillRect l="0" t="-27534" r="0" b="-27534"/>
              </a:stretch>
            </a:blipFill>
          </p:spPr>
        </p:sp>
        <p:sp>
          <p:nvSpPr>
            <p:cNvPr name="TextBox 38" id="38"/>
            <p:cNvSpPr txBox="true"/>
            <p:nvPr/>
          </p:nvSpPr>
          <p:spPr>
            <a:xfrm>
              <a:off x="0" y="-9525"/>
              <a:ext cx="3493008" cy="887349"/>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1-Wire</a:t>
              </a:r>
            </a:p>
          </p:txBody>
        </p:sp>
      </p:grpSp>
      <p:sp>
        <p:nvSpPr>
          <p:cNvPr name="AutoShape 39" id="39"/>
          <p:cNvSpPr/>
          <p:nvPr/>
        </p:nvSpPr>
        <p:spPr>
          <a:xfrm rot="73560">
            <a:off x="8937298" y="4187571"/>
            <a:ext cx="1780442" cy="0"/>
          </a:xfrm>
          <a:prstGeom prst="line">
            <a:avLst/>
          </a:prstGeom>
          <a:ln cap="rnd" w="19050">
            <a:solidFill>
              <a:srgbClr val="46D6F5"/>
            </a:solidFill>
            <a:prstDash val="solid"/>
            <a:headEnd type="none" len="sm" w="sm"/>
            <a:tailEnd type="triangle" len="med" w="lg"/>
          </a:ln>
        </p:spPr>
      </p:sp>
      <p:grpSp>
        <p:nvGrpSpPr>
          <p:cNvPr name="Group 40" id="40"/>
          <p:cNvGrpSpPr/>
          <p:nvPr/>
        </p:nvGrpSpPr>
        <p:grpSpPr>
          <a:xfrm rot="0">
            <a:off x="10756582" y="3487103"/>
            <a:ext cx="2969895" cy="1419987"/>
            <a:chOff x="0" y="0"/>
            <a:chExt cx="3959860" cy="1893316"/>
          </a:xfrm>
        </p:grpSpPr>
        <p:sp>
          <p:nvSpPr>
            <p:cNvPr name="Freeform 41" id="41"/>
            <p:cNvSpPr/>
            <p:nvPr/>
          </p:nvSpPr>
          <p:spPr>
            <a:xfrm flipH="false" flipV="false" rot="0">
              <a:off x="0" y="0"/>
              <a:ext cx="3959860" cy="1893316"/>
            </a:xfrm>
            <a:custGeom>
              <a:avLst/>
              <a:gdLst/>
              <a:ahLst/>
              <a:cxnLst/>
              <a:rect r="r" b="b" t="t" l="l"/>
              <a:pathLst>
                <a:path h="1893316" w="3959860">
                  <a:moveTo>
                    <a:pt x="0" y="148463"/>
                  </a:moveTo>
                  <a:cubicBezTo>
                    <a:pt x="0" y="66421"/>
                    <a:pt x="66421" y="0"/>
                    <a:pt x="148463" y="0"/>
                  </a:cubicBezTo>
                  <a:lnTo>
                    <a:pt x="3811397" y="0"/>
                  </a:lnTo>
                  <a:cubicBezTo>
                    <a:pt x="3893439" y="0"/>
                    <a:pt x="3959860" y="66421"/>
                    <a:pt x="3959860" y="148463"/>
                  </a:cubicBezTo>
                  <a:lnTo>
                    <a:pt x="3959860" y="1744853"/>
                  </a:lnTo>
                  <a:cubicBezTo>
                    <a:pt x="3959860" y="1826895"/>
                    <a:pt x="3893439" y="1893316"/>
                    <a:pt x="3811397" y="1893316"/>
                  </a:cubicBezTo>
                  <a:lnTo>
                    <a:pt x="148463" y="1893316"/>
                  </a:lnTo>
                  <a:cubicBezTo>
                    <a:pt x="66421" y="1893316"/>
                    <a:pt x="0" y="1826895"/>
                    <a:pt x="0" y="1744853"/>
                  </a:cubicBezTo>
                  <a:close/>
                </a:path>
              </a:pathLst>
            </a:custGeom>
            <a:solidFill>
              <a:srgbClr val="10253B"/>
            </a:solidFill>
            <a:ln w="20955" cap="sq">
              <a:solidFill>
                <a:srgbClr val="76E2A1"/>
              </a:solidFill>
              <a:prstDash val="solid"/>
              <a:miter/>
            </a:ln>
          </p:spPr>
        </p:sp>
      </p:grpSp>
      <p:grpSp>
        <p:nvGrpSpPr>
          <p:cNvPr name="Group 42" id="42"/>
          <p:cNvGrpSpPr/>
          <p:nvPr/>
        </p:nvGrpSpPr>
        <p:grpSpPr>
          <a:xfrm rot="0">
            <a:off x="10931652" y="3689604"/>
            <a:ext cx="2619756" cy="329184"/>
            <a:chOff x="0" y="0"/>
            <a:chExt cx="3493008" cy="438912"/>
          </a:xfrm>
        </p:grpSpPr>
        <p:sp>
          <p:nvSpPr>
            <p:cNvPr name="Freeform 43" id="43"/>
            <p:cNvSpPr/>
            <p:nvPr/>
          </p:nvSpPr>
          <p:spPr>
            <a:xfrm flipH="false" flipV="false" rot="0">
              <a:off x="0" y="0"/>
              <a:ext cx="3493008" cy="438912"/>
            </a:xfrm>
            <a:custGeom>
              <a:avLst/>
              <a:gdLst/>
              <a:ahLst/>
              <a:cxnLst/>
              <a:rect r="r" b="b" t="t" l="l"/>
              <a:pathLst>
                <a:path h="438912" w="3493008">
                  <a:moveTo>
                    <a:pt x="0" y="0"/>
                  </a:moveTo>
                  <a:lnTo>
                    <a:pt x="3493008" y="0"/>
                  </a:lnTo>
                  <a:lnTo>
                    <a:pt x="3493008" y="438912"/>
                  </a:lnTo>
                  <a:lnTo>
                    <a:pt x="0" y="438912"/>
                  </a:lnTo>
                  <a:close/>
                </a:path>
              </a:pathLst>
            </a:custGeom>
            <a:blipFill>
              <a:blip r:embed="rId3">
                <a:alphaModFix amt="0"/>
              </a:blip>
              <a:stretch>
                <a:fillRect l="0" t="-105068" r="0" b="-105068"/>
              </a:stretch>
            </a:blipFill>
          </p:spPr>
        </p:sp>
        <p:sp>
          <p:nvSpPr>
            <p:cNvPr name="TextBox 44" id="44"/>
            <p:cNvSpPr txBox="true"/>
            <p:nvPr/>
          </p:nvSpPr>
          <p:spPr>
            <a:xfrm>
              <a:off x="0" y="0"/>
              <a:ext cx="349300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DS18B20</a:t>
              </a:r>
            </a:p>
          </p:txBody>
        </p:sp>
      </p:grpSp>
      <p:grpSp>
        <p:nvGrpSpPr>
          <p:cNvPr name="Group 45" id="45"/>
          <p:cNvGrpSpPr/>
          <p:nvPr/>
        </p:nvGrpSpPr>
        <p:grpSpPr>
          <a:xfrm rot="0">
            <a:off x="10931652" y="4128516"/>
            <a:ext cx="2619756" cy="658368"/>
            <a:chOff x="0" y="0"/>
            <a:chExt cx="3493008" cy="877824"/>
          </a:xfrm>
        </p:grpSpPr>
        <p:sp>
          <p:nvSpPr>
            <p:cNvPr name="Freeform 46" id="46"/>
            <p:cNvSpPr/>
            <p:nvPr/>
          </p:nvSpPr>
          <p:spPr>
            <a:xfrm flipH="false" flipV="false" rot="0">
              <a:off x="0" y="0"/>
              <a:ext cx="3493008" cy="877824"/>
            </a:xfrm>
            <a:custGeom>
              <a:avLst/>
              <a:gdLst/>
              <a:ahLst/>
              <a:cxnLst/>
              <a:rect r="r" b="b" t="t" l="l"/>
              <a:pathLst>
                <a:path h="877824" w="3493008">
                  <a:moveTo>
                    <a:pt x="0" y="0"/>
                  </a:moveTo>
                  <a:lnTo>
                    <a:pt x="3493008" y="0"/>
                  </a:lnTo>
                  <a:lnTo>
                    <a:pt x="3493008" y="877824"/>
                  </a:lnTo>
                  <a:lnTo>
                    <a:pt x="0" y="877824"/>
                  </a:lnTo>
                  <a:close/>
                </a:path>
              </a:pathLst>
            </a:custGeom>
            <a:blipFill>
              <a:blip r:embed="rId3">
                <a:alphaModFix amt="0"/>
              </a:blip>
              <a:stretch>
                <a:fillRect l="0" t="-27534" r="0" b="-27534"/>
              </a:stretch>
            </a:blipFill>
          </p:spPr>
        </p:sp>
        <p:sp>
          <p:nvSpPr>
            <p:cNvPr name="TextBox 47" id="47"/>
            <p:cNvSpPr txBox="true"/>
            <p:nvPr/>
          </p:nvSpPr>
          <p:spPr>
            <a:xfrm>
              <a:off x="0" y="-9525"/>
              <a:ext cx="3493008" cy="887349"/>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temperature</a:t>
              </a:r>
            </a:p>
          </p:txBody>
        </p:sp>
      </p:grpSp>
      <p:grpSp>
        <p:nvGrpSpPr>
          <p:cNvPr name="Group 48" id="48"/>
          <p:cNvGrpSpPr/>
          <p:nvPr/>
        </p:nvGrpSpPr>
        <p:grpSpPr>
          <a:xfrm rot="0">
            <a:off x="6738747" y="2116455"/>
            <a:ext cx="1280922" cy="677418"/>
            <a:chOff x="0" y="0"/>
            <a:chExt cx="1707896" cy="903224"/>
          </a:xfrm>
        </p:grpSpPr>
        <p:sp>
          <p:nvSpPr>
            <p:cNvPr name="Freeform 49" id="49"/>
            <p:cNvSpPr/>
            <p:nvPr/>
          </p:nvSpPr>
          <p:spPr>
            <a:xfrm flipH="false" flipV="false" rot="0">
              <a:off x="0" y="0"/>
              <a:ext cx="1707896" cy="903224"/>
            </a:xfrm>
            <a:custGeom>
              <a:avLst/>
              <a:gdLst/>
              <a:ahLst/>
              <a:cxnLst/>
              <a:rect r="r" b="b" t="t" l="l"/>
              <a:pathLst>
                <a:path h="903224" w="1707896">
                  <a:moveTo>
                    <a:pt x="0" y="94107"/>
                  </a:moveTo>
                  <a:cubicBezTo>
                    <a:pt x="0" y="42164"/>
                    <a:pt x="42164" y="0"/>
                    <a:pt x="94107" y="0"/>
                  </a:cubicBezTo>
                  <a:lnTo>
                    <a:pt x="1613789" y="0"/>
                  </a:lnTo>
                  <a:cubicBezTo>
                    <a:pt x="1665732" y="0"/>
                    <a:pt x="1707896" y="42164"/>
                    <a:pt x="1707896" y="94107"/>
                  </a:cubicBezTo>
                  <a:lnTo>
                    <a:pt x="1707896" y="809117"/>
                  </a:lnTo>
                  <a:cubicBezTo>
                    <a:pt x="1707896" y="861060"/>
                    <a:pt x="1665732" y="903224"/>
                    <a:pt x="1613789" y="903224"/>
                  </a:cubicBezTo>
                  <a:lnTo>
                    <a:pt x="94107" y="903224"/>
                  </a:lnTo>
                  <a:cubicBezTo>
                    <a:pt x="42164" y="903224"/>
                    <a:pt x="0" y="861060"/>
                    <a:pt x="0" y="809117"/>
                  </a:cubicBezTo>
                  <a:close/>
                </a:path>
              </a:pathLst>
            </a:custGeom>
            <a:solidFill>
              <a:srgbClr val="10253B"/>
            </a:solidFill>
            <a:ln w="19050" cap="sq">
              <a:solidFill>
                <a:srgbClr val="F6C85F"/>
              </a:solidFill>
              <a:prstDash val="solid"/>
              <a:miter/>
            </a:ln>
          </p:spPr>
        </p:sp>
      </p:grpSp>
      <p:grpSp>
        <p:nvGrpSpPr>
          <p:cNvPr name="Group 50" id="50"/>
          <p:cNvGrpSpPr/>
          <p:nvPr/>
        </p:nvGrpSpPr>
        <p:grpSpPr>
          <a:xfrm rot="0">
            <a:off x="6775704" y="2304288"/>
            <a:ext cx="1207008" cy="192024"/>
            <a:chOff x="0" y="0"/>
            <a:chExt cx="1609344" cy="256032"/>
          </a:xfrm>
        </p:grpSpPr>
        <p:sp>
          <p:nvSpPr>
            <p:cNvPr name="Freeform 51" id="51"/>
            <p:cNvSpPr/>
            <p:nvPr/>
          </p:nvSpPr>
          <p:spPr>
            <a:xfrm flipH="false" flipV="false" rot="0">
              <a:off x="0" y="0"/>
              <a:ext cx="1609344" cy="256032"/>
            </a:xfrm>
            <a:custGeom>
              <a:avLst/>
              <a:gdLst/>
              <a:ahLst/>
              <a:cxnLst/>
              <a:rect r="r" b="b" t="t" l="l"/>
              <a:pathLst>
                <a:path h="256032" w="1609344">
                  <a:moveTo>
                    <a:pt x="0" y="0"/>
                  </a:moveTo>
                  <a:lnTo>
                    <a:pt x="1609344" y="0"/>
                  </a:lnTo>
                  <a:lnTo>
                    <a:pt x="1609344" y="256032"/>
                  </a:lnTo>
                  <a:lnTo>
                    <a:pt x="0" y="256032"/>
                  </a:lnTo>
                  <a:close/>
                </a:path>
              </a:pathLst>
            </a:custGeom>
            <a:blipFill>
              <a:blip r:embed="rId3">
                <a:alphaModFix amt="0"/>
              </a:blip>
              <a:stretch>
                <a:fillRect l="0" t="-72477" r="0" b="-72477"/>
              </a:stretch>
            </a:blipFill>
          </p:spPr>
        </p:sp>
        <p:sp>
          <p:nvSpPr>
            <p:cNvPr name="TextBox 52" id="52"/>
            <p:cNvSpPr txBox="true"/>
            <p:nvPr/>
          </p:nvSpPr>
          <p:spPr>
            <a:xfrm>
              <a:off x="0" y="-9525"/>
              <a:ext cx="1609344" cy="265557"/>
            </a:xfrm>
            <a:prstGeom prst="rect">
              <a:avLst/>
            </a:prstGeom>
          </p:spPr>
          <p:txBody>
            <a:bodyPr anchor="ctr" rtlCol="false" tIns="0" lIns="0" bIns="0" rIns="0"/>
            <a:lstStyle/>
            <a:p>
              <a:pPr algn="ctr">
                <a:lnSpc>
                  <a:spcPts val="1620"/>
                </a:lnSpc>
              </a:pPr>
              <a:r>
                <a:rPr lang="en-US" sz="1350" b="true">
                  <a:solidFill>
                    <a:srgbClr val="F6C85F"/>
                  </a:solidFill>
                  <a:latin typeface="Aptos Bold"/>
                  <a:ea typeface="Aptos Bold"/>
                  <a:cs typeface="Aptos Bold"/>
                  <a:sym typeface="Aptos Bold"/>
                </a:rPr>
                <a:t>4.7 kΩ</a:t>
              </a:r>
            </a:p>
          </p:txBody>
        </p:sp>
      </p:grpSp>
      <p:grpSp>
        <p:nvGrpSpPr>
          <p:cNvPr name="Group 53" id="53"/>
          <p:cNvGrpSpPr/>
          <p:nvPr/>
        </p:nvGrpSpPr>
        <p:grpSpPr>
          <a:xfrm rot="0">
            <a:off x="1021080" y="5547360"/>
            <a:ext cx="4404360" cy="1853184"/>
            <a:chOff x="0" y="0"/>
            <a:chExt cx="5872480" cy="2470912"/>
          </a:xfrm>
        </p:grpSpPr>
        <p:sp>
          <p:nvSpPr>
            <p:cNvPr name="Freeform 54" id="54"/>
            <p:cNvSpPr/>
            <p:nvPr/>
          </p:nvSpPr>
          <p:spPr>
            <a:xfrm flipH="false" flipV="false" rot="0">
              <a:off x="0" y="0"/>
              <a:ext cx="5872480" cy="2470912"/>
            </a:xfrm>
            <a:custGeom>
              <a:avLst/>
              <a:gdLst/>
              <a:ahLst/>
              <a:cxnLst/>
              <a:rect r="r" b="b" t="t" l="l"/>
              <a:pathLst>
                <a:path h="2470912" w="5872480">
                  <a:moveTo>
                    <a:pt x="0" y="147574"/>
                  </a:moveTo>
                  <a:cubicBezTo>
                    <a:pt x="0" y="66040"/>
                    <a:pt x="66040" y="0"/>
                    <a:pt x="147574" y="0"/>
                  </a:cubicBezTo>
                  <a:lnTo>
                    <a:pt x="5724906" y="0"/>
                  </a:lnTo>
                  <a:cubicBezTo>
                    <a:pt x="5806313" y="0"/>
                    <a:pt x="5872480" y="66040"/>
                    <a:pt x="5872480" y="147574"/>
                  </a:cubicBezTo>
                  <a:lnTo>
                    <a:pt x="5872480" y="2323338"/>
                  </a:lnTo>
                  <a:cubicBezTo>
                    <a:pt x="5872480" y="2404745"/>
                    <a:pt x="5806440" y="2470912"/>
                    <a:pt x="5724906" y="2470912"/>
                  </a:cubicBezTo>
                  <a:lnTo>
                    <a:pt x="147574" y="2470912"/>
                  </a:lnTo>
                  <a:cubicBezTo>
                    <a:pt x="66040" y="2470912"/>
                    <a:pt x="0" y="2404872"/>
                    <a:pt x="0" y="2323338"/>
                  </a:cubicBezTo>
                  <a:close/>
                </a:path>
              </a:pathLst>
            </a:custGeom>
            <a:solidFill>
              <a:srgbClr val="0E1D30"/>
            </a:solidFill>
            <a:ln w="15240" cap="sq">
              <a:solidFill>
                <a:srgbClr val="1D3850"/>
              </a:solidFill>
              <a:prstDash val="solid"/>
              <a:miter/>
            </a:ln>
          </p:spPr>
        </p:sp>
      </p:grpSp>
      <p:grpSp>
        <p:nvGrpSpPr>
          <p:cNvPr name="Group 55" id="55"/>
          <p:cNvGrpSpPr/>
          <p:nvPr/>
        </p:nvGrpSpPr>
        <p:grpSpPr>
          <a:xfrm rot="0">
            <a:off x="2098548" y="5829300"/>
            <a:ext cx="3017520" cy="342900"/>
            <a:chOff x="0" y="0"/>
            <a:chExt cx="4023360" cy="457200"/>
          </a:xfrm>
        </p:grpSpPr>
        <p:sp>
          <p:nvSpPr>
            <p:cNvPr name="Freeform 56" id="56"/>
            <p:cNvSpPr/>
            <p:nvPr/>
          </p:nvSpPr>
          <p:spPr>
            <a:xfrm flipH="false" flipV="false" rot="0">
              <a:off x="0" y="0"/>
              <a:ext cx="4023360" cy="457200"/>
            </a:xfrm>
            <a:custGeom>
              <a:avLst/>
              <a:gdLst/>
              <a:ahLst/>
              <a:cxnLst/>
              <a:rect r="r" b="b" t="t" l="l"/>
              <a:pathLst>
                <a:path h="457200" w="4023360">
                  <a:moveTo>
                    <a:pt x="0" y="0"/>
                  </a:moveTo>
                  <a:lnTo>
                    <a:pt x="4023360" y="0"/>
                  </a:lnTo>
                  <a:lnTo>
                    <a:pt x="4023360" y="457200"/>
                  </a:lnTo>
                  <a:lnTo>
                    <a:pt x="0" y="457200"/>
                  </a:lnTo>
                  <a:close/>
                </a:path>
              </a:pathLst>
            </a:custGeom>
            <a:blipFill>
              <a:blip r:embed="rId3">
                <a:alphaModFix amt="0"/>
              </a:blip>
              <a:stretch>
                <a:fillRect l="0" t="-121468" r="0" b="-121468"/>
              </a:stretch>
            </a:blipFill>
          </p:spPr>
        </p:sp>
        <p:sp>
          <p:nvSpPr>
            <p:cNvPr name="TextBox 57" id="57"/>
            <p:cNvSpPr txBox="true"/>
            <p:nvPr/>
          </p:nvSpPr>
          <p:spPr>
            <a:xfrm>
              <a:off x="0" y="-9525"/>
              <a:ext cx="402336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PROBLEM</a:t>
              </a:r>
            </a:p>
          </p:txBody>
        </p:sp>
      </p:grpSp>
      <p:grpSp>
        <p:nvGrpSpPr>
          <p:cNvPr name="Group 58" id="58"/>
          <p:cNvGrpSpPr/>
          <p:nvPr/>
        </p:nvGrpSpPr>
        <p:grpSpPr>
          <a:xfrm rot="0">
            <a:off x="1330452" y="6460236"/>
            <a:ext cx="3785616" cy="576072"/>
            <a:chOff x="0" y="0"/>
            <a:chExt cx="5047488" cy="768096"/>
          </a:xfrm>
        </p:grpSpPr>
        <p:sp>
          <p:nvSpPr>
            <p:cNvPr name="Freeform 59" id="59"/>
            <p:cNvSpPr/>
            <p:nvPr/>
          </p:nvSpPr>
          <p:spPr>
            <a:xfrm flipH="false" flipV="false" rot="0">
              <a:off x="0" y="0"/>
              <a:ext cx="5047488" cy="768096"/>
            </a:xfrm>
            <a:custGeom>
              <a:avLst/>
              <a:gdLst/>
              <a:ahLst/>
              <a:cxnLst/>
              <a:rect r="r" b="b" t="t" l="l"/>
              <a:pathLst>
                <a:path h="768096" w="5047488">
                  <a:moveTo>
                    <a:pt x="0" y="0"/>
                  </a:moveTo>
                  <a:lnTo>
                    <a:pt x="5047488" y="0"/>
                  </a:lnTo>
                  <a:lnTo>
                    <a:pt x="5047488" y="768096"/>
                  </a:lnTo>
                  <a:lnTo>
                    <a:pt x="0" y="768096"/>
                  </a:lnTo>
                  <a:close/>
                </a:path>
              </a:pathLst>
            </a:custGeom>
            <a:blipFill>
              <a:blip r:embed="rId3">
                <a:alphaModFix amt="0"/>
              </a:blip>
              <a:stretch>
                <a:fillRect l="0" t="-78044" r="0" b="-78044"/>
              </a:stretch>
            </a:blipFill>
          </p:spPr>
        </p:sp>
        <p:sp>
          <p:nvSpPr>
            <p:cNvPr name="TextBox 60" id="60"/>
            <p:cNvSpPr txBox="true"/>
            <p:nvPr/>
          </p:nvSpPr>
          <p:spPr>
            <a:xfrm>
              <a:off x="0" y="0"/>
              <a:ext cx="504748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Floating</a:t>
              </a:r>
            </a:p>
          </p:txBody>
        </p:sp>
      </p:grpSp>
      <p:grpSp>
        <p:nvGrpSpPr>
          <p:cNvPr name="Group 61" id="61"/>
          <p:cNvGrpSpPr/>
          <p:nvPr/>
        </p:nvGrpSpPr>
        <p:grpSpPr>
          <a:xfrm rot="0">
            <a:off x="5643372" y="5547360"/>
            <a:ext cx="4404360" cy="1853184"/>
            <a:chOff x="0" y="0"/>
            <a:chExt cx="5872480" cy="2470912"/>
          </a:xfrm>
        </p:grpSpPr>
        <p:sp>
          <p:nvSpPr>
            <p:cNvPr name="Freeform 62" id="62"/>
            <p:cNvSpPr/>
            <p:nvPr/>
          </p:nvSpPr>
          <p:spPr>
            <a:xfrm flipH="false" flipV="false" rot="0">
              <a:off x="0" y="0"/>
              <a:ext cx="5872480" cy="2470912"/>
            </a:xfrm>
            <a:custGeom>
              <a:avLst/>
              <a:gdLst/>
              <a:ahLst/>
              <a:cxnLst/>
              <a:rect r="r" b="b" t="t" l="l"/>
              <a:pathLst>
                <a:path h="2470912" w="5872480">
                  <a:moveTo>
                    <a:pt x="0" y="147574"/>
                  </a:moveTo>
                  <a:cubicBezTo>
                    <a:pt x="0" y="66040"/>
                    <a:pt x="66040" y="0"/>
                    <a:pt x="147574" y="0"/>
                  </a:cubicBezTo>
                  <a:lnTo>
                    <a:pt x="5724906" y="0"/>
                  </a:lnTo>
                  <a:cubicBezTo>
                    <a:pt x="5806313" y="0"/>
                    <a:pt x="5872480" y="66040"/>
                    <a:pt x="5872480" y="147574"/>
                  </a:cubicBezTo>
                  <a:lnTo>
                    <a:pt x="5872480" y="2323338"/>
                  </a:lnTo>
                  <a:cubicBezTo>
                    <a:pt x="5872480" y="2404745"/>
                    <a:pt x="5806440" y="2470912"/>
                    <a:pt x="5724906" y="2470912"/>
                  </a:cubicBezTo>
                  <a:lnTo>
                    <a:pt x="147574" y="2470912"/>
                  </a:lnTo>
                  <a:cubicBezTo>
                    <a:pt x="66040" y="2470912"/>
                    <a:pt x="0" y="2404872"/>
                    <a:pt x="0" y="2323338"/>
                  </a:cubicBezTo>
                  <a:close/>
                </a:path>
              </a:pathLst>
            </a:custGeom>
            <a:solidFill>
              <a:srgbClr val="0E1D30"/>
            </a:solidFill>
            <a:ln w="15240" cap="sq">
              <a:solidFill>
                <a:srgbClr val="1D3850"/>
              </a:solidFill>
              <a:prstDash val="solid"/>
              <a:miter/>
            </a:ln>
          </p:spPr>
        </p:sp>
      </p:grpSp>
      <p:grpSp>
        <p:nvGrpSpPr>
          <p:cNvPr name="Group 63" id="63"/>
          <p:cNvGrpSpPr/>
          <p:nvPr/>
        </p:nvGrpSpPr>
        <p:grpSpPr>
          <a:xfrm rot="0">
            <a:off x="6720840" y="5829300"/>
            <a:ext cx="3017520" cy="342900"/>
            <a:chOff x="0" y="0"/>
            <a:chExt cx="4023360" cy="457200"/>
          </a:xfrm>
        </p:grpSpPr>
        <p:sp>
          <p:nvSpPr>
            <p:cNvPr name="Freeform 64" id="64"/>
            <p:cNvSpPr/>
            <p:nvPr/>
          </p:nvSpPr>
          <p:spPr>
            <a:xfrm flipH="false" flipV="false" rot="0">
              <a:off x="0" y="0"/>
              <a:ext cx="4023360" cy="457200"/>
            </a:xfrm>
            <a:custGeom>
              <a:avLst/>
              <a:gdLst/>
              <a:ahLst/>
              <a:cxnLst/>
              <a:rect r="r" b="b" t="t" l="l"/>
              <a:pathLst>
                <a:path h="457200" w="4023360">
                  <a:moveTo>
                    <a:pt x="0" y="0"/>
                  </a:moveTo>
                  <a:lnTo>
                    <a:pt x="4023360" y="0"/>
                  </a:lnTo>
                  <a:lnTo>
                    <a:pt x="4023360" y="457200"/>
                  </a:lnTo>
                  <a:lnTo>
                    <a:pt x="0" y="457200"/>
                  </a:lnTo>
                  <a:close/>
                </a:path>
              </a:pathLst>
            </a:custGeom>
            <a:blipFill>
              <a:blip r:embed="rId3">
                <a:alphaModFix amt="0"/>
              </a:blip>
              <a:stretch>
                <a:fillRect l="0" t="-121468" r="0" b="-121468"/>
              </a:stretch>
            </a:blipFill>
          </p:spPr>
        </p:sp>
        <p:sp>
          <p:nvSpPr>
            <p:cNvPr name="TextBox 65" id="65"/>
            <p:cNvSpPr txBox="true"/>
            <p:nvPr/>
          </p:nvSpPr>
          <p:spPr>
            <a:xfrm>
              <a:off x="0" y="-9525"/>
              <a:ext cx="402336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FIX</a:t>
              </a:r>
            </a:p>
          </p:txBody>
        </p:sp>
      </p:grpSp>
      <p:grpSp>
        <p:nvGrpSpPr>
          <p:cNvPr name="Group 66" id="66"/>
          <p:cNvGrpSpPr/>
          <p:nvPr/>
        </p:nvGrpSpPr>
        <p:grpSpPr>
          <a:xfrm rot="0">
            <a:off x="5952744" y="6460236"/>
            <a:ext cx="3785616" cy="576072"/>
            <a:chOff x="0" y="0"/>
            <a:chExt cx="5047488" cy="768096"/>
          </a:xfrm>
        </p:grpSpPr>
        <p:sp>
          <p:nvSpPr>
            <p:cNvPr name="Freeform 67" id="67"/>
            <p:cNvSpPr/>
            <p:nvPr/>
          </p:nvSpPr>
          <p:spPr>
            <a:xfrm flipH="false" flipV="false" rot="0">
              <a:off x="0" y="0"/>
              <a:ext cx="5047488" cy="768096"/>
            </a:xfrm>
            <a:custGeom>
              <a:avLst/>
              <a:gdLst/>
              <a:ahLst/>
              <a:cxnLst/>
              <a:rect r="r" b="b" t="t" l="l"/>
              <a:pathLst>
                <a:path h="768096" w="5047488">
                  <a:moveTo>
                    <a:pt x="0" y="0"/>
                  </a:moveTo>
                  <a:lnTo>
                    <a:pt x="5047488" y="0"/>
                  </a:lnTo>
                  <a:lnTo>
                    <a:pt x="5047488" y="768096"/>
                  </a:lnTo>
                  <a:lnTo>
                    <a:pt x="0" y="768096"/>
                  </a:lnTo>
                  <a:close/>
                </a:path>
              </a:pathLst>
            </a:custGeom>
            <a:blipFill>
              <a:blip r:embed="rId3">
                <a:alphaModFix amt="0"/>
              </a:blip>
              <a:stretch>
                <a:fillRect l="0" t="-78044" r="0" b="-78044"/>
              </a:stretch>
            </a:blipFill>
          </p:spPr>
        </p:sp>
        <p:sp>
          <p:nvSpPr>
            <p:cNvPr name="TextBox 68" id="68"/>
            <p:cNvSpPr txBox="true"/>
            <p:nvPr/>
          </p:nvSpPr>
          <p:spPr>
            <a:xfrm>
              <a:off x="0" y="0"/>
              <a:ext cx="504748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Pull-up</a:t>
              </a:r>
            </a:p>
          </p:txBody>
        </p:sp>
      </p:grpSp>
      <p:grpSp>
        <p:nvGrpSpPr>
          <p:cNvPr name="Group 69" id="69"/>
          <p:cNvGrpSpPr/>
          <p:nvPr/>
        </p:nvGrpSpPr>
        <p:grpSpPr>
          <a:xfrm rot="0">
            <a:off x="10265664" y="5547360"/>
            <a:ext cx="4404360" cy="1853184"/>
            <a:chOff x="0" y="0"/>
            <a:chExt cx="5872480" cy="2470912"/>
          </a:xfrm>
        </p:grpSpPr>
        <p:sp>
          <p:nvSpPr>
            <p:cNvPr name="Freeform 70" id="70"/>
            <p:cNvSpPr/>
            <p:nvPr/>
          </p:nvSpPr>
          <p:spPr>
            <a:xfrm flipH="false" flipV="false" rot="0">
              <a:off x="0" y="0"/>
              <a:ext cx="5872480" cy="2470912"/>
            </a:xfrm>
            <a:custGeom>
              <a:avLst/>
              <a:gdLst/>
              <a:ahLst/>
              <a:cxnLst/>
              <a:rect r="r" b="b" t="t" l="l"/>
              <a:pathLst>
                <a:path h="2470912" w="5872480">
                  <a:moveTo>
                    <a:pt x="0" y="147574"/>
                  </a:moveTo>
                  <a:cubicBezTo>
                    <a:pt x="0" y="66040"/>
                    <a:pt x="66040" y="0"/>
                    <a:pt x="147574" y="0"/>
                  </a:cubicBezTo>
                  <a:lnTo>
                    <a:pt x="5724906" y="0"/>
                  </a:lnTo>
                  <a:cubicBezTo>
                    <a:pt x="5806313" y="0"/>
                    <a:pt x="5872480" y="66040"/>
                    <a:pt x="5872480" y="147574"/>
                  </a:cubicBezTo>
                  <a:lnTo>
                    <a:pt x="5872480" y="2323338"/>
                  </a:lnTo>
                  <a:cubicBezTo>
                    <a:pt x="5872480" y="2404745"/>
                    <a:pt x="5806440" y="2470912"/>
                    <a:pt x="5724906" y="2470912"/>
                  </a:cubicBezTo>
                  <a:lnTo>
                    <a:pt x="147574" y="2470912"/>
                  </a:lnTo>
                  <a:cubicBezTo>
                    <a:pt x="66040" y="2470912"/>
                    <a:pt x="0" y="2404872"/>
                    <a:pt x="0" y="2323338"/>
                  </a:cubicBezTo>
                  <a:close/>
                </a:path>
              </a:pathLst>
            </a:custGeom>
            <a:solidFill>
              <a:srgbClr val="0E1D30"/>
            </a:solidFill>
            <a:ln w="15240" cap="sq">
              <a:solidFill>
                <a:srgbClr val="1D3850"/>
              </a:solidFill>
              <a:prstDash val="solid"/>
              <a:miter/>
            </a:ln>
          </p:spPr>
        </p:sp>
      </p:grpSp>
      <p:grpSp>
        <p:nvGrpSpPr>
          <p:cNvPr name="Group 71" id="71"/>
          <p:cNvGrpSpPr/>
          <p:nvPr/>
        </p:nvGrpSpPr>
        <p:grpSpPr>
          <a:xfrm rot="0">
            <a:off x="11343132" y="5829300"/>
            <a:ext cx="3017520" cy="342900"/>
            <a:chOff x="0" y="0"/>
            <a:chExt cx="4023360" cy="457200"/>
          </a:xfrm>
        </p:grpSpPr>
        <p:sp>
          <p:nvSpPr>
            <p:cNvPr name="Freeform 72" id="72"/>
            <p:cNvSpPr/>
            <p:nvPr/>
          </p:nvSpPr>
          <p:spPr>
            <a:xfrm flipH="false" flipV="false" rot="0">
              <a:off x="0" y="0"/>
              <a:ext cx="4023360" cy="457200"/>
            </a:xfrm>
            <a:custGeom>
              <a:avLst/>
              <a:gdLst/>
              <a:ahLst/>
              <a:cxnLst/>
              <a:rect r="r" b="b" t="t" l="l"/>
              <a:pathLst>
                <a:path h="457200" w="4023360">
                  <a:moveTo>
                    <a:pt x="0" y="0"/>
                  </a:moveTo>
                  <a:lnTo>
                    <a:pt x="4023360" y="0"/>
                  </a:lnTo>
                  <a:lnTo>
                    <a:pt x="4023360" y="457200"/>
                  </a:lnTo>
                  <a:lnTo>
                    <a:pt x="0" y="457200"/>
                  </a:lnTo>
                  <a:close/>
                </a:path>
              </a:pathLst>
            </a:custGeom>
            <a:blipFill>
              <a:blip r:embed="rId3">
                <a:alphaModFix amt="0"/>
              </a:blip>
              <a:stretch>
                <a:fillRect l="0" t="-121468" r="0" b="-121468"/>
              </a:stretch>
            </a:blipFill>
          </p:spPr>
        </p:sp>
        <p:sp>
          <p:nvSpPr>
            <p:cNvPr name="TextBox 73" id="73"/>
            <p:cNvSpPr txBox="true"/>
            <p:nvPr/>
          </p:nvSpPr>
          <p:spPr>
            <a:xfrm>
              <a:off x="0" y="-9525"/>
              <a:ext cx="402336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EFFECT</a:t>
              </a:r>
            </a:p>
          </p:txBody>
        </p:sp>
      </p:grpSp>
      <p:grpSp>
        <p:nvGrpSpPr>
          <p:cNvPr name="Group 74" id="74"/>
          <p:cNvGrpSpPr/>
          <p:nvPr/>
        </p:nvGrpSpPr>
        <p:grpSpPr>
          <a:xfrm rot="0">
            <a:off x="10575036" y="6460236"/>
            <a:ext cx="3785616" cy="576072"/>
            <a:chOff x="0" y="0"/>
            <a:chExt cx="5047488" cy="768096"/>
          </a:xfrm>
        </p:grpSpPr>
        <p:sp>
          <p:nvSpPr>
            <p:cNvPr name="Freeform 75" id="75"/>
            <p:cNvSpPr/>
            <p:nvPr/>
          </p:nvSpPr>
          <p:spPr>
            <a:xfrm flipH="false" flipV="false" rot="0">
              <a:off x="0" y="0"/>
              <a:ext cx="5047488" cy="768096"/>
            </a:xfrm>
            <a:custGeom>
              <a:avLst/>
              <a:gdLst/>
              <a:ahLst/>
              <a:cxnLst/>
              <a:rect r="r" b="b" t="t" l="l"/>
              <a:pathLst>
                <a:path h="768096" w="5047488">
                  <a:moveTo>
                    <a:pt x="0" y="0"/>
                  </a:moveTo>
                  <a:lnTo>
                    <a:pt x="5047488" y="0"/>
                  </a:lnTo>
                  <a:lnTo>
                    <a:pt x="5047488" y="768096"/>
                  </a:lnTo>
                  <a:lnTo>
                    <a:pt x="0" y="768096"/>
                  </a:lnTo>
                  <a:close/>
                </a:path>
              </a:pathLst>
            </a:custGeom>
            <a:blipFill>
              <a:blip r:embed="rId3">
                <a:alphaModFix amt="0"/>
              </a:blip>
              <a:stretch>
                <a:fillRect l="0" t="-78044" r="0" b="-78044"/>
              </a:stretch>
            </a:blipFill>
          </p:spPr>
        </p:sp>
        <p:sp>
          <p:nvSpPr>
            <p:cNvPr name="TextBox 76" id="76"/>
            <p:cNvSpPr txBox="true"/>
            <p:nvPr/>
          </p:nvSpPr>
          <p:spPr>
            <a:xfrm>
              <a:off x="0" y="0"/>
              <a:ext cx="504748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Stable pulses</a:t>
              </a:r>
            </a:p>
          </p:txBody>
        </p:sp>
      </p:grpSp>
      <p:grpSp>
        <p:nvGrpSpPr>
          <p:cNvPr name="Group 77" id="77"/>
          <p:cNvGrpSpPr/>
          <p:nvPr/>
        </p:nvGrpSpPr>
        <p:grpSpPr>
          <a:xfrm rot="0">
            <a:off x="685800" y="9628632"/>
            <a:ext cx="16733520" cy="233172"/>
            <a:chOff x="0" y="0"/>
            <a:chExt cx="22311360" cy="310896"/>
          </a:xfrm>
        </p:grpSpPr>
        <p:sp>
          <p:nvSpPr>
            <p:cNvPr name="Freeform 78" id="78"/>
            <p:cNvSpPr/>
            <p:nvPr/>
          </p:nvSpPr>
          <p:spPr>
            <a:xfrm flipH="false" flipV="false" rot="0">
              <a:off x="0" y="0"/>
              <a:ext cx="22311361" cy="310896"/>
            </a:xfrm>
            <a:custGeom>
              <a:avLst/>
              <a:gdLst/>
              <a:ahLst/>
              <a:cxnLst/>
              <a:rect r="r" b="b" t="t" l="l"/>
              <a:pathLst>
                <a:path h="310896" w="22311361">
                  <a:moveTo>
                    <a:pt x="0" y="0"/>
                  </a:moveTo>
                  <a:lnTo>
                    <a:pt x="22311361" y="0"/>
                  </a:lnTo>
                  <a:lnTo>
                    <a:pt x="22311361" y="310896"/>
                  </a:lnTo>
                  <a:lnTo>
                    <a:pt x="0" y="310896"/>
                  </a:lnTo>
                  <a:close/>
                </a:path>
              </a:pathLst>
            </a:custGeom>
            <a:blipFill>
              <a:blip r:embed="rId3">
                <a:alphaModFix amt="0"/>
              </a:blip>
              <a:stretch>
                <a:fillRect l="0" t="-1348338" r="0" b="-1348338"/>
              </a:stretch>
            </a:blipFill>
          </p:spPr>
        </p:sp>
        <p:sp>
          <p:nvSpPr>
            <p:cNvPr name="TextBox 79" id="79"/>
            <p:cNvSpPr txBox="true"/>
            <p:nvPr/>
          </p:nvSpPr>
          <p:spPr>
            <a:xfrm>
              <a:off x="0" y="9525"/>
              <a:ext cx="22311360" cy="301371"/>
            </a:xfrm>
            <a:prstGeom prst="rect">
              <a:avLst/>
            </a:prstGeom>
          </p:spPr>
          <p:txBody>
            <a:bodyPr anchor="ctr" rtlCol="false" tIns="0" lIns="0" bIns="0" rIns="0"/>
            <a:lstStyle/>
            <a:p>
              <a:pPr algn="l">
                <a:lnSpc>
                  <a:spcPts val="1296"/>
                </a:lnSpc>
              </a:pPr>
              <a:r>
                <a:rPr lang="en-US" sz="1080">
                  <a:solidFill>
                    <a:srgbClr val="73869B"/>
                  </a:solidFill>
                  <a:latin typeface="Aptos"/>
                  <a:ea typeface="Aptos"/>
                  <a:cs typeface="Aptos"/>
                  <a:sym typeface="Aptos"/>
                </a:rPr>
                <a:t>GPIO 14 • 1-Wire • 3.3V • 4.7 kΩ pull-up</a:t>
              </a:r>
            </a:p>
          </p:txBody>
        </p:sp>
      </p:grpSp>
      <p:sp>
        <p:nvSpPr>
          <p:cNvPr name="TextBox 80" id="80"/>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76E2A1"/>
            </a:solidFill>
            <a:ln w="19050" cap="sq">
              <a:solidFill>
                <a:srgbClr val="76E2A1"/>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02</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2</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Simulated warehouse actuators</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The prototype simulates door events and emergency cooling.</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1112520" y="2948940"/>
            <a:ext cx="2849880" cy="3017520"/>
            <a:chOff x="0" y="0"/>
            <a:chExt cx="3799840" cy="4023360"/>
          </a:xfrm>
        </p:grpSpPr>
        <p:sp>
          <p:nvSpPr>
            <p:cNvPr name="Freeform 23" id="23" descr="/mnt/data/iot_media/image17.png"/>
            <p:cNvSpPr/>
            <p:nvPr/>
          </p:nvSpPr>
          <p:spPr>
            <a:xfrm flipH="false" flipV="false" rot="0">
              <a:off x="0" y="0"/>
              <a:ext cx="3799840" cy="4023360"/>
            </a:xfrm>
            <a:custGeom>
              <a:avLst/>
              <a:gdLst/>
              <a:ahLst/>
              <a:cxnLst/>
              <a:rect r="r" b="b" t="t" l="l"/>
              <a:pathLst>
                <a:path h="4023360" w="3799840">
                  <a:moveTo>
                    <a:pt x="0" y="0"/>
                  </a:moveTo>
                  <a:lnTo>
                    <a:pt x="3799840" y="0"/>
                  </a:lnTo>
                  <a:lnTo>
                    <a:pt x="3799840" y="4023360"/>
                  </a:lnTo>
                  <a:lnTo>
                    <a:pt x="0" y="4023360"/>
                  </a:lnTo>
                  <a:lnTo>
                    <a:pt x="0" y="0"/>
                  </a:lnTo>
                  <a:close/>
                </a:path>
              </a:pathLst>
            </a:custGeom>
            <a:blipFill>
              <a:blip r:embed="rId4"/>
              <a:stretch>
                <a:fillRect l="0" t="0" r="0" b="0"/>
              </a:stretch>
            </a:blipFill>
          </p:spPr>
        </p:sp>
      </p:grpSp>
      <p:grpSp>
        <p:nvGrpSpPr>
          <p:cNvPr name="Group 24" id="24"/>
          <p:cNvGrpSpPr/>
          <p:nvPr/>
        </p:nvGrpSpPr>
        <p:grpSpPr>
          <a:xfrm rot="0">
            <a:off x="4572848" y="2948940"/>
            <a:ext cx="2650074" cy="3017520"/>
            <a:chOff x="0" y="0"/>
            <a:chExt cx="3533432" cy="4023360"/>
          </a:xfrm>
        </p:grpSpPr>
        <p:sp>
          <p:nvSpPr>
            <p:cNvPr name="Freeform 25" id="25" descr="/mnt/data/iot_media/image20.png"/>
            <p:cNvSpPr/>
            <p:nvPr/>
          </p:nvSpPr>
          <p:spPr>
            <a:xfrm flipH="false" flipV="false" rot="0">
              <a:off x="0" y="0"/>
              <a:ext cx="3533394" cy="4023360"/>
            </a:xfrm>
            <a:custGeom>
              <a:avLst/>
              <a:gdLst/>
              <a:ahLst/>
              <a:cxnLst/>
              <a:rect r="r" b="b" t="t" l="l"/>
              <a:pathLst>
                <a:path h="4023360" w="3533394">
                  <a:moveTo>
                    <a:pt x="0" y="0"/>
                  </a:moveTo>
                  <a:lnTo>
                    <a:pt x="3533394" y="0"/>
                  </a:lnTo>
                  <a:lnTo>
                    <a:pt x="3533394" y="4023360"/>
                  </a:lnTo>
                  <a:lnTo>
                    <a:pt x="0" y="4023360"/>
                  </a:lnTo>
                  <a:lnTo>
                    <a:pt x="0" y="0"/>
                  </a:lnTo>
                  <a:close/>
                </a:path>
              </a:pathLst>
            </a:custGeom>
            <a:blipFill>
              <a:blip r:embed="rId5"/>
              <a:stretch>
                <a:fillRect l="0" t="0" r="-1" b="0"/>
              </a:stretch>
            </a:blipFill>
          </p:spPr>
        </p:sp>
      </p:grpSp>
      <p:grpSp>
        <p:nvGrpSpPr>
          <p:cNvPr name="Group 26" id="26"/>
          <p:cNvGrpSpPr/>
          <p:nvPr/>
        </p:nvGrpSpPr>
        <p:grpSpPr>
          <a:xfrm rot="0">
            <a:off x="7680960" y="2948940"/>
            <a:ext cx="3017520" cy="3017520"/>
            <a:chOff x="0" y="0"/>
            <a:chExt cx="4023360" cy="4023360"/>
          </a:xfrm>
        </p:grpSpPr>
        <p:sp>
          <p:nvSpPr>
            <p:cNvPr name="Freeform 27" id="27" descr="/mnt/data/iot_media/image19.png"/>
            <p:cNvSpPr/>
            <p:nvPr/>
          </p:nvSpPr>
          <p:spPr>
            <a:xfrm flipH="false" flipV="false" rot="0">
              <a:off x="0" y="0"/>
              <a:ext cx="4023360" cy="4023360"/>
            </a:xfrm>
            <a:custGeom>
              <a:avLst/>
              <a:gdLst/>
              <a:ahLst/>
              <a:cxnLst/>
              <a:rect r="r" b="b" t="t" l="l"/>
              <a:pathLst>
                <a:path h="4023360" w="4023360">
                  <a:moveTo>
                    <a:pt x="0" y="0"/>
                  </a:moveTo>
                  <a:lnTo>
                    <a:pt x="4023360" y="0"/>
                  </a:lnTo>
                  <a:lnTo>
                    <a:pt x="4023360" y="4023360"/>
                  </a:lnTo>
                  <a:lnTo>
                    <a:pt x="0" y="4023360"/>
                  </a:lnTo>
                  <a:lnTo>
                    <a:pt x="0" y="0"/>
                  </a:lnTo>
                  <a:close/>
                </a:path>
              </a:pathLst>
            </a:custGeom>
            <a:blipFill>
              <a:blip r:embed="rId6"/>
              <a:stretch>
                <a:fillRect l="0" t="0" r="0" b="0"/>
              </a:stretch>
            </a:blipFill>
          </p:spPr>
        </p:sp>
      </p:grpSp>
      <p:grpSp>
        <p:nvGrpSpPr>
          <p:cNvPr name="Group 28" id="28"/>
          <p:cNvGrpSpPr/>
          <p:nvPr/>
        </p:nvGrpSpPr>
        <p:grpSpPr>
          <a:xfrm rot="0">
            <a:off x="1062228" y="6137148"/>
            <a:ext cx="2923032" cy="426720"/>
            <a:chOff x="0" y="0"/>
            <a:chExt cx="3897376" cy="568960"/>
          </a:xfrm>
        </p:grpSpPr>
        <p:sp>
          <p:nvSpPr>
            <p:cNvPr name="Freeform 29" id="29"/>
            <p:cNvSpPr/>
            <p:nvPr/>
          </p:nvSpPr>
          <p:spPr>
            <a:xfrm flipH="false" flipV="false" rot="0">
              <a:off x="0" y="0"/>
              <a:ext cx="3897376" cy="568960"/>
            </a:xfrm>
            <a:custGeom>
              <a:avLst/>
              <a:gdLst/>
              <a:ahLst/>
              <a:cxnLst/>
              <a:rect r="r" b="b" t="t" l="l"/>
              <a:pathLst>
                <a:path h="568960" w="3897376">
                  <a:moveTo>
                    <a:pt x="0" y="113792"/>
                  </a:moveTo>
                  <a:cubicBezTo>
                    <a:pt x="0" y="50927"/>
                    <a:pt x="50927" y="0"/>
                    <a:pt x="113792" y="0"/>
                  </a:cubicBezTo>
                  <a:lnTo>
                    <a:pt x="3783584" y="0"/>
                  </a:lnTo>
                  <a:cubicBezTo>
                    <a:pt x="3846449" y="0"/>
                    <a:pt x="3897376" y="50927"/>
                    <a:pt x="3897376" y="113792"/>
                  </a:cubicBezTo>
                  <a:lnTo>
                    <a:pt x="3897376" y="455168"/>
                  </a:lnTo>
                  <a:cubicBezTo>
                    <a:pt x="3897376" y="518033"/>
                    <a:pt x="3846449" y="568960"/>
                    <a:pt x="3783584" y="568960"/>
                  </a:cubicBezTo>
                  <a:lnTo>
                    <a:pt x="113792" y="568960"/>
                  </a:lnTo>
                  <a:cubicBezTo>
                    <a:pt x="50927" y="568960"/>
                    <a:pt x="0" y="518033"/>
                    <a:pt x="0" y="455168"/>
                  </a:cubicBezTo>
                  <a:close/>
                </a:path>
              </a:pathLst>
            </a:custGeom>
            <a:solidFill>
              <a:srgbClr val="F6C85F">
                <a:alpha val="3137"/>
              </a:srgbClr>
            </a:solidFill>
            <a:ln w="15240" cap="sq">
              <a:solidFill>
                <a:srgbClr val="F6C85F"/>
              </a:solidFill>
              <a:prstDash val="solid"/>
              <a:miter/>
            </a:ln>
          </p:spPr>
        </p:sp>
      </p:grpSp>
      <p:grpSp>
        <p:nvGrpSpPr>
          <p:cNvPr name="Group 30" id="30"/>
          <p:cNvGrpSpPr/>
          <p:nvPr/>
        </p:nvGrpSpPr>
        <p:grpSpPr>
          <a:xfrm rot="0">
            <a:off x="1069848" y="6240780"/>
            <a:ext cx="2907792" cy="178308"/>
            <a:chOff x="0" y="0"/>
            <a:chExt cx="3877056" cy="237744"/>
          </a:xfrm>
        </p:grpSpPr>
        <p:sp>
          <p:nvSpPr>
            <p:cNvPr name="Freeform 31" id="31"/>
            <p:cNvSpPr/>
            <p:nvPr/>
          </p:nvSpPr>
          <p:spPr>
            <a:xfrm flipH="false" flipV="false" rot="0">
              <a:off x="0" y="0"/>
              <a:ext cx="3877056" cy="237744"/>
            </a:xfrm>
            <a:custGeom>
              <a:avLst/>
              <a:gdLst/>
              <a:ahLst/>
              <a:cxnLst/>
              <a:rect r="r" b="b" t="t" l="l"/>
              <a:pathLst>
                <a:path h="237744" w="3877056">
                  <a:moveTo>
                    <a:pt x="0" y="0"/>
                  </a:moveTo>
                  <a:lnTo>
                    <a:pt x="3877056" y="0"/>
                  </a:lnTo>
                  <a:lnTo>
                    <a:pt x="3877056" y="237744"/>
                  </a:lnTo>
                  <a:lnTo>
                    <a:pt x="0" y="237744"/>
                  </a:lnTo>
                  <a:close/>
                </a:path>
              </a:pathLst>
            </a:custGeom>
            <a:blipFill>
              <a:blip r:embed="rId3">
                <a:alphaModFix amt="0"/>
              </a:blip>
              <a:stretch>
                <a:fillRect l="0" t="-267756" r="0" b="-267756"/>
              </a:stretch>
            </a:blipFill>
          </p:spPr>
        </p:sp>
        <p:sp>
          <p:nvSpPr>
            <p:cNvPr name="TextBox 32" id="32"/>
            <p:cNvSpPr txBox="true"/>
            <p:nvPr/>
          </p:nvSpPr>
          <p:spPr>
            <a:xfrm>
              <a:off x="0" y="0"/>
              <a:ext cx="3877056" cy="237744"/>
            </a:xfrm>
            <a:prstGeom prst="rect">
              <a:avLst/>
            </a:prstGeom>
          </p:spPr>
          <p:txBody>
            <a:bodyPr anchor="ctr" rtlCol="false" tIns="0" lIns="0" bIns="0" rIns="0"/>
            <a:lstStyle/>
            <a:p>
              <a:pPr algn="ctr">
                <a:lnSpc>
                  <a:spcPts val="1439"/>
                </a:lnSpc>
              </a:pPr>
              <a:r>
                <a:rPr lang="en-US" sz="1200" b="true">
                  <a:solidFill>
                    <a:srgbClr val="F6C85F"/>
                  </a:solidFill>
                  <a:latin typeface="Aptos Bold"/>
                  <a:ea typeface="Aptos Bold"/>
                  <a:cs typeface="Aptos Bold"/>
                  <a:sym typeface="Aptos Bold"/>
                </a:rPr>
                <a:t>28BYJ-48 + ULN2003</a:t>
              </a:r>
            </a:p>
          </p:txBody>
        </p:sp>
      </p:grpSp>
      <p:grpSp>
        <p:nvGrpSpPr>
          <p:cNvPr name="Group 33" id="33"/>
          <p:cNvGrpSpPr/>
          <p:nvPr/>
        </p:nvGrpSpPr>
        <p:grpSpPr>
          <a:xfrm rot="0">
            <a:off x="4587240" y="6137148"/>
            <a:ext cx="2593848" cy="426720"/>
            <a:chOff x="0" y="0"/>
            <a:chExt cx="3458464" cy="568960"/>
          </a:xfrm>
        </p:grpSpPr>
        <p:sp>
          <p:nvSpPr>
            <p:cNvPr name="Freeform 34" id="34"/>
            <p:cNvSpPr/>
            <p:nvPr/>
          </p:nvSpPr>
          <p:spPr>
            <a:xfrm flipH="false" flipV="false" rot="0">
              <a:off x="0" y="0"/>
              <a:ext cx="3458464" cy="568960"/>
            </a:xfrm>
            <a:custGeom>
              <a:avLst/>
              <a:gdLst/>
              <a:ahLst/>
              <a:cxnLst/>
              <a:rect r="r" b="b" t="t" l="l"/>
              <a:pathLst>
                <a:path h="568960" w="3458464">
                  <a:moveTo>
                    <a:pt x="0" y="113792"/>
                  </a:moveTo>
                  <a:cubicBezTo>
                    <a:pt x="0" y="50927"/>
                    <a:pt x="50927" y="0"/>
                    <a:pt x="113792" y="0"/>
                  </a:cubicBezTo>
                  <a:lnTo>
                    <a:pt x="3344672" y="0"/>
                  </a:lnTo>
                  <a:cubicBezTo>
                    <a:pt x="3407537" y="0"/>
                    <a:pt x="3458464" y="50927"/>
                    <a:pt x="3458464" y="113792"/>
                  </a:cubicBezTo>
                  <a:lnTo>
                    <a:pt x="3458464" y="455168"/>
                  </a:lnTo>
                  <a:cubicBezTo>
                    <a:pt x="3458464" y="518033"/>
                    <a:pt x="3407537" y="568960"/>
                    <a:pt x="3344672" y="568960"/>
                  </a:cubicBezTo>
                  <a:lnTo>
                    <a:pt x="113792" y="568960"/>
                  </a:lnTo>
                  <a:cubicBezTo>
                    <a:pt x="50927" y="568960"/>
                    <a:pt x="0" y="518033"/>
                    <a:pt x="0" y="455168"/>
                  </a:cubicBezTo>
                  <a:close/>
                </a:path>
              </a:pathLst>
            </a:custGeom>
            <a:solidFill>
              <a:srgbClr val="68A8FF">
                <a:alpha val="3137"/>
              </a:srgbClr>
            </a:solidFill>
            <a:ln w="15240" cap="sq">
              <a:solidFill>
                <a:srgbClr val="68A8FF"/>
              </a:solidFill>
              <a:prstDash val="solid"/>
              <a:miter/>
            </a:ln>
          </p:spPr>
        </p:sp>
      </p:grpSp>
      <p:grpSp>
        <p:nvGrpSpPr>
          <p:cNvPr name="Group 35" id="35"/>
          <p:cNvGrpSpPr/>
          <p:nvPr/>
        </p:nvGrpSpPr>
        <p:grpSpPr>
          <a:xfrm rot="0">
            <a:off x="4594860" y="6240780"/>
            <a:ext cx="2578608" cy="178308"/>
            <a:chOff x="0" y="0"/>
            <a:chExt cx="3438144" cy="237744"/>
          </a:xfrm>
        </p:grpSpPr>
        <p:sp>
          <p:nvSpPr>
            <p:cNvPr name="Freeform 36" id="36"/>
            <p:cNvSpPr/>
            <p:nvPr/>
          </p:nvSpPr>
          <p:spPr>
            <a:xfrm flipH="false" flipV="false" rot="0">
              <a:off x="0" y="0"/>
              <a:ext cx="3438144" cy="237744"/>
            </a:xfrm>
            <a:custGeom>
              <a:avLst/>
              <a:gdLst/>
              <a:ahLst/>
              <a:cxnLst/>
              <a:rect r="r" b="b" t="t" l="l"/>
              <a:pathLst>
                <a:path h="237744" w="3438144">
                  <a:moveTo>
                    <a:pt x="0" y="0"/>
                  </a:moveTo>
                  <a:lnTo>
                    <a:pt x="3438144" y="0"/>
                  </a:lnTo>
                  <a:lnTo>
                    <a:pt x="3438144" y="237744"/>
                  </a:lnTo>
                  <a:lnTo>
                    <a:pt x="0" y="237744"/>
                  </a:lnTo>
                  <a:close/>
                </a:path>
              </a:pathLst>
            </a:custGeom>
            <a:blipFill>
              <a:blip r:embed="rId3">
                <a:alphaModFix amt="0"/>
              </a:blip>
              <a:stretch>
                <a:fillRect l="0" t="-231783" r="0" b="-231783"/>
              </a:stretch>
            </a:blipFill>
          </p:spPr>
        </p:sp>
        <p:sp>
          <p:nvSpPr>
            <p:cNvPr name="TextBox 37" id="37"/>
            <p:cNvSpPr txBox="true"/>
            <p:nvPr/>
          </p:nvSpPr>
          <p:spPr>
            <a:xfrm>
              <a:off x="0" y="0"/>
              <a:ext cx="3438144" cy="237744"/>
            </a:xfrm>
            <a:prstGeom prst="rect">
              <a:avLst/>
            </a:prstGeom>
          </p:spPr>
          <p:txBody>
            <a:bodyPr anchor="ctr" rtlCol="false" tIns="0" lIns="0" bIns="0" rIns="0"/>
            <a:lstStyle/>
            <a:p>
              <a:pPr algn="ctr">
                <a:lnSpc>
                  <a:spcPts val="1439"/>
                </a:lnSpc>
              </a:pPr>
              <a:r>
                <a:rPr lang="en-US" sz="1200" b="true">
                  <a:solidFill>
                    <a:srgbClr val="68A8FF"/>
                  </a:solidFill>
                  <a:latin typeface="Aptos Bold"/>
                  <a:ea typeface="Aptos Bold"/>
                  <a:cs typeface="Aptos Bold"/>
                  <a:sym typeface="Aptos Bold"/>
                </a:rPr>
                <a:t>1-CH RELAY</a:t>
              </a:r>
            </a:p>
          </p:txBody>
        </p:sp>
      </p:grpSp>
      <p:grpSp>
        <p:nvGrpSpPr>
          <p:cNvPr name="Group 38" id="38"/>
          <p:cNvGrpSpPr/>
          <p:nvPr/>
        </p:nvGrpSpPr>
        <p:grpSpPr>
          <a:xfrm rot="0">
            <a:off x="8153400" y="6137148"/>
            <a:ext cx="1770888" cy="426720"/>
            <a:chOff x="0" y="0"/>
            <a:chExt cx="2361184" cy="568960"/>
          </a:xfrm>
        </p:grpSpPr>
        <p:sp>
          <p:nvSpPr>
            <p:cNvPr name="Freeform 39" id="39"/>
            <p:cNvSpPr/>
            <p:nvPr/>
          </p:nvSpPr>
          <p:spPr>
            <a:xfrm flipH="false" flipV="false" rot="0">
              <a:off x="0" y="0"/>
              <a:ext cx="2361184" cy="568960"/>
            </a:xfrm>
            <a:custGeom>
              <a:avLst/>
              <a:gdLst/>
              <a:ahLst/>
              <a:cxnLst/>
              <a:rect r="r" b="b" t="t" l="l"/>
              <a:pathLst>
                <a:path h="568960" w="2361184">
                  <a:moveTo>
                    <a:pt x="0" y="113792"/>
                  </a:moveTo>
                  <a:cubicBezTo>
                    <a:pt x="0" y="50927"/>
                    <a:pt x="50927" y="0"/>
                    <a:pt x="113792" y="0"/>
                  </a:cubicBezTo>
                  <a:lnTo>
                    <a:pt x="2247392" y="0"/>
                  </a:lnTo>
                  <a:cubicBezTo>
                    <a:pt x="2310257" y="0"/>
                    <a:pt x="2361184" y="50927"/>
                    <a:pt x="2361184" y="113792"/>
                  </a:cubicBezTo>
                  <a:lnTo>
                    <a:pt x="2361184" y="455168"/>
                  </a:lnTo>
                  <a:cubicBezTo>
                    <a:pt x="2361184" y="518033"/>
                    <a:pt x="2310257" y="568960"/>
                    <a:pt x="2247392" y="568960"/>
                  </a:cubicBezTo>
                  <a:lnTo>
                    <a:pt x="113792" y="568960"/>
                  </a:lnTo>
                  <a:cubicBezTo>
                    <a:pt x="50927" y="568960"/>
                    <a:pt x="0" y="518033"/>
                    <a:pt x="0" y="455168"/>
                  </a:cubicBezTo>
                  <a:close/>
                </a:path>
              </a:pathLst>
            </a:custGeom>
            <a:solidFill>
              <a:srgbClr val="76E2A1">
                <a:alpha val="3137"/>
              </a:srgbClr>
            </a:solidFill>
            <a:ln w="15240" cap="sq">
              <a:solidFill>
                <a:srgbClr val="76E2A1"/>
              </a:solidFill>
              <a:prstDash val="solid"/>
              <a:miter/>
            </a:ln>
          </p:spPr>
        </p:sp>
      </p:grpSp>
      <p:grpSp>
        <p:nvGrpSpPr>
          <p:cNvPr name="Group 40" id="40"/>
          <p:cNvGrpSpPr/>
          <p:nvPr/>
        </p:nvGrpSpPr>
        <p:grpSpPr>
          <a:xfrm rot="0">
            <a:off x="8161020" y="6240780"/>
            <a:ext cx="1755648" cy="178308"/>
            <a:chOff x="0" y="0"/>
            <a:chExt cx="2340864" cy="237744"/>
          </a:xfrm>
        </p:grpSpPr>
        <p:sp>
          <p:nvSpPr>
            <p:cNvPr name="Freeform 41" id="41"/>
            <p:cNvSpPr/>
            <p:nvPr/>
          </p:nvSpPr>
          <p:spPr>
            <a:xfrm flipH="false" flipV="false" rot="0">
              <a:off x="0" y="0"/>
              <a:ext cx="2340864" cy="237744"/>
            </a:xfrm>
            <a:custGeom>
              <a:avLst/>
              <a:gdLst/>
              <a:ahLst/>
              <a:cxnLst/>
              <a:rect r="r" b="b" t="t" l="l"/>
              <a:pathLst>
                <a:path h="237744" w="2340864">
                  <a:moveTo>
                    <a:pt x="0" y="0"/>
                  </a:moveTo>
                  <a:lnTo>
                    <a:pt x="2340864" y="0"/>
                  </a:lnTo>
                  <a:lnTo>
                    <a:pt x="2340864" y="237744"/>
                  </a:lnTo>
                  <a:lnTo>
                    <a:pt x="0" y="237744"/>
                  </a:lnTo>
                  <a:close/>
                </a:path>
              </a:pathLst>
            </a:custGeom>
            <a:blipFill>
              <a:blip r:embed="rId3">
                <a:alphaModFix amt="0"/>
              </a:blip>
              <a:stretch>
                <a:fillRect l="0" t="-141852" r="0" b="-141852"/>
              </a:stretch>
            </a:blipFill>
          </p:spPr>
        </p:sp>
        <p:sp>
          <p:nvSpPr>
            <p:cNvPr name="TextBox 42" id="42"/>
            <p:cNvSpPr txBox="true"/>
            <p:nvPr/>
          </p:nvSpPr>
          <p:spPr>
            <a:xfrm>
              <a:off x="0" y="0"/>
              <a:ext cx="2340864" cy="237744"/>
            </a:xfrm>
            <a:prstGeom prst="rect">
              <a:avLst/>
            </a:prstGeom>
          </p:spPr>
          <p:txBody>
            <a:bodyPr anchor="ctr" rtlCol="false" tIns="0" lIns="0" bIns="0" rIns="0"/>
            <a:lstStyle/>
            <a:p>
              <a:pPr algn="ctr">
                <a:lnSpc>
                  <a:spcPts val="1439"/>
                </a:lnSpc>
              </a:pPr>
              <a:r>
                <a:rPr lang="en-US" sz="1200" b="true">
                  <a:solidFill>
                    <a:srgbClr val="76E2A1"/>
                  </a:solidFill>
                  <a:latin typeface="Aptos Bold"/>
                  <a:ea typeface="Aptos Bold"/>
                  <a:cs typeface="Aptos Bold"/>
                  <a:sym typeface="Aptos Bold"/>
                </a:rPr>
                <a:t>5V FAN</a:t>
              </a:r>
            </a:p>
          </p:txBody>
        </p:sp>
      </p:grpSp>
      <p:grpSp>
        <p:nvGrpSpPr>
          <p:cNvPr name="Group 43" id="43"/>
          <p:cNvGrpSpPr/>
          <p:nvPr/>
        </p:nvGrpSpPr>
        <p:grpSpPr>
          <a:xfrm rot="0">
            <a:off x="11170920" y="2941320"/>
            <a:ext cx="5707380" cy="1839468"/>
            <a:chOff x="0" y="0"/>
            <a:chExt cx="7609840" cy="2452624"/>
          </a:xfrm>
        </p:grpSpPr>
        <p:sp>
          <p:nvSpPr>
            <p:cNvPr name="Freeform 44" id="44"/>
            <p:cNvSpPr/>
            <p:nvPr/>
          </p:nvSpPr>
          <p:spPr>
            <a:xfrm flipH="false" flipV="false" rot="0">
              <a:off x="0" y="0"/>
              <a:ext cx="7609840" cy="2452624"/>
            </a:xfrm>
            <a:custGeom>
              <a:avLst/>
              <a:gdLst/>
              <a:ahLst/>
              <a:cxnLst/>
              <a:rect r="r" b="b" t="t" l="l"/>
              <a:pathLst>
                <a:path h="2452624" w="7609840">
                  <a:moveTo>
                    <a:pt x="0" y="147574"/>
                  </a:moveTo>
                  <a:cubicBezTo>
                    <a:pt x="0" y="66040"/>
                    <a:pt x="66040" y="0"/>
                    <a:pt x="147574" y="0"/>
                  </a:cubicBezTo>
                  <a:lnTo>
                    <a:pt x="7462266" y="0"/>
                  </a:lnTo>
                  <a:cubicBezTo>
                    <a:pt x="7543800" y="0"/>
                    <a:pt x="7609840" y="66040"/>
                    <a:pt x="7609840" y="147574"/>
                  </a:cubicBezTo>
                  <a:lnTo>
                    <a:pt x="7609840" y="2305050"/>
                  </a:lnTo>
                  <a:cubicBezTo>
                    <a:pt x="7609840" y="2386584"/>
                    <a:pt x="7543800" y="2452624"/>
                    <a:pt x="7462266" y="2452624"/>
                  </a:cubicBezTo>
                  <a:lnTo>
                    <a:pt x="147574" y="2452624"/>
                  </a:lnTo>
                  <a:cubicBezTo>
                    <a:pt x="66040" y="2452624"/>
                    <a:pt x="0" y="2386584"/>
                    <a:pt x="0" y="2305050"/>
                  </a:cubicBezTo>
                  <a:close/>
                </a:path>
              </a:pathLst>
            </a:custGeom>
            <a:solidFill>
              <a:srgbClr val="0E1D30"/>
            </a:solidFill>
            <a:ln w="15240" cap="sq">
              <a:solidFill>
                <a:srgbClr val="1D3850"/>
              </a:solidFill>
              <a:prstDash val="solid"/>
              <a:miter/>
            </a:ln>
          </p:spPr>
        </p:sp>
      </p:grpSp>
      <p:grpSp>
        <p:nvGrpSpPr>
          <p:cNvPr name="Group 45" id="45"/>
          <p:cNvGrpSpPr/>
          <p:nvPr/>
        </p:nvGrpSpPr>
        <p:grpSpPr>
          <a:xfrm rot="0">
            <a:off x="12248388" y="3223260"/>
            <a:ext cx="4320540" cy="342900"/>
            <a:chOff x="0" y="0"/>
            <a:chExt cx="5760720" cy="457200"/>
          </a:xfrm>
        </p:grpSpPr>
        <p:sp>
          <p:nvSpPr>
            <p:cNvPr name="Freeform 46" id="46"/>
            <p:cNvSpPr/>
            <p:nvPr/>
          </p:nvSpPr>
          <p:spPr>
            <a:xfrm flipH="false" flipV="false" rot="0">
              <a:off x="0" y="0"/>
              <a:ext cx="5760720" cy="457200"/>
            </a:xfrm>
            <a:custGeom>
              <a:avLst/>
              <a:gdLst/>
              <a:ahLst/>
              <a:cxnLst/>
              <a:rect r="r" b="b" t="t" l="l"/>
              <a:pathLst>
                <a:path h="457200" w="5760720">
                  <a:moveTo>
                    <a:pt x="0" y="0"/>
                  </a:moveTo>
                  <a:lnTo>
                    <a:pt x="5760720" y="0"/>
                  </a:lnTo>
                  <a:lnTo>
                    <a:pt x="5760720" y="457200"/>
                  </a:lnTo>
                  <a:lnTo>
                    <a:pt x="0" y="457200"/>
                  </a:lnTo>
                  <a:close/>
                </a:path>
              </a:pathLst>
            </a:custGeom>
            <a:blipFill>
              <a:blip r:embed="rId3">
                <a:alphaModFix amt="0"/>
              </a:blip>
              <a:stretch>
                <a:fillRect l="0" t="-195511" r="0" b="-195511"/>
              </a:stretch>
            </a:blipFill>
          </p:spPr>
        </p:sp>
        <p:sp>
          <p:nvSpPr>
            <p:cNvPr name="TextBox 47" id="47"/>
            <p:cNvSpPr txBox="true"/>
            <p:nvPr/>
          </p:nvSpPr>
          <p:spPr>
            <a:xfrm>
              <a:off x="0" y="-9525"/>
              <a:ext cx="576072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DOOR SIMULATION</a:t>
              </a:r>
            </a:p>
          </p:txBody>
        </p:sp>
      </p:grpSp>
      <p:grpSp>
        <p:nvGrpSpPr>
          <p:cNvPr name="Group 48" id="48"/>
          <p:cNvGrpSpPr/>
          <p:nvPr/>
        </p:nvGrpSpPr>
        <p:grpSpPr>
          <a:xfrm rot="0">
            <a:off x="11480292" y="3854196"/>
            <a:ext cx="5088636" cy="576072"/>
            <a:chOff x="0" y="0"/>
            <a:chExt cx="6784848" cy="768096"/>
          </a:xfrm>
        </p:grpSpPr>
        <p:sp>
          <p:nvSpPr>
            <p:cNvPr name="Freeform 49" id="49"/>
            <p:cNvSpPr/>
            <p:nvPr/>
          </p:nvSpPr>
          <p:spPr>
            <a:xfrm flipH="false" flipV="false" rot="0">
              <a:off x="0" y="0"/>
              <a:ext cx="6784848" cy="768096"/>
            </a:xfrm>
            <a:custGeom>
              <a:avLst/>
              <a:gdLst/>
              <a:ahLst/>
              <a:cxnLst/>
              <a:rect r="r" b="b" t="t" l="l"/>
              <a:pathLst>
                <a:path h="768096" w="6784848">
                  <a:moveTo>
                    <a:pt x="0" y="0"/>
                  </a:moveTo>
                  <a:lnTo>
                    <a:pt x="6784848" y="0"/>
                  </a:lnTo>
                  <a:lnTo>
                    <a:pt x="6784848" y="768096"/>
                  </a:lnTo>
                  <a:lnTo>
                    <a:pt x="0" y="768096"/>
                  </a:lnTo>
                  <a:close/>
                </a:path>
              </a:pathLst>
            </a:custGeom>
            <a:blipFill>
              <a:blip r:embed="rId3">
                <a:alphaModFix amt="0"/>
              </a:blip>
              <a:stretch>
                <a:fillRect l="0" t="-122117" r="0" b="-122117"/>
              </a:stretch>
            </a:blipFill>
          </p:spPr>
        </p:sp>
        <p:sp>
          <p:nvSpPr>
            <p:cNvPr name="TextBox 50" id="50"/>
            <p:cNvSpPr txBox="true"/>
            <p:nvPr/>
          </p:nvSpPr>
          <p:spPr>
            <a:xfrm>
              <a:off x="0" y="0"/>
              <a:ext cx="678484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512 steps</a:t>
              </a:r>
            </a:p>
          </p:txBody>
        </p:sp>
      </p:grpSp>
      <p:grpSp>
        <p:nvGrpSpPr>
          <p:cNvPr name="Group 51" id="51"/>
          <p:cNvGrpSpPr/>
          <p:nvPr/>
        </p:nvGrpSpPr>
        <p:grpSpPr>
          <a:xfrm rot="0">
            <a:off x="11170920" y="5067300"/>
            <a:ext cx="5707380" cy="1839468"/>
            <a:chOff x="0" y="0"/>
            <a:chExt cx="7609840" cy="2452624"/>
          </a:xfrm>
        </p:grpSpPr>
        <p:sp>
          <p:nvSpPr>
            <p:cNvPr name="Freeform 52" id="52"/>
            <p:cNvSpPr/>
            <p:nvPr/>
          </p:nvSpPr>
          <p:spPr>
            <a:xfrm flipH="false" flipV="false" rot="0">
              <a:off x="0" y="0"/>
              <a:ext cx="7609840" cy="2452624"/>
            </a:xfrm>
            <a:custGeom>
              <a:avLst/>
              <a:gdLst/>
              <a:ahLst/>
              <a:cxnLst/>
              <a:rect r="r" b="b" t="t" l="l"/>
              <a:pathLst>
                <a:path h="2452624" w="7609840">
                  <a:moveTo>
                    <a:pt x="0" y="147574"/>
                  </a:moveTo>
                  <a:cubicBezTo>
                    <a:pt x="0" y="66040"/>
                    <a:pt x="66040" y="0"/>
                    <a:pt x="147574" y="0"/>
                  </a:cubicBezTo>
                  <a:lnTo>
                    <a:pt x="7462266" y="0"/>
                  </a:lnTo>
                  <a:cubicBezTo>
                    <a:pt x="7543800" y="0"/>
                    <a:pt x="7609840" y="66040"/>
                    <a:pt x="7609840" y="147574"/>
                  </a:cubicBezTo>
                  <a:lnTo>
                    <a:pt x="7609840" y="2305050"/>
                  </a:lnTo>
                  <a:cubicBezTo>
                    <a:pt x="7609840" y="2386584"/>
                    <a:pt x="7543800" y="2452624"/>
                    <a:pt x="7462266" y="2452624"/>
                  </a:cubicBezTo>
                  <a:lnTo>
                    <a:pt x="147574" y="2452624"/>
                  </a:lnTo>
                  <a:cubicBezTo>
                    <a:pt x="66040" y="2452624"/>
                    <a:pt x="0" y="2386584"/>
                    <a:pt x="0" y="2305050"/>
                  </a:cubicBezTo>
                  <a:close/>
                </a:path>
              </a:pathLst>
            </a:custGeom>
            <a:solidFill>
              <a:srgbClr val="0E1D30"/>
            </a:solidFill>
            <a:ln w="15240" cap="sq">
              <a:solidFill>
                <a:srgbClr val="1D3850"/>
              </a:solidFill>
              <a:prstDash val="solid"/>
              <a:miter/>
            </a:ln>
          </p:spPr>
        </p:sp>
      </p:grpSp>
      <p:grpSp>
        <p:nvGrpSpPr>
          <p:cNvPr name="Group 53" id="53"/>
          <p:cNvGrpSpPr/>
          <p:nvPr/>
        </p:nvGrpSpPr>
        <p:grpSpPr>
          <a:xfrm rot="0">
            <a:off x="12248388" y="5349240"/>
            <a:ext cx="4320540" cy="342900"/>
            <a:chOff x="0" y="0"/>
            <a:chExt cx="5760720" cy="457200"/>
          </a:xfrm>
        </p:grpSpPr>
        <p:sp>
          <p:nvSpPr>
            <p:cNvPr name="Freeform 54" id="54"/>
            <p:cNvSpPr/>
            <p:nvPr/>
          </p:nvSpPr>
          <p:spPr>
            <a:xfrm flipH="false" flipV="false" rot="0">
              <a:off x="0" y="0"/>
              <a:ext cx="5760720" cy="457200"/>
            </a:xfrm>
            <a:custGeom>
              <a:avLst/>
              <a:gdLst/>
              <a:ahLst/>
              <a:cxnLst/>
              <a:rect r="r" b="b" t="t" l="l"/>
              <a:pathLst>
                <a:path h="457200" w="5760720">
                  <a:moveTo>
                    <a:pt x="0" y="0"/>
                  </a:moveTo>
                  <a:lnTo>
                    <a:pt x="5760720" y="0"/>
                  </a:lnTo>
                  <a:lnTo>
                    <a:pt x="5760720" y="457200"/>
                  </a:lnTo>
                  <a:lnTo>
                    <a:pt x="0" y="457200"/>
                  </a:lnTo>
                  <a:close/>
                </a:path>
              </a:pathLst>
            </a:custGeom>
            <a:blipFill>
              <a:blip r:embed="rId3">
                <a:alphaModFix amt="0"/>
              </a:blip>
              <a:stretch>
                <a:fillRect l="0" t="-195511" r="0" b="-195511"/>
              </a:stretch>
            </a:blipFill>
          </p:spPr>
        </p:sp>
        <p:sp>
          <p:nvSpPr>
            <p:cNvPr name="TextBox 55" id="55"/>
            <p:cNvSpPr txBox="true"/>
            <p:nvPr/>
          </p:nvSpPr>
          <p:spPr>
            <a:xfrm>
              <a:off x="0" y="-9525"/>
              <a:ext cx="576072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POWER BUFFER</a:t>
              </a:r>
            </a:p>
          </p:txBody>
        </p:sp>
      </p:grpSp>
      <p:grpSp>
        <p:nvGrpSpPr>
          <p:cNvPr name="Group 56" id="56"/>
          <p:cNvGrpSpPr/>
          <p:nvPr/>
        </p:nvGrpSpPr>
        <p:grpSpPr>
          <a:xfrm rot="0">
            <a:off x="11480292" y="5980176"/>
            <a:ext cx="5088636" cy="576072"/>
            <a:chOff x="0" y="0"/>
            <a:chExt cx="6784848" cy="768096"/>
          </a:xfrm>
        </p:grpSpPr>
        <p:sp>
          <p:nvSpPr>
            <p:cNvPr name="Freeform 57" id="57"/>
            <p:cNvSpPr/>
            <p:nvPr/>
          </p:nvSpPr>
          <p:spPr>
            <a:xfrm flipH="false" flipV="false" rot="0">
              <a:off x="0" y="0"/>
              <a:ext cx="6784848" cy="768096"/>
            </a:xfrm>
            <a:custGeom>
              <a:avLst/>
              <a:gdLst/>
              <a:ahLst/>
              <a:cxnLst/>
              <a:rect r="r" b="b" t="t" l="l"/>
              <a:pathLst>
                <a:path h="768096" w="6784848">
                  <a:moveTo>
                    <a:pt x="0" y="0"/>
                  </a:moveTo>
                  <a:lnTo>
                    <a:pt x="6784848" y="0"/>
                  </a:lnTo>
                  <a:lnTo>
                    <a:pt x="6784848" y="768096"/>
                  </a:lnTo>
                  <a:lnTo>
                    <a:pt x="0" y="768096"/>
                  </a:lnTo>
                  <a:close/>
                </a:path>
              </a:pathLst>
            </a:custGeom>
            <a:blipFill>
              <a:blip r:embed="rId3">
                <a:alphaModFix amt="0"/>
              </a:blip>
              <a:stretch>
                <a:fillRect l="0" t="-122117" r="0" b="-122117"/>
              </a:stretch>
            </a:blipFill>
          </p:spPr>
        </p:sp>
        <p:sp>
          <p:nvSpPr>
            <p:cNvPr name="TextBox 58" id="58"/>
            <p:cNvSpPr txBox="true"/>
            <p:nvPr/>
          </p:nvSpPr>
          <p:spPr>
            <a:xfrm>
              <a:off x="0" y="0"/>
              <a:ext cx="678484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ULN2003</a:t>
              </a:r>
            </a:p>
          </p:txBody>
        </p:sp>
      </p:grpSp>
      <p:grpSp>
        <p:nvGrpSpPr>
          <p:cNvPr name="Group 59" id="59"/>
          <p:cNvGrpSpPr/>
          <p:nvPr/>
        </p:nvGrpSpPr>
        <p:grpSpPr>
          <a:xfrm rot="0">
            <a:off x="11170920" y="7193280"/>
            <a:ext cx="5707380" cy="1592580"/>
            <a:chOff x="0" y="0"/>
            <a:chExt cx="7609840" cy="2123440"/>
          </a:xfrm>
        </p:grpSpPr>
        <p:sp>
          <p:nvSpPr>
            <p:cNvPr name="Freeform 60" id="60"/>
            <p:cNvSpPr/>
            <p:nvPr/>
          </p:nvSpPr>
          <p:spPr>
            <a:xfrm flipH="false" flipV="false" rot="0">
              <a:off x="0" y="0"/>
              <a:ext cx="7609840" cy="2123440"/>
            </a:xfrm>
            <a:custGeom>
              <a:avLst/>
              <a:gdLst/>
              <a:ahLst/>
              <a:cxnLst/>
              <a:rect r="r" b="b" t="t" l="l"/>
              <a:pathLst>
                <a:path h="2123440" w="7609840">
                  <a:moveTo>
                    <a:pt x="0" y="147701"/>
                  </a:moveTo>
                  <a:cubicBezTo>
                    <a:pt x="0" y="66167"/>
                    <a:pt x="66167" y="0"/>
                    <a:pt x="147701" y="0"/>
                  </a:cubicBezTo>
                  <a:lnTo>
                    <a:pt x="7462139" y="0"/>
                  </a:lnTo>
                  <a:cubicBezTo>
                    <a:pt x="7543673" y="0"/>
                    <a:pt x="7609840" y="66167"/>
                    <a:pt x="7609840" y="147701"/>
                  </a:cubicBezTo>
                  <a:lnTo>
                    <a:pt x="7609840" y="1975739"/>
                  </a:lnTo>
                  <a:cubicBezTo>
                    <a:pt x="7609840" y="2057273"/>
                    <a:pt x="7543673" y="2123440"/>
                    <a:pt x="7462139" y="2123440"/>
                  </a:cubicBezTo>
                  <a:lnTo>
                    <a:pt x="147701" y="2123440"/>
                  </a:lnTo>
                  <a:cubicBezTo>
                    <a:pt x="66167" y="2123440"/>
                    <a:pt x="0" y="2057273"/>
                    <a:pt x="0" y="1975739"/>
                  </a:cubicBezTo>
                  <a:close/>
                </a:path>
              </a:pathLst>
            </a:custGeom>
            <a:solidFill>
              <a:srgbClr val="0E1D30"/>
            </a:solidFill>
            <a:ln w="15240" cap="sq">
              <a:solidFill>
                <a:srgbClr val="1D3850"/>
              </a:solidFill>
              <a:prstDash val="solid"/>
              <a:miter/>
            </a:ln>
          </p:spPr>
        </p:sp>
      </p:grpSp>
      <p:grpSp>
        <p:nvGrpSpPr>
          <p:cNvPr name="Group 61" id="61"/>
          <p:cNvGrpSpPr/>
          <p:nvPr/>
        </p:nvGrpSpPr>
        <p:grpSpPr>
          <a:xfrm rot="0">
            <a:off x="12248388" y="7475220"/>
            <a:ext cx="4320540" cy="342900"/>
            <a:chOff x="0" y="0"/>
            <a:chExt cx="5760720" cy="457200"/>
          </a:xfrm>
        </p:grpSpPr>
        <p:sp>
          <p:nvSpPr>
            <p:cNvPr name="Freeform 62" id="62"/>
            <p:cNvSpPr/>
            <p:nvPr/>
          </p:nvSpPr>
          <p:spPr>
            <a:xfrm flipH="false" flipV="false" rot="0">
              <a:off x="0" y="0"/>
              <a:ext cx="5760720" cy="457200"/>
            </a:xfrm>
            <a:custGeom>
              <a:avLst/>
              <a:gdLst/>
              <a:ahLst/>
              <a:cxnLst/>
              <a:rect r="r" b="b" t="t" l="l"/>
              <a:pathLst>
                <a:path h="457200" w="5760720">
                  <a:moveTo>
                    <a:pt x="0" y="0"/>
                  </a:moveTo>
                  <a:lnTo>
                    <a:pt x="5760720" y="0"/>
                  </a:lnTo>
                  <a:lnTo>
                    <a:pt x="5760720" y="457200"/>
                  </a:lnTo>
                  <a:lnTo>
                    <a:pt x="0" y="457200"/>
                  </a:lnTo>
                  <a:close/>
                </a:path>
              </a:pathLst>
            </a:custGeom>
            <a:blipFill>
              <a:blip r:embed="rId3">
                <a:alphaModFix amt="0"/>
              </a:blip>
              <a:stretch>
                <a:fillRect l="0" t="-195511" r="0" b="-195511"/>
              </a:stretch>
            </a:blipFill>
          </p:spPr>
        </p:sp>
        <p:sp>
          <p:nvSpPr>
            <p:cNvPr name="TextBox 63" id="63"/>
            <p:cNvSpPr txBox="true"/>
            <p:nvPr/>
          </p:nvSpPr>
          <p:spPr>
            <a:xfrm>
              <a:off x="0" y="-9525"/>
              <a:ext cx="576072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EMERGENCY COOLING</a:t>
              </a:r>
            </a:p>
          </p:txBody>
        </p:sp>
      </p:grpSp>
      <p:grpSp>
        <p:nvGrpSpPr>
          <p:cNvPr name="Group 64" id="64"/>
          <p:cNvGrpSpPr/>
          <p:nvPr/>
        </p:nvGrpSpPr>
        <p:grpSpPr>
          <a:xfrm rot="0">
            <a:off x="11480292" y="8106156"/>
            <a:ext cx="5088636" cy="576072"/>
            <a:chOff x="0" y="0"/>
            <a:chExt cx="6784848" cy="768096"/>
          </a:xfrm>
        </p:grpSpPr>
        <p:sp>
          <p:nvSpPr>
            <p:cNvPr name="Freeform 65" id="65"/>
            <p:cNvSpPr/>
            <p:nvPr/>
          </p:nvSpPr>
          <p:spPr>
            <a:xfrm flipH="false" flipV="false" rot="0">
              <a:off x="0" y="0"/>
              <a:ext cx="6784848" cy="768096"/>
            </a:xfrm>
            <a:custGeom>
              <a:avLst/>
              <a:gdLst/>
              <a:ahLst/>
              <a:cxnLst/>
              <a:rect r="r" b="b" t="t" l="l"/>
              <a:pathLst>
                <a:path h="768096" w="6784848">
                  <a:moveTo>
                    <a:pt x="0" y="0"/>
                  </a:moveTo>
                  <a:lnTo>
                    <a:pt x="6784848" y="0"/>
                  </a:lnTo>
                  <a:lnTo>
                    <a:pt x="6784848" y="768096"/>
                  </a:lnTo>
                  <a:lnTo>
                    <a:pt x="0" y="768096"/>
                  </a:lnTo>
                  <a:close/>
                </a:path>
              </a:pathLst>
            </a:custGeom>
            <a:blipFill>
              <a:blip r:embed="rId3">
                <a:alphaModFix amt="0"/>
              </a:blip>
              <a:stretch>
                <a:fillRect l="0" t="-122117" r="0" b="-122117"/>
              </a:stretch>
            </a:blipFill>
          </p:spPr>
        </p:sp>
        <p:sp>
          <p:nvSpPr>
            <p:cNvPr name="TextBox 66" id="66"/>
            <p:cNvSpPr txBox="true"/>
            <p:nvPr/>
          </p:nvSpPr>
          <p:spPr>
            <a:xfrm>
              <a:off x="0" y="0"/>
              <a:ext cx="678484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Relay → Fan</a:t>
              </a:r>
            </a:p>
          </p:txBody>
        </p:sp>
      </p:grpSp>
      <p:sp>
        <p:nvSpPr>
          <p:cNvPr name="TextBox 67" id="67"/>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76E2A1"/>
            </a:solidFill>
            <a:ln w="19050" cap="sq">
              <a:solidFill>
                <a:srgbClr val="76E2A1"/>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02</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2</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Dual power bus design</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Separate sensor logic power from high-current actuator loads.</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77074" y="3212783"/>
            <a:ext cx="3518535" cy="1557147"/>
            <a:chOff x="0" y="0"/>
            <a:chExt cx="4691380" cy="2076196"/>
          </a:xfrm>
        </p:grpSpPr>
        <p:sp>
          <p:nvSpPr>
            <p:cNvPr name="Freeform 23" id="23"/>
            <p:cNvSpPr/>
            <p:nvPr/>
          </p:nvSpPr>
          <p:spPr>
            <a:xfrm flipH="false" flipV="false" rot="0">
              <a:off x="0" y="0"/>
              <a:ext cx="4691380" cy="2076196"/>
            </a:xfrm>
            <a:custGeom>
              <a:avLst/>
              <a:gdLst/>
              <a:ahLst/>
              <a:cxnLst/>
              <a:rect r="r" b="b" t="t" l="l"/>
              <a:pathLst>
                <a:path h="2076196" w="4691380">
                  <a:moveTo>
                    <a:pt x="0" y="148336"/>
                  </a:moveTo>
                  <a:cubicBezTo>
                    <a:pt x="0" y="66421"/>
                    <a:pt x="66421" y="0"/>
                    <a:pt x="148336" y="0"/>
                  </a:cubicBezTo>
                  <a:lnTo>
                    <a:pt x="4543044" y="0"/>
                  </a:lnTo>
                  <a:cubicBezTo>
                    <a:pt x="4624959" y="0"/>
                    <a:pt x="4691380" y="66421"/>
                    <a:pt x="4691380" y="148336"/>
                  </a:cubicBezTo>
                  <a:lnTo>
                    <a:pt x="4691380" y="1927860"/>
                  </a:lnTo>
                  <a:cubicBezTo>
                    <a:pt x="4691380" y="2009775"/>
                    <a:pt x="4624959" y="2076196"/>
                    <a:pt x="4543044" y="2076196"/>
                  </a:cubicBezTo>
                  <a:lnTo>
                    <a:pt x="148336" y="2076196"/>
                  </a:lnTo>
                  <a:cubicBezTo>
                    <a:pt x="66421" y="2076196"/>
                    <a:pt x="0" y="2009775"/>
                    <a:pt x="0" y="1927860"/>
                  </a:cubicBezTo>
                  <a:close/>
                </a:path>
              </a:pathLst>
            </a:custGeom>
            <a:solidFill>
              <a:srgbClr val="10253B"/>
            </a:solidFill>
            <a:ln w="20955" cap="sq">
              <a:solidFill>
                <a:srgbClr val="46D6F5"/>
              </a:solidFill>
              <a:prstDash val="solid"/>
              <a:miter/>
            </a:ln>
          </p:spPr>
        </p:sp>
      </p:grpSp>
      <p:grpSp>
        <p:nvGrpSpPr>
          <p:cNvPr name="Group 24" id="24"/>
          <p:cNvGrpSpPr/>
          <p:nvPr/>
        </p:nvGrpSpPr>
        <p:grpSpPr>
          <a:xfrm rot="0">
            <a:off x="1152144" y="3415284"/>
            <a:ext cx="3168396" cy="329184"/>
            <a:chOff x="0" y="0"/>
            <a:chExt cx="4224528" cy="438912"/>
          </a:xfrm>
        </p:grpSpPr>
        <p:sp>
          <p:nvSpPr>
            <p:cNvPr name="Freeform 25" id="25"/>
            <p:cNvSpPr/>
            <p:nvPr/>
          </p:nvSpPr>
          <p:spPr>
            <a:xfrm flipH="false" flipV="false" rot="0">
              <a:off x="0" y="0"/>
              <a:ext cx="4224528" cy="438912"/>
            </a:xfrm>
            <a:custGeom>
              <a:avLst/>
              <a:gdLst/>
              <a:ahLst/>
              <a:cxnLst/>
              <a:rect r="r" b="b" t="t" l="l"/>
              <a:pathLst>
                <a:path h="438912" w="4224528">
                  <a:moveTo>
                    <a:pt x="0" y="0"/>
                  </a:moveTo>
                  <a:lnTo>
                    <a:pt x="4224528" y="0"/>
                  </a:lnTo>
                  <a:lnTo>
                    <a:pt x="4224528" y="438912"/>
                  </a:lnTo>
                  <a:lnTo>
                    <a:pt x="0" y="438912"/>
                  </a:lnTo>
                  <a:close/>
                </a:path>
              </a:pathLst>
            </a:custGeom>
            <a:blipFill>
              <a:blip r:embed="rId3">
                <a:alphaModFix amt="0"/>
              </a:blip>
              <a:stretch>
                <a:fillRect l="0" t="-137543" r="0" b="-137543"/>
              </a:stretch>
            </a:blipFill>
          </p:spPr>
        </p:sp>
        <p:sp>
          <p:nvSpPr>
            <p:cNvPr name="TextBox 26" id="26"/>
            <p:cNvSpPr txBox="true"/>
            <p:nvPr/>
          </p:nvSpPr>
          <p:spPr>
            <a:xfrm>
              <a:off x="0" y="0"/>
              <a:ext cx="422452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3.3V BUS</a:t>
              </a:r>
            </a:p>
          </p:txBody>
        </p:sp>
      </p:grpSp>
      <p:grpSp>
        <p:nvGrpSpPr>
          <p:cNvPr name="Group 27" id="27"/>
          <p:cNvGrpSpPr/>
          <p:nvPr/>
        </p:nvGrpSpPr>
        <p:grpSpPr>
          <a:xfrm rot="0">
            <a:off x="1129079" y="3808066"/>
            <a:ext cx="3168396" cy="795528"/>
            <a:chOff x="0" y="0"/>
            <a:chExt cx="4224528" cy="1060704"/>
          </a:xfrm>
        </p:grpSpPr>
        <p:sp>
          <p:nvSpPr>
            <p:cNvPr name="Freeform 28" id="28"/>
            <p:cNvSpPr/>
            <p:nvPr/>
          </p:nvSpPr>
          <p:spPr>
            <a:xfrm flipH="false" flipV="false" rot="0">
              <a:off x="0" y="0"/>
              <a:ext cx="4224528" cy="1060704"/>
            </a:xfrm>
            <a:custGeom>
              <a:avLst/>
              <a:gdLst/>
              <a:ahLst/>
              <a:cxnLst/>
              <a:rect r="r" b="b" t="t" l="l"/>
              <a:pathLst>
                <a:path h="1060704" w="4224528">
                  <a:moveTo>
                    <a:pt x="0" y="0"/>
                  </a:moveTo>
                  <a:lnTo>
                    <a:pt x="4224528" y="0"/>
                  </a:lnTo>
                  <a:lnTo>
                    <a:pt x="4224528" y="1060704"/>
                  </a:lnTo>
                  <a:lnTo>
                    <a:pt x="0" y="1060704"/>
                  </a:lnTo>
                  <a:close/>
                </a:path>
              </a:pathLst>
            </a:custGeom>
            <a:blipFill>
              <a:blip r:embed="rId3">
                <a:alphaModFix amt="0"/>
              </a:blip>
              <a:stretch>
                <a:fillRect l="0" t="-27604" r="0" b="-27604"/>
              </a:stretch>
            </a:blipFill>
          </p:spPr>
        </p:sp>
        <p:sp>
          <p:nvSpPr>
            <p:cNvPr name="TextBox 29" id="29"/>
            <p:cNvSpPr txBox="true"/>
            <p:nvPr/>
          </p:nvSpPr>
          <p:spPr>
            <a:xfrm>
              <a:off x="0" y="-9525"/>
              <a:ext cx="4224528" cy="1070229"/>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ESP32 + sensors</a:t>
              </a:r>
            </a:p>
            <a:p>
              <a:pPr algn="l">
                <a:lnSpc>
                  <a:spcPts val="3240"/>
                </a:lnSpc>
              </a:pPr>
              <a:r>
                <a:rPr lang="en-US" sz="2700">
                  <a:solidFill>
                    <a:srgbClr val="000000"/>
                  </a:solidFill>
                  <a:latin typeface="Aptos"/>
                  <a:ea typeface="Aptos"/>
                  <a:cs typeface="Aptos"/>
                  <a:sym typeface="Aptos"/>
                </a:rPr>
                <a:t>            </a:t>
              </a:r>
              <a:r>
                <a:rPr lang="en-US" sz="2700">
                  <a:solidFill>
                    <a:srgbClr val="000000"/>
                  </a:solidFill>
                  <a:latin typeface="Aptos"/>
                  <a:ea typeface="Aptos"/>
                  <a:cs typeface="Aptos"/>
                  <a:sym typeface="Aptos"/>
                </a:rPr>
                <a:t>3.3V logic</a:t>
              </a:r>
            </a:p>
          </p:txBody>
        </p:sp>
      </p:grpSp>
      <p:grpSp>
        <p:nvGrpSpPr>
          <p:cNvPr name="Group 30" id="30"/>
          <p:cNvGrpSpPr/>
          <p:nvPr/>
        </p:nvGrpSpPr>
        <p:grpSpPr>
          <a:xfrm rot="0">
            <a:off x="977074" y="5475922"/>
            <a:ext cx="3518535" cy="1557147"/>
            <a:chOff x="0" y="0"/>
            <a:chExt cx="4691380" cy="2076196"/>
          </a:xfrm>
        </p:grpSpPr>
        <p:sp>
          <p:nvSpPr>
            <p:cNvPr name="Freeform 31" id="31"/>
            <p:cNvSpPr/>
            <p:nvPr/>
          </p:nvSpPr>
          <p:spPr>
            <a:xfrm flipH="false" flipV="false" rot="0">
              <a:off x="0" y="0"/>
              <a:ext cx="4691380" cy="2076196"/>
            </a:xfrm>
            <a:custGeom>
              <a:avLst/>
              <a:gdLst/>
              <a:ahLst/>
              <a:cxnLst/>
              <a:rect r="r" b="b" t="t" l="l"/>
              <a:pathLst>
                <a:path h="2076196" w="4691380">
                  <a:moveTo>
                    <a:pt x="0" y="148336"/>
                  </a:moveTo>
                  <a:cubicBezTo>
                    <a:pt x="0" y="66421"/>
                    <a:pt x="66421" y="0"/>
                    <a:pt x="148336" y="0"/>
                  </a:cubicBezTo>
                  <a:lnTo>
                    <a:pt x="4543044" y="0"/>
                  </a:lnTo>
                  <a:cubicBezTo>
                    <a:pt x="4624959" y="0"/>
                    <a:pt x="4691380" y="66421"/>
                    <a:pt x="4691380" y="148336"/>
                  </a:cubicBezTo>
                  <a:lnTo>
                    <a:pt x="4691380" y="1927860"/>
                  </a:lnTo>
                  <a:cubicBezTo>
                    <a:pt x="4691380" y="2009775"/>
                    <a:pt x="4624959" y="2076196"/>
                    <a:pt x="4543044" y="2076196"/>
                  </a:cubicBezTo>
                  <a:lnTo>
                    <a:pt x="148336" y="2076196"/>
                  </a:lnTo>
                  <a:cubicBezTo>
                    <a:pt x="66421" y="2076196"/>
                    <a:pt x="0" y="2009775"/>
                    <a:pt x="0" y="1927860"/>
                  </a:cubicBezTo>
                  <a:close/>
                </a:path>
              </a:pathLst>
            </a:custGeom>
            <a:solidFill>
              <a:srgbClr val="10253B"/>
            </a:solidFill>
            <a:ln w="20955" cap="sq">
              <a:solidFill>
                <a:srgbClr val="F6C85F"/>
              </a:solidFill>
              <a:prstDash val="solid"/>
              <a:miter/>
            </a:ln>
          </p:spPr>
        </p:sp>
      </p:grpSp>
      <p:grpSp>
        <p:nvGrpSpPr>
          <p:cNvPr name="Group 32" id="32"/>
          <p:cNvGrpSpPr/>
          <p:nvPr/>
        </p:nvGrpSpPr>
        <p:grpSpPr>
          <a:xfrm rot="0">
            <a:off x="1152144" y="5678424"/>
            <a:ext cx="3168396" cy="329184"/>
            <a:chOff x="0" y="0"/>
            <a:chExt cx="4224528" cy="438912"/>
          </a:xfrm>
        </p:grpSpPr>
        <p:sp>
          <p:nvSpPr>
            <p:cNvPr name="Freeform 33" id="33"/>
            <p:cNvSpPr/>
            <p:nvPr/>
          </p:nvSpPr>
          <p:spPr>
            <a:xfrm flipH="false" flipV="false" rot="0">
              <a:off x="0" y="0"/>
              <a:ext cx="4224528" cy="438912"/>
            </a:xfrm>
            <a:custGeom>
              <a:avLst/>
              <a:gdLst/>
              <a:ahLst/>
              <a:cxnLst/>
              <a:rect r="r" b="b" t="t" l="l"/>
              <a:pathLst>
                <a:path h="438912" w="4224528">
                  <a:moveTo>
                    <a:pt x="0" y="0"/>
                  </a:moveTo>
                  <a:lnTo>
                    <a:pt x="4224528" y="0"/>
                  </a:lnTo>
                  <a:lnTo>
                    <a:pt x="4224528" y="438912"/>
                  </a:lnTo>
                  <a:lnTo>
                    <a:pt x="0" y="438912"/>
                  </a:lnTo>
                  <a:close/>
                </a:path>
              </a:pathLst>
            </a:custGeom>
            <a:blipFill>
              <a:blip r:embed="rId3">
                <a:alphaModFix amt="0"/>
              </a:blip>
              <a:stretch>
                <a:fillRect l="0" t="-137543" r="0" b="-137543"/>
              </a:stretch>
            </a:blipFill>
          </p:spPr>
        </p:sp>
        <p:sp>
          <p:nvSpPr>
            <p:cNvPr name="TextBox 34" id="34"/>
            <p:cNvSpPr txBox="true"/>
            <p:nvPr/>
          </p:nvSpPr>
          <p:spPr>
            <a:xfrm>
              <a:off x="0" y="0"/>
              <a:ext cx="422452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5V BUS</a:t>
              </a:r>
            </a:p>
          </p:txBody>
        </p:sp>
      </p:grpSp>
      <p:grpSp>
        <p:nvGrpSpPr>
          <p:cNvPr name="Group 35" id="35"/>
          <p:cNvGrpSpPr/>
          <p:nvPr/>
        </p:nvGrpSpPr>
        <p:grpSpPr>
          <a:xfrm rot="0">
            <a:off x="1327213" y="6076188"/>
            <a:ext cx="3168396" cy="795528"/>
            <a:chOff x="0" y="0"/>
            <a:chExt cx="4224528" cy="1060704"/>
          </a:xfrm>
        </p:grpSpPr>
        <p:sp>
          <p:nvSpPr>
            <p:cNvPr name="Freeform 36" id="36"/>
            <p:cNvSpPr/>
            <p:nvPr/>
          </p:nvSpPr>
          <p:spPr>
            <a:xfrm flipH="false" flipV="false" rot="0">
              <a:off x="0" y="0"/>
              <a:ext cx="4224528" cy="1060704"/>
            </a:xfrm>
            <a:custGeom>
              <a:avLst/>
              <a:gdLst/>
              <a:ahLst/>
              <a:cxnLst/>
              <a:rect r="r" b="b" t="t" l="l"/>
              <a:pathLst>
                <a:path h="1060704" w="4224528">
                  <a:moveTo>
                    <a:pt x="0" y="0"/>
                  </a:moveTo>
                  <a:lnTo>
                    <a:pt x="4224528" y="0"/>
                  </a:lnTo>
                  <a:lnTo>
                    <a:pt x="4224528" y="1060704"/>
                  </a:lnTo>
                  <a:lnTo>
                    <a:pt x="0" y="1060704"/>
                  </a:lnTo>
                  <a:close/>
                </a:path>
              </a:pathLst>
            </a:custGeom>
            <a:blipFill>
              <a:blip r:embed="rId3">
                <a:alphaModFix amt="0"/>
              </a:blip>
              <a:stretch>
                <a:fillRect l="0" t="-27604" r="0" b="-27604"/>
              </a:stretch>
            </a:blipFill>
          </p:spPr>
        </p:sp>
        <p:sp>
          <p:nvSpPr>
            <p:cNvPr name="TextBox 37" id="37"/>
            <p:cNvSpPr txBox="true"/>
            <p:nvPr/>
          </p:nvSpPr>
          <p:spPr>
            <a:xfrm>
              <a:off x="0" y="-9525"/>
              <a:ext cx="4224528" cy="1070229"/>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Relay + ULN2003</a:t>
              </a:r>
            </a:p>
            <a:p>
              <a:pPr algn="l">
                <a:lnSpc>
                  <a:spcPts val="3240"/>
                </a:lnSpc>
              </a:pPr>
              <a:r>
                <a:rPr lang="en-US" sz="2700">
                  <a:solidFill>
                    <a:srgbClr val="000000"/>
                  </a:solidFill>
                  <a:latin typeface="Aptos"/>
                  <a:ea typeface="Aptos"/>
                  <a:cs typeface="Aptos"/>
                  <a:sym typeface="Aptos"/>
                </a:rPr>
                <a:t>5V actuator power</a:t>
              </a:r>
            </a:p>
          </p:txBody>
        </p:sp>
      </p:grpSp>
      <p:sp>
        <p:nvSpPr>
          <p:cNvPr name="AutoShape 38" id="38"/>
          <p:cNvSpPr/>
          <p:nvPr/>
        </p:nvSpPr>
        <p:spPr>
          <a:xfrm rot="50400">
            <a:off x="4810763" y="3968115"/>
            <a:ext cx="2338826" cy="0"/>
          </a:xfrm>
          <a:prstGeom prst="line">
            <a:avLst/>
          </a:prstGeom>
          <a:ln cap="rnd" w="19050">
            <a:solidFill>
              <a:srgbClr val="46D6F5"/>
            </a:solidFill>
            <a:prstDash val="solid"/>
            <a:headEnd type="none" len="sm" w="sm"/>
            <a:tailEnd type="triangle" len="med" w="lg"/>
          </a:ln>
        </p:spPr>
      </p:sp>
      <p:sp>
        <p:nvSpPr>
          <p:cNvPr name="AutoShape 39" id="39"/>
          <p:cNvSpPr/>
          <p:nvPr/>
        </p:nvSpPr>
        <p:spPr>
          <a:xfrm rot="50400">
            <a:off x="4810763" y="6231255"/>
            <a:ext cx="2338826" cy="0"/>
          </a:xfrm>
          <a:prstGeom prst="line">
            <a:avLst/>
          </a:prstGeom>
          <a:ln cap="rnd" w="19050">
            <a:solidFill>
              <a:srgbClr val="F6C85F"/>
            </a:solidFill>
            <a:prstDash val="solid"/>
            <a:headEnd type="none" len="sm" w="sm"/>
            <a:tailEnd type="triangle" len="med" w="lg"/>
          </a:ln>
        </p:spPr>
      </p:sp>
      <p:grpSp>
        <p:nvGrpSpPr>
          <p:cNvPr name="Group 40" id="40"/>
          <p:cNvGrpSpPr/>
          <p:nvPr/>
        </p:nvGrpSpPr>
        <p:grpSpPr>
          <a:xfrm rot="0">
            <a:off x="7190422" y="3007042"/>
            <a:ext cx="4272915" cy="2009775"/>
            <a:chOff x="0" y="0"/>
            <a:chExt cx="5697220" cy="2679700"/>
          </a:xfrm>
        </p:grpSpPr>
        <p:sp>
          <p:nvSpPr>
            <p:cNvPr name="Freeform 41" id="41"/>
            <p:cNvSpPr/>
            <p:nvPr/>
          </p:nvSpPr>
          <p:spPr>
            <a:xfrm flipH="false" flipV="false" rot="0">
              <a:off x="0" y="0"/>
              <a:ext cx="5697220" cy="2679700"/>
            </a:xfrm>
            <a:custGeom>
              <a:avLst/>
              <a:gdLst/>
              <a:ahLst/>
              <a:cxnLst/>
              <a:rect r="r" b="b" t="t" l="l"/>
              <a:pathLst>
                <a:path h="2679700" w="5697220">
                  <a:moveTo>
                    <a:pt x="0" y="147828"/>
                  </a:moveTo>
                  <a:cubicBezTo>
                    <a:pt x="0" y="66167"/>
                    <a:pt x="66167" y="0"/>
                    <a:pt x="147828" y="0"/>
                  </a:cubicBezTo>
                  <a:lnTo>
                    <a:pt x="5549392" y="0"/>
                  </a:lnTo>
                  <a:cubicBezTo>
                    <a:pt x="5631053" y="0"/>
                    <a:pt x="5697220" y="66167"/>
                    <a:pt x="5697220" y="147828"/>
                  </a:cubicBezTo>
                  <a:lnTo>
                    <a:pt x="5697220" y="2531872"/>
                  </a:lnTo>
                  <a:cubicBezTo>
                    <a:pt x="5697220" y="2613533"/>
                    <a:pt x="5631053" y="2679700"/>
                    <a:pt x="5549392" y="2679700"/>
                  </a:cubicBezTo>
                  <a:lnTo>
                    <a:pt x="147828" y="2679700"/>
                  </a:lnTo>
                  <a:cubicBezTo>
                    <a:pt x="66167" y="2679700"/>
                    <a:pt x="0" y="2613533"/>
                    <a:pt x="0" y="2531872"/>
                  </a:cubicBezTo>
                  <a:close/>
                </a:path>
              </a:pathLst>
            </a:custGeom>
            <a:solidFill>
              <a:srgbClr val="10253B"/>
            </a:solidFill>
            <a:ln w="20955" cap="sq">
              <a:solidFill>
                <a:srgbClr val="FF5E78"/>
              </a:solidFill>
              <a:prstDash val="solid"/>
              <a:miter/>
            </a:ln>
          </p:spPr>
        </p:sp>
      </p:grpSp>
      <p:grpSp>
        <p:nvGrpSpPr>
          <p:cNvPr name="Group 42" id="42"/>
          <p:cNvGrpSpPr/>
          <p:nvPr/>
        </p:nvGrpSpPr>
        <p:grpSpPr>
          <a:xfrm rot="0">
            <a:off x="7365492" y="3209544"/>
            <a:ext cx="3922776" cy="329184"/>
            <a:chOff x="0" y="0"/>
            <a:chExt cx="5230368" cy="438912"/>
          </a:xfrm>
        </p:grpSpPr>
        <p:sp>
          <p:nvSpPr>
            <p:cNvPr name="Freeform 43" id="43"/>
            <p:cNvSpPr/>
            <p:nvPr/>
          </p:nvSpPr>
          <p:spPr>
            <a:xfrm flipH="false" flipV="false" rot="0">
              <a:off x="0" y="0"/>
              <a:ext cx="5230368" cy="438912"/>
            </a:xfrm>
            <a:custGeom>
              <a:avLst/>
              <a:gdLst/>
              <a:ahLst/>
              <a:cxnLst/>
              <a:rect r="r" b="b" t="t" l="l"/>
              <a:pathLst>
                <a:path h="438912" w="5230368">
                  <a:moveTo>
                    <a:pt x="0" y="0"/>
                  </a:moveTo>
                  <a:lnTo>
                    <a:pt x="5230368" y="0"/>
                  </a:lnTo>
                  <a:lnTo>
                    <a:pt x="5230368" y="438912"/>
                  </a:lnTo>
                  <a:lnTo>
                    <a:pt x="0" y="438912"/>
                  </a:lnTo>
                  <a:close/>
                </a:path>
              </a:pathLst>
            </a:custGeom>
            <a:blipFill>
              <a:blip r:embed="rId3">
                <a:alphaModFix amt="0"/>
              </a:blip>
              <a:stretch>
                <a:fillRect l="0" t="-182196" r="0" b="-182196"/>
              </a:stretch>
            </a:blipFill>
          </p:spPr>
        </p:sp>
        <p:sp>
          <p:nvSpPr>
            <p:cNvPr name="TextBox 44" id="44"/>
            <p:cNvSpPr txBox="true"/>
            <p:nvPr/>
          </p:nvSpPr>
          <p:spPr>
            <a:xfrm>
              <a:off x="0" y="0"/>
              <a:ext cx="523036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ACTUATOR LOAD</a:t>
              </a:r>
            </a:p>
          </p:txBody>
        </p:sp>
      </p:grpSp>
      <p:grpSp>
        <p:nvGrpSpPr>
          <p:cNvPr name="Group 45" id="45"/>
          <p:cNvGrpSpPr/>
          <p:nvPr/>
        </p:nvGrpSpPr>
        <p:grpSpPr>
          <a:xfrm rot="0">
            <a:off x="7365492" y="3648456"/>
            <a:ext cx="3922776" cy="1248156"/>
            <a:chOff x="0" y="0"/>
            <a:chExt cx="5230368" cy="1664208"/>
          </a:xfrm>
        </p:grpSpPr>
        <p:sp>
          <p:nvSpPr>
            <p:cNvPr name="Freeform 46" id="46"/>
            <p:cNvSpPr/>
            <p:nvPr/>
          </p:nvSpPr>
          <p:spPr>
            <a:xfrm flipH="false" flipV="false" rot="0">
              <a:off x="0" y="0"/>
              <a:ext cx="5230368" cy="1664208"/>
            </a:xfrm>
            <a:custGeom>
              <a:avLst/>
              <a:gdLst/>
              <a:ahLst/>
              <a:cxnLst/>
              <a:rect r="r" b="b" t="t" l="l"/>
              <a:pathLst>
                <a:path h="1664208" w="5230368">
                  <a:moveTo>
                    <a:pt x="0" y="0"/>
                  </a:moveTo>
                  <a:lnTo>
                    <a:pt x="5230368" y="0"/>
                  </a:lnTo>
                  <a:lnTo>
                    <a:pt x="5230368" y="1664208"/>
                  </a:lnTo>
                  <a:lnTo>
                    <a:pt x="0" y="1664208"/>
                  </a:lnTo>
                  <a:close/>
                </a:path>
              </a:pathLst>
            </a:custGeom>
            <a:blipFill>
              <a:blip r:embed="rId3">
                <a:alphaModFix amt="0"/>
              </a:blip>
              <a:stretch>
                <a:fillRect l="0" t="-11238" r="0" b="-11238"/>
              </a:stretch>
            </a:blipFill>
          </p:spPr>
        </p:sp>
        <p:sp>
          <p:nvSpPr>
            <p:cNvPr name="TextBox 47" id="47"/>
            <p:cNvSpPr txBox="true"/>
            <p:nvPr/>
          </p:nvSpPr>
          <p:spPr>
            <a:xfrm>
              <a:off x="0" y="-9525"/>
              <a:ext cx="5230368" cy="167373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Stepper / Relay</a:t>
              </a:r>
            </a:p>
            <a:p>
              <a:pPr algn="l">
                <a:lnSpc>
                  <a:spcPts val="3240"/>
                </a:lnSpc>
              </a:pPr>
              <a:r>
                <a:rPr lang="en-US" sz="2700">
                  <a:solidFill>
                    <a:srgbClr val="000000"/>
                  </a:solidFill>
                  <a:latin typeface="Aptos"/>
                  <a:ea typeface="Aptos"/>
                  <a:cs typeface="Aptos"/>
                  <a:sym typeface="Aptos"/>
                </a:rPr>
                <a:t>       </a:t>
              </a:r>
              <a:r>
                <a:rPr lang="en-US" sz="2700">
                  <a:solidFill>
                    <a:srgbClr val="000000"/>
                  </a:solidFill>
                  <a:latin typeface="Aptos"/>
                  <a:ea typeface="Aptos"/>
                  <a:cs typeface="Aptos"/>
                  <a:sym typeface="Aptos"/>
                </a:rPr>
                <a:t>300–600 mA startup</a:t>
              </a:r>
            </a:p>
          </p:txBody>
        </p:sp>
      </p:grpSp>
      <p:grpSp>
        <p:nvGrpSpPr>
          <p:cNvPr name="Group 48" id="48"/>
          <p:cNvGrpSpPr/>
          <p:nvPr/>
        </p:nvGrpSpPr>
        <p:grpSpPr>
          <a:xfrm rot="0">
            <a:off x="7190422" y="5544503"/>
            <a:ext cx="4272915" cy="2009775"/>
            <a:chOff x="0" y="0"/>
            <a:chExt cx="5697220" cy="2679700"/>
          </a:xfrm>
        </p:grpSpPr>
        <p:sp>
          <p:nvSpPr>
            <p:cNvPr name="Freeform 49" id="49"/>
            <p:cNvSpPr/>
            <p:nvPr/>
          </p:nvSpPr>
          <p:spPr>
            <a:xfrm flipH="false" flipV="false" rot="0">
              <a:off x="0" y="0"/>
              <a:ext cx="5697220" cy="2679700"/>
            </a:xfrm>
            <a:custGeom>
              <a:avLst/>
              <a:gdLst/>
              <a:ahLst/>
              <a:cxnLst/>
              <a:rect r="r" b="b" t="t" l="l"/>
              <a:pathLst>
                <a:path h="2679700" w="5697220">
                  <a:moveTo>
                    <a:pt x="0" y="147828"/>
                  </a:moveTo>
                  <a:cubicBezTo>
                    <a:pt x="0" y="66167"/>
                    <a:pt x="66167" y="0"/>
                    <a:pt x="147828" y="0"/>
                  </a:cubicBezTo>
                  <a:lnTo>
                    <a:pt x="5549392" y="0"/>
                  </a:lnTo>
                  <a:cubicBezTo>
                    <a:pt x="5631053" y="0"/>
                    <a:pt x="5697220" y="66167"/>
                    <a:pt x="5697220" y="147828"/>
                  </a:cubicBezTo>
                  <a:lnTo>
                    <a:pt x="5697220" y="2531872"/>
                  </a:lnTo>
                  <a:cubicBezTo>
                    <a:pt x="5697220" y="2613533"/>
                    <a:pt x="5631053" y="2679700"/>
                    <a:pt x="5549392" y="2679700"/>
                  </a:cubicBezTo>
                  <a:lnTo>
                    <a:pt x="147828" y="2679700"/>
                  </a:lnTo>
                  <a:cubicBezTo>
                    <a:pt x="66167" y="2679700"/>
                    <a:pt x="0" y="2613533"/>
                    <a:pt x="0" y="2531872"/>
                  </a:cubicBezTo>
                  <a:close/>
                </a:path>
              </a:pathLst>
            </a:custGeom>
            <a:solidFill>
              <a:srgbClr val="10253B"/>
            </a:solidFill>
            <a:ln w="20955" cap="sq">
              <a:solidFill>
                <a:srgbClr val="76E2A1"/>
              </a:solidFill>
              <a:prstDash val="solid"/>
              <a:miter/>
            </a:ln>
          </p:spPr>
        </p:sp>
      </p:grpSp>
      <p:grpSp>
        <p:nvGrpSpPr>
          <p:cNvPr name="Group 50" id="50"/>
          <p:cNvGrpSpPr/>
          <p:nvPr/>
        </p:nvGrpSpPr>
        <p:grpSpPr>
          <a:xfrm rot="0">
            <a:off x="7365492" y="5747004"/>
            <a:ext cx="3922776" cy="329184"/>
            <a:chOff x="0" y="0"/>
            <a:chExt cx="5230368" cy="438912"/>
          </a:xfrm>
        </p:grpSpPr>
        <p:sp>
          <p:nvSpPr>
            <p:cNvPr name="Freeform 51" id="51"/>
            <p:cNvSpPr/>
            <p:nvPr/>
          </p:nvSpPr>
          <p:spPr>
            <a:xfrm flipH="false" flipV="false" rot="0">
              <a:off x="0" y="0"/>
              <a:ext cx="5230368" cy="438912"/>
            </a:xfrm>
            <a:custGeom>
              <a:avLst/>
              <a:gdLst/>
              <a:ahLst/>
              <a:cxnLst/>
              <a:rect r="r" b="b" t="t" l="l"/>
              <a:pathLst>
                <a:path h="438912" w="5230368">
                  <a:moveTo>
                    <a:pt x="0" y="0"/>
                  </a:moveTo>
                  <a:lnTo>
                    <a:pt x="5230368" y="0"/>
                  </a:lnTo>
                  <a:lnTo>
                    <a:pt x="5230368" y="438912"/>
                  </a:lnTo>
                  <a:lnTo>
                    <a:pt x="0" y="438912"/>
                  </a:lnTo>
                  <a:close/>
                </a:path>
              </a:pathLst>
            </a:custGeom>
            <a:blipFill>
              <a:blip r:embed="rId3">
                <a:alphaModFix amt="0"/>
              </a:blip>
              <a:stretch>
                <a:fillRect l="0" t="-182196" r="0" b="-182196"/>
              </a:stretch>
            </a:blipFill>
          </p:spPr>
        </p:sp>
        <p:sp>
          <p:nvSpPr>
            <p:cNvPr name="TextBox 52" id="52"/>
            <p:cNvSpPr txBox="true"/>
            <p:nvPr/>
          </p:nvSpPr>
          <p:spPr>
            <a:xfrm>
              <a:off x="0" y="0"/>
              <a:ext cx="523036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MITIGATION</a:t>
              </a:r>
            </a:p>
          </p:txBody>
        </p:sp>
      </p:grpSp>
      <p:grpSp>
        <p:nvGrpSpPr>
          <p:cNvPr name="Group 53" id="53"/>
          <p:cNvGrpSpPr/>
          <p:nvPr/>
        </p:nvGrpSpPr>
        <p:grpSpPr>
          <a:xfrm rot="0">
            <a:off x="7365492" y="6185916"/>
            <a:ext cx="3922776" cy="1248156"/>
            <a:chOff x="0" y="0"/>
            <a:chExt cx="5230368" cy="1664208"/>
          </a:xfrm>
        </p:grpSpPr>
        <p:sp>
          <p:nvSpPr>
            <p:cNvPr name="Freeform 54" id="54"/>
            <p:cNvSpPr/>
            <p:nvPr/>
          </p:nvSpPr>
          <p:spPr>
            <a:xfrm flipH="false" flipV="false" rot="0">
              <a:off x="0" y="0"/>
              <a:ext cx="5230368" cy="1664208"/>
            </a:xfrm>
            <a:custGeom>
              <a:avLst/>
              <a:gdLst/>
              <a:ahLst/>
              <a:cxnLst/>
              <a:rect r="r" b="b" t="t" l="l"/>
              <a:pathLst>
                <a:path h="1664208" w="5230368">
                  <a:moveTo>
                    <a:pt x="0" y="0"/>
                  </a:moveTo>
                  <a:lnTo>
                    <a:pt x="5230368" y="0"/>
                  </a:lnTo>
                  <a:lnTo>
                    <a:pt x="5230368" y="1664208"/>
                  </a:lnTo>
                  <a:lnTo>
                    <a:pt x="0" y="1664208"/>
                  </a:lnTo>
                  <a:close/>
                </a:path>
              </a:pathLst>
            </a:custGeom>
            <a:blipFill>
              <a:blip r:embed="rId3">
                <a:alphaModFix amt="0"/>
              </a:blip>
              <a:stretch>
                <a:fillRect l="0" t="-11238" r="0" b="-11238"/>
              </a:stretch>
            </a:blipFill>
          </p:spPr>
        </p:sp>
        <p:sp>
          <p:nvSpPr>
            <p:cNvPr name="TextBox 55" id="55"/>
            <p:cNvSpPr txBox="true"/>
            <p:nvPr/>
          </p:nvSpPr>
          <p:spPr>
            <a:xfrm>
              <a:off x="0" y="-9525"/>
              <a:ext cx="5230368" cy="167373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Separate 3.3V / 5V rails</a:t>
              </a:r>
            </a:p>
          </p:txBody>
        </p:sp>
      </p:grpSp>
      <p:sp>
        <p:nvSpPr>
          <p:cNvPr name="AutoShape 56" id="56"/>
          <p:cNvSpPr/>
          <p:nvPr/>
        </p:nvSpPr>
        <p:spPr>
          <a:xfrm rot="972540">
            <a:off x="11627720" y="4290441"/>
            <a:ext cx="2215182" cy="0"/>
          </a:xfrm>
          <a:prstGeom prst="line">
            <a:avLst/>
          </a:prstGeom>
          <a:ln cap="rnd" w="19050">
            <a:solidFill>
              <a:srgbClr val="FF5E78"/>
            </a:solidFill>
            <a:prstDash val="solid"/>
            <a:headEnd type="none" len="sm" w="sm"/>
            <a:tailEnd type="triangle" len="med" w="lg"/>
          </a:ln>
        </p:spPr>
      </p:sp>
      <p:grpSp>
        <p:nvGrpSpPr>
          <p:cNvPr name="Group 57" id="57"/>
          <p:cNvGrpSpPr/>
          <p:nvPr/>
        </p:nvGrpSpPr>
        <p:grpSpPr>
          <a:xfrm rot="0">
            <a:off x="13914120" y="4011930"/>
            <a:ext cx="3375660" cy="2305050"/>
            <a:chOff x="0" y="0"/>
            <a:chExt cx="4500880" cy="3073400"/>
          </a:xfrm>
        </p:grpSpPr>
        <p:sp>
          <p:nvSpPr>
            <p:cNvPr name="Freeform 58" id="58"/>
            <p:cNvSpPr/>
            <p:nvPr/>
          </p:nvSpPr>
          <p:spPr>
            <a:xfrm flipH="false" flipV="false" rot="0">
              <a:off x="0" y="0"/>
              <a:ext cx="4500880" cy="3073400"/>
            </a:xfrm>
            <a:custGeom>
              <a:avLst/>
              <a:gdLst/>
              <a:ahLst/>
              <a:cxnLst/>
              <a:rect r="r" b="b" t="t" l="l"/>
              <a:pathLst>
                <a:path h="3073400" w="4500880">
                  <a:moveTo>
                    <a:pt x="0" y="158592"/>
                  </a:moveTo>
                  <a:cubicBezTo>
                    <a:pt x="0" y="70956"/>
                    <a:pt x="65913" y="0"/>
                    <a:pt x="147320" y="0"/>
                  </a:cubicBezTo>
                  <a:lnTo>
                    <a:pt x="4353560" y="0"/>
                  </a:lnTo>
                  <a:cubicBezTo>
                    <a:pt x="4434967" y="0"/>
                    <a:pt x="4500880" y="70956"/>
                    <a:pt x="4500880" y="158592"/>
                  </a:cubicBezTo>
                  <a:lnTo>
                    <a:pt x="4500880" y="2914808"/>
                  </a:lnTo>
                  <a:cubicBezTo>
                    <a:pt x="4500880" y="3002444"/>
                    <a:pt x="4434967" y="3073400"/>
                    <a:pt x="4353560" y="3073400"/>
                  </a:cubicBezTo>
                  <a:lnTo>
                    <a:pt x="147320" y="3073400"/>
                  </a:lnTo>
                  <a:cubicBezTo>
                    <a:pt x="65913" y="3073400"/>
                    <a:pt x="0" y="3002444"/>
                    <a:pt x="0" y="2914808"/>
                  </a:cubicBezTo>
                  <a:close/>
                </a:path>
              </a:pathLst>
            </a:custGeom>
            <a:solidFill>
              <a:srgbClr val="0E1D30"/>
            </a:solidFill>
            <a:ln w="15240" cap="sq">
              <a:solidFill>
                <a:srgbClr val="1D3850"/>
              </a:solidFill>
              <a:prstDash val="solid"/>
              <a:miter/>
            </a:ln>
          </p:spPr>
        </p:sp>
      </p:grpSp>
      <p:grpSp>
        <p:nvGrpSpPr>
          <p:cNvPr name="Group 59" id="59"/>
          <p:cNvGrpSpPr/>
          <p:nvPr/>
        </p:nvGrpSpPr>
        <p:grpSpPr>
          <a:xfrm rot="0">
            <a:off x="14991588" y="4011930"/>
            <a:ext cx="1988820" cy="788670"/>
            <a:chOff x="0" y="0"/>
            <a:chExt cx="2651760" cy="1051560"/>
          </a:xfrm>
        </p:grpSpPr>
        <p:sp>
          <p:nvSpPr>
            <p:cNvPr name="Freeform 60" id="60"/>
            <p:cNvSpPr/>
            <p:nvPr/>
          </p:nvSpPr>
          <p:spPr>
            <a:xfrm flipH="false" flipV="false" rot="0">
              <a:off x="0" y="0"/>
              <a:ext cx="2651760" cy="1051560"/>
            </a:xfrm>
            <a:custGeom>
              <a:avLst/>
              <a:gdLst/>
              <a:ahLst/>
              <a:cxnLst/>
              <a:rect r="r" b="b" t="t" l="l"/>
              <a:pathLst>
                <a:path h="1051560" w="2651760">
                  <a:moveTo>
                    <a:pt x="0" y="0"/>
                  </a:moveTo>
                  <a:lnTo>
                    <a:pt x="2651760" y="0"/>
                  </a:lnTo>
                  <a:lnTo>
                    <a:pt x="2651760" y="1051560"/>
                  </a:lnTo>
                  <a:lnTo>
                    <a:pt x="0" y="1051560"/>
                  </a:lnTo>
                  <a:close/>
                </a:path>
              </a:pathLst>
            </a:custGeom>
            <a:blipFill>
              <a:blip r:embed="rId3">
                <a:alphaModFix amt="0"/>
              </a:blip>
              <a:stretch>
                <a:fillRect l="0" t="-27397" r="0" b="29124"/>
              </a:stretch>
            </a:blipFill>
          </p:spPr>
        </p:sp>
        <p:sp>
          <p:nvSpPr>
            <p:cNvPr name="TextBox 61" id="61"/>
            <p:cNvSpPr txBox="true"/>
            <p:nvPr/>
          </p:nvSpPr>
          <p:spPr>
            <a:xfrm>
              <a:off x="0" y="-9525"/>
              <a:ext cx="2651760" cy="106108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RESULT</a:t>
              </a:r>
            </a:p>
          </p:txBody>
        </p:sp>
      </p:grpSp>
      <p:grpSp>
        <p:nvGrpSpPr>
          <p:cNvPr name="Group 62" id="62"/>
          <p:cNvGrpSpPr/>
          <p:nvPr/>
        </p:nvGrpSpPr>
        <p:grpSpPr>
          <a:xfrm rot="0">
            <a:off x="14502384" y="4508944"/>
            <a:ext cx="2756916" cy="1035558"/>
            <a:chOff x="0" y="0"/>
            <a:chExt cx="3675888" cy="1380744"/>
          </a:xfrm>
        </p:grpSpPr>
        <p:sp>
          <p:nvSpPr>
            <p:cNvPr name="Freeform 63" id="63"/>
            <p:cNvSpPr/>
            <p:nvPr/>
          </p:nvSpPr>
          <p:spPr>
            <a:xfrm flipH="false" flipV="false" rot="0">
              <a:off x="0" y="0"/>
              <a:ext cx="3675888" cy="1380744"/>
            </a:xfrm>
            <a:custGeom>
              <a:avLst/>
              <a:gdLst/>
              <a:ahLst/>
              <a:cxnLst/>
              <a:rect r="r" b="b" t="t" l="l"/>
              <a:pathLst>
                <a:path h="1380744" w="3675888">
                  <a:moveTo>
                    <a:pt x="0" y="0"/>
                  </a:moveTo>
                  <a:lnTo>
                    <a:pt x="3675888" y="0"/>
                  </a:lnTo>
                  <a:lnTo>
                    <a:pt x="3675888" y="1380744"/>
                  </a:lnTo>
                  <a:lnTo>
                    <a:pt x="0" y="1380744"/>
                  </a:lnTo>
                  <a:close/>
                </a:path>
              </a:pathLst>
            </a:custGeom>
            <a:blipFill>
              <a:blip r:embed="rId3">
                <a:alphaModFix amt="0"/>
              </a:blip>
              <a:stretch>
                <a:fillRect l="0" t="-24059" r="0" b="20311"/>
              </a:stretch>
            </a:blipFill>
          </p:spPr>
        </p:sp>
        <p:sp>
          <p:nvSpPr>
            <p:cNvPr name="TextBox 64" id="64"/>
            <p:cNvSpPr txBox="true"/>
            <p:nvPr/>
          </p:nvSpPr>
          <p:spPr>
            <a:xfrm>
              <a:off x="0" y="0"/>
              <a:ext cx="3675888" cy="1380744"/>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Brownout protection</a:t>
              </a:r>
            </a:p>
          </p:txBody>
        </p:sp>
      </p:grpSp>
      <p:sp>
        <p:nvSpPr>
          <p:cNvPr name="TextBox 65" id="65"/>
          <p:cNvSpPr txBox="true"/>
          <p:nvPr/>
        </p:nvSpPr>
        <p:spPr>
          <a:xfrm rot="0">
            <a:off x="14223492" y="5582603"/>
            <a:ext cx="2756916" cy="27432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Reduces voltage drops and induced noise on the ESP32.</a:t>
            </a:r>
          </a:p>
        </p:txBody>
      </p:sp>
      <p:grpSp>
        <p:nvGrpSpPr>
          <p:cNvPr name="Group 66" id="66"/>
          <p:cNvGrpSpPr/>
          <p:nvPr/>
        </p:nvGrpSpPr>
        <p:grpSpPr>
          <a:xfrm rot="0">
            <a:off x="685800" y="9628632"/>
            <a:ext cx="16733520" cy="233172"/>
            <a:chOff x="0" y="0"/>
            <a:chExt cx="22311360" cy="310896"/>
          </a:xfrm>
        </p:grpSpPr>
        <p:sp>
          <p:nvSpPr>
            <p:cNvPr name="Freeform 67" id="67"/>
            <p:cNvSpPr/>
            <p:nvPr/>
          </p:nvSpPr>
          <p:spPr>
            <a:xfrm flipH="false" flipV="false" rot="0">
              <a:off x="0" y="0"/>
              <a:ext cx="22311361" cy="310896"/>
            </a:xfrm>
            <a:custGeom>
              <a:avLst/>
              <a:gdLst/>
              <a:ahLst/>
              <a:cxnLst/>
              <a:rect r="r" b="b" t="t" l="l"/>
              <a:pathLst>
                <a:path h="310896" w="22311361">
                  <a:moveTo>
                    <a:pt x="0" y="0"/>
                  </a:moveTo>
                  <a:lnTo>
                    <a:pt x="22311361" y="0"/>
                  </a:lnTo>
                  <a:lnTo>
                    <a:pt x="22311361" y="310896"/>
                  </a:lnTo>
                  <a:lnTo>
                    <a:pt x="0" y="310896"/>
                  </a:lnTo>
                  <a:close/>
                </a:path>
              </a:pathLst>
            </a:custGeom>
            <a:blipFill>
              <a:blip r:embed="rId3">
                <a:alphaModFix amt="0"/>
              </a:blip>
              <a:stretch>
                <a:fillRect l="0" t="-1348338" r="0" b="-1348338"/>
              </a:stretch>
            </a:blipFill>
          </p:spPr>
        </p:sp>
        <p:sp>
          <p:nvSpPr>
            <p:cNvPr name="TextBox 68" id="68"/>
            <p:cNvSpPr txBox="true"/>
            <p:nvPr/>
          </p:nvSpPr>
          <p:spPr>
            <a:xfrm>
              <a:off x="0" y="9525"/>
              <a:ext cx="22311360" cy="301371"/>
            </a:xfrm>
            <a:prstGeom prst="rect">
              <a:avLst/>
            </a:prstGeom>
          </p:spPr>
          <p:txBody>
            <a:bodyPr anchor="ctr" rtlCol="false" tIns="0" lIns="0" bIns="0" rIns="0"/>
            <a:lstStyle/>
            <a:p>
              <a:pPr algn="l">
                <a:lnSpc>
                  <a:spcPts val="1296"/>
                </a:lnSpc>
              </a:pPr>
              <a:r>
                <a:rPr lang="en-US" sz="1080">
                  <a:solidFill>
                    <a:srgbClr val="73869B"/>
                  </a:solidFill>
                  <a:latin typeface="Aptos"/>
                  <a:ea typeface="Aptos"/>
                  <a:cs typeface="Aptos"/>
                  <a:sym typeface="Aptos"/>
                </a:rPr>
                <a:t>Report basis: 300–600 mA actuator startup demand.</a:t>
              </a:r>
            </a:p>
          </p:txBody>
        </p:sp>
      </p:grpSp>
      <p:sp>
        <p:nvSpPr>
          <p:cNvPr name="TextBox 69" id="69"/>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68A8FF"/>
            </a:solidFill>
            <a:ln w="19050" cap="sq">
              <a:solidFill>
                <a:srgbClr val="68A8FF"/>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03</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3</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Five-layer IoT architecture</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A modular path from physical sensing to the web dashboard.</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1059370" y="3007042"/>
            <a:ext cx="1392555" cy="953643"/>
            <a:chOff x="0" y="0"/>
            <a:chExt cx="1856740" cy="1271524"/>
          </a:xfrm>
        </p:grpSpPr>
        <p:sp>
          <p:nvSpPr>
            <p:cNvPr name="Freeform 23" id="23"/>
            <p:cNvSpPr/>
            <p:nvPr/>
          </p:nvSpPr>
          <p:spPr>
            <a:xfrm flipH="false" flipV="false" rot="0">
              <a:off x="0" y="0"/>
              <a:ext cx="1856740" cy="1271524"/>
            </a:xfrm>
            <a:custGeom>
              <a:avLst/>
              <a:gdLst/>
              <a:ahLst/>
              <a:cxnLst/>
              <a:rect r="r" b="b" t="t" l="l"/>
              <a:pathLst>
                <a:path h="1271524" w="1856740">
                  <a:moveTo>
                    <a:pt x="0" y="149606"/>
                  </a:moveTo>
                  <a:cubicBezTo>
                    <a:pt x="0" y="66929"/>
                    <a:pt x="66929" y="0"/>
                    <a:pt x="149606" y="0"/>
                  </a:cubicBezTo>
                  <a:lnTo>
                    <a:pt x="1707134" y="0"/>
                  </a:lnTo>
                  <a:cubicBezTo>
                    <a:pt x="1789811" y="0"/>
                    <a:pt x="1856740" y="66929"/>
                    <a:pt x="1856740" y="149606"/>
                  </a:cubicBezTo>
                  <a:lnTo>
                    <a:pt x="1856740" y="1121918"/>
                  </a:lnTo>
                  <a:cubicBezTo>
                    <a:pt x="1856740" y="1204595"/>
                    <a:pt x="1789811" y="1271524"/>
                    <a:pt x="1707134" y="1271524"/>
                  </a:cubicBezTo>
                  <a:lnTo>
                    <a:pt x="149606" y="1271524"/>
                  </a:lnTo>
                  <a:cubicBezTo>
                    <a:pt x="66929" y="1271524"/>
                    <a:pt x="0" y="1204595"/>
                    <a:pt x="0" y="1121918"/>
                  </a:cubicBezTo>
                  <a:close/>
                </a:path>
              </a:pathLst>
            </a:custGeom>
            <a:solidFill>
              <a:srgbClr val="10253B"/>
            </a:solidFill>
            <a:ln w="20955" cap="sq">
              <a:solidFill>
                <a:srgbClr val="46D6F5"/>
              </a:solidFill>
              <a:prstDash val="solid"/>
              <a:miter/>
            </a:ln>
          </p:spPr>
        </p:sp>
      </p:grpSp>
      <p:grpSp>
        <p:nvGrpSpPr>
          <p:cNvPr name="Group 24" id="24"/>
          <p:cNvGrpSpPr/>
          <p:nvPr/>
        </p:nvGrpSpPr>
        <p:grpSpPr>
          <a:xfrm rot="0">
            <a:off x="1234440" y="3209544"/>
            <a:ext cx="1042416" cy="329184"/>
            <a:chOff x="0" y="0"/>
            <a:chExt cx="1389888" cy="438912"/>
          </a:xfrm>
        </p:grpSpPr>
        <p:sp>
          <p:nvSpPr>
            <p:cNvPr name="Freeform 25" id="25"/>
            <p:cNvSpPr/>
            <p:nvPr/>
          </p:nvSpPr>
          <p:spPr>
            <a:xfrm flipH="false" flipV="false" rot="0">
              <a:off x="0" y="0"/>
              <a:ext cx="1389888" cy="438912"/>
            </a:xfrm>
            <a:custGeom>
              <a:avLst/>
              <a:gdLst/>
              <a:ahLst/>
              <a:cxnLst/>
              <a:rect r="r" b="b" t="t" l="l"/>
              <a:pathLst>
                <a:path h="438912" w="1389888">
                  <a:moveTo>
                    <a:pt x="0" y="0"/>
                  </a:moveTo>
                  <a:lnTo>
                    <a:pt x="1389888" y="0"/>
                  </a:lnTo>
                  <a:lnTo>
                    <a:pt x="1389888" y="438912"/>
                  </a:lnTo>
                  <a:lnTo>
                    <a:pt x="0" y="438912"/>
                  </a:lnTo>
                  <a:close/>
                </a:path>
              </a:pathLst>
            </a:custGeom>
            <a:blipFill>
              <a:blip r:embed="rId3">
                <a:alphaModFix amt="0"/>
              </a:blip>
              <a:stretch>
                <a:fillRect l="0" t="-11702" r="0" b="-11702"/>
              </a:stretch>
            </a:blipFill>
          </p:spPr>
        </p:sp>
        <p:sp>
          <p:nvSpPr>
            <p:cNvPr name="TextBox 26" id="26"/>
            <p:cNvSpPr txBox="true"/>
            <p:nvPr/>
          </p:nvSpPr>
          <p:spPr>
            <a:xfrm>
              <a:off x="0" y="0"/>
              <a:ext cx="138988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1</a:t>
              </a:r>
            </a:p>
          </p:txBody>
        </p:sp>
      </p:grpSp>
      <p:grpSp>
        <p:nvGrpSpPr>
          <p:cNvPr name="Group 27" id="27"/>
          <p:cNvGrpSpPr/>
          <p:nvPr/>
        </p:nvGrpSpPr>
        <p:grpSpPr>
          <a:xfrm rot="0">
            <a:off x="2705290" y="3007042"/>
            <a:ext cx="4135755" cy="953643"/>
            <a:chOff x="0" y="0"/>
            <a:chExt cx="5514340" cy="1271524"/>
          </a:xfrm>
        </p:grpSpPr>
        <p:sp>
          <p:nvSpPr>
            <p:cNvPr name="Freeform 28" id="28"/>
            <p:cNvSpPr/>
            <p:nvPr/>
          </p:nvSpPr>
          <p:spPr>
            <a:xfrm flipH="false" flipV="false" rot="0">
              <a:off x="0" y="0"/>
              <a:ext cx="5514340" cy="1271524"/>
            </a:xfrm>
            <a:custGeom>
              <a:avLst/>
              <a:gdLst/>
              <a:ahLst/>
              <a:cxnLst/>
              <a:rect r="r" b="b" t="t" l="l"/>
              <a:pathLst>
                <a:path h="1271524" w="5514340">
                  <a:moveTo>
                    <a:pt x="0" y="112141"/>
                  </a:moveTo>
                  <a:cubicBezTo>
                    <a:pt x="0" y="50292"/>
                    <a:pt x="50292" y="0"/>
                    <a:pt x="112141" y="0"/>
                  </a:cubicBezTo>
                  <a:lnTo>
                    <a:pt x="5402199" y="0"/>
                  </a:lnTo>
                  <a:cubicBezTo>
                    <a:pt x="5464175" y="0"/>
                    <a:pt x="5514340" y="50292"/>
                    <a:pt x="5514340" y="112141"/>
                  </a:cubicBezTo>
                  <a:lnTo>
                    <a:pt x="5514340" y="1159383"/>
                  </a:lnTo>
                  <a:cubicBezTo>
                    <a:pt x="5514340" y="1221359"/>
                    <a:pt x="5464048" y="1271524"/>
                    <a:pt x="5402199" y="1271524"/>
                  </a:cubicBezTo>
                  <a:lnTo>
                    <a:pt x="112141" y="1271524"/>
                  </a:lnTo>
                  <a:cubicBezTo>
                    <a:pt x="50292" y="1271524"/>
                    <a:pt x="0" y="1221232"/>
                    <a:pt x="0" y="1159383"/>
                  </a:cubicBezTo>
                  <a:close/>
                </a:path>
              </a:pathLst>
            </a:custGeom>
            <a:solidFill>
              <a:srgbClr val="10253B"/>
            </a:solidFill>
            <a:ln w="20955" cap="sq">
              <a:solidFill>
                <a:srgbClr val="46D6F5"/>
              </a:solidFill>
              <a:prstDash val="solid"/>
              <a:miter/>
            </a:ln>
          </p:spPr>
        </p:sp>
      </p:grpSp>
      <p:grpSp>
        <p:nvGrpSpPr>
          <p:cNvPr name="Group 29" id="29"/>
          <p:cNvGrpSpPr/>
          <p:nvPr/>
        </p:nvGrpSpPr>
        <p:grpSpPr>
          <a:xfrm rot="0">
            <a:off x="2948940" y="3264408"/>
            <a:ext cx="2125980" cy="246888"/>
            <a:chOff x="0" y="0"/>
            <a:chExt cx="2834640" cy="329184"/>
          </a:xfrm>
        </p:grpSpPr>
        <p:sp>
          <p:nvSpPr>
            <p:cNvPr name="Freeform 30" id="30"/>
            <p:cNvSpPr/>
            <p:nvPr/>
          </p:nvSpPr>
          <p:spPr>
            <a:xfrm flipH="false" flipV="false" rot="0">
              <a:off x="0" y="0"/>
              <a:ext cx="2834640" cy="329184"/>
            </a:xfrm>
            <a:custGeom>
              <a:avLst/>
              <a:gdLst/>
              <a:ahLst/>
              <a:cxnLst/>
              <a:rect r="r" b="b" t="t" l="l"/>
              <a:pathLst>
                <a:path h="329184" w="2834640">
                  <a:moveTo>
                    <a:pt x="0" y="0"/>
                  </a:moveTo>
                  <a:lnTo>
                    <a:pt x="2834640" y="0"/>
                  </a:lnTo>
                  <a:lnTo>
                    <a:pt x="2834640" y="329184"/>
                  </a:lnTo>
                  <a:lnTo>
                    <a:pt x="0" y="329184"/>
                  </a:lnTo>
                  <a:close/>
                </a:path>
              </a:pathLst>
            </a:custGeom>
            <a:blipFill>
              <a:blip r:embed="rId3">
                <a:alphaModFix amt="0"/>
              </a:blip>
              <a:stretch>
                <a:fillRect l="0" t="-117787" r="0" b="-117787"/>
              </a:stretch>
            </a:blipFill>
          </p:spPr>
        </p:sp>
        <p:sp>
          <p:nvSpPr>
            <p:cNvPr name="TextBox 31" id="31"/>
            <p:cNvSpPr txBox="true"/>
            <p:nvPr/>
          </p:nvSpPr>
          <p:spPr>
            <a:xfrm>
              <a:off x="0" y="0"/>
              <a:ext cx="2834640" cy="329184"/>
            </a:xfrm>
            <a:prstGeom prst="rect">
              <a:avLst/>
            </a:prstGeom>
          </p:spPr>
          <p:txBody>
            <a:bodyPr anchor="ctr" rtlCol="false" tIns="0" lIns="0" bIns="0" rIns="0"/>
            <a:lstStyle/>
            <a:p>
              <a:pPr algn="l">
                <a:lnSpc>
                  <a:spcPts val="1980"/>
                </a:lnSpc>
              </a:pPr>
              <a:r>
                <a:rPr lang="en-US" sz="1650" b="true">
                  <a:solidFill>
                    <a:srgbClr val="F5F8FC"/>
                  </a:solidFill>
                  <a:latin typeface="Aptos Bold"/>
                  <a:ea typeface="Aptos Bold"/>
                  <a:cs typeface="Aptos Bold"/>
                  <a:sym typeface="Aptos Bold"/>
                </a:rPr>
                <a:t>EDGE</a:t>
              </a:r>
            </a:p>
          </p:txBody>
        </p:sp>
      </p:grpSp>
      <p:grpSp>
        <p:nvGrpSpPr>
          <p:cNvPr name="Group 32" id="32"/>
          <p:cNvGrpSpPr/>
          <p:nvPr/>
        </p:nvGrpSpPr>
        <p:grpSpPr>
          <a:xfrm rot="0">
            <a:off x="4320540" y="3264408"/>
            <a:ext cx="2276856" cy="246888"/>
            <a:chOff x="0" y="0"/>
            <a:chExt cx="3035808" cy="329184"/>
          </a:xfrm>
        </p:grpSpPr>
        <p:sp>
          <p:nvSpPr>
            <p:cNvPr name="Freeform 33" id="33"/>
            <p:cNvSpPr/>
            <p:nvPr/>
          </p:nvSpPr>
          <p:spPr>
            <a:xfrm flipH="false" flipV="false" rot="0">
              <a:off x="0" y="0"/>
              <a:ext cx="3035808" cy="329184"/>
            </a:xfrm>
            <a:custGeom>
              <a:avLst/>
              <a:gdLst/>
              <a:ahLst/>
              <a:cxnLst/>
              <a:rect r="r" b="b" t="t" l="l"/>
              <a:pathLst>
                <a:path h="329184" w="3035808">
                  <a:moveTo>
                    <a:pt x="0" y="0"/>
                  </a:moveTo>
                  <a:lnTo>
                    <a:pt x="3035808" y="0"/>
                  </a:lnTo>
                  <a:lnTo>
                    <a:pt x="3035808" y="329184"/>
                  </a:lnTo>
                  <a:lnTo>
                    <a:pt x="0" y="329184"/>
                  </a:lnTo>
                  <a:close/>
                </a:path>
              </a:pathLst>
            </a:custGeom>
            <a:blipFill>
              <a:blip r:embed="rId3">
                <a:alphaModFix amt="0"/>
              </a:blip>
              <a:stretch>
                <a:fillRect l="0" t="-129695" r="0" b="-129695"/>
              </a:stretch>
            </a:blipFill>
          </p:spPr>
        </p:sp>
        <p:sp>
          <p:nvSpPr>
            <p:cNvPr name="TextBox 34" id="34"/>
            <p:cNvSpPr txBox="true"/>
            <p:nvPr/>
          </p:nvSpPr>
          <p:spPr>
            <a:xfrm>
              <a:off x="0" y="0"/>
              <a:ext cx="3035808" cy="329184"/>
            </a:xfrm>
            <a:prstGeom prst="rect">
              <a:avLst/>
            </a:prstGeom>
          </p:spPr>
          <p:txBody>
            <a:bodyPr anchor="ctr" rtlCol="false" tIns="0" lIns="0" bIns="0" rIns="0"/>
            <a:lstStyle/>
            <a:p>
              <a:pPr algn="r">
                <a:lnSpc>
                  <a:spcPts val="1584"/>
                </a:lnSpc>
              </a:pPr>
              <a:r>
                <a:rPr lang="en-US" sz="1320">
                  <a:solidFill>
                    <a:srgbClr val="9BAFC2"/>
                  </a:solidFill>
                  <a:latin typeface="Aptos"/>
                  <a:ea typeface="Aptos"/>
                  <a:cs typeface="Aptos"/>
                  <a:sym typeface="Aptos"/>
                </a:rPr>
                <a:t>ESP32 + sensors + actuators</a:t>
              </a:r>
            </a:p>
          </p:txBody>
        </p:sp>
      </p:grpSp>
      <p:sp>
        <p:nvSpPr>
          <p:cNvPr name="AutoShape 35" id="35"/>
          <p:cNvSpPr/>
          <p:nvPr/>
        </p:nvSpPr>
        <p:spPr>
          <a:xfrm rot="121620">
            <a:off x="6871859" y="3479102"/>
            <a:ext cx="754094" cy="0"/>
          </a:xfrm>
          <a:prstGeom prst="line">
            <a:avLst/>
          </a:prstGeom>
          <a:ln cap="rnd" w="9525">
            <a:solidFill>
              <a:srgbClr val="46D6F5"/>
            </a:solidFill>
            <a:prstDash val="solid"/>
            <a:headEnd type="none" len="sm" w="sm"/>
            <a:tailEnd type="triangle" len="med" w="lg"/>
          </a:ln>
        </p:spPr>
      </p:sp>
      <p:grpSp>
        <p:nvGrpSpPr>
          <p:cNvPr name="Group 36" id="36"/>
          <p:cNvGrpSpPr/>
          <p:nvPr/>
        </p:nvGrpSpPr>
        <p:grpSpPr>
          <a:xfrm rot="0">
            <a:off x="1059370" y="4268914"/>
            <a:ext cx="1392555" cy="953643"/>
            <a:chOff x="0" y="0"/>
            <a:chExt cx="1856740" cy="1271524"/>
          </a:xfrm>
        </p:grpSpPr>
        <p:sp>
          <p:nvSpPr>
            <p:cNvPr name="Freeform 37" id="37"/>
            <p:cNvSpPr/>
            <p:nvPr/>
          </p:nvSpPr>
          <p:spPr>
            <a:xfrm flipH="false" flipV="false" rot="0">
              <a:off x="0" y="0"/>
              <a:ext cx="1856740" cy="1271524"/>
            </a:xfrm>
            <a:custGeom>
              <a:avLst/>
              <a:gdLst/>
              <a:ahLst/>
              <a:cxnLst/>
              <a:rect r="r" b="b" t="t" l="l"/>
              <a:pathLst>
                <a:path h="1271524" w="1856740">
                  <a:moveTo>
                    <a:pt x="0" y="149606"/>
                  </a:moveTo>
                  <a:cubicBezTo>
                    <a:pt x="0" y="66929"/>
                    <a:pt x="66929" y="0"/>
                    <a:pt x="149606" y="0"/>
                  </a:cubicBezTo>
                  <a:lnTo>
                    <a:pt x="1707134" y="0"/>
                  </a:lnTo>
                  <a:cubicBezTo>
                    <a:pt x="1789811" y="0"/>
                    <a:pt x="1856740" y="66929"/>
                    <a:pt x="1856740" y="149606"/>
                  </a:cubicBezTo>
                  <a:lnTo>
                    <a:pt x="1856740" y="1121918"/>
                  </a:lnTo>
                  <a:cubicBezTo>
                    <a:pt x="1856740" y="1204595"/>
                    <a:pt x="1789811" y="1271524"/>
                    <a:pt x="1707134" y="1271524"/>
                  </a:cubicBezTo>
                  <a:lnTo>
                    <a:pt x="149606" y="1271524"/>
                  </a:lnTo>
                  <a:cubicBezTo>
                    <a:pt x="66929" y="1271524"/>
                    <a:pt x="0" y="1204595"/>
                    <a:pt x="0" y="1121918"/>
                  </a:cubicBezTo>
                  <a:close/>
                </a:path>
              </a:pathLst>
            </a:custGeom>
            <a:solidFill>
              <a:srgbClr val="10253B"/>
            </a:solidFill>
            <a:ln w="20955" cap="sq">
              <a:solidFill>
                <a:srgbClr val="76E2A1"/>
              </a:solidFill>
              <a:prstDash val="solid"/>
              <a:miter/>
            </a:ln>
          </p:spPr>
        </p:sp>
      </p:grpSp>
      <p:grpSp>
        <p:nvGrpSpPr>
          <p:cNvPr name="Group 38" id="38"/>
          <p:cNvGrpSpPr/>
          <p:nvPr/>
        </p:nvGrpSpPr>
        <p:grpSpPr>
          <a:xfrm rot="0">
            <a:off x="1234440" y="4471416"/>
            <a:ext cx="1042416" cy="329184"/>
            <a:chOff x="0" y="0"/>
            <a:chExt cx="1389888" cy="438912"/>
          </a:xfrm>
        </p:grpSpPr>
        <p:sp>
          <p:nvSpPr>
            <p:cNvPr name="Freeform 39" id="39"/>
            <p:cNvSpPr/>
            <p:nvPr/>
          </p:nvSpPr>
          <p:spPr>
            <a:xfrm flipH="false" flipV="false" rot="0">
              <a:off x="0" y="0"/>
              <a:ext cx="1389888" cy="438912"/>
            </a:xfrm>
            <a:custGeom>
              <a:avLst/>
              <a:gdLst/>
              <a:ahLst/>
              <a:cxnLst/>
              <a:rect r="r" b="b" t="t" l="l"/>
              <a:pathLst>
                <a:path h="438912" w="1389888">
                  <a:moveTo>
                    <a:pt x="0" y="0"/>
                  </a:moveTo>
                  <a:lnTo>
                    <a:pt x="1389888" y="0"/>
                  </a:lnTo>
                  <a:lnTo>
                    <a:pt x="1389888" y="438912"/>
                  </a:lnTo>
                  <a:lnTo>
                    <a:pt x="0" y="438912"/>
                  </a:lnTo>
                  <a:close/>
                </a:path>
              </a:pathLst>
            </a:custGeom>
            <a:blipFill>
              <a:blip r:embed="rId3">
                <a:alphaModFix amt="0"/>
              </a:blip>
              <a:stretch>
                <a:fillRect l="0" t="-11702" r="0" b="-11702"/>
              </a:stretch>
            </a:blipFill>
          </p:spPr>
        </p:sp>
        <p:sp>
          <p:nvSpPr>
            <p:cNvPr name="TextBox 40" id="40"/>
            <p:cNvSpPr txBox="true"/>
            <p:nvPr/>
          </p:nvSpPr>
          <p:spPr>
            <a:xfrm>
              <a:off x="0" y="0"/>
              <a:ext cx="138988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2</a:t>
              </a:r>
            </a:p>
          </p:txBody>
        </p:sp>
      </p:grpSp>
      <p:grpSp>
        <p:nvGrpSpPr>
          <p:cNvPr name="Group 41" id="41"/>
          <p:cNvGrpSpPr/>
          <p:nvPr/>
        </p:nvGrpSpPr>
        <p:grpSpPr>
          <a:xfrm rot="0">
            <a:off x="2705290" y="4268914"/>
            <a:ext cx="4135755" cy="953643"/>
            <a:chOff x="0" y="0"/>
            <a:chExt cx="5514340" cy="1271524"/>
          </a:xfrm>
        </p:grpSpPr>
        <p:sp>
          <p:nvSpPr>
            <p:cNvPr name="Freeform 42" id="42"/>
            <p:cNvSpPr/>
            <p:nvPr/>
          </p:nvSpPr>
          <p:spPr>
            <a:xfrm flipH="false" flipV="false" rot="0">
              <a:off x="0" y="0"/>
              <a:ext cx="5514340" cy="1271524"/>
            </a:xfrm>
            <a:custGeom>
              <a:avLst/>
              <a:gdLst/>
              <a:ahLst/>
              <a:cxnLst/>
              <a:rect r="r" b="b" t="t" l="l"/>
              <a:pathLst>
                <a:path h="1271524" w="5514340">
                  <a:moveTo>
                    <a:pt x="0" y="112141"/>
                  </a:moveTo>
                  <a:cubicBezTo>
                    <a:pt x="0" y="50292"/>
                    <a:pt x="50292" y="0"/>
                    <a:pt x="112141" y="0"/>
                  </a:cubicBezTo>
                  <a:lnTo>
                    <a:pt x="5402199" y="0"/>
                  </a:lnTo>
                  <a:cubicBezTo>
                    <a:pt x="5464175" y="0"/>
                    <a:pt x="5514340" y="50292"/>
                    <a:pt x="5514340" y="112141"/>
                  </a:cubicBezTo>
                  <a:lnTo>
                    <a:pt x="5514340" y="1159383"/>
                  </a:lnTo>
                  <a:cubicBezTo>
                    <a:pt x="5514340" y="1221359"/>
                    <a:pt x="5464048" y="1271524"/>
                    <a:pt x="5402199" y="1271524"/>
                  </a:cubicBezTo>
                  <a:lnTo>
                    <a:pt x="112141" y="1271524"/>
                  </a:lnTo>
                  <a:cubicBezTo>
                    <a:pt x="50292" y="1271524"/>
                    <a:pt x="0" y="1221232"/>
                    <a:pt x="0" y="1159383"/>
                  </a:cubicBezTo>
                  <a:close/>
                </a:path>
              </a:pathLst>
            </a:custGeom>
            <a:solidFill>
              <a:srgbClr val="10253B"/>
            </a:solidFill>
            <a:ln w="20955" cap="sq">
              <a:solidFill>
                <a:srgbClr val="76E2A1"/>
              </a:solidFill>
              <a:prstDash val="solid"/>
              <a:miter/>
            </a:ln>
          </p:spPr>
        </p:sp>
      </p:grpSp>
      <p:grpSp>
        <p:nvGrpSpPr>
          <p:cNvPr name="Group 43" id="43"/>
          <p:cNvGrpSpPr/>
          <p:nvPr/>
        </p:nvGrpSpPr>
        <p:grpSpPr>
          <a:xfrm rot="0">
            <a:off x="2948940" y="4526280"/>
            <a:ext cx="2125980" cy="246888"/>
            <a:chOff x="0" y="0"/>
            <a:chExt cx="2834640" cy="329184"/>
          </a:xfrm>
        </p:grpSpPr>
        <p:sp>
          <p:nvSpPr>
            <p:cNvPr name="Freeform 44" id="44"/>
            <p:cNvSpPr/>
            <p:nvPr/>
          </p:nvSpPr>
          <p:spPr>
            <a:xfrm flipH="false" flipV="false" rot="0">
              <a:off x="0" y="0"/>
              <a:ext cx="2834640" cy="329184"/>
            </a:xfrm>
            <a:custGeom>
              <a:avLst/>
              <a:gdLst/>
              <a:ahLst/>
              <a:cxnLst/>
              <a:rect r="r" b="b" t="t" l="l"/>
              <a:pathLst>
                <a:path h="329184" w="2834640">
                  <a:moveTo>
                    <a:pt x="0" y="0"/>
                  </a:moveTo>
                  <a:lnTo>
                    <a:pt x="2834640" y="0"/>
                  </a:lnTo>
                  <a:lnTo>
                    <a:pt x="2834640" y="329184"/>
                  </a:lnTo>
                  <a:lnTo>
                    <a:pt x="0" y="329184"/>
                  </a:lnTo>
                  <a:close/>
                </a:path>
              </a:pathLst>
            </a:custGeom>
            <a:blipFill>
              <a:blip r:embed="rId3">
                <a:alphaModFix amt="0"/>
              </a:blip>
              <a:stretch>
                <a:fillRect l="0" t="-117787" r="0" b="-117787"/>
              </a:stretch>
            </a:blipFill>
          </p:spPr>
        </p:sp>
        <p:sp>
          <p:nvSpPr>
            <p:cNvPr name="TextBox 45" id="45"/>
            <p:cNvSpPr txBox="true"/>
            <p:nvPr/>
          </p:nvSpPr>
          <p:spPr>
            <a:xfrm>
              <a:off x="0" y="0"/>
              <a:ext cx="2834640" cy="329184"/>
            </a:xfrm>
            <a:prstGeom prst="rect">
              <a:avLst/>
            </a:prstGeom>
          </p:spPr>
          <p:txBody>
            <a:bodyPr anchor="ctr" rtlCol="false" tIns="0" lIns="0" bIns="0" rIns="0"/>
            <a:lstStyle/>
            <a:p>
              <a:pPr algn="l">
                <a:lnSpc>
                  <a:spcPts val="1980"/>
                </a:lnSpc>
              </a:pPr>
              <a:r>
                <a:rPr lang="en-US" sz="1650" b="true">
                  <a:solidFill>
                    <a:srgbClr val="F5F8FC"/>
                  </a:solidFill>
                  <a:latin typeface="Aptos Bold"/>
                  <a:ea typeface="Aptos Bold"/>
                  <a:cs typeface="Aptos Bold"/>
                  <a:sym typeface="Aptos Bold"/>
                </a:rPr>
                <a:t>COMMUNICATION</a:t>
              </a:r>
            </a:p>
          </p:txBody>
        </p:sp>
      </p:grpSp>
      <p:grpSp>
        <p:nvGrpSpPr>
          <p:cNvPr name="Group 46" id="46"/>
          <p:cNvGrpSpPr/>
          <p:nvPr/>
        </p:nvGrpSpPr>
        <p:grpSpPr>
          <a:xfrm rot="0">
            <a:off x="4320540" y="4526280"/>
            <a:ext cx="2276856" cy="246888"/>
            <a:chOff x="0" y="0"/>
            <a:chExt cx="3035808" cy="329184"/>
          </a:xfrm>
        </p:grpSpPr>
        <p:sp>
          <p:nvSpPr>
            <p:cNvPr name="Freeform 47" id="47"/>
            <p:cNvSpPr/>
            <p:nvPr/>
          </p:nvSpPr>
          <p:spPr>
            <a:xfrm flipH="false" flipV="false" rot="0">
              <a:off x="0" y="0"/>
              <a:ext cx="3035808" cy="329184"/>
            </a:xfrm>
            <a:custGeom>
              <a:avLst/>
              <a:gdLst/>
              <a:ahLst/>
              <a:cxnLst/>
              <a:rect r="r" b="b" t="t" l="l"/>
              <a:pathLst>
                <a:path h="329184" w="3035808">
                  <a:moveTo>
                    <a:pt x="0" y="0"/>
                  </a:moveTo>
                  <a:lnTo>
                    <a:pt x="3035808" y="0"/>
                  </a:lnTo>
                  <a:lnTo>
                    <a:pt x="3035808" y="329184"/>
                  </a:lnTo>
                  <a:lnTo>
                    <a:pt x="0" y="329184"/>
                  </a:lnTo>
                  <a:close/>
                </a:path>
              </a:pathLst>
            </a:custGeom>
            <a:blipFill>
              <a:blip r:embed="rId3">
                <a:alphaModFix amt="0"/>
              </a:blip>
              <a:stretch>
                <a:fillRect l="0" t="-129695" r="0" b="-129695"/>
              </a:stretch>
            </a:blipFill>
          </p:spPr>
        </p:sp>
        <p:sp>
          <p:nvSpPr>
            <p:cNvPr name="TextBox 48" id="48"/>
            <p:cNvSpPr txBox="true"/>
            <p:nvPr/>
          </p:nvSpPr>
          <p:spPr>
            <a:xfrm>
              <a:off x="0" y="0"/>
              <a:ext cx="3035808" cy="329184"/>
            </a:xfrm>
            <a:prstGeom prst="rect">
              <a:avLst/>
            </a:prstGeom>
          </p:spPr>
          <p:txBody>
            <a:bodyPr anchor="ctr" rtlCol="false" tIns="0" lIns="0" bIns="0" rIns="0"/>
            <a:lstStyle/>
            <a:p>
              <a:pPr algn="r">
                <a:lnSpc>
                  <a:spcPts val="1584"/>
                </a:lnSpc>
              </a:pPr>
              <a:r>
                <a:rPr lang="en-US" sz="1320">
                  <a:solidFill>
                    <a:srgbClr val="9BAFC2"/>
                  </a:solidFill>
                  <a:latin typeface="Aptos"/>
                  <a:ea typeface="Aptos"/>
                  <a:cs typeface="Aptos"/>
                  <a:sym typeface="Aptos"/>
                </a:rPr>
                <a:t>EMQX / MQTT</a:t>
              </a:r>
            </a:p>
          </p:txBody>
        </p:sp>
      </p:grpSp>
      <p:sp>
        <p:nvSpPr>
          <p:cNvPr name="AutoShape 49" id="49"/>
          <p:cNvSpPr/>
          <p:nvPr/>
        </p:nvSpPr>
        <p:spPr>
          <a:xfrm rot="121620">
            <a:off x="6871859" y="4740974"/>
            <a:ext cx="754094" cy="0"/>
          </a:xfrm>
          <a:prstGeom prst="line">
            <a:avLst/>
          </a:prstGeom>
          <a:ln cap="rnd" w="9525">
            <a:solidFill>
              <a:srgbClr val="76E2A1"/>
            </a:solidFill>
            <a:prstDash val="solid"/>
            <a:headEnd type="none" len="sm" w="sm"/>
            <a:tailEnd type="triangle" len="med" w="lg"/>
          </a:ln>
        </p:spPr>
      </p:sp>
      <p:grpSp>
        <p:nvGrpSpPr>
          <p:cNvPr name="Group 50" id="50"/>
          <p:cNvGrpSpPr/>
          <p:nvPr/>
        </p:nvGrpSpPr>
        <p:grpSpPr>
          <a:xfrm rot="0">
            <a:off x="1059370" y="5530786"/>
            <a:ext cx="1392555" cy="953643"/>
            <a:chOff x="0" y="0"/>
            <a:chExt cx="1856740" cy="1271524"/>
          </a:xfrm>
        </p:grpSpPr>
        <p:sp>
          <p:nvSpPr>
            <p:cNvPr name="Freeform 51" id="51"/>
            <p:cNvSpPr/>
            <p:nvPr/>
          </p:nvSpPr>
          <p:spPr>
            <a:xfrm flipH="false" flipV="false" rot="0">
              <a:off x="0" y="0"/>
              <a:ext cx="1856740" cy="1271524"/>
            </a:xfrm>
            <a:custGeom>
              <a:avLst/>
              <a:gdLst/>
              <a:ahLst/>
              <a:cxnLst/>
              <a:rect r="r" b="b" t="t" l="l"/>
              <a:pathLst>
                <a:path h="1271524" w="1856740">
                  <a:moveTo>
                    <a:pt x="0" y="149606"/>
                  </a:moveTo>
                  <a:cubicBezTo>
                    <a:pt x="0" y="66929"/>
                    <a:pt x="66929" y="0"/>
                    <a:pt x="149606" y="0"/>
                  </a:cubicBezTo>
                  <a:lnTo>
                    <a:pt x="1707134" y="0"/>
                  </a:lnTo>
                  <a:cubicBezTo>
                    <a:pt x="1789811" y="0"/>
                    <a:pt x="1856740" y="66929"/>
                    <a:pt x="1856740" y="149606"/>
                  </a:cubicBezTo>
                  <a:lnTo>
                    <a:pt x="1856740" y="1121918"/>
                  </a:lnTo>
                  <a:cubicBezTo>
                    <a:pt x="1856740" y="1204595"/>
                    <a:pt x="1789811" y="1271524"/>
                    <a:pt x="1707134" y="1271524"/>
                  </a:cubicBezTo>
                  <a:lnTo>
                    <a:pt x="149606" y="1271524"/>
                  </a:lnTo>
                  <a:cubicBezTo>
                    <a:pt x="66929" y="1271524"/>
                    <a:pt x="0" y="1204595"/>
                    <a:pt x="0" y="1121918"/>
                  </a:cubicBezTo>
                  <a:close/>
                </a:path>
              </a:pathLst>
            </a:custGeom>
            <a:solidFill>
              <a:srgbClr val="10253B"/>
            </a:solidFill>
            <a:ln w="20955" cap="sq">
              <a:solidFill>
                <a:srgbClr val="68A8FF"/>
              </a:solidFill>
              <a:prstDash val="solid"/>
              <a:miter/>
            </a:ln>
          </p:spPr>
        </p:sp>
      </p:grpSp>
      <p:grpSp>
        <p:nvGrpSpPr>
          <p:cNvPr name="Group 52" id="52"/>
          <p:cNvGrpSpPr/>
          <p:nvPr/>
        </p:nvGrpSpPr>
        <p:grpSpPr>
          <a:xfrm rot="0">
            <a:off x="1234440" y="5733288"/>
            <a:ext cx="1042416" cy="329184"/>
            <a:chOff x="0" y="0"/>
            <a:chExt cx="1389888" cy="438912"/>
          </a:xfrm>
        </p:grpSpPr>
        <p:sp>
          <p:nvSpPr>
            <p:cNvPr name="Freeform 53" id="53"/>
            <p:cNvSpPr/>
            <p:nvPr/>
          </p:nvSpPr>
          <p:spPr>
            <a:xfrm flipH="false" flipV="false" rot="0">
              <a:off x="0" y="0"/>
              <a:ext cx="1389888" cy="438912"/>
            </a:xfrm>
            <a:custGeom>
              <a:avLst/>
              <a:gdLst/>
              <a:ahLst/>
              <a:cxnLst/>
              <a:rect r="r" b="b" t="t" l="l"/>
              <a:pathLst>
                <a:path h="438912" w="1389888">
                  <a:moveTo>
                    <a:pt x="0" y="0"/>
                  </a:moveTo>
                  <a:lnTo>
                    <a:pt x="1389888" y="0"/>
                  </a:lnTo>
                  <a:lnTo>
                    <a:pt x="1389888" y="438912"/>
                  </a:lnTo>
                  <a:lnTo>
                    <a:pt x="0" y="438912"/>
                  </a:lnTo>
                  <a:close/>
                </a:path>
              </a:pathLst>
            </a:custGeom>
            <a:blipFill>
              <a:blip r:embed="rId3">
                <a:alphaModFix amt="0"/>
              </a:blip>
              <a:stretch>
                <a:fillRect l="0" t="-11702" r="0" b="-11702"/>
              </a:stretch>
            </a:blipFill>
          </p:spPr>
        </p:sp>
        <p:sp>
          <p:nvSpPr>
            <p:cNvPr name="TextBox 54" id="54"/>
            <p:cNvSpPr txBox="true"/>
            <p:nvPr/>
          </p:nvSpPr>
          <p:spPr>
            <a:xfrm>
              <a:off x="0" y="0"/>
              <a:ext cx="138988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3</a:t>
              </a:r>
            </a:p>
          </p:txBody>
        </p:sp>
      </p:grpSp>
      <p:grpSp>
        <p:nvGrpSpPr>
          <p:cNvPr name="Group 55" id="55"/>
          <p:cNvGrpSpPr/>
          <p:nvPr/>
        </p:nvGrpSpPr>
        <p:grpSpPr>
          <a:xfrm rot="0">
            <a:off x="2705290" y="5530786"/>
            <a:ext cx="4135755" cy="953643"/>
            <a:chOff x="0" y="0"/>
            <a:chExt cx="5514340" cy="1271524"/>
          </a:xfrm>
        </p:grpSpPr>
        <p:sp>
          <p:nvSpPr>
            <p:cNvPr name="Freeform 56" id="56"/>
            <p:cNvSpPr/>
            <p:nvPr/>
          </p:nvSpPr>
          <p:spPr>
            <a:xfrm flipH="false" flipV="false" rot="0">
              <a:off x="0" y="0"/>
              <a:ext cx="5514340" cy="1271524"/>
            </a:xfrm>
            <a:custGeom>
              <a:avLst/>
              <a:gdLst/>
              <a:ahLst/>
              <a:cxnLst/>
              <a:rect r="r" b="b" t="t" l="l"/>
              <a:pathLst>
                <a:path h="1271524" w="5514340">
                  <a:moveTo>
                    <a:pt x="0" y="112141"/>
                  </a:moveTo>
                  <a:cubicBezTo>
                    <a:pt x="0" y="50292"/>
                    <a:pt x="50292" y="0"/>
                    <a:pt x="112141" y="0"/>
                  </a:cubicBezTo>
                  <a:lnTo>
                    <a:pt x="5402199" y="0"/>
                  </a:lnTo>
                  <a:cubicBezTo>
                    <a:pt x="5464175" y="0"/>
                    <a:pt x="5514340" y="50292"/>
                    <a:pt x="5514340" y="112141"/>
                  </a:cubicBezTo>
                  <a:lnTo>
                    <a:pt x="5514340" y="1159383"/>
                  </a:lnTo>
                  <a:cubicBezTo>
                    <a:pt x="5514340" y="1221359"/>
                    <a:pt x="5464048" y="1271524"/>
                    <a:pt x="5402199" y="1271524"/>
                  </a:cubicBezTo>
                  <a:lnTo>
                    <a:pt x="112141" y="1271524"/>
                  </a:lnTo>
                  <a:cubicBezTo>
                    <a:pt x="50292" y="1271524"/>
                    <a:pt x="0" y="1221232"/>
                    <a:pt x="0" y="1159383"/>
                  </a:cubicBezTo>
                  <a:close/>
                </a:path>
              </a:pathLst>
            </a:custGeom>
            <a:solidFill>
              <a:srgbClr val="10253B"/>
            </a:solidFill>
            <a:ln w="20955" cap="sq">
              <a:solidFill>
                <a:srgbClr val="68A8FF"/>
              </a:solidFill>
              <a:prstDash val="solid"/>
              <a:miter/>
            </a:ln>
          </p:spPr>
        </p:sp>
      </p:grpSp>
      <p:grpSp>
        <p:nvGrpSpPr>
          <p:cNvPr name="Group 57" id="57"/>
          <p:cNvGrpSpPr/>
          <p:nvPr/>
        </p:nvGrpSpPr>
        <p:grpSpPr>
          <a:xfrm rot="0">
            <a:off x="2948940" y="5788152"/>
            <a:ext cx="2125980" cy="246888"/>
            <a:chOff x="0" y="0"/>
            <a:chExt cx="2834640" cy="329184"/>
          </a:xfrm>
        </p:grpSpPr>
        <p:sp>
          <p:nvSpPr>
            <p:cNvPr name="Freeform 58" id="58"/>
            <p:cNvSpPr/>
            <p:nvPr/>
          </p:nvSpPr>
          <p:spPr>
            <a:xfrm flipH="false" flipV="false" rot="0">
              <a:off x="0" y="0"/>
              <a:ext cx="2834640" cy="329184"/>
            </a:xfrm>
            <a:custGeom>
              <a:avLst/>
              <a:gdLst/>
              <a:ahLst/>
              <a:cxnLst/>
              <a:rect r="r" b="b" t="t" l="l"/>
              <a:pathLst>
                <a:path h="329184" w="2834640">
                  <a:moveTo>
                    <a:pt x="0" y="0"/>
                  </a:moveTo>
                  <a:lnTo>
                    <a:pt x="2834640" y="0"/>
                  </a:lnTo>
                  <a:lnTo>
                    <a:pt x="2834640" y="329184"/>
                  </a:lnTo>
                  <a:lnTo>
                    <a:pt x="0" y="329184"/>
                  </a:lnTo>
                  <a:close/>
                </a:path>
              </a:pathLst>
            </a:custGeom>
            <a:blipFill>
              <a:blip r:embed="rId3">
                <a:alphaModFix amt="0"/>
              </a:blip>
              <a:stretch>
                <a:fillRect l="0" t="-117787" r="0" b="-117787"/>
              </a:stretch>
            </a:blipFill>
          </p:spPr>
        </p:sp>
        <p:sp>
          <p:nvSpPr>
            <p:cNvPr name="TextBox 59" id="59"/>
            <p:cNvSpPr txBox="true"/>
            <p:nvPr/>
          </p:nvSpPr>
          <p:spPr>
            <a:xfrm>
              <a:off x="0" y="0"/>
              <a:ext cx="2834640" cy="329184"/>
            </a:xfrm>
            <a:prstGeom prst="rect">
              <a:avLst/>
            </a:prstGeom>
          </p:spPr>
          <p:txBody>
            <a:bodyPr anchor="ctr" rtlCol="false" tIns="0" lIns="0" bIns="0" rIns="0"/>
            <a:lstStyle/>
            <a:p>
              <a:pPr algn="l">
                <a:lnSpc>
                  <a:spcPts val="1980"/>
                </a:lnSpc>
              </a:pPr>
              <a:r>
                <a:rPr lang="en-US" sz="1650" b="true">
                  <a:solidFill>
                    <a:srgbClr val="F5F8FC"/>
                  </a:solidFill>
                  <a:latin typeface="Aptos Bold"/>
                  <a:ea typeface="Aptos Bold"/>
                  <a:cs typeface="Aptos Bold"/>
                  <a:sym typeface="Aptos Bold"/>
                </a:rPr>
                <a:t>BACKEND</a:t>
              </a:r>
            </a:p>
          </p:txBody>
        </p:sp>
      </p:grpSp>
      <p:grpSp>
        <p:nvGrpSpPr>
          <p:cNvPr name="Group 60" id="60"/>
          <p:cNvGrpSpPr/>
          <p:nvPr/>
        </p:nvGrpSpPr>
        <p:grpSpPr>
          <a:xfrm rot="0">
            <a:off x="4320540" y="5788152"/>
            <a:ext cx="2276856" cy="246888"/>
            <a:chOff x="0" y="0"/>
            <a:chExt cx="3035808" cy="329184"/>
          </a:xfrm>
        </p:grpSpPr>
        <p:sp>
          <p:nvSpPr>
            <p:cNvPr name="Freeform 61" id="61"/>
            <p:cNvSpPr/>
            <p:nvPr/>
          </p:nvSpPr>
          <p:spPr>
            <a:xfrm flipH="false" flipV="false" rot="0">
              <a:off x="0" y="0"/>
              <a:ext cx="3035808" cy="329184"/>
            </a:xfrm>
            <a:custGeom>
              <a:avLst/>
              <a:gdLst/>
              <a:ahLst/>
              <a:cxnLst/>
              <a:rect r="r" b="b" t="t" l="l"/>
              <a:pathLst>
                <a:path h="329184" w="3035808">
                  <a:moveTo>
                    <a:pt x="0" y="0"/>
                  </a:moveTo>
                  <a:lnTo>
                    <a:pt x="3035808" y="0"/>
                  </a:lnTo>
                  <a:lnTo>
                    <a:pt x="3035808" y="329184"/>
                  </a:lnTo>
                  <a:lnTo>
                    <a:pt x="0" y="329184"/>
                  </a:lnTo>
                  <a:close/>
                </a:path>
              </a:pathLst>
            </a:custGeom>
            <a:blipFill>
              <a:blip r:embed="rId3">
                <a:alphaModFix amt="0"/>
              </a:blip>
              <a:stretch>
                <a:fillRect l="0" t="-129695" r="0" b="-129695"/>
              </a:stretch>
            </a:blipFill>
          </p:spPr>
        </p:sp>
        <p:sp>
          <p:nvSpPr>
            <p:cNvPr name="TextBox 62" id="62"/>
            <p:cNvSpPr txBox="true"/>
            <p:nvPr/>
          </p:nvSpPr>
          <p:spPr>
            <a:xfrm>
              <a:off x="0" y="0"/>
              <a:ext cx="3035808" cy="329184"/>
            </a:xfrm>
            <a:prstGeom prst="rect">
              <a:avLst/>
            </a:prstGeom>
          </p:spPr>
          <p:txBody>
            <a:bodyPr anchor="ctr" rtlCol="false" tIns="0" lIns="0" bIns="0" rIns="0"/>
            <a:lstStyle/>
            <a:p>
              <a:pPr algn="r">
                <a:lnSpc>
                  <a:spcPts val="1584"/>
                </a:lnSpc>
              </a:pPr>
              <a:r>
                <a:rPr lang="en-US" sz="1320">
                  <a:solidFill>
                    <a:srgbClr val="9BAFC2"/>
                  </a:solidFill>
                  <a:latin typeface="Aptos"/>
                  <a:ea typeface="Aptos"/>
                  <a:cs typeface="Aptos"/>
                  <a:sym typeface="Aptos"/>
                </a:rPr>
                <a:t>Node.js / Express</a:t>
              </a:r>
            </a:p>
          </p:txBody>
        </p:sp>
      </p:grpSp>
      <p:sp>
        <p:nvSpPr>
          <p:cNvPr name="AutoShape 63" id="63"/>
          <p:cNvSpPr/>
          <p:nvPr/>
        </p:nvSpPr>
        <p:spPr>
          <a:xfrm rot="121620">
            <a:off x="6871859" y="6002846"/>
            <a:ext cx="754094" cy="0"/>
          </a:xfrm>
          <a:prstGeom prst="line">
            <a:avLst/>
          </a:prstGeom>
          <a:ln cap="rnd" w="9525">
            <a:solidFill>
              <a:srgbClr val="68A8FF"/>
            </a:solidFill>
            <a:prstDash val="solid"/>
            <a:headEnd type="none" len="sm" w="sm"/>
            <a:tailEnd type="triangle" len="med" w="lg"/>
          </a:ln>
        </p:spPr>
      </p:sp>
      <p:grpSp>
        <p:nvGrpSpPr>
          <p:cNvPr name="Group 64" id="64"/>
          <p:cNvGrpSpPr/>
          <p:nvPr/>
        </p:nvGrpSpPr>
        <p:grpSpPr>
          <a:xfrm rot="0">
            <a:off x="1059370" y="6792658"/>
            <a:ext cx="1392555" cy="953643"/>
            <a:chOff x="0" y="0"/>
            <a:chExt cx="1856740" cy="1271524"/>
          </a:xfrm>
        </p:grpSpPr>
        <p:sp>
          <p:nvSpPr>
            <p:cNvPr name="Freeform 65" id="65"/>
            <p:cNvSpPr/>
            <p:nvPr/>
          </p:nvSpPr>
          <p:spPr>
            <a:xfrm flipH="false" flipV="false" rot="0">
              <a:off x="0" y="0"/>
              <a:ext cx="1856740" cy="1271524"/>
            </a:xfrm>
            <a:custGeom>
              <a:avLst/>
              <a:gdLst/>
              <a:ahLst/>
              <a:cxnLst/>
              <a:rect r="r" b="b" t="t" l="l"/>
              <a:pathLst>
                <a:path h="1271524" w="1856740">
                  <a:moveTo>
                    <a:pt x="0" y="149606"/>
                  </a:moveTo>
                  <a:cubicBezTo>
                    <a:pt x="0" y="66929"/>
                    <a:pt x="66929" y="0"/>
                    <a:pt x="149606" y="0"/>
                  </a:cubicBezTo>
                  <a:lnTo>
                    <a:pt x="1707134" y="0"/>
                  </a:lnTo>
                  <a:cubicBezTo>
                    <a:pt x="1789811" y="0"/>
                    <a:pt x="1856740" y="66929"/>
                    <a:pt x="1856740" y="149606"/>
                  </a:cubicBezTo>
                  <a:lnTo>
                    <a:pt x="1856740" y="1121918"/>
                  </a:lnTo>
                  <a:cubicBezTo>
                    <a:pt x="1856740" y="1204595"/>
                    <a:pt x="1789811" y="1271524"/>
                    <a:pt x="1707134" y="1271524"/>
                  </a:cubicBezTo>
                  <a:lnTo>
                    <a:pt x="149606" y="1271524"/>
                  </a:lnTo>
                  <a:cubicBezTo>
                    <a:pt x="66929" y="1271524"/>
                    <a:pt x="0" y="1204595"/>
                    <a:pt x="0" y="1121918"/>
                  </a:cubicBezTo>
                  <a:close/>
                </a:path>
              </a:pathLst>
            </a:custGeom>
            <a:solidFill>
              <a:srgbClr val="10253B"/>
            </a:solidFill>
            <a:ln w="20955" cap="sq">
              <a:solidFill>
                <a:srgbClr val="F6C85F"/>
              </a:solidFill>
              <a:prstDash val="solid"/>
              <a:miter/>
            </a:ln>
          </p:spPr>
        </p:sp>
      </p:grpSp>
      <p:grpSp>
        <p:nvGrpSpPr>
          <p:cNvPr name="Group 66" id="66"/>
          <p:cNvGrpSpPr/>
          <p:nvPr/>
        </p:nvGrpSpPr>
        <p:grpSpPr>
          <a:xfrm rot="0">
            <a:off x="1234440" y="6995160"/>
            <a:ext cx="1042416" cy="329184"/>
            <a:chOff x="0" y="0"/>
            <a:chExt cx="1389888" cy="438912"/>
          </a:xfrm>
        </p:grpSpPr>
        <p:sp>
          <p:nvSpPr>
            <p:cNvPr name="Freeform 67" id="67"/>
            <p:cNvSpPr/>
            <p:nvPr/>
          </p:nvSpPr>
          <p:spPr>
            <a:xfrm flipH="false" flipV="false" rot="0">
              <a:off x="0" y="0"/>
              <a:ext cx="1389888" cy="438912"/>
            </a:xfrm>
            <a:custGeom>
              <a:avLst/>
              <a:gdLst/>
              <a:ahLst/>
              <a:cxnLst/>
              <a:rect r="r" b="b" t="t" l="l"/>
              <a:pathLst>
                <a:path h="438912" w="1389888">
                  <a:moveTo>
                    <a:pt x="0" y="0"/>
                  </a:moveTo>
                  <a:lnTo>
                    <a:pt x="1389888" y="0"/>
                  </a:lnTo>
                  <a:lnTo>
                    <a:pt x="1389888" y="438912"/>
                  </a:lnTo>
                  <a:lnTo>
                    <a:pt x="0" y="438912"/>
                  </a:lnTo>
                  <a:close/>
                </a:path>
              </a:pathLst>
            </a:custGeom>
            <a:blipFill>
              <a:blip r:embed="rId3">
                <a:alphaModFix amt="0"/>
              </a:blip>
              <a:stretch>
                <a:fillRect l="0" t="-11702" r="0" b="-11702"/>
              </a:stretch>
            </a:blipFill>
          </p:spPr>
        </p:sp>
        <p:sp>
          <p:nvSpPr>
            <p:cNvPr name="TextBox 68" id="68"/>
            <p:cNvSpPr txBox="true"/>
            <p:nvPr/>
          </p:nvSpPr>
          <p:spPr>
            <a:xfrm>
              <a:off x="0" y="0"/>
              <a:ext cx="138988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4</a:t>
              </a:r>
            </a:p>
          </p:txBody>
        </p:sp>
      </p:grpSp>
      <p:grpSp>
        <p:nvGrpSpPr>
          <p:cNvPr name="Group 69" id="69"/>
          <p:cNvGrpSpPr/>
          <p:nvPr/>
        </p:nvGrpSpPr>
        <p:grpSpPr>
          <a:xfrm rot="0">
            <a:off x="2705290" y="6792658"/>
            <a:ext cx="4135755" cy="953643"/>
            <a:chOff x="0" y="0"/>
            <a:chExt cx="5514340" cy="1271524"/>
          </a:xfrm>
        </p:grpSpPr>
        <p:sp>
          <p:nvSpPr>
            <p:cNvPr name="Freeform 70" id="70"/>
            <p:cNvSpPr/>
            <p:nvPr/>
          </p:nvSpPr>
          <p:spPr>
            <a:xfrm flipH="false" flipV="false" rot="0">
              <a:off x="0" y="0"/>
              <a:ext cx="5514340" cy="1271524"/>
            </a:xfrm>
            <a:custGeom>
              <a:avLst/>
              <a:gdLst/>
              <a:ahLst/>
              <a:cxnLst/>
              <a:rect r="r" b="b" t="t" l="l"/>
              <a:pathLst>
                <a:path h="1271524" w="5514340">
                  <a:moveTo>
                    <a:pt x="0" y="112141"/>
                  </a:moveTo>
                  <a:cubicBezTo>
                    <a:pt x="0" y="50292"/>
                    <a:pt x="50292" y="0"/>
                    <a:pt x="112141" y="0"/>
                  </a:cubicBezTo>
                  <a:lnTo>
                    <a:pt x="5402199" y="0"/>
                  </a:lnTo>
                  <a:cubicBezTo>
                    <a:pt x="5464175" y="0"/>
                    <a:pt x="5514340" y="50292"/>
                    <a:pt x="5514340" y="112141"/>
                  </a:cubicBezTo>
                  <a:lnTo>
                    <a:pt x="5514340" y="1159383"/>
                  </a:lnTo>
                  <a:cubicBezTo>
                    <a:pt x="5514340" y="1221359"/>
                    <a:pt x="5464048" y="1271524"/>
                    <a:pt x="5402199" y="1271524"/>
                  </a:cubicBezTo>
                  <a:lnTo>
                    <a:pt x="112141" y="1271524"/>
                  </a:lnTo>
                  <a:cubicBezTo>
                    <a:pt x="50292" y="1271524"/>
                    <a:pt x="0" y="1221232"/>
                    <a:pt x="0" y="1159383"/>
                  </a:cubicBezTo>
                  <a:close/>
                </a:path>
              </a:pathLst>
            </a:custGeom>
            <a:solidFill>
              <a:srgbClr val="10253B"/>
            </a:solidFill>
            <a:ln w="20955" cap="sq">
              <a:solidFill>
                <a:srgbClr val="F6C85F"/>
              </a:solidFill>
              <a:prstDash val="solid"/>
              <a:miter/>
            </a:ln>
          </p:spPr>
        </p:sp>
      </p:grpSp>
      <p:grpSp>
        <p:nvGrpSpPr>
          <p:cNvPr name="Group 71" id="71"/>
          <p:cNvGrpSpPr/>
          <p:nvPr/>
        </p:nvGrpSpPr>
        <p:grpSpPr>
          <a:xfrm rot="0">
            <a:off x="2948940" y="7050024"/>
            <a:ext cx="2125980" cy="246888"/>
            <a:chOff x="0" y="0"/>
            <a:chExt cx="2834640" cy="329184"/>
          </a:xfrm>
        </p:grpSpPr>
        <p:sp>
          <p:nvSpPr>
            <p:cNvPr name="Freeform 72" id="72"/>
            <p:cNvSpPr/>
            <p:nvPr/>
          </p:nvSpPr>
          <p:spPr>
            <a:xfrm flipH="false" flipV="false" rot="0">
              <a:off x="0" y="0"/>
              <a:ext cx="2834640" cy="329184"/>
            </a:xfrm>
            <a:custGeom>
              <a:avLst/>
              <a:gdLst/>
              <a:ahLst/>
              <a:cxnLst/>
              <a:rect r="r" b="b" t="t" l="l"/>
              <a:pathLst>
                <a:path h="329184" w="2834640">
                  <a:moveTo>
                    <a:pt x="0" y="0"/>
                  </a:moveTo>
                  <a:lnTo>
                    <a:pt x="2834640" y="0"/>
                  </a:lnTo>
                  <a:lnTo>
                    <a:pt x="2834640" y="329184"/>
                  </a:lnTo>
                  <a:lnTo>
                    <a:pt x="0" y="329184"/>
                  </a:lnTo>
                  <a:close/>
                </a:path>
              </a:pathLst>
            </a:custGeom>
            <a:blipFill>
              <a:blip r:embed="rId3">
                <a:alphaModFix amt="0"/>
              </a:blip>
              <a:stretch>
                <a:fillRect l="0" t="-117787" r="0" b="-117787"/>
              </a:stretch>
            </a:blipFill>
          </p:spPr>
        </p:sp>
        <p:sp>
          <p:nvSpPr>
            <p:cNvPr name="TextBox 73" id="73"/>
            <p:cNvSpPr txBox="true"/>
            <p:nvPr/>
          </p:nvSpPr>
          <p:spPr>
            <a:xfrm>
              <a:off x="0" y="0"/>
              <a:ext cx="2834640" cy="329184"/>
            </a:xfrm>
            <a:prstGeom prst="rect">
              <a:avLst/>
            </a:prstGeom>
          </p:spPr>
          <p:txBody>
            <a:bodyPr anchor="ctr" rtlCol="false" tIns="0" lIns="0" bIns="0" rIns="0"/>
            <a:lstStyle/>
            <a:p>
              <a:pPr algn="l">
                <a:lnSpc>
                  <a:spcPts val="1980"/>
                </a:lnSpc>
              </a:pPr>
              <a:r>
                <a:rPr lang="en-US" sz="1650" b="true">
                  <a:solidFill>
                    <a:srgbClr val="F5F8FC"/>
                  </a:solidFill>
                  <a:latin typeface="Aptos Bold"/>
                  <a:ea typeface="Aptos Bold"/>
                  <a:cs typeface="Aptos Bold"/>
                  <a:sym typeface="Aptos Bold"/>
                </a:rPr>
                <a:t>DATABASE</a:t>
              </a:r>
            </a:p>
          </p:txBody>
        </p:sp>
      </p:grpSp>
      <p:grpSp>
        <p:nvGrpSpPr>
          <p:cNvPr name="Group 74" id="74"/>
          <p:cNvGrpSpPr/>
          <p:nvPr/>
        </p:nvGrpSpPr>
        <p:grpSpPr>
          <a:xfrm rot="0">
            <a:off x="5570220" y="6728460"/>
            <a:ext cx="985213" cy="1093587"/>
            <a:chOff x="0" y="0"/>
            <a:chExt cx="1313617" cy="1458116"/>
          </a:xfrm>
        </p:grpSpPr>
        <p:sp>
          <p:nvSpPr>
            <p:cNvPr name="Freeform 75" id="75"/>
            <p:cNvSpPr/>
            <p:nvPr/>
          </p:nvSpPr>
          <p:spPr>
            <a:xfrm flipH="false" flipV="false" rot="0">
              <a:off x="0" y="0"/>
              <a:ext cx="1313617" cy="1458116"/>
            </a:xfrm>
            <a:custGeom>
              <a:avLst/>
              <a:gdLst/>
              <a:ahLst/>
              <a:cxnLst/>
              <a:rect r="r" b="b" t="t" l="l"/>
              <a:pathLst>
                <a:path h="1458116" w="1313617">
                  <a:moveTo>
                    <a:pt x="0" y="0"/>
                  </a:moveTo>
                  <a:lnTo>
                    <a:pt x="1313617" y="0"/>
                  </a:lnTo>
                  <a:lnTo>
                    <a:pt x="1313617" y="1458116"/>
                  </a:lnTo>
                  <a:lnTo>
                    <a:pt x="0" y="1458116"/>
                  </a:lnTo>
                  <a:close/>
                </a:path>
              </a:pathLst>
            </a:custGeom>
            <a:blipFill>
              <a:blip r:embed="rId3">
                <a:alphaModFix amt="0"/>
              </a:blip>
              <a:stretch>
                <a:fillRect l="0" t="-29279" r="-131103" b="48144"/>
              </a:stretch>
            </a:blipFill>
          </p:spPr>
        </p:sp>
        <p:sp>
          <p:nvSpPr>
            <p:cNvPr name="TextBox 76" id="76"/>
            <p:cNvSpPr txBox="true"/>
            <p:nvPr/>
          </p:nvSpPr>
          <p:spPr>
            <a:xfrm>
              <a:off x="0" y="0"/>
              <a:ext cx="1313617" cy="1458116"/>
            </a:xfrm>
            <a:prstGeom prst="rect">
              <a:avLst/>
            </a:prstGeom>
          </p:spPr>
          <p:txBody>
            <a:bodyPr anchor="ctr" rtlCol="false" tIns="0" lIns="0" bIns="0" rIns="0"/>
            <a:lstStyle/>
            <a:p>
              <a:pPr algn="r">
                <a:lnSpc>
                  <a:spcPts val="1584"/>
                </a:lnSpc>
              </a:pPr>
              <a:r>
                <a:rPr lang="en-US" sz="1320">
                  <a:solidFill>
                    <a:srgbClr val="9BAFC2"/>
                  </a:solidFill>
                  <a:latin typeface="Aptos"/>
                  <a:ea typeface="Aptos"/>
                  <a:cs typeface="Aptos"/>
                  <a:sym typeface="Aptos"/>
                </a:rPr>
                <a:t>SQLite</a:t>
              </a:r>
            </a:p>
          </p:txBody>
        </p:sp>
      </p:grpSp>
      <p:sp>
        <p:nvSpPr>
          <p:cNvPr name="AutoShape 77" id="77"/>
          <p:cNvSpPr/>
          <p:nvPr/>
        </p:nvSpPr>
        <p:spPr>
          <a:xfrm rot="121620">
            <a:off x="6871859" y="7264718"/>
            <a:ext cx="754094" cy="0"/>
          </a:xfrm>
          <a:prstGeom prst="line">
            <a:avLst/>
          </a:prstGeom>
          <a:ln cap="rnd" w="9525">
            <a:solidFill>
              <a:srgbClr val="F6C85F"/>
            </a:solidFill>
            <a:prstDash val="solid"/>
            <a:headEnd type="none" len="sm" w="sm"/>
            <a:tailEnd type="triangle" len="med" w="lg"/>
          </a:ln>
        </p:spPr>
      </p:sp>
      <p:grpSp>
        <p:nvGrpSpPr>
          <p:cNvPr name="Group 78" id="78"/>
          <p:cNvGrpSpPr/>
          <p:nvPr/>
        </p:nvGrpSpPr>
        <p:grpSpPr>
          <a:xfrm rot="0">
            <a:off x="1059370" y="8054530"/>
            <a:ext cx="1392555" cy="953643"/>
            <a:chOff x="0" y="0"/>
            <a:chExt cx="1856740" cy="1271524"/>
          </a:xfrm>
        </p:grpSpPr>
        <p:sp>
          <p:nvSpPr>
            <p:cNvPr name="Freeform 79" id="79"/>
            <p:cNvSpPr/>
            <p:nvPr/>
          </p:nvSpPr>
          <p:spPr>
            <a:xfrm flipH="false" flipV="false" rot="0">
              <a:off x="0" y="0"/>
              <a:ext cx="1856740" cy="1271524"/>
            </a:xfrm>
            <a:custGeom>
              <a:avLst/>
              <a:gdLst/>
              <a:ahLst/>
              <a:cxnLst/>
              <a:rect r="r" b="b" t="t" l="l"/>
              <a:pathLst>
                <a:path h="1271524" w="1856740">
                  <a:moveTo>
                    <a:pt x="0" y="149606"/>
                  </a:moveTo>
                  <a:cubicBezTo>
                    <a:pt x="0" y="66929"/>
                    <a:pt x="66929" y="0"/>
                    <a:pt x="149606" y="0"/>
                  </a:cubicBezTo>
                  <a:lnTo>
                    <a:pt x="1707134" y="0"/>
                  </a:lnTo>
                  <a:cubicBezTo>
                    <a:pt x="1789811" y="0"/>
                    <a:pt x="1856740" y="66929"/>
                    <a:pt x="1856740" y="149606"/>
                  </a:cubicBezTo>
                  <a:lnTo>
                    <a:pt x="1856740" y="1121918"/>
                  </a:lnTo>
                  <a:cubicBezTo>
                    <a:pt x="1856740" y="1204595"/>
                    <a:pt x="1789811" y="1271524"/>
                    <a:pt x="1707134" y="1271524"/>
                  </a:cubicBezTo>
                  <a:lnTo>
                    <a:pt x="149606" y="1271524"/>
                  </a:lnTo>
                  <a:cubicBezTo>
                    <a:pt x="66929" y="1271524"/>
                    <a:pt x="0" y="1204595"/>
                    <a:pt x="0" y="1121918"/>
                  </a:cubicBezTo>
                  <a:close/>
                </a:path>
              </a:pathLst>
            </a:custGeom>
            <a:solidFill>
              <a:srgbClr val="10253B"/>
            </a:solidFill>
            <a:ln w="20955" cap="sq">
              <a:solidFill>
                <a:srgbClr val="FF5E78"/>
              </a:solidFill>
              <a:prstDash val="solid"/>
              <a:miter/>
            </a:ln>
          </p:spPr>
        </p:sp>
      </p:grpSp>
      <p:grpSp>
        <p:nvGrpSpPr>
          <p:cNvPr name="Group 80" id="80"/>
          <p:cNvGrpSpPr/>
          <p:nvPr/>
        </p:nvGrpSpPr>
        <p:grpSpPr>
          <a:xfrm rot="0">
            <a:off x="1234440" y="8257032"/>
            <a:ext cx="1042416" cy="329184"/>
            <a:chOff x="0" y="0"/>
            <a:chExt cx="1389888" cy="438912"/>
          </a:xfrm>
        </p:grpSpPr>
        <p:sp>
          <p:nvSpPr>
            <p:cNvPr name="Freeform 81" id="81"/>
            <p:cNvSpPr/>
            <p:nvPr/>
          </p:nvSpPr>
          <p:spPr>
            <a:xfrm flipH="false" flipV="false" rot="0">
              <a:off x="0" y="0"/>
              <a:ext cx="1389888" cy="438912"/>
            </a:xfrm>
            <a:custGeom>
              <a:avLst/>
              <a:gdLst/>
              <a:ahLst/>
              <a:cxnLst/>
              <a:rect r="r" b="b" t="t" l="l"/>
              <a:pathLst>
                <a:path h="438912" w="1389888">
                  <a:moveTo>
                    <a:pt x="0" y="0"/>
                  </a:moveTo>
                  <a:lnTo>
                    <a:pt x="1389888" y="0"/>
                  </a:lnTo>
                  <a:lnTo>
                    <a:pt x="1389888" y="438912"/>
                  </a:lnTo>
                  <a:lnTo>
                    <a:pt x="0" y="438912"/>
                  </a:lnTo>
                  <a:close/>
                </a:path>
              </a:pathLst>
            </a:custGeom>
            <a:blipFill>
              <a:blip r:embed="rId3">
                <a:alphaModFix amt="0"/>
              </a:blip>
              <a:stretch>
                <a:fillRect l="0" t="-11702" r="0" b="-11702"/>
              </a:stretch>
            </a:blipFill>
          </p:spPr>
        </p:sp>
        <p:sp>
          <p:nvSpPr>
            <p:cNvPr name="TextBox 82" id="82"/>
            <p:cNvSpPr txBox="true"/>
            <p:nvPr/>
          </p:nvSpPr>
          <p:spPr>
            <a:xfrm>
              <a:off x="0" y="0"/>
              <a:ext cx="138988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5</a:t>
              </a:r>
            </a:p>
          </p:txBody>
        </p:sp>
      </p:grpSp>
      <p:grpSp>
        <p:nvGrpSpPr>
          <p:cNvPr name="Group 83" id="83"/>
          <p:cNvGrpSpPr/>
          <p:nvPr/>
        </p:nvGrpSpPr>
        <p:grpSpPr>
          <a:xfrm rot="0">
            <a:off x="2705290" y="8054530"/>
            <a:ext cx="4135755" cy="953643"/>
            <a:chOff x="0" y="0"/>
            <a:chExt cx="5514340" cy="1271524"/>
          </a:xfrm>
        </p:grpSpPr>
        <p:sp>
          <p:nvSpPr>
            <p:cNvPr name="Freeform 84" id="84"/>
            <p:cNvSpPr/>
            <p:nvPr/>
          </p:nvSpPr>
          <p:spPr>
            <a:xfrm flipH="false" flipV="false" rot="0">
              <a:off x="0" y="0"/>
              <a:ext cx="5514340" cy="1271524"/>
            </a:xfrm>
            <a:custGeom>
              <a:avLst/>
              <a:gdLst/>
              <a:ahLst/>
              <a:cxnLst/>
              <a:rect r="r" b="b" t="t" l="l"/>
              <a:pathLst>
                <a:path h="1271524" w="5514340">
                  <a:moveTo>
                    <a:pt x="0" y="112141"/>
                  </a:moveTo>
                  <a:cubicBezTo>
                    <a:pt x="0" y="50292"/>
                    <a:pt x="50292" y="0"/>
                    <a:pt x="112141" y="0"/>
                  </a:cubicBezTo>
                  <a:lnTo>
                    <a:pt x="5402199" y="0"/>
                  </a:lnTo>
                  <a:cubicBezTo>
                    <a:pt x="5464175" y="0"/>
                    <a:pt x="5514340" y="50292"/>
                    <a:pt x="5514340" y="112141"/>
                  </a:cubicBezTo>
                  <a:lnTo>
                    <a:pt x="5514340" y="1159383"/>
                  </a:lnTo>
                  <a:cubicBezTo>
                    <a:pt x="5514340" y="1221359"/>
                    <a:pt x="5464048" y="1271524"/>
                    <a:pt x="5402199" y="1271524"/>
                  </a:cubicBezTo>
                  <a:lnTo>
                    <a:pt x="112141" y="1271524"/>
                  </a:lnTo>
                  <a:cubicBezTo>
                    <a:pt x="50292" y="1271524"/>
                    <a:pt x="0" y="1221232"/>
                    <a:pt x="0" y="1159383"/>
                  </a:cubicBezTo>
                  <a:close/>
                </a:path>
              </a:pathLst>
            </a:custGeom>
            <a:solidFill>
              <a:srgbClr val="10253B"/>
            </a:solidFill>
            <a:ln w="20955" cap="sq">
              <a:solidFill>
                <a:srgbClr val="FF5E78"/>
              </a:solidFill>
              <a:prstDash val="solid"/>
              <a:miter/>
            </a:ln>
          </p:spPr>
        </p:sp>
      </p:grpSp>
      <p:grpSp>
        <p:nvGrpSpPr>
          <p:cNvPr name="Group 85" id="85"/>
          <p:cNvGrpSpPr/>
          <p:nvPr/>
        </p:nvGrpSpPr>
        <p:grpSpPr>
          <a:xfrm rot="0">
            <a:off x="2948940" y="8311896"/>
            <a:ext cx="2125980" cy="246888"/>
            <a:chOff x="0" y="0"/>
            <a:chExt cx="2834640" cy="329184"/>
          </a:xfrm>
        </p:grpSpPr>
        <p:sp>
          <p:nvSpPr>
            <p:cNvPr name="Freeform 86" id="86"/>
            <p:cNvSpPr/>
            <p:nvPr/>
          </p:nvSpPr>
          <p:spPr>
            <a:xfrm flipH="false" flipV="false" rot="0">
              <a:off x="0" y="0"/>
              <a:ext cx="2834640" cy="329184"/>
            </a:xfrm>
            <a:custGeom>
              <a:avLst/>
              <a:gdLst/>
              <a:ahLst/>
              <a:cxnLst/>
              <a:rect r="r" b="b" t="t" l="l"/>
              <a:pathLst>
                <a:path h="329184" w="2834640">
                  <a:moveTo>
                    <a:pt x="0" y="0"/>
                  </a:moveTo>
                  <a:lnTo>
                    <a:pt x="2834640" y="0"/>
                  </a:lnTo>
                  <a:lnTo>
                    <a:pt x="2834640" y="329184"/>
                  </a:lnTo>
                  <a:lnTo>
                    <a:pt x="0" y="329184"/>
                  </a:lnTo>
                  <a:close/>
                </a:path>
              </a:pathLst>
            </a:custGeom>
            <a:blipFill>
              <a:blip r:embed="rId3">
                <a:alphaModFix amt="0"/>
              </a:blip>
              <a:stretch>
                <a:fillRect l="0" t="-117787" r="0" b="-117787"/>
              </a:stretch>
            </a:blipFill>
          </p:spPr>
        </p:sp>
        <p:sp>
          <p:nvSpPr>
            <p:cNvPr name="TextBox 87" id="87"/>
            <p:cNvSpPr txBox="true"/>
            <p:nvPr/>
          </p:nvSpPr>
          <p:spPr>
            <a:xfrm>
              <a:off x="0" y="0"/>
              <a:ext cx="2834640" cy="329184"/>
            </a:xfrm>
            <a:prstGeom prst="rect">
              <a:avLst/>
            </a:prstGeom>
          </p:spPr>
          <p:txBody>
            <a:bodyPr anchor="ctr" rtlCol="false" tIns="0" lIns="0" bIns="0" rIns="0"/>
            <a:lstStyle/>
            <a:p>
              <a:pPr algn="l">
                <a:lnSpc>
                  <a:spcPts val="1980"/>
                </a:lnSpc>
              </a:pPr>
              <a:r>
                <a:rPr lang="en-US" sz="1650" b="true">
                  <a:solidFill>
                    <a:srgbClr val="F5F8FC"/>
                  </a:solidFill>
                  <a:latin typeface="Aptos Bold"/>
                  <a:ea typeface="Aptos Bold"/>
                  <a:cs typeface="Aptos Bold"/>
                  <a:sym typeface="Aptos Bold"/>
                </a:rPr>
                <a:t>FRONTEND</a:t>
              </a:r>
            </a:p>
          </p:txBody>
        </p:sp>
      </p:grpSp>
      <p:grpSp>
        <p:nvGrpSpPr>
          <p:cNvPr name="Group 88" id="88"/>
          <p:cNvGrpSpPr/>
          <p:nvPr/>
        </p:nvGrpSpPr>
        <p:grpSpPr>
          <a:xfrm rot="0">
            <a:off x="4320540" y="8311896"/>
            <a:ext cx="2276856" cy="246888"/>
            <a:chOff x="0" y="0"/>
            <a:chExt cx="3035808" cy="329184"/>
          </a:xfrm>
        </p:grpSpPr>
        <p:sp>
          <p:nvSpPr>
            <p:cNvPr name="Freeform 89" id="89"/>
            <p:cNvSpPr/>
            <p:nvPr/>
          </p:nvSpPr>
          <p:spPr>
            <a:xfrm flipH="false" flipV="false" rot="0">
              <a:off x="0" y="0"/>
              <a:ext cx="3035808" cy="329184"/>
            </a:xfrm>
            <a:custGeom>
              <a:avLst/>
              <a:gdLst/>
              <a:ahLst/>
              <a:cxnLst/>
              <a:rect r="r" b="b" t="t" l="l"/>
              <a:pathLst>
                <a:path h="329184" w="3035808">
                  <a:moveTo>
                    <a:pt x="0" y="0"/>
                  </a:moveTo>
                  <a:lnTo>
                    <a:pt x="3035808" y="0"/>
                  </a:lnTo>
                  <a:lnTo>
                    <a:pt x="3035808" y="329184"/>
                  </a:lnTo>
                  <a:lnTo>
                    <a:pt x="0" y="329184"/>
                  </a:lnTo>
                  <a:close/>
                </a:path>
              </a:pathLst>
            </a:custGeom>
            <a:blipFill>
              <a:blip r:embed="rId3">
                <a:alphaModFix amt="0"/>
              </a:blip>
              <a:stretch>
                <a:fillRect l="0" t="-129695" r="0" b="-129695"/>
              </a:stretch>
            </a:blipFill>
          </p:spPr>
        </p:sp>
        <p:sp>
          <p:nvSpPr>
            <p:cNvPr name="TextBox 90" id="90"/>
            <p:cNvSpPr txBox="true"/>
            <p:nvPr/>
          </p:nvSpPr>
          <p:spPr>
            <a:xfrm>
              <a:off x="0" y="0"/>
              <a:ext cx="3035808" cy="329184"/>
            </a:xfrm>
            <a:prstGeom prst="rect">
              <a:avLst/>
            </a:prstGeom>
          </p:spPr>
          <p:txBody>
            <a:bodyPr anchor="ctr" rtlCol="false" tIns="0" lIns="0" bIns="0" rIns="0"/>
            <a:lstStyle/>
            <a:p>
              <a:pPr algn="r">
                <a:lnSpc>
                  <a:spcPts val="1584"/>
                </a:lnSpc>
              </a:pPr>
              <a:r>
                <a:rPr lang="en-US" sz="1320">
                  <a:solidFill>
                    <a:srgbClr val="9BAFC2"/>
                  </a:solidFill>
                  <a:latin typeface="Aptos"/>
                  <a:ea typeface="Aptos"/>
                  <a:cs typeface="Aptos"/>
                  <a:sym typeface="Aptos"/>
                </a:rPr>
                <a:t>Web dashboard / SPA</a:t>
              </a:r>
            </a:p>
          </p:txBody>
        </p:sp>
      </p:grpSp>
      <p:grpSp>
        <p:nvGrpSpPr>
          <p:cNvPr name="Group 91" id="91"/>
          <p:cNvGrpSpPr/>
          <p:nvPr/>
        </p:nvGrpSpPr>
        <p:grpSpPr>
          <a:xfrm rot="0">
            <a:off x="8290560" y="3078480"/>
            <a:ext cx="3787140" cy="3649980"/>
            <a:chOff x="0" y="0"/>
            <a:chExt cx="5049520" cy="4866640"/>
          </a:xfrm>
        </p:grpSpPr>
        <p:sp>
          <p:nvSpPr>
            <p:cNvPr name="Freeform 92" id="92"/>
            <p:cNvSpPr/>
            <p:nvPr/>
          </p:nvSpPr>
          <p:spPr>
            <a:xfrm flipH="false" flipV="false" rot="0">
              <a:off x="0" y="0"/>
              <a:ext cx="5049520" cy="4866640"/>
            </a:xfrm>
            <a:custGeom>
              <a:avLst/>
              <a:gdLst/>
              <a:ahLst/>
              <a:cxnLst/>
              <a:rect r="r" b="b" t="t" l="l"/>
              <a:pathLst>
                <a:path h="4866640" w="5049520">
                  <a:moveTo>
                    <a:pt x="0" y="146939"/>
                  </a:moveTo>
                  <a:cubicBezTo>
                    <a:pt x="0" y="65786"/>
                    <a:pt x="65786" y="0"/>
                    <a:pt x="146939" y="0"/>
                  </a:cubicBezTo>
                  <a:lnTo>
                    <a:pt x="4902581" y="0"/>
                  </a:lnTo>
                  <a:cubicBezTo>
                    <a:pt x="4983734" y="0"/>
                    <a:pt x="5049520" y="65786"/>
                    <a:pt x="5049520" y="146939"/>
                  </a:cubicBezTo>
                  <a:lnTo>
                    <a:pt x="5049520" y="4719701"/>
                  </a:lnTo>
                  <a:cubicBezTo>
                    <a:pt x="5049520" y="4800854"/>
                    <a:pt x="4983734" y="4866640"/>
                    <a:pt x="4902581" y="4866640"/>
                  </a:cubicBezTo>
                  <a:lnTo>
                    <a:pt x="146939" y="4866640"/>
                  </a:lnTo>
                  <a:cubicBezTo>
                    <a:pt x="65786" y="4866640"/>
                    <a:pt x="0" y="4800854"/>
                    <a:pt x="0" y="4719701"/>
                  </a:cubicBezTo>
                  <a:close/>
                </a:path>
              </a:pathLst>
            </a:custGeom>
            <a:solidFill>
              <a:srgbClr val="0E1D30"/>
            </a:solidFill>
            <a:ln w="15240" cap="sq">
              <a:solidFill>
                <a:srgbClr val="1D3850"/>
              </a:solidFill>
              <a:prstDash val="solid"/>
              <a:miter/>
            </a:ln>
          </p:spPr>
        </p:sp>
      </p:grpSp>
      <p:grpSp>
        <p:nvGrpSpPr>
          <p:cNvPr name="Group 93" id="93"/>
          <p:cNvGrpSpPr/>
          <p:nvPr/>
        </p:nvGrpSpPr>
        <p:grpSpPr>
          <a:xfrm rot="0">
            <a:off x="9368028" y="3360420"/>
            <a:ext cx="2400300" cy="342900"/>
            <a:chOff x="0" y="0"/>
            <a:chExt cx="3200400" cy="457200"/>
          </a:xfrm>
        </p:grpSpPr>
        <p:sp>
          <p:nvSpPr>
            <p:cNvPr name="Freeform 94" id="94"/>
            <p:cNvSpPr/>
            <p:nvPr/>
          </p:nvSpPr>
          <p:spPr>
            <a:xfrm flipH="false" flipV="false" rot="0">
              <a:off x="0" y="0"/>
              <a:ext cx="3200400" cy="457200"/>
            </a:xfrm>
            <a:custGeom>
              <a:avLst/>
              <a:gdLst/>
              <a:ahLst/>
              <a:cxnLst/>
              <a:rect r="r" b="b" t="t" l="l"/>
              <a:pathLst>
                <a:path h="457200" w="3200400">
                  <a:moveTo>
                    <a:pt x="0" y="0"/>
                  </a:moveTo>
                  <a:lnTo>
                    <a:pt x="3200400" y="0"/>
                  </a:lnTo>
                  <a:lnTo>
                    <a:pt x="3200400" y="457200"/>
                  </a:lnTo>
                  <a:lnTo>
                    <a:pt x="0" y="457200"/>
                  </a:lnTo>
                  <a:close/>
                </a:path>
              </a:pathLst>
            </a:custGeom>
            <a:blipFill>
              <a:blip r:embed="rId3">
                <a:alphaModFix amt="0"/>
              </a:blip>
              <a:stretch>
                <a:fillRect l="0" t="-86395" r="0" b="-86395"/>
              </a:stretch>
            </a:blipFill>
          </p:spPr>
        </p:sp>
        <p:sp>
          <p:nvSpPr>
            <p:cNvPr name="TextBox 95" id="95"/>
            <p:cNvSpPr txBox="true"/>
            <p:nvPr/>
          </p:nvSpPr>
          <p:spPr>
            <a:xfrm>
              <a:off x="0" y="-9525"/>
              <a:ext cx="320040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CONTROL PLANE</a:t>
              </a:r>
            </a:p>
          </p:txBody>
        </p:sp>
      </p:grpSp>
      <p:sp>
        <p:nvSpPr>
          <p:cNvPr name="TextBox 96" id="96"/>
          <p:cNvSpPr txBox="true"/>
          <p:nvPr/>
        </p:nvSpPr>
        <p:spPr>
          <a:xfrm rot="0">
            <a:off x="8599932" y="3936492"/>
            <a:ext cx="3168396" cy="253746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Local edge logic</a:t>
            </a:r>
          </a:p>
          <a:p>
            <a:pPr algn="l">
              <a:lnSpc>
                <a:spcPts val="3240"/>
              </a:lnSpc>
            </a:pPr>
            <a:r>
              <a:rPr lang="en-US" sz="2700">
                <a:solidFill>
                  <a:srgbClr val="000000"/>
                </a:solidFill>
                <a:latin typeface="Aptos"/>
                <a:ea typeface="Aptos"/>
                <a:cs typeface="Aptos"/>
                <a:sym typeface="Aptos"/>
              </a:rPr>
              <a:t>• EMA filtering</a:t>
            </a:r>
          </a:p>
          <a:p>
            <a:pPr algn="l">
              <a:lnSpc>
                <a:spcPts val="3240"/>
              </a:lnSpc>
            </a:pPr>
            <a:r>
              <a:rPr lang="en-US" sz="2700">
                <a:solidFill>
                  <a:srgbClr val="000000"/>
                </a:solidFill>
                <a:latin typeface="Aptos"/>
                <a:ea typeface="Aptos"/>
                <a:cs typeface="Aptos"/>
                <a:sym typeface="Aptos"/>
              </a:rPr>
              <a:t>• Thermal FSM</a:t>
            </a:r>
          </a:p>
          <a:p>
            <a:pPr algn="l">
              <a:lnSpc>
                <a:spcPts val="3240"/>
              </a:lnSpc>
            </a:pPr>
            <a:r>
              <a:rPr lang="en-US" sz="2700">
                <a:solidFill>
                  <a:srgbClr val="000000"/>
                </a:solidFill>
                <a:latin typeface="Aptos"/>
                <a:ea typeface="Aptos"/>
                <a:cs typeface="Aptos"/>
                <a:sym typeface="Aptos"/>
              </a:rPr>
              <a:t>• Actuator control</a:t>
            </a:r>
          </a:p>
          <a:p>
            <a:pPr algn="l">
              <a:lnSpc>
                <a:spcPts val="3240"/>
              </a:lnSpc>
            </a:pPr>
            <a:r>
              <a:rPr lang="en-US" sz="2700">
                <a:solidFill>
                  <a:srgbClr val="000000"/>
                </a:solidFill>
                <a:latin typeface="Aptos"/>
                <a:ea typeface="Aptos"/>
                <a:cs typeface="Aptos"/>
                <a:sym typeface="Aptos"/>
              </a:rPr>
              <a:t>• Offline buffering</a:t>
            </a:r>
          </a:p>
        </p:txBody>
      </p:sp>
      <p:grpSp>
        <p:nvGrpSpPr>
          <p:cNvPr name="Group 97" id="97"/>
          <p:cNvGrpSpPr/>
          <p:nvPr/>
        </p:nvGrpSpPr>
        <p:grpSpPr>
          <a:xfrm rot="0">
            <a:off x="12309348" y="3078480"/>
            <a:ext cx="4651248" cy="3649980"/>
            <a:chOff x="0" y="0"/>
            <a:chExt cx="6201664" cy="4866640"/>
          </a:xfrm>
        </p:grpSpPr>
        <p:sp>
          <p:nvSpPr>
            <p:cNvPr name="Freeform 98" id="98"/>
            <p:cNvSpPr/>
            <p:nvPr/>
          </p:nvSpPr>
          <p:spPr>
            <a:xfrm flipH="false" flipV="false" rot="0">
              <a:off x="0" y="0"/>
              <a:ext cx="6201664" cy="4866640"/>
            </a:xfrm>
            <a:custGeom>
              <a:avLst/>
              <a:gdLst/>
              <a:ahLst/>
              <a:cxnLst/>
              <a:rect r="r" b="b" t="t" l="l"/>
              <a:pathLst>
                <a:path h="4866640" w="6201664">
                  <a:moveTo>
                    <a:pt x="0" y="146939"/>
                  </a:moveTo>
                  <a:cubicBezTo>
                    <a:pt x="0" y="65786"/>
                    <a:pt x="65786" y="0"/>
                    <a:pt x="146939" y="0"/>
                  </a:cubicBezTo>
                  <a:lnTo>
                    <a:pt x="6054725" y="0"/>
                  </a:lnTo>
                  <a:cubicBezTo>
                    <a:pt x="6135878" y="0"/>
                    <a:pt x="6201664" y="65786"/>
                    <a:pt x="6201664" y="146939"/>
                  </a:cubicBezTo>
                  <a:lnTo>
                    <a:pt x="6201664" y="4719701"/>
                  </a:lnTo>
                  <a:cubicBezTo>
                    <a:pt x="6201664" y="4800854"/>
                    <a:pt x="6135878" y="4866640"/>
                    <a:pt x="6054725" y="4866640"/>
                  </a:cubicBezTo>
                  <a:lnTo>
                    <a:pt x="146939" y="4866640"/>
                  </a:lnTo>
                  <a:cubicBezTo>
                    <a:pt x="65786" y="4866640"/>
                    <a:pt x="0" y="4800854"/>
                    <a:pt x="0" y="4719701"/>
                  </a:cubicBezTo>
                  <a:close/>
                </a:path>
              </a:pathLst>
            </a:custGeom>
            <a:solidFill>
              <a:srgbClr val="0E1D30"/>
            </a:solidFill>
            <a:ln w="15240" cap="sq">
              <a:solidFill>
                <a:srgbClr val="1D3850"/>
              </a:solidFill>
              <a:prstDash val="solid"/>
              <a:miter/>
            </a:ln>
          </p:spPr>
        </p:sp>
      </p:grpSp>
      <p:grpSp>
        <p:nvGrpSpPr>
          <p:cNvPr name="Group 99" id="99"/>
          <p:cNvGrpSpPr/>
          <p:nvPr/>
        </p:nvGrpSpPr>
        <p:grpSpPr>
          <a:xfrm rot="0">
            <a:off x="13386816" y="3360420"/>
            <a:ext cx="3264408" cy="342900"/>
            <a:chOff x="0" y="0"/>
            <a:chExt cx="4352544" cy="457200"/>
          </a:xfrm>
        </p:grpSpPr>
        <p:sp>
          <p:nvSpPr>
            <p:cNvPr name="Freeform 100" id="100"/>
            <p:cNvSpPr/>
            <p:nvPr/>
          </p:nvSpPr>
          <p:spPr>
            <a:xfrm flipH="false" flipV="false" rot="0">
              <a:off x="0" y="0"/>
              <a:ext cx="4352544" cy="457200"/>
            </a:xfrm>
            <a:custGeom>
              <a:avLst/>
              <a:gdLst/>
              <a:ahLst/>
              <a:cxnLst/>
              <a:rect r="r" b="b" t="t" l="l"/>
              <a:pathLst>
                <a:path h="457200" w="4352544">
                  <a:moveTo>
                    <a:pt x="0" y="0"/>
                  </a:moveTo>
                  <a:lnTo>
                    <a:pt x="4352544" y="0"/>
                  </a:lnTo>
                  <a:lnTo>
                    <a:pt x="4352544" y="457200"/>
                  </a:lnTo>
                  <a:lnTo>
                    <a:pt x="0" y="457200"/>
                  </a:lnTo>
                  <a:close/>
                </a:path>
              </a:pathLst>
            </a:custGeom>
            <a:blipFill>
              <a:blip r:embed="rId3">
                <a:alphaModFix amt="0"/>
              </a:blip>
              <a:stretch>
                <a:fillRect l="0" t="-135497" r="0" b="-135497"/>
              </a:stretch>
            </a:blipFill>
          </p:spPr>
        </p:sp>
        <p:sp>
          <p:nvSpPr>
            <p:cNvPr name="TextBox 101" id="101"/>
            <p:cNvSpPr txBox="true"/>
            <p:nvPr/>
          </p:nvSpPr>
          <p:spPr>
            <a:xfrm>
              <a:off x="0" y="-9525"/>
              <a:ext cx="435254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DATA PLANE</a:t>
              </a:r>
            </a:p>
          </p:txBody>
        </p:sp>
      </p:grpSp>
      <p:sp>
        <p:nvSpPr>
          <p:cNvPr name="TextBox 102" id="102"/>
          <p:cNvSpPr txBox="true"/>
          <p:nvPr/>
        </p:nvSpPr>
        <p:spPr>
          <a:xfrm rot="0">
            <a:off x="12618720" y="3936492"/>
            <a:ext cx="4032504" cy="253746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Telemetry path</a:t>
            </a:r>
          </a:p>
          <a:p>
            <a:pPr algn="l">
              <a:lnSpc>
                <a:spcPts val="3240"/>
              </a:lnSpc>
            </a:pPr>
            <a:r>
              <a:rPr lang="en-US" sz="2700">
                <a:solidFill>
                  <a:srgbClr val="000000"/>
                </a:solidFill>
                <a:latin typeface="Aptos"/>
                <a:ea typeface="Aptos"/>
                <a:cs typeface="Aptos"/>
                <a:sym typeface="Aptos"/>
              </a:rPr>
              <a:t>• MQTT publish/subscribe</a:t>
            </a:r>
          </a:p>
          <a:p>
            <a:pPr algn="l">
              <a:lnSpc>
                <a:spcPts val="3240"/>
              </a:lnSpc>
            </a:pPr>
            <a:r>
              <a:rPr lang="en-US" sz="2700">
                <a:solidFill>
                  <a:srgbClr val="000000"/>
                </a:solidFill>
                <a:latin typeface="Aptos"/>
                <a:ea typeface="Aptos"/>
                <a:cs typeface="Aptos"/>
                <a:sym typeface="Aptos"/>
              </a:rPr>
              <a:t>• Node.js ingestion</a:t>
            </a:r>
          </a:p>
          <a:p>
            <a:pPr algn="l">
              <a:lnSpc>
                <a:spcPts val="3240"/>
              </a:lnSpc>
            </a:pPr>
            <a:r>
              <a:rPr lang="en-US" sz="2700">
                <a:solidFill>
                  <a:srgbClr val="000000"/>
                </a:solidFill>
                <a:latin typeface="Aptos"/>
                <a:ea typeface="Aptos"/>
                <a:cs typeface="Aptos"/>
                <a:sym typeface="Aptos"/>
              </a:rPr>
              <a:t>• SQLite storage</a:t>
            </a:r>
          </a:p>
          <a:p>
            <a:pPr algn="l">
              <a:lnSpc>
                <a:spcPts val="3240"/>
              </a:lnSpc>
            </a:pPr>
            <a:r>
              <a:rPr lang="en-US" sz="2700">
                <a:solidFill>
                  <a:srgbClr val="000000"/>
                </a:solidFill>
                <a:latin typeface="Aptos"/>
                <a:ea typeface="Aptos"/>
                <a:cs typeface="Aptos"/>
                <a:sym typeface="Aptos"/>
              </a:rPr>
              <a:t>• REST / WebSockets</a:t>
            </a:r>
          </a:p>
        </p:txBody>
      </p:sp>
      <p:sp>
        <p:nvSpPr>
          <p:cNvPr name="TextBox 103" id="103"/>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68A8FF"/>
            </a:solidFill>
            <a:ln w="19050" cap="sq">
              <a:solidFill>
                <a:srgbClr val="68A8FF"/>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03</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3</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Telemetry data flow</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Wi-Fi status determines the online or offline transmission path.</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743902" y="3528250"/>
            <a:ext cx="2284095" cy="1227963"/>
            <a:chOff x="0" y="0"/>
            <a:chExt cx="3045460" cy="1637284"/>
          </a:xfrm>
        </p:grpSpPr>
        <p:sp>
          <p:nvSpPr>
            <p:cNvPr name="Freeform 23" id="23"/>
            <p:cNvSpPr/>
            <p:nvPr/>
          </p:nvSpPr>
          <p:spPr>
            <a:xfrm flipH="false" flipV="false" rot="0">
              <a:off x="0" y="0"/>
              <a:ext cx="3045460" cy="1637284"/>
            </a:xfrm>
            <a:custGeom>
              <a:avLst/>
              <a:gdLst/>
              <a:ahLst/>
              <a:cxnLst/>
              <a:rect r="r" b="b" t="t" l="l"/>
              <a:pathLst>
                <a:path h="1637284" w="3045460">
                  <a:moveTo>
                    <a:pt x="0" y="148844"/>
                  </a:moveTo>
                  <a:cubicBezTo>
                    <a:pt x="0" y="66675"/>
                    <a:pt x="66675" y="0"/>
                    <a:pt x="148844" y="0"/>
                  </a:cubicBezTo>
                  <a:lnTo>
                    <a:pt x="2896616" y="0"/>
                  </a:lnTo>
                  <a:cubicBezTo>
                    <a:pt x="2978785" y="0"/>
                    <a:pt x="3045460" y="66675"/>
                    <a:pt x="3045460" y="148844"/>
                  </a:cubicBezTo>
                  <a:lnTo>
                    <a:pt x="3045460" y="1488440"/>
                  </a:lnTo>
                  <a:cubicBezTo>
                    <a:pt x="3045460" y="1570609"/>
                    <a:pt x="2978785" y="1637284"/>
                    <a:pt x="2896616" y="1637284"/>
                  </a:cubicBezTo>
                  <a:lnTo>
                    <a:pt x="148844" y="1637284"/>
                  </a:lnTo>
                  <a:cubicBezTo>
                    <a:pt x="66675" y="1637284"/>
                    <a:pt x="0" y="1570609"/>
                    <a:pt x="0" y="1488440"/>
                  </a:cubicBezTo>
                  <a:close/>
                </a:path>
              </a:pathLst>
            </a:custGeom>
            <a:solidFill>
              <a:srgbClr val="10253B"/>
            </a:solidFill>
            <a:ln w="20955" cap="sq">
              <a:solidFill>
                <a:srgbClr val="68A8FF"/>
              </a:solidFill>
              <a:prstDash val="solid"/>
              <a:miter/>
            </a:ln>
          </p:spPr>
        </p:sp>
      </p:grpSp>
      <p:grpSp>
        <p:nvGrpSpPr>
          <p:cNvPr name="Group 24" id="24"/>
          <p:cNvGrpSpPr/>
          <p:nvPr/>
        </p:nvGrpSpPr>
        <p:grpSpPr>
          <a:xfrm rot="0">
            <a:off x="918972" y="3730752"/>
            <a:ext cx="1933956" cy="329184"/>
            <a:chOff x="0" y="0"/>
            <a:chExt cx="2578608" cy="438912"/>
          </a:xfrm>
        </p:grpSpPr>
        <p:sp>
          <p:nvSpPr>
            <p:cNvPr name="Freeform 25" id="25"/>
            <p:cNvSpPr/>
            <p:nvPr/>
          </p:nvSpPr>
          <p:spPr>
            <a:xfrm flipH="false" flipV="false" rot="0">
              <a:off x="0" y="0"/>
              <a:ext cx="2578608" cy="438912"/>
            </a:xfrm>
            <a:custGeom>
              <a:avLst/>
              <a:gdLst/>
              <a:ahLst/>
              <a:cxnLst/>
              <a:rect r="r" b="b" t="t" l="l"/>
              <a:pathLst>
                <a:path h="438912" w="2578608">
                  <a:moveTo>
                    <a:pt x="0" y="0"/>
                  </a:moveTo>
                  <a:lnTo>
                    <a:pt x="2578608" y="0"/>
                  </a:lnTo>
                  <a:lnTo>
                    <a:pt x="2578608" y="438912"/>
                  </a:lnTo>
                  <a:lnTo>
                    <a:pt x="0" y="438912"/>
                  </a:lnTo>
                  <a:close/>
                </a:path>
              </a:pathLst>
            </a:custGeom>
            <a:blipFill>
              <a:blip r:embed="rId3">
                <a:alphaModFix amt="0"/>
              </a:blip>
              <a:stretch>
                <a:fillRect l="0" t="-64474" r="0" b="-64474"/>
              </a:stretch>
            </a:blipFill>
          </p:spPr>
        </p:sp>
        <p:sp>
          <p:nvSpPr>
            <p:cNvPr name="TextBox 26" id="26"/>
            <p:cNvSpPr txBox="true"/>
            <p:nvPr/>
          </p:nvSpPr>
          <p:spPr>
            <a:xfrm>
              <a:off x="0" y="0"/>
              <a:ext cx="257860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SENSORS</a:t>
              </a:r>
            </a:p>
          </p:txBody>
        </p:sp>
      </p:grpSp>
      <p:grpSp>
        <p:nvGrpSpPr>
          <p:cNvPr name="Group 27" id="27"/>
          <p:cNvGrpSpPr/>
          <p:nvPr/>
        </p:nvGrpSpPr>
        <p:grpSpPr>
          <a:xfrm rot="0">
            <a:off x="918972" y="4169664"/>
            <a:ext cx="1933956" cy="466344"/>
            <a:chOff x="0" y="0"/>
            <a:chExt cx="2578608" cy="621792"/>
          </a:xfrm>
        </p:grpSpPr>
        <p:sp>
          <p:nvSpPr>
            <p:cNvPr name="Freeform 28" id="28"/>
            <p:cNvSpPr/>
            <p:nvPr/>
          </p:nvSpPr>
          <p:spPr>
            <a:xfrm flipH="false" flipV="false" rot="0">
              <a:off x="0" y="0"/>
              <a:ext cx="2578608" cy="621792"/>
            </a:xfrm>
            <a:custGeom>
              <a:avLst/>
              <a:gdLst/>
              <a:ahLst/>
              <a:cxnLst/>
              <a:rect r="r" b="b" t="t" l="l"/>
              <a:pathLst>
                <a:path h="621792" w="2578608">
                  <a:moveTo>
                    <a:pt x="0" y="0"/>
                  </a:moveTo>
                  <a:lnTo>
                    <a:pt x="2578608" y="0"/>
                  </a:lnTo>
                  <a:lnTo>
                    <a:pt x="2578608" y="621792"/>
                  </a:lnTo>
                  <a:lnTo>
                    <a:pt x="0" y="621792"/>
                  </a:lnTo>
                  <a:close/>
                </a:path>
              </a:pathLst>
            </a:custGeom>
            <a:blipFill>
              <a:blip r:embed="rId3">
                <a:alphaModFix amt="0"/>
              </a:blip>
              <a:stretch>
                <a:fillRect l="0" t="-30805" r="0" b="-30805"/>
              </a:stretch>
            </a:blipFill>
          </p:spPr>
        </p:sp>
        <p:sp>
          <p:nvSpPr>
            <p:cNvPr name="TextBox 29" id="29"/>
            <p:cNvSpPr txBox="true"/>
            <p:nvPr/>
          </p:nvSpPr>
          <p:spPr>
            <a:xfrm>
              <a:off x="0" y="-9525"/>
              <a:ext cx="2578608" cy="631317"/>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raw T / RH</a:t>
              </a:r>
            </a:p>
          </p:txBody>
        </p:sp>
      </p:grpSp>
      <p:sp>
        <p:nvSpPr>
          <p:cNvPr name="AutoShape 30" id="30"/>
          <p:cNvSpPr/>
          <p:nvPr/>
        </p:nvSpPr>
        <p:spPr>
          <a:xfrm rot="112320">
            <a:off x="3109827" y="4132707"/>
            <a:ext cx="1049836" cy="0"/>
          </a:xfrm>
          <a:prstGeom prst="line">
            <a:avLst/>
          </a:prstGeom>
          <a:ln cap="rnd" w="19050">
            <a:solidFill>
              <a:srgbClr val="1D3850"/>
            </a:solidFill>
            <a:prstDash val="solid"/>
            <a:headEnd type="none" len="sm" w="sm"/>
            <a:tailEnd type="triangle" len="med" w="lg"/>
          </a:ln>
        </p:spPr>
      </p:sp>
      <p:grpSp>
        <p:nvGrpSpPr>
          <p:cNvPr name="Group 31" id="31"/>
          <p:cNvGrpSpPr/>
          <p:nvPr/>
        </p:nvGrpSpPr>
        <p:grpSpPr>
          <a:xfrm rot="0">
            <a:off x="4214050" y="3528250"/>
            <a:ext cx="2284095" cy="1227963"/>
            <a:chOff x="0" y="0"/>
            <a:chExt cx="3045460" cy="1637284"/>
          </a:xfrm>
        </p:grpSpPr>
        <p:sp>
          <p:nvSpPr>
            <p:cNvPr name="Freeform 32" id="32"/>
            <p:cNvSpPr/>
            <p:nvPr/>
          </p:nvSpPr>
          <p:spPr>
            <a:xfrm flipH="false" flipV="false" rot="0">
              <a:off x="0" y="0"/>
              <a:ext cx="3045460" cy="1637284"/>
            </a:xfrm>
            <a:custGeom>
              <a:avLst/>
              <a:gdLst/>
              <a:ahLst/>
              <a:cxnLst/>
              <a:rect r="r" b="b" t="t" l="l"/>
              <a:pathLst>
                <a:path h="1637284" w="3045460">
                  <a:moveTo>
                    <a:pt x="0" y="148844"/>
                  </a:moveTo>
                  <a:cubicBezTo>
                    <a:pt x="0" y="66675"/>
                    <a:pt x="66675" y="0"/>
                    <a:pt x="148844" y="0"/>
                  </a:cubicBezTo>
                  <a:lnTo>
                    <a:pt x="2896616" y="0"/>
                  </a:lnTo>
                  <a:cubicBezTo>
                    <a:pt x="2978785" y="0"/>
                    <a:pt x="3045460" y="66675"/>
                    <a:pt x="3045460" y="148844"/>
                  </a:cubicBezTo>
                  <a:lnTo>
                    <a:pt x="3045460" y="1488440"/>
                  </a:lnTo>
                  <a:cubicBezTo>
                    <a:pt x="3045460" y="1570609"/>
                    <a:pt x="2978785" y="1637284"/>
                    <a:pt x="2896616" y="1637284"/>
                  </a:cubicBezTo>
                  <a:lnTo>
                    <a:pt x="148844" y="1637284"/>
                  </a:lnTo>
                  <a:cubicBezTo>
                    <a:pt x="66675" y="1637284"/>
                    <a:pt x="0" y="1570609"/>
                    <a:pt x="0" y="1488440"/>
                  </a:cubicBezTo>
                  <a:close/>
                </a:path>
              </a:pathLst>
            </a:custGeom>
            <a:solidFill>
              <a:srgbClr val="10253B"/>
            </a:solidFill>
            <a:ln w="20955" cap="sq">
              <a:solidFill>
                <a:srgbClr val="46D6F5"/>
              </a:solidFill>
              <a:prstDash val="solid"/>
              <a:miter/>
            </a:ln>
          </p:spPr>
        </p:sp>
      </p:grpSp>
      <p:grpSp>
        <p:nvGrpSpPr>
          <p:cNvPr name="Group 33" id="33"/>
          <p:cNvGrpSpPr/>
          <p:nvPr/>
        </p:nvGrpSpPr>
        <p:grpSpPr>
          <a:xfrm rot="0">
            <a:off x="4389120" y="3730752"/>
            <a:ext cx="1933956" cy="329184"/>
            <a:chOff x="0" y="0"/>
            <a:chExt cx="2578608" cy="438912"/>
          </a:xfrm>
        </p:grpSpPr>
        <p:sp>
          <p:nvSpPr>
            <p:cNvPr name="Freeform 34" id="34"/>
            <p:cNvSpPr/>
            <p:nvPr/>
          </p:nvSpPr>
          <p:spPr>
            <a:xfrm flipH="false" flipV="false" rot="0">
              <a:off x="0" y="0"/>
              <a:ext cx="2578608" cy="438912"/>
            </a:xfrm>
            <a:custGeom>
              <a:avLst/>
              <a:gdLst/>
              <a:ahLst/>
              <a:cxnLst/>
              <a:rect r="r" b="b" t="t" l="l"/>
              <a:pathLst>
                <a:path h="438912" w="2578608">
                  <a:moveTo>
                    <a:pt x="0" y="0"/>
                  </a:moveTo>
                  <a:lnTo>
                    <a:pt x="2578608" y="0"/>
                  </a:lnTo>
                  <a:lnTo>
                    <a:pt x="2578608" y="438912"/>
                  </a:lnTo>
                  <a:lnTo>
                    <a:pt x="0" y="438912"/>
                  </a:lnTo>
                  <a:close/>
                </a:path>
              </a:pathLst>
            </a:custGeom>
            <a:blipFill>
              <a:blip r:embed="rId3">
                <a:alphaModFix amt="0"/>
              </a:blip>
              <a:stretch>
                <a:fillRect l="0" t="-64474" r="0" b="-64474"/>
              </a:stretch>
            </a:blipFill>
          </p:spPr>
        </p:sp>
        <p:sp>
          <p:nvSpPr>
            <p:cNvPr name="TextBox 35" id="35"/>
            <p:cNvSpPr txBox="true"/>
            <p:nvPr/>
          </p:nvSpPr>
          <p:spPr>
            <a:xfrm>
              <a:off x="0" y="0"/>
              <a:ext cx="257860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EMA</a:t>
              </a:r>
            </a:p>
          </p:txBody>
        </p:sp>
      </p:grpSp>
      <p:grpSp>
        <p:nvGrpSpPr>
          <p:cNvPr name="Group 36" id="36"/>
          <p:cNvGrpSpPr/>
          <p:nvPr/>
        </p:nvGrpSpPr>
        <p:grpSpPr>
          <a:xfrm rot="0">
            <a:off x="4389120" y="4169664"/>
            <a:ext cx="1933956" cy="466344"/>
            <a:chOff x="0" y="0"/>
            <a:chExt cx="2578608" cy="621792"/>
          </a:xfrm>
        </p:grpSpPr>
        <p:sp>
          <p:nvSpPr>
            <p:cNvPr name="Freeform 37" id="37"/>
            <p:cNvSpPr/>
            <p:nvPr/>
          </p:nvSpPr>
          <p:spPr>
            <a:xfrm flipH="false" flipV="false" rot="0">
              <a:off x="0" y="0"/>
              <a:ext cx="2578608" cy="621792"/>
            </a:xfrm>
            <a:custGeom>
              <a:avLst/>
              <a:gdLst/>
              <a:ahLst/>
              <a:cxnLst/>
              <a:rect r="r" b="b" t="t" l="l"/>
              <a:pathLst>
                <a:path h="621792" w="2578608">
                  <a:moveTo>
                    <a:pt x="0" y="0"/>
                  </a:moveTo>
                  <a:lnTo>
                    <a:pt x="2578608" y="0"/>
                  </a:lnTo>
                  <a:lnTo>
                    <a:pt x="2578608" y="621792"/>
                  </a:lnTo>
                  <a:lnTo>
                    <a:pt x="0" y="621792"/>
                  </a:lnTo>
                  <a:close/>
                </a:path>
              </a:pathLst>
            </a:custGeom>
            <a:blipFill>
              <a:blip r:embed="rId3">
                <a:alphaModFix amt="0"/>
              </a:blip>
              <a:stretch>
                <a:fillRect l="0" t="-30805" r="0" b="-30805"/>
              </a:stretch>
            </a:blipFill>
          </p:spPr>
        </p:sp>
        <p:sp>
          <p:nvSpPr>
            <p:cNvPr name="TextBox 38" id="38"/>
            <p:cNvSpPr txBox="true"/>
            <p:nvPr/>
          </p:nvSpPr>
          <p:spPr>
            <a:xfrm>
              <a:off x="0" y="-9525"/>
              <a:ext cx="2578608" cy="631317"/>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smoothed T</a:t>
              </a:r>
            </a:p>
          </p:txBody>
        </p:sp>
      </p:grpSp>
      <p:sp>
        <p:nvSpPr>
          <p:cNvPr name="AutoShape 39" id="39"/>
          <p:cNvSpPr/>
          <p:nvPr/>
        </p:nvSpPr>
        <p:spPr>
          <a:xfrm rot="113820">
            <a:off x="6593681" y="4132707"/>
            <a:ext cx="1036130" cy="0"/>
          </a:xfrm>
          <a:prstGeom prst="line">
            <a:avLst/>
          </a:prstGeom>
          <a:ln cap="rnd" w="19050">
            <a:solidFill>
              <a:srgbClr val="1D3850"/>
            </a:solidFill>
            <a:prstDash val="solid"/>
            <a:headEnd type="none" len="sm" w="sm"/>
            <a:tailEnd type="triangle" len="med" w="lg"/>
          </a:ln>
        </p:spPr>
      </p:sp>
      <p:grpSp>
        <p:nvGrpSpPr>
          <p:cNvPr name="Group 40" id="40"/>
          <p:cNvGrpSpPr/>
          <p:nvPr/>
        </p:nvGrpSpPr>
        <p:grpSpPr>
          <a:xfrm rot="0">
            <a:off x="7670482" y="3528250"/>
            <a:ext cx="2626995" cy="1227963"/>
            <a:chOff x="0" y="0"/>
            <a:chExt cx="3502660" cy="1637284"/>
          </a:xfrm>
        </p:grpSpPr>
        <p:sp>
          <p:nvSpPr>
            <p:cNvPr name="Freeform 41" id="41"/>
            <p:cNvSpPr/>
            <p:nvPr/>
          </p:nvSpPr>
          <p:spPr>
            <a:xfrm flipH="false" flipV="false" rot="0">
              <a:off x="0" y="0"/>
              <a:ext cx="3502660" cy="1637284"/>
            </a:xfrm>
            <a:custGeom>
              <a:avLst/>
              <a:gdLst/>
              <a:ahLst/>
              <a:cxnLst/>
              <a:rect r="r" b="b" t="t" l="l"/>
              <a:pathLst>
                <a:path h="1637284" w="3502660">
                  <a:moveTo>
                    <a:pt x="0" y="148844"/>
                  </a:moveTo>
                  <a:cubicBezTo>
                    <a:pt x="0" y="66675"/>
                    <a:pt x="66675" y="0"/>
                    <a:pt x="148844" y="0"/>
                  </a:cubicBezTo>
                  <a:lnTo>
                    <a:pt x="3353816" y="0"/>
                  </a:lnTo>
                  <a:cubicBezTo>
                    <a:pt x="3435985" y="0"/>
                    <a:pt x="3502660" y="66675"/>
                    <a:pt x="3502660" y="148844"/>
                  </a:cubicBezTo>
                  <a:lnTo>
                    <a:pt x="3502660" y="1488440"/>
                  </a:lnTo>
                  <a:cubicBezTo>
                    <a:pt x="3502660" y="1570609"/>
                    <a:pt x="3435985" y="1637284"/>
                    <a:pt x="3353816" y="1637284"/>
                  </a:cubicBezTo>
                  <a:lnTo>
                    <a:pt x="148844" y="1637284"/>
                  </a:lnTo>
                  <a:cubicBezTo>
                    <a:pt x="66675" y="1637284"/>
                    <a:pt x="0" y="1570609"/>
                    <a:pt x="0" y="1488440"/>
                  </a:cubicBezTo>
                  <a:close/>
                </a:path>
              </a:pathLst>
            </a:custGeom>
            <a:solidFill>
              <a:srgbClr val="10253B"/>
            </a:solidFill>
            <a:ln w="20955" cap="sq">
              <a:solidFill>
                <a:srgbClr val="76E2A1"/>
              </a:solidFill>
              <a:prstDash val="solid"/>
              <a:miter/>
            </a:ln>
          </p:spPr>
        </p:sp>
      </p:grpSp>
      <p:grpSp>
        <p:nvGrpSpPr>
          <p:cNvPr name="Group 42" id="42"/>
          <p:cNvGrpSpPr/>
          <p:nvPr/>
        </p:nvGrpSpPr>
        <p:grpSpPr>
          <a:xfrm rot="0">
            <a:off x="7845552" y="3730752"/>
            <a:ext cx="2276856" cy="329184"/>
            <a:chOff x="0" y="0"/>
            <a:chExt cx="3035808" cy="438912"/>
          </a:xfrm>
        </p:grpSpPr>
        <p:sp>
          <p:nvSpPr>
            <p:cNvPr name="Freeform 43" id="43"/>
            <p:cNvSpPr/>
            <p:nvPr/>
          </p:nvSpPr>
          <p:spPr>
            <a:xfrm flipH="false" flipV="false" rot="0">
              <a:off x="0" y="0"/>
              <a:ext cx="3035808" cy="438912"/>
            </a:xfrm>
            <a:custGeom>
              <a:avLst/>
              <a:gdLst/>
              <a:ahLst/>
              <a:cxnLst/>
              <a:rect r="r" b="b" t="t" l="l"/>
              <a:pathLst>
                <a:path h="438912" w="3035808">
                  <a:moveTo>
                    <a:pt x="0" y="0"/>
                  </a:moveTo>
                  <a:lnTo>
                    <a:pt x="3035808" y="0"/>
                  </a:lnTo>
                  <a:lnTo>
                    <a:pt x="3035808" y="438912"/>
                  </a:lnTo>
                  <a:lnTo>
                    <a:pt x="0" y="438912"/>
                  </a:lnTo>
                  <a:close/>
                </a:path>
              </a:pathLst>
            </a:custGeom>
            <a:blipFill>
              <a:blip r:embed="rId3">
                <a:alphaModFix amt="0"/>
              </a:blip>
              <a:stretch>
                <a:fillRect l="0" t="-84771" r="0" b="-84771"/>
              </a:stretch>
            </a:blipFill>
          </p:spPr>
        </p:sp>
        <p:sp>
          <p:nvSpPr>
            <p:cNvPr name="TextBox 44" id="44"/>
            <p:cNvSpPr txBox="true"/>
            <p:nvPr/>
          </p:nvSpPr>
          <p:spPr>
            <a:xfrm>
              <a:off x="0" y="0"/>
              <a:ext cx="303580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THERMAL FSM</a:t>
              </a:r>
            </a:p>
          </p:txBody>
        </p:sp>
      </p:grpSp>
      <p:grpSp>
        <p:nvGrpSpPr>
          <p:cNvPr name="Group 45" id="45"/>
          <p:cNvGrpSpPr/>
          <p:nvPr/>
        </p:nvGrpSpPr>
        <p:grpSpPr>
          <a:xfrm rot="0">
            <a:off x="7845552" y="4169664"/>
            <a:ext cx="2276856" cy="466344"/>
            <a:chOff x="0" y="0"/>
            <a:chExt cx="3035808" cy="621792"/>
          </a:xfrm>
        </p:grpSpPr>
        <p:sp>
          <p:nvSpPr>
            <p:cNvPr name="Freeform 46" id="46"/>
            <p:cNvSpPr/>
            <p:nvPr/>
          </p:nvSpPr>
          <p:spPr>
            <a:xfrm flipH="false" flipV="false" rot="0">
              <a:off x="0" y="0"/>
              <a:ext cx="3035808" cy="621792"/>
            </a:xfrm>
            <a:custGeom>
              <a:avLst/>
              <a:gdLst/>
              <a:ahLst/>
              <a:cxnLst/>
              <a:rect r="r" b="b" t="t" l="l"/>
              <a:pathLst>
                <a:path h="621792" w="3035808">
                  <a:moveTo>
                    <a:pt x="0" y="0"/>
                  </a:moveTo>
                  <a:lnTo>
                    <a:pt x="3035808" y="0"/>
                  </a:lnTo>
                  <a:lnTo>
                    <a:pt x="3035808" y="621792"/>
                  </a:lnTo>
                  <a:lnTo>
                    <a:pt x="0" y="621792"/>
                  </a:lnTo>
                  <a:close/>
                </a:path>
              </a:pathLst>
            </a:custGeom>
            <a:blipFill>
              <a:blip r:embed="rId3">
                <a:alphaModFix amt="0"/>
              </a:blip>
              <a:stretch>
                <a:fillRect l="0" t="-45132" r="0" b="-45132"/>
              </a:stretch>
            </a:blipFill>
          </p:spPr>
        </p:sp>
        <p:sp>
          <p:nvSpPr>
            <p:cNvPr name="TextBox 47" id="47"/>
            <p:cNvSpPr txBox="true"/>
            <p:nvPr/>
          </p:nvSpPr>
          <p:spPr>
            <a:xfrm>
              <a:off x="0" y="-9525"/>
              <a:ext cx="3035808" cy="631317"/>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thermal exposure</a:t>
              </a:r>
            </a:p>
          </p:txBody>
        </p:sp>
      </p:grpSp>
      <p:sp>
        <p:nvSpPr>
          <p:cNvPr name="AutoShape 48" id="48"/>
          <p:cNvSpPr/>
          <p:nvPr/>
        </p:nvSpPr>
        <p:spPr>
          <a:xfrm rot="110880">
            <a:off x="10406739" y="4132707"/>
            <a:ext cx="1063542" cy="0"/>
          </a:xfrm>
          <a:prstGeom prst="line">
            <a:avLst/>
          </a:prstGeom>
          <a:ln cap="rnd" w="19050">
            <a:solidFill>
              <a:srgbClr val="1D3850"/>
            </a:solidFill>
            <a:prstDash val="solid"/>
            <a:headEnd type="none" len="sm" w="sm"/>
            <a:tailEnd type="triangle" len="med" w="lg"/>
          </a:ln>
        </p:spPr>
      </p:sp>
      <p:grpSp>
        <p:nvGrpSpPr>
          <p:cNvPr name="Group 49" id="49"/>
          <p:cNvGrpSpPr/>
          <p:nvPr/>
        </p:nvGrpSpPr>
        <p:grpSpPr>
          <a:xfrm rot="0">
            <a:off x="11510962" y="3528250"/>
            <a:ext cx="2421255" cy="1227963"/>
            <a:chOff x="0" y="0"/>
            <a:chExt cx="3228340" cy="1637284"/>
          </a:xfrm>
        </p:grpSpPr>
        <p:sp>
          <p:nvSpPr>
            <p:cNvPr name="Freeform 50" id="50"/>
            <p:cNvSpPr/>
            <p:nvPr/>
          </p:nvSpPr>
          <p:spPr>
            <a:xfrm flipH="false" flipV="false" rot="0">
              <a:off x="0" y="0"/>
              <a:ext cx="3228340" cy="1637284"/>
            </a:xfrm>
            <a:custGeom>
              <a:avLst/>
              <a:gdLst/>
              <a:ahLst/>
              <a:cxnLst/>
              <a:rect r="r" b="b" t="t" l="l"/>
              <a:pathLst>
                <a:path h="1637284" w="3228340">
                  <a:moveTo>
                    <a:pt x="0" y="148844"/>
                  </a:moveTo>
                  <a:cubicBezTo>
                    <a:pt x="0" y="66675"/>
                    <a:pt x="66675" y="0"/>
                    <a:pt x="148844" y="0"/>
                  </a:cubicBezTo>
                  <a:lnTo>
                    <a:pt x="3079496" y="0"/>
                  </a:lnTo>
                  <a:cubicBezTo>
                    <a:pt x="3161665" y="0"/>
                    <a:pt x="3228340" y="66675"/>
                    <a:pt x="3228340" y="148844"/>
                  </a:cubicBezTo>
                  <a:lnTo>
                    <a:pt x="3228340" y="1488440"/>
                  </a:lnTo>
                  <a:cubicBezTo>
                    <a:pt x="3228340" y="1570609"/>
                    <a:pt x="3161665" y="1637284"/>
                    <a:pt x="3079496" y="1637284"/>
                  </a:cubicBezTo>
                  <a:lnTo>
                    <a:pt x="148844" y="1637284"/>
                  </a:lnTo>
                  <a:cubicBezTo>
                    <a:pt x="66675" y="1637284"/>
                    <a:pt x="0" y="1570609"/>
                    <a:pt x="0" y="1488440"/>
                  </a:cubicBezTo>
                  <a:close/>
                </a:path>
              </a:pathLst>
            </a:custGeom>
            <a:solidFill>
              <a:srgbClr val="10253B"/>
            </a:solidFill>
            <a:ln w="20955" cap="sq">
              <a:solidFill>
                <a:srgbClr val="F6C85F"/>
              </a:solidFill>
              <a:prstDash val="solid"/>
              <a:miter/>
            </a:ln>
          </p:spPr>
        </p:sp>
      </p:grpSp>
      <p:grpSp>
        <p:nvGrpSpPr>
          <p:cNvPr name="Group 51" id="51"/>
          <p:cNvGrpSpPr/>
          <p:nvPr/>
        </p:nvGrpSpPr>
        <p:grpSpPr>
          <a:xfrm rot="0">
            <a:off x="11686032" y="3730752"/>
            <a:ext cx="2071116" cy="329184"/>
            <a:chOff x="0" y="0"/>
            <a:chExt cx="2761488" cy="438912"/>
          </a:xfrm>
        </p:grpSpPr>
        <p:sp>
          <p:nvSpPr>
            <p:cNvPr name="Freeform 52" id="52"/>
            <p:cNvSpPr/>
            <p:nvPr/>
          </p:nvSpPr>
          <p:spPr>
            <a:xfrm flipH="false" flipV="false" rot="0">
              <a:off x="0" y="0"/>
              <a:ext cx="2761488" cy="438912"/>
            </a:xfrm>
            <a:custGeom>
              <a:avLst/>
              <a:gdLst/>
              <a:ahLst/>
              <a:cxnLst/>
              <a:rect r="r" b="b" t="t" l="l"/>
              <a:pathLst>
                <a:path h="438912" w="2761488">
                  <a:moveTo>
                    <a:pt x="0" y="0"/>
                  </a:moveTo>
                  <a:lnTo>
                    <a:pt x="2761488" y="0"/>
                  </a:lnTo>
                  <a:lnTo>
                    <a:pt x="2761488" y="438912"/>
                  </a:lnTo>
                  <a:lnTo>
                    <a:pt x="0" y="438912"/>
                  </a:lnTo>
                  <a:close/>
                </a:path>
              </a:pathLst>
            </a:custGeom>
            <a:blipFill>
              <a:blip r:embed="rId3">
                <a:alphaModFix amt="0"/>
              </a:blip>
              <a:stretch>
                <a:fillRect l="0" t="-72593" r="0" b="-72593"/>
              </a:stretch>
            </a:blipFill>
          </p:spPr>
        </p:sp>
        <p:sp>
          <p:nvSpPr>
            <p:cNvPr name="TextBox 53" id="53"/>
            <p:cNvSpPr txBox="true"/>
            <p:nvPr/>
          </p:nvSpPr>
          <p:spPr>
            <a:xfrm>
              <a:off x="0" y="0"/>
              <a:ext cx="276148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JSON</a:t>
              </a:r>
            </a:p>
          </p:txBody>
        </p:sp>
      </p:grpSp>
      <p:grpSp>
        <p:nvGrpSpPr>
          <p:cNvPr name="Group 54" id="54"/>
          <p:cNvGrpSpPr/>
          <p:nvPr/>
        </p:nvGrpSpPr>
        <p:grpSpPr>
          <a:xfrm rot="0">
            <a:off x="11686032" y="4169664"/>
            <a:ext cx="2071116" cy="466344"/>
            <a:chOff x="0" y="0"/>
            <a:chExt cx="2761488" cy="621792"/>
          </a:xfrm>
        </p:grpSpPr>
        <p:sp>
          <p:nvSpPr>
            <p:cNvPr name="Freeform 55" id="55"/>
            <p:cNvSpPr/>
            <p:nvPr/>
          </p:nvSpPr>
          <p:spPr>
            <a:xfrm flipH="false" flipV="false" rot="0">
              <a:off x="0" y="0"/>
              <a:ext cx="2761488" cy="621792"/>
            </a:xfrm>
            <a:custGeom>
              <a:avLst/>
              <a:gdLst/>
              <a:ahLst/>
              <a:cxnLst/>
              <a:rect r="r" b="b" t="t" l="l"/>
              <a:pathLst>
                <a:path h="621792" w="2761488">
                  <a:moveTo>
                    <a:pt x="0" y="0"/>
                  </a:moveTo>
                  <a:lnTo>
                    <a:pt x="2761488" y="0"/>
                  </a:lnTo>
                  <a:lnTo>
                    <a:pt x="2761488" y="621792"/>
                  </a:lnTo>
                  <a:lnTo>
                    <a:pt x="0" y="621792"/>
                  </a:lnTo>
                  <a:close/>
                </a:path>
              </a:pathLst>
            </a:custGeom>
            <a:blipFill>
              <a:blip r:embed="rId3">
                <a:alphaModFix amt="0"/>
              </a:blip>
              <a:stretch>
                <a:fillRect l="0" t="-36536" r="0" b="-36536"/>
              </a:stretch>
            </a:blipFill>
          </p:spPr>
        </p:sp>
        <p:sp>
          <p:nvSpPr>
            <p:cNvPr name="TextBox 56" id="56"/>
            <p:cNvSpPr txBox="true"/>
            <p:nvPr/>
          </p:nvSpPr>
          <p:spPr>
            <a:xfrm>
              <a:off x="0" y="-9525"/>
              <a:ext cx="2761488" cy="631317"/>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timestamped JSON</a:t>
              </a:r>
            </a:p>
          </p:txBody>
        </p:sp>
      </p:grpSp>
      <p:sp>
        <p:nvSpPr>
          <p:cNvPr name="AutoShape 57" id="57"/>
          <p:cNvSpPr/>
          <p:nvPr/>
        </p:nvSpPr>
        <p:spPr>
          <a:xfrm rot="3020160">
            <a:off x="13566029" y="4839081"/>
            <a:ext cx="1877282" cy="0"/>
          </a:xfrm>
          <a:prstGeom prst="line">
            <a:avLst/>
          </a:prstGeom>
          <a:ln cap="rnd" w="19050">
            <a:solidFill>
              <a:srgbClr val="FF5E78"/>
            </a:solidFill>
            <a:prstDash val="solid"/>
            <a:headEnd type="none" len="sm" w="sm"/>
            <a:tailEnd type="triangle" len="med" w="lg"/>
          </a:ln>
        </p:spPr>
      </p:sp>
      <p:grpSp>
        <p:nvGrpSpPr>
          <p:cNvPr name="Group 58" id="58"/>
          <p:cNvGrpSpPr/>
          <p:nvPr/>
        </p:nvGrpSpPr>
        <p:grpSpPr>
          <a:xfrm rot="0">
            <a:off x="15104554" y="2280094"/>
            <a:ext cx="2188083" cy="1323975"/>
            <a:chOff x="0" y="0"/>
            <a:chExt cx="2917444" cy="1765300"/>
          </a:xfrm>
        </p:grpSpPr>
        <p:sp>
          <p:nvSpPr>
            <p:cNvPr name="Freeform 59" id="59"/>
            <p:cNvSpPr/>
            <p:nvPr/>
          </p:nvSpPr>
          <p:spPr>
            <a:xfrm flipH="false" flipV="false" rot="0">
              <a:off x="0" y="0"/>
              <a:ext cx="2917444" cy="1765300"/>
            </a:xfrm>
            <a:custGeom>
              <a:avLst/>
              <a:gdLst/>
              <a:ahLst/>
              <a:cxnLst/>
              <a:rect r="r" b="b" t="t" l="l"/>
              <a:pathLst>
                <a:path h="1765300" w="2917444">
                  <a:moveTo>
                    <a:pt x="0" y="148717"/>
                  </a:moveTo>
                  <a:cubicBezTo>
                    <a:pt x="0" y="66548"/>
                    <a:pt x="66548" y="0"/>
                    <a:pt x="148717" y="0"/>
                  </a:cubicBezTo>
                  <a:lnTo>
                    <a:pt x="2768727" y="0"/>
                  </a:lnTo>
                  <a:cubicBezTo>
                    <a:pt x="2850769" y="0"/>
                    <a:pt x="2917444" y="66548"/>
                    <a:pt x="2917444" y="148717"/>
                  </a:cubicBezTo>
                  <a:lnTo>
                    <a:pt x="2917444" y="1616583"/>
                  </a:lnTo>
                  <a:cubicBezTo>
                    <a:pt x="2917444" y="1698625"/>
                    <a:pt x="2850896" y="1765300"/>
                    <a:pt x="2768727" y="1765300"/>
                  </a:cubicBezTo>
                  <a:lnTo>
                    <a:pt x="148717" y="1765300"/>
                  </a:lnTo>
                  <a:cubicBezTo>
                    <a:pt x="66548" y="1765300"/>
                    <a:pt x="0" y="1698752"/>
                    <a:pt x="0" y="1616583"/>
                  </a:cubicBezTo>
                  <a:close/>
                </a:path>
              </a:pathLst>
            </a:custGeom>
            <a:solidFill>
              <a:srgbClr val="10253B"/>
            </a:solidFill>
            <a:ln w="20955" cap="sq">
              <a:solidFill>
                <a:srgbClr val="76E2A1"/>
              </a:solidFill>
              <a:prstDash val="solid"/>
              <a:miter/>
            </a:ln>
          </p:spPr>
        </p:sp>
      </p:grpSp>
      <p:grpSp>
        <p:nvGrpSpPr>
          <p:cNvPr name="Group 60" id="60"/>
          <p:cNvGrpSpPr/>
          <p:nvPr/>
        </p:nvGrpSpPr>
        <p:grpSpPr>
          <a:xfrm rot="0">
            <a:off x="15279624" y="2482596"/>
            <a:ext cx="1837944" cy="329184"/>
            <a:chOff x="0" y="0"/>
            <a:chExt cx="2450592" cy="438912"/>
          </a:xfrm>
        </p:grpSpPr>
        <p:sp>
          <p:nvSpPr>
            <p:cNvPr name="Freeform 61" id="61"/>
            <p:cNvSpPr/>
            <p:nvPr/>
          </p:nvSpPr>
          <p:spPr>
            <a:xfrm flipH="false" flipV="false" rot="0">
              <a:off x="0" y="0"/>
              <a:ext cx="2450592" cy="438912"/>
            </a:xfrm>
            <a:custGeom>
              <a:avLst/>
              <a:gdLst/>
              <a:ahLst/>
              <a:cxnLst/>
              <a:rect r="r" b="b" t="t" l="l"/>
              <a:pathLst>
                <a:path h="438912" w="2450592">
                  <a:moveTo>
                    <a:pt x="0" y="0"/>
                  </a:moveTo>
                  <a:lnTo>
                    <a:pt x="2450592" y="0"/>
                  </a:lnTo>
                  <a:lnTo>
                    <a:pt x="2450592" y="438912"/>
                  </a:lnTo>
                  <a:lnTo>
                    <a:pt x="0" y="438912"/>
                  </a:lnTo>
                  <a:close/>
                </a:path>
              </a:pathLst>
            </a:custGeom>
            <a:blipFill>
              <a:blip r:embed="rId3">
                <a:alphaModFix amt="0"/>
              </a:blip>
              <a:stretch>
                <a:fillRect l="0" t="-58791" r="0" b="-58791"/>
              </a:stretch>
            </a:blipFill>
          </p:spPr>
        </p:sp>
        <p:sp>
          <p:nvSpPr>
            <p:cNvPr name="TextBox 62" id="62"/>
            <p:cNvSpPr txBox="true"/>
            <p:nvPr/>
          </p:nvSpPr>
          <p:spPr>
            <a:xfrm>
              <a:off x="0" y="0"/>
              <a:ext cx="2450592"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ONLINE</a:t>
              </a:r>
            </a:p>
          </p:txBody>
        </p:sp>
      </p:grpSp>
      <p:grpSp>
        <p:nvGrpSpPr>
          <p:cNvPr name="Group 63" id="63"/>
          <p:cNvGrpSpPr/>
          <p:nvPr/>
        </p:nvGrpSpPr>
        <p:grpSpPr>
          <a:xfrm rot="0">
            <a:off x="15279624" y="2921508"/>
            <a:ext cx="1837944" cy="562356"/>
            <a:chOff x="0" y="0"/>
            <a:chExt cx="2450592" cy="749808"/>
          </a:xfrm>
        </p:grpSpPr>
        <p:sp>
          <p:nvSpPr>
            <p:cNvPr name="Freeform 64" id="64"/>
            <p:cNvSpPr/>
            <p:nvPr/>
          </p:nvSpPr>
          <p:spPr>
            <a:xfrm flipH="false" flipV="false" rot="0">
              <a:off x="0" y="0"/>
              <a:ext cx="2450592" cy="749808"/>
            </a:xfrm>
            <a:custGeom>
              <a:avLst/>
              <a:gdLst/>
              <a:ahLst/>
              <a:cxnLst/>
              <a:rect r="r" b="b" t="t" l="l"/>
              <a:pathLst>
                <a:path h="749808" w="2450592">
                  <a:moveTo>
                    <a:pt x="0" y="0"/>
                  </a:moveTo>
                  <a:lnTo>
                    <a:pt x="2450592" y="0"/>
                  </a:lnTo>
                  <a:lnTo>
                    <a:pt x="2450592" y="749808"/>
                  </a:lnTo>
                  <a:lnTo>
                    <a:pt x="0" y="749808"/>
                  </a:lnTo>
                  <a:close/>
                </a:path>
              </a:pathLst>
            </a:custGeom>
            <a:blipFill>
              <a:blip r:embed="rId3">
                <a:alphaModFix amt="0"/>
              </a:blip>
              <a:stretch>
                <a:fillRect l="0" t="-13682" r="0" b="-13682"/>
              </a:stretch>
            </a:blipFill>
          </p:spPr>
        </p:sp>
        <p:sp>
          <p:nvSpPr>
            <p:cNvPr name="TextBox 65" id="65"/>
            <p:cNvSpPr txBox="true"/>
            <p:nvPr/>
          </p:nvSpPr>
          <p:spPr>
            <a:xfrm>
              <a:off x="0" y="-9525"/>
              <a:ext cx="2450592" cy="75933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MQTT → Broker</a:t>
              </a:r>
            </a:p>
          </p:txBody>
        </p:sp>
      </p:grpSp>
      <p:grpSp>
        <p:nvGrpSpPr>
          <p:cNvPr name="Group 66" id="66"/>
          <p:cNvGrpSpPr/>
          <p:nvPr/>
        </p:nvGrpSpPr>
        <p:grpSpPr>
          <a:xfrm rot="0">
            <a:off x="15104554" y="4927282"/>
            <a:ext cx="2188083" cy="1323975"/>
            <a:chOff x="0" y="0"/>
            <a:chExt cx="2917444" cy="1765300"/>
          </a:xfrm>
        </p:grpSpPr>
        <p:sp>
          <p:nvSpPr>
            <p:cNvPr name="Freeform 67" id="67"/>
            <p:cNvSpPr/>
            <p:nvPr/>
          </p:nvSpPr>
          <p:spPr>
            <a:xfrm flipH="false" flipV="false" rot="0">
              <a:off x="0" y="0"/>
              <a:ext cx="2917444" cy="1765300"/>
            </a:xfrm>
            <a:custGeom>
              <a:avLst/>
              <a:gdLst/>
              <a:ahLst/>
              <a:cxnLst/>
              <a:rect r="r" b="b" t="t" l="l"/>
              <a:pathLst>
                <a:path h="1765300" w="2917444">
                  <a:moveTo>
                    <a:pt x="0" y="148717"/>
                  </a:moveTo>
                  <a:cubicBezTo>
                    <a:pt x="0" y="66548"/>
                    <a:pt x="66548" y="0"/>
                    <a:pt x="148717" y="0"/>
                  </a:cubicBezTo>
                  <a:lnTo>
                    <a:pt x="2768727" y="0"/>
                  </a:lnTo>
                  <a:cubicBezTo>
                    <a:pt x="2850769" y="0"/>
                    <a:pt x="2917444" y="66548"/>
                    <a:pt x="2917444" y="148717"/>
                  </a:cubicBezTo>
                  <a:lnTo>
                    <a:pt x="2917444" y="1616583"/>
                  </a:lnTo>
                  <a:cubicBezTo>
                    <a:pt x="2917444" y="1698625"/>
                    <a:pt x="2850896" y="1765300"/>
                    <a:pt x="2768727" y="1765300"/>
                  </a:cubicBezTo>
                  <a:lnTo>
                    <a:pt x="148717" y="1765300"/>
                  </a:lnTo>
                  <a:cubicBezTo>
                    <a:pt x="66548" y="1765300"/>
                    <a:pt x="0" y="1698752"/>
                    <a:pt x="0" y="1616583"/>
                  </a:cubicBezTo>
                  <a:close/>
                </a:path>
              </a:pathLst>
            </a:custGeom>
            <a:solidFill>
              <a:srgbClr val="10253B"/>
            </a:solidFill>
            <a:ln w="20955" cap="sq">
              <a:solidFill>
                <a:srgbClr val="FF5E78"/>
              </a:solidFill>
              <a:prstDash val="solid"/>
              <a:miter/>
            </a:ln>
          </p:spPr>
        </p:sp>
      </p:grpSp>
      <p:grpSp>
        <p:nvGrpSpPr>
          <p:cNvPr name="Group 68" id="68"/>
          <p:cNvGrpSpPr/>
          <p:nvPr/>
        </p:nvGrpSpPr>
        <p:grpSpPr>
          <a:xfrm rot="0">
            <a:off x="15279624" y="5129784"/>
            <a:ext cx="1837944" cy="329184"/>
            <a:chOff x="0" y="0"/>
            <a:chExt cx="2450592" cy="438912"/>
          </a:xfrm>
        </p:grpSpPr>
        <p:sp>
          <p:nvSpPr>
            <p:cNvPr name="Freeform 69" id="69"/>
            <p:cNvSpPr/>
            <p:nvPr/>
          </p:nvSpPr>
          <p:spPr>
            <a:xfrm flipH="false" flipV="false" rot="0">
              <a:off x="0" y="0"/>
              <a:ext cx="2450592" cy="438912"/>
            </a:xfrm>
            <a:custGeom>
              <a:avLst/>
              <a:gdLst/>
              <a:ahLst/>
              <a:cxnLst/>
              <a:rect r="r" b="b" t="t" l="l"/>
              <a:pathLst>
                <a:path h="438912" w="2450592">
                  <a:moveTo>
                    <a:pt x="0" y="0"/>
                  </a:moveTo>
                  <a:lnTo>
                    <a:pt x="2450592" y="0"/>
                  </a:lnTo>
                  <a:lnTo>
                    <a:pt x="2450592" y="438912"/>
                  </a:lnTo>
                  <a:lnTo>
                    <a:pt x="0" y="438912"/>
                  </a:lnTo>
                  <a:close/>
                </a:path>
              </a:pathLst>
            </a:custGeom>
            <a:blipFill>
              <a:blip r:embed="rId3">
                <a:alphaModFix amt="0"/>
              </a:blip>
              <a:stretch>
                <a:fillRect l="0" t="-58791" r="0" b="-58791"/>
              </a:stretch>
            </a:blipFill>
          </p:spPr>
        </p:sp>
        <p:sp>
          <p:nvSpPr>
            <p:cNvPr name="TextBox 70" id="70"/>
            <p:cNvSpPr txBox="true"/>
            <p:nvPr/>
          </p:nvSpPr>
          <p:spPr>
            <a:xfrm>
              <a:off x="0" y="0"/>
              <a:ext cx="2450592"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OFFLINE</a:t>
              </a:r>
            </a:p>
          </p:txBody>
        </p:sp>
      </p:grpSp>
      <p:grpSp>
        <p:nvGrpSpPr>
          <p:cNvPr name="Group 71" id="71"/>
          <p:cNvGrpSpPr/>
          <p:nvPr/>
        </p:nvGrpSpPr>
        <p:grpSpPr>
          <a:xfrm rot="0">
            <a:off x="15279624" y="5568696"/>
            <a:ext cx="1837944" cy="562356"/>
            <a:chOff x="0" y="0"/>
            <a:chExt cx="2450592" cy="749808"/>
          </a:xfrm>
        </p:grpSpPr>
        <p:sp>
          <p:nvSpPr>
            <p:cNvPr name="Freeform 72" id="72"/>
            <p:cNvSpPr/>
            <p:nvPr/>
          </p:nvSpPr>
          <p:spPr>
            <a:xfrm flipH="false" flipV="false" rot="0">
              <a:off x="0" y="0"/>
              <a:ext cx="2450592" cy="749808"/>
            </a:xfrm>
            <a:custGeom>
              <a:avLst/>
              <a:gdLst/>
              <a:ahLst/>
              <a:cxnLst/>
              <a:rect r="r" b="b" t="t" l="l"/>
              <a:pathLst>
                <a:path h="749808" w="2450592">
                  <a:moveTo>
                    <a:pt x="0" y="0"/>
                  </a:moveTo>
                  <a:lnTo>
                    <a:pt x="2450592" y="0"/>
                  </a:lnTo>
                  <a:lnTo>
                    <a:pt x="2450592" y="749808"/>
                  </a:lnTo>
                  <a:lnTo>
                    <a:pt x="0" y="749808"/>
                  </a:lnTo>
                  <a:close/>
                </a:path>
              </a:pathLst>
            </a:custGeom>
            <a:blipFill>
              <a:blip r:embed="rId3">
                <a:alphaModFix amt="0"/>
              </a:blip>
              <a:stretch>
                <a:fillRect l="0" t="-13682" r="0" b="-13682"/>
              </a:stretch>
            </a:blipFill>
          </p:spPr>
        </p:sp>
        <p:sp>
          <p:nvSpPr>
            <p:cNvPr name="TextBox 73" id="73"/>
            <p:cNvSpPr txBox="true"/>
            <p:nvPr/>
          </p:nvSpPr>
          <p:spPr>
            <a:xfrm>
              <a:off x="0" y="-9525"/>
              <a:ext cx="2450592" cy="75933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Ring Buffer</a:t>
              </a:r>
            </a:p>
          </p:txBody>
        </p:sp>
      </p:grpSp>
      <p:grpSp>
        <p:nvGrpSpPr>
          <p:cNvPr name="Group 74" id="74"/>
          <p:cNvGrpSpPr/>
          <p:nvPr/>
        </p:nvGrpSpPr>
        <p:grpSpPr>
          <a:xfrm rot="0">
            <a:off x="1021080" y="6329172"/>
            <a:ext cx="4884420" cy="1633728"/>
            <a:chOff x="0" y="0"/>
            <a:chExt cx="6512560" cy="2178304"/>
          </a:xfrm>
        </p:grpSpPr>
        <p:sp>
          <p:nvSpPr>
            <p:cNvPr name="Freeform 75" id="75"/>
            <p:cNvSpPr/>
            <p:nvPr/>
          </p:nvSpPr>
          <p:spPr>
            <a:xfrm flipH="false" flipV="false" rot="0">
              <a:off x="0" y="0"/>
              <a:ext cx="6512560" cy="2178304"/>
            </a:xfrm>
            <a:custGeom>
              <a:avLst/>
              <a:gdLst/>
              <a:ahLst/>
              <a:cxnLst/>
              <a:rect r="r" b="b" t="t" l="l"/>
              <a:pathLst>
                <a:path h="2178304" w="6512560">
                  <a:moveTo>
                    <a:pt x="0" y="147701"/>
                  </a:moveTo>
                  <a:cubicBezTo>
                    <a:pt x="0" y="66167"/>
                    <a:pt x="66167" y="0"/>
                    <a:pt x="147701" y="0"/>
                  </a:cubicBezTo>
                  <a:lnTo>
                    <a:pt x="6364859" y="0"/>
                  </a:lnTo>
                  <a:cubicBezTo>
                    <a:pt x="6446393" y="0"/>
                    <a:pt x="6512560" y="66167"/>
                    <a:pt x="6512560" y="147701"/>
                  </a:cubicBezTo>
                  <a:lnTo>
                    <a:pt x="6512560" y="2030603"/>
                  </a:lnTo>
                  <a:cubicBezTo>
                    <a:pt x="6512560" y="2112137"/>
                    <a:pt x="6446393" y="2178304"/>
                    <a:pt x="6364859" y="2178304"/>
                  </a:cubicBezTo>
                  <a:lnTo>
                    <a:pt x="147701" y="2178304"/>
                  </a:lnTo>
                  <a:cubicBezTo>
                    <a:pt x="66167" y="2178304"/>
                    <a:pt x="0" y="2112137"/>
                    <a:pt x="0" y="2030603"/>
                  </a:cubicBezTo>
                  <a:close/>
                </a:path>
              </a:pathLst>
            </a:custGeom>
            <a:solidFill>
              <a:srgbClr val="0E1D30"/>
            </a:solidFill>
            <a:ln w="15240" cap="sq">
              <a:solidFill>
                <a:srgbClr val="1D3850"/>
              </a:solidFill>
              <a:prstDash val="solid"/>
              <a:miter/>
            </a:ln>
          </p:spPr>
        </p:sp>
      </p:grpSp>
      <p:grpSp>
        <p:nvGrpSpPr>
          <p:cNvPr name="Group 76" id="76"/>
          <p:cNvGrpSpPr/>
          <p:nvPr/>
        </p:nvGrpSpPr>
        <p:grpSpPr>
          <a:xfrm rot="0">
            <a:off x="2098548" y="6611112"/>
            <a:ext cx="3497580" cy="342900"/>
            <a:chOff x="0" y="0"/>
            <a:chExt cx="4663440" cy="457200"/>
          </a:xfrm>
        </p:grpSpPr>
        <p:sp>
          <p:nvSpPr>
            <p:cNvPr name="Freeform 77" id="77"/>
            <p:cNvSpPr/>
            <p:nvPr/>
          </p:nvSpPr>
          <p:spPr>
            <a:xfrm flipH="false" flipV="false" rot="0">
              <a:off x="0" y="0"/>
              <a:ext cx="4663440" cy="457200"/>
            </a:xfrm>
            <a:custGeom>
              <a:avLst/>
              <a:gdLst/>
              <a:ahLst/>
              <a:cxnLst/>
              <a:rect r="r" b="b" t="t" l="l"/>
              <a:pathLst>
                <a:path h="457200" w="4663440">
                  <a:moveTo>
                    <a:pt x="0" y="0"/>
                  </a:moveTo>
                  <a:lnTo>
                    <a:pt x="4663440" y="0"/>
                  </a:lnTo>
                  <a:lnTo>
                    <a:pt x="4663440" y="457200"/>
                  </a:lnTo>
                  <a:lnTo>
                    <a:pt x="0" y="457200"/>
                  </a:lnTo>
                  <a:close/>
                </a:path>
              </a:pathLst>
            </a:custGeom>
            <a:blipFill>
              <a:blip r:embed="rId3">
                <a:alphaModFix amt="0"/>
              </a:blip>
              <a:stretch>
                <a:fillRect l="0" t="-148747" r="0" b="-148747"/>
              </a:stretch>
            </a:blipFill>
          </p:spPr>
        </p:sp>
        <p:sp>
          <p:nvSpPr>
            <p:cNvPr name="TextBox 78" id="78"/>
            <p:cNvSpPr txBox="true"/>
            <p:nvPr/>
          </p:nvSpPr>
          <p:spPr>
            <a:xfrm>
              <a:off x="0" y="-9525"/>
              <a:ext cx="466344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ONLINE PATH</a:t>
              </a:r>
            </a:p>
          </p:txBody>
        </p:sp>
      </p:grpSp>
      <p:sp>
        <p:nvSpPr>
          <p:cNvPr name="TextBox 79" id="79"/>
          <p:cNvSpPr txBox="true"/>
          <p:nvPr/>
        </p:nvSpPr>
        <p:spPr>
          <a:xfrm rot="0">
            <a:off x="1330452" y="7187184"/>
            <a:ext cx="4265676" cy="521208"/>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Publish → EMQX → WebSockets + Node.js → SQLite</a:t>
            </a:r>
          </a:p>
        </p:txBody>
      </p:sp>
      <p:grpSp>
        <p:nvGrpSpPr>
          <p:cNvPr name="Group 80" id="80"/>
          <p:cNvGrpSpPr/>
          <p:nvPr/>
        </p:nvGrpSpPr>
        <p:grpSpPr>
          <a:xfrm rot="0">
            <a:off x="6713220" y="6329172"/>
            <a:ext cx="4884420" cy="1633728"/>
            <a:chOff x="0" y="0"/>
            <a:chExt cx="6512560" cy="2178304"/>
          </a:xfrm>
        </p:grpSpPr>
        <p:sp>
          <p:nvSpPr>
            <p:cNvPr name="Freeform 81" id="81"/>
            <p:cNvSpPr/>
            <p:nvPr/>
          </p:nvSpPr>
          <p:spPr>
            <a:xfrm flipH="false" flipV="false" rot="0">
              <a:off x="0" y="0"/>
              <a:ext cx="6512560" cy="2178304"/>
            </a:xfrm>
            <a:custGeom>
              <a:avLst/>
              <a:gdLst/>
              <a:ahLst/>
              <a:cxnLst/>
              <a:rect r="r" b="b" t="t" l="l"/>
              <a:pathLst>
                <a:path h="2178304" w="6512560">
                  <a:moveTo>
                    <a:pt x="0" y="147701"/>
                  </a:moveTo>
                  <a:cubicBezTo>
                    <a:pt x="0" y="66167"/>
                    <a:pt x="66167" y="0"/>
                    <a:pt x="147701" y="0"/>
                  </a:cubicBezTo>
                  <a:lnTo>
                    <a:pt x="6364859" y="0"/>
                  </a:lnTo>
                  <a:cubicBezTo>
                    <a:pt x="6446393" y="0"/>
                    <a:pt x="6512560" y="66167"/>
                    <a:pt x="6512560" y="147701"/>
                  </a:cubicBezTo>
                  <a:lnTo>
                    <a:pt x="6512560" y="2030603"/>
                  </a:lnTo>
                  <a:cubicBezTo>
                    <a:pt x="6512560" y="2112137"/>
                    <a:pt x="6446393" y="2178304"/>
                    <a:pt x="6364859" y="2178304"/>
                  </a:cubicBezTo>
                  <a:lnTo>
                    <a:pt x="147701" y="2178304"/>
                  </a:lnTo>
                  <a:cubicBezTo>
                    <a:pt x="66167" y="2178304"/>
                    <a:pt x="0" y="2112137"/>
                    <a:pt x="0" y="2030603"/>
                  </a:cubicBezTo>
                  <a:close/>
                </a:path>
              </a:pathLst>
            </a:custGeom>
            <a:solidFill>
              <a:srgbClr val="0E1D30"/>
            </a:solidFill>
            <a:ln w="15240" cap="sq">
              <a:solidFill>
                <a:srgbClr val="1D3850"/>
              </a:solidFill>
              <a:prstDash val="solid"/>
              <a:miter/>
            </a:ln>
          </p:spPr>
        </p:sp>
      </p:grpSp>
      <p:grpSp>
        <p:nvGrpSpPr>
          <p:cNvPr name="Group 82" id="82"/>
          <p:cNvGrpSpPr/>
          <p:nvPr/>
        </p:nvGrpSpPr>
        <p:grpSpPr>
          <a:xfrm rot="0">
            <a:off x="7790688" y="6611112"/>
            <a:ext cx="3497580" cy="342900"/>
            <a:chOff x="0" y="0"/>
            <a:chExt cx="4663440" cy="457200"/>
          </a:xfrm>
        </p:grpSpPr>
        <p:sp>
          <p:nvSpPr>
            <p:cNvPr name="Freeform 83" id="83"/>
            <p:cNvSpPr/>
            <p:nvPr/>
          </p:nvSpPr>
          <p:spPr>
            <a:xfrm flipH="false" flipV="false" rot="0">
              <a:off x="0" y="0"/>
              <a:ext cx="4663440" cy="457200"/>
            </a:xfrm>
            <a:custGeom>
              <a:avLst/>
              <a:gdLst/>
              <a:ahLst/>
              <a:cxnLst/>
              <a:rect r="r" b="b" t="t" l="l"/>
              <a:pathLst>
                <a:path h="457200" w="4663440">
                  <a:moveTo>
                    <a:pt x="0" y="0"/>
                  </a:moveTo>
                  <a:lnTo>
                    <a:pt x="4663440" y="0"/>
                  </a:lnTo>
                  <a:lnTo>
                    <a:pt x="4663440" y="457200"/>
                  </a:lnTo>
                  <a:lnTo>
                    <a:pt x="0" y="457200"/>
                  </a:lnTo>
                  <a:close/>
                </a:path>
              </a:pathLst>
            </a:custGeom>
            <a:blipFill>
              <a:blip r:embed="rId3">
                <a:alphaModFix amt="0"/>
              </a:blip>
              <a:stretch>
                <a:fillRect l="0" t="-148747" r="0" b="-148747"/>
              </a:stretch>
            </a:blipFill>
          </p:spPr>
        </p:sp>
        <p:sp>
          <p:nvSpPr>
            <p:cNvPr name="TextBox 84" id="84"/>
            <p:cNvSpPr txBox="true"/>
            <p:nvPr/>
          </p:nvSpPr>
          <p:spPr>
            <a:xfrm>
              <a:off x="0" y="-9525"/>
              <a:ext cx="466344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OFFLINE PATH</a:t>
              </a:r>
            </a:p>
          </p:txBody>
        </p:sp>
      </p:grpSp>
      <p:sp>
        <p:nvSpPr>
          <p:cNvPr name="TextBox 85" id="85"/>
          <p:cNvSpPr txBox="true"/>
          <p:nvPr/>
        </p:nvSpPr>
        <p:spPr>
          <a:xfrm rot="0">
            <a:off x="7022592" y="7187184"/>
            <a:ext cx="4265676" cy="521208"/>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Buffer locally → keep sampling → backfill after reconnection</a:t>
            </a:r>
          </a:p>
        </p:txBody>
      </p:sp>
      <p:grpSp>
        <p:nvGrpSpPr>
          <p:cNvPr name="Group 86" id="86"/>
          <p:cNvGrpSpPr/>
          <p:nvPr/>
        </p:nvGrpSpPr>
        <p:grpSpPr>
          <a:xfrm rot="0">
            <a:off x="12377928" y="6329172"/>
            <a:ext cx="4404360" cy="1633728"/>
            <a:chOff x="0" y="0"/>
            <a:chExt cx="5872480" cy="2178304"/>
          </a:xfrm>
        </p:grpSpPr>
        <p:sp>
          <p:nvSpPr>
            <p:cNvPr name="Freeform 87" id="87"/>
            <p:cNvSpPr/>
            <p:nvPr/>
          </p:nvSpPr>
          <p:spPr>
            <a:xfrm flipH="false" flipV="false" rot="0">
              <a:off x="0" y="0"/>
              <a:ext cx="5872480" cy="2178304"/>
            </a:xfrm>
            <a:custGeom>
              <a:avLst/>
              <a:gdLst/>
              <a:ahLst/>
              <a:cxnLst/>
              <a:rect r="r" b="b" t="t" l="l"/>
              <a:pathLst>
                <a:path h="2178304" w="5872480">
                  <a:moveTo>
                    <a:pt x="0" y="147701"/>
                  </a:moveTo>
                  <a:cubicBezTo>
                    <a:pt x="0" y="66167"/>
                    <a:pt x="66167" y="0"/>
                    <a:pt x="147701" y="0"/>
                  </a:cubicBezTo>
                  <a:lnTo>
                    <a:pt x="5724779" y="0"/>
                  </a:lnTo>
                  <a:cubicBezTo>
                    <a:pt x="5806313" y="0"/>
                    <a:pt x="5872480" y="66167"/>
                    <a:pt x="5872480" y="147701"/>
                  </a:cubicBezTo>
                  <a:lnTo>
                    <a:pt x="5872480" y="2030603"/>
                  </a:lnTo>
                  <a:cubicBezTo>
                    <a:pt x="5872480" y="2112137"/>
                    <a:pt x="5806313" y="2178304"/>
                    <a:pt x="5724779" y="2178304"/>
                  </a:cubicBezTo>
                  <a:lnTo>
                    <a:pt x="147701" y="2178304"/>
                  </a:lnTo>
                  <a:cubicBezTo>
                    <a:pt x="66167" y="2178304"/>
                    <a:pt x="0" y="2112137"/>
                    <a:pt x="0" y="2030603"/>
                  </a:cubicBezTo>
                  <a:close/>
                </a:path>
              </a:pathLst>
            </a:custGeom>
            <a:solidFill>
              <a:srgbClr val="0E1D30"/>
            </a:solidFill>
            <a:ln w="15240" cap="sq">
              <a:solidFill>
                <a:srgbClr val="1D3850"/>
              </a:solidFill>
              <a:prstDash val="solid"/>
              <a:miter/>
            </a:ln>
          </p:spPr>
        </p:sp>
      </p:grpSp>
      <p:grpSp>
        <p:nvGrpSpPr>
          <p:cNvPr name="Group 88" id="88"/>
          <p:cNvGrpSpPr/>
          <p:nvPr/>
        </p:nvGrpSpPr>
        <p:grpSpPr>
          <a:xfrm rot="0">
            <a:off x="13455396" y="6611112"/>
            <a:ext cx="3017520" cy="342900"/>
            <a:chOff x="0" y="0"/>
            <a:chExt cx="4023360" cy="457200"/>
          </a:xfrm>
        </p:grpSpPr>
        <p:sp>
          <p:nvSpPr>
            <p:cNvPr name="Freeform 89" id="89"/>
            <p:cNvSpPr/>
            <p:nvPr/>
          </p:nvSpPr>
          <p:spPr>
            <a:xfrm flipH="false" flipV="false" rot="0">
              <a:off x="0" y="0"/>
              <a:ext cx="4023360" cy="457200"/>
            </a:xfrm>
            <a:custGeom>
              <a:avLst/>
              <a:gdLst/>
              <a:ahLst/>
              <a:cxnLst/>
              <a:rect r="r" b="b" t="t" l="l"/>
              <a:pathLst>
                <a:path h="457200" w="4023360">
                  <a:moveTo>
                    <a:pt x="0" y="0"/>
                  </a:moveTo>
                  <a:lnTo>
                    <a:pt x="4023360" y="0"/>
                  </a:lnTo>
                  <a:lnTo>
                    <a:pt x="4023360" y="457200"/>
                  </a:lnTo>
                  <a:lnTo>
                    <a:pt x="0" y="457200"/>
                  </a:lnTo>
                  <a:close/>
                </a:path>
              </a:pathLst>
            </a:custGeom>
            <a:blipFill>
              <a:blip r:embed="rId3">
                <a:alphaModFix amt="0"/>
              </a:blip>
              <a:stretch>
                <a:fillRect l="0" t="-121468" r="0" b="-121468"/>
              </a:stretch>
            </a:blipFill>
          </p:spPr>
        </p:sp>
        <p:sp>
          <p:nvSpPr>
            <p:cNvPr name="TextBox 90" id="90"/>
            <p:cNvSpPr txBox="true"/>
            <p:nvPr/>
          </p:nvSpPr>
          <p:spPr>
            <a:xfrm>
              <a:off x="0" y="-9525"/>
              <a:ext cx="402336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DATA GUARANTEE</a:t>
              </a:r>
            </a:p>
          </p:txBody>
        </p:sp>
      </p:grpSp>
      <p:sp>
        <p:nvSpPr>
          <p:cNvPr name="TextBox 91" id="91"/>
          <p:cNvSpPr txBox="true"/>
          <p:nvPr/>
        </p:nvSpPr>
        <p:spPr>
          <a:xfrm rot="0">
            <a:off x="12687300" y="7187184"/>
            <a:ext cx="3785616" cy="521208"/>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Original timestamps are preserved during backfill.</a:t>
            </a:r>
          </a:p>
        </p:txBody>
      </p:sp>
      <p:sp>
        <p:nvSpPr>
          <p:cNvPr name="TextBox 92" id="92"/>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68A8FF"/>
            </a:solidFill>
            <a:ln w="19050" cap="sq">
              <a:solidFill>
                <a:srgbClr val="68A8FF"/>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03</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3</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Warehouse door event flow</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One switch event triggers actuator control and time monitoring.</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77074" y="3487103"/>
            <a:ext cx="2626995" cy="1323975"/>
            <a:chOff x="0" y="0"/>
            <a:chExt cx="3502660" cy="1765300"/>
          </a:xfrm>
        </p:grpSpPr>
        <p:sp>
          <p:nvSpPr>
            <p:cNvPr name="Freeform 23" id="23"/>
            <p:cNvSpPr/>
            <p:nvPr/>
          </p:nvSpPr>
          <p:spPr>
            <a:xfrm flipH="false" flipV="false" rot="0">
              <a:off x="0" y="0"/>
              <a:ext cx="3502660" cy="1765300"/>
            </a:xfrm>
            <a:custGeom>
              <a:avLst/>
              <a:gdLst/>
              <a:ahLst/>
              <a:cxnLst/>
              <a:rect r="r" b="b" t="t" l="l"/>
              <a:pathLst>
                <a:path h="1765300" w="3502660">
                  <a:moveTo>
                    <a:pt x="0" y="148717"/>
                  </a:moveTo>
                  <a:cubicBezTo>
                    <a:pt x="0" y="66548"/>
                    <a:pt x="66548" y="0"/>
                    <a:pt x="148717" y="0"/>
                  </a:cubicBezTo>
                  <a:lnTo>
                    <a:pt x="3353943" y="0"/>
                  </a:lnTo>
                  <a:cubicBezTo>
                    <a:pt x="3435985" y="0"/>
                    <a:pt x="3502660" y="66548"/>
                    <a:pt x="3502660" y="148717"/>
                  </a:cubicBezTo>
                  <a:lnTo>
                    <a:pt x="3502660" y="1616583"/>
                  </a:lnTo>
                  <a:cubicBezTo>
                    <a:pt x="3502660" y="1698625"/>
                    <a:pt x="3436112" y="1765300"/>
                    <a:pt x="3353943" y="1765300"/>
                  </a:cubicBezTo>
                  <a:lnTo>
                    <a:pt x="148717" y="1765300"/>
                  </a:lnTo>
                  <a:cubicBezTo>
                    <a:pt x="66548" y="1765300"/>
                    <a:pt x="0" y="1698752"/>
                    <a:pt x="0" y="1616583"/>
                  </a:cubicBezTo>
                  <a:close/>
                </a:path>
              </a:pathLst>
            </a:custGeom>
            <a:solidFill>
              <a:srgbClr val="10253B"/>
            </a:solidFill>
            <a:ln w="20955" cap="sq">
              <a:solidFill>
                <a:srgbClr val="F6C85F"/>
              </a:solidFill>
              <a:prstDash val="solid"/>
              <a:miter/>
            </a:ln>
          </p:spPr>
        </p:sp>
      </p:grpSp>
      <p:grpSp>
        <p:nvGrpSpPr>
          <p:cNvPr name="Group 24" id="24"/>
          <p:cNvGrpSpPr/>
          <p:nvPr/>
        </p:nvGrpSpPr>
        <p:grpSpPr>
          <a:xfrm rot="0">
            <a:off x="1152144" y="3689604"/>
            <a:ext cx="2276856" cy="329184"/>
            <a:chOff x="0" y="0"/>
            <a:chExt cx="3035808" cy="438912"/>
          </a:xfrm>
        </p:grpSpPr>
        <p:sp>
          <p:nvSpPr>
            <p:cNvPr name="Freeform 25" id="25"/>
            <p:cNvSpPr/>
            <p:nvPr/>
          </p:nvSpPr>
          <p:spPr>
            <a:xfrm flipH="false" flipV="false" rot="0">
              <a:off x="0" y="0"/>
              <a:ext cx="3035808" cy="438912"/>
            </a:xfrm>
            <a:custGeom>
              <a:avLst/>
              <a:gdLst/>
              <a:ahLst/>
              <a:cxnLst/>
              <a:rect r="r" b="b" t="t" l="l"/>
              <a:pathLst>
                <a:path h="438912" w="3035808">
                  <a:moveTo>
                    <a:pt x="0" y="0"/>
                  </a:moveTo>
                  <a:lnTo>
                    <a:pt x="3035808" y="0"/>
                  </a:lnTo>
                  <a:lnTo>
                    <a:pt x="3035808" y="438912"/>
                  </a:lnTo>
                  <a:lnTo>
                    <a:pt x="0" y="438912"/>
                  </a:lnTo>
                  <a:close/>
                </a:path>
              </a:pathLst>
            </a:custGeom>
            <a:blipFill>
              <a:blip r:embed="rId3">
                <a:alphaModFix amt="0"/>
              </a:blip>
              <a:stretch>
                <a:fillRect l="0" t="-84771" r="0" b="-84771"/>
              </a:stretch>
            </a:blipFill>
          </p:spPr>
        </p:sp>
        <p:sp>
          <p:nvSpPr>
            <p:cNvPr name="TextBox 26" id="26"/>
            <p:cNvSpPr txBox="true"/>
            <p:nvPr/>
          </p:nvSpPr>
          <p:spPr>
            <a:xfrm>
              <a:off x="0" y="0"/>
              <a:ext cx="303580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SWITCH</a:t>
              </a:r>
            </a:p>
          </p:txBody>
        </p:sp>
      </p:grpSp>
      <p:grpSp>
        <p:nvGrpSpPr>
          <p:cNvPr name="Group 27" id="27"/>
          <p:cNvGrpSpPr/>
          <p:nvPr/>
        </p:nvGrpSpPr>
        <p:grpSpPr>
          <a:xfrm rot="0">
            <a:off x="1152144" y="4128516"/>
            <a:ext cx="2276856" cy="562356"/>
            <a:chOff x="0" y="0"/>
            <a:chExt cx="3035808" cy="749808"/>
          </a:xfrm>
        </p:grpSpPr>
        <p:sp>
          <p:nvSpPr>
            <p:cNvPr name="Freeform 28" id="28"/>
            <p:cNvSpPr/>
            <p:nvPr/>
          </p:nvSpPr>
          <p:spPr>
            <a:xfrm flipH="false" flipV="false" rot="0">
              <a:off x="0" y="0"/>
              <a:ext cx="3035808" cy="749808"/>
            </a:xfrm>
            <a:custGeom>
              <a:avLst/>
              <a:gdLst/>
              <a:ahLst/>
              <a:cxnLst/>
              <a:rect r="r" b="b" t="t" l="l"/>
              <a:pathLst>
                <a:path h="749808" w="3035808">
                  <a:moveTo>
                    <a:pt x="0" y="0"/>
                  </a:moveTo>
                  <a:lnTo>
                    <a:pt x="3035808" y="0"/>
                  </a:lnTo>
                  <a:lnTo>
                    <a:pt x="3035808" y="749808"/>
                  </a:lnTo>
                  <a:lnTo>
                    <a:pt x="0" y="749808"/>
                  </a:lnTo>
                  <a:close/>
                </a:path>
              </a:pathLst>
            </a:custGeom>
            <a:blipFill>
              <a:blip r:embed="rId3">
                <a:alphaModFix amt="0"/>
              </a:blip>
              <a:stretch>
                <a:fillRect l="0" t="-28890" r="0" b="-28890"/>
              </a:stretch>
            </a:blipFill>
          </p:spPr>
        </p:sp>
        <p:sp>
          <p:nvSpPr>
            <p:cNvPr name="TextBox 29" id="29"/>
            <p:cNvSpPr txBox="true"/>
            <p:nvPr/>
          </p:nvSpPr>
          <p:spPr>
            <a:xfrm>
              <a:off x="0" y="-9525"/>
              <a:ext cx="3035808" cy="75933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GPIO 4</a:t>
              </a:r>
            </a:p>
          </p:txBody>
        </p:sp>
      </p:grpSp>
      <p:sp>
        <p:nvSpPr>
          <p:cNvPr name="AutoShape 30" id="30"/>
          <p:cNvSpPr/>
          <p:nvPr/>
        </p:nvSpPr>
        <p:spPr>
          <a:xfrm rot="101700">
            <a:off x="3713350" y="4146423"/>
            <a:ext cx="1159507" cy="0"/>
          </a:xfrm>
          <a:prstGeom prst="line">
            <a:avLst/>
          </a:prstGeom>
          <a:ln cap="rnd" w="19050">
            <a:solidFill>
              <a:srgbClr val="1D3850"/>
            </a:solidFill>
            <a:prstDash val="solid"/>
            <a:headEnd type="none" len="sm" w="sm"/>
            <a:tailEnd type="triangle" len="med" w="lg"/>
          </a:ln>
        </p:spPr>
      </p:sp>
      <p:grpSp>
        <p:nvGrpSpPr>
          <p:cNvPr name="Group 31" id="31"/>
          <p:cNvGrpSpPr/>
          <p:nvPr/>
        </p:nvGrpSpPr>
        <p:grpSpPr>
          <a:xfrm rot="0">
            <a:off x="4899850" y="2705290"/>
            <a:ext cx="3518535" cy="1612011"/>
            <a:chOff x="0" y="0"/>
            <a:chExt cx="4691380" cy="2149348"/>
          </a:xfrm>
        </p:grpSpPr>
        <p:sp>
          <p:nvSpPr>
            <p:cNvPr name="Freeform 32" id="32"/>
            <p:cNvSpPr/>
            <p:nvPr/>
          </p:nvSpPr>
          <p:spPr>
            <a:xfrm flipH="false" flipV="false" rot="0">
              <a:off x="0" y="0"/>
              <a:ext cx="4691380" cy="2149348"/>
            </a:xfrm>
            <a:custGeom>
              <a:avLst/>
              <a:gdLst/>
              <a:ahLst/>
              <a:cxnLst/>
              <a:rect r="r" b="b" t="t" l="l"/>
              <a:pathLst>
                <a:path h="2149348" w="4691380">
                  <a:moveTo>
                    <a:pt x="0" y="148209"/>
                  </a:moveTo>
                  <a:cubicBezTo>
                    <a:pt x="0" y="66421"/>
                    <a:pt x="66421" y="0"/>
                    <a:pt x="148209" y="0"/>
                  </a:cubicBezTo>
                  <a:lnTo>
                    <a:pt x="4543171" y="0"/>
                  </a:lnTo>
                  <a:cubicBezTo>
                    <a:pt x="4625086" y="0"/>
                    <a:pt x="4691380" y="66421"/>
                    <a:pt x="4691380" y="148209"/>
                  </a:cubicBezTo>
                  <a:lnTo>
                    <a:pt x="4691380" y="2001139"/>
                  </a:lnTo>
                  <a:cubicBezTo>
                    <a:pt x="4691380" y="2083054"/>
                    <a:pt x="4624959" y="2149348"/>
                    <a:pt x="4543171" y="2149348"/>
                  </a:cubicBezTo>
                  <a:lnTo>
                    <a:pt x="148209" y="2149348"/>
                  </a:lnTo>
                  <a:cubicBezTo>
                    <a:pt x="66421" y="2149348"/>
                    <a:pt x="0" y="2082927"/>
                    <a:pt x="0" y="2001139"/>
                  </a:cubicBezTo>
                  <a:close/>
                </a:path>
              </a:pathLst>
            </a:custGeom>
            <a:solidFill>
              <a:srgbClr val="10253B"/>
            </a:solidFill>
            <a:ln w="20955" cap="sq">
              <a:solidFill>
                <a:srgbClr val="46D6F5"/>
              </a:solidFill>
              <a:prstDash val="solid"/>
              <a:miter/>
            </a:ln>
          </p:spPr>
        </p:sp>
      </p:grpSp>
      <p:grpSp>
        <p:nvGrpSpPr>
          <p:cNvPr name="Group 33" id="33"/>
          <p:cNvGrpSpPr/>
          <p:nvPr/>
        </p:nvGrpSpPr>
        <p:grpSpPr>
          <a:xfrm rot="0">
            <a:off x="5074920" y="2907792"/>
            <a:ext cx="3168396" cy="329184"/>
            <a:chOff x="0" y="0"/>
            <a:chExt cx="4224528" cy="438912"/>
          </a:xfrm>
        </p:grpSpPr>
        <p:sp>
          <p:nvSpPr>
            <p:cNvPr name="Freeform 34" id="34"/>
            <p:cNvSpPr/>
            <p:nvPr/>
          </p:nvSpPr>
          <p:spPr>
            <a:xfrm flipH="false" flipV="false" rot="0">
              <a:off x="0" y="0"/>
              <a:ext cx="4224528" cy="438912"/>
            </a:xfrm>
            <a:custGeom>
              <a:avLst/>
              <a:gdLst/>
              <a:ahLst/>
              <a:cxnLst/>
              <a:rect r="r" b="b" t="t" l="l"/>
              <a:pathLst>
                <a:path h="438912" w="4224528">
                  <a:moveTo>
                    <a:pt x="0" y="0"/>
                  </a:moveTo>
                  <a:lnTo>
                    <a:pt x="4224528" y="0"/>
                  </a:lnTo>
                  <a:lnTo>
                    <a:pt x="4224528" y="438912"/>
                  </a:lnTo>
                  <a:lnTo>
                    <a:pt x="0" y="438912"/>
                  </a:lnTo>
                  <a:close/>
                </a:path>
              </a:pathLst>
            </a:custGeom>
            <a:blipFill>
              <a:blip r:embed="rId3">
                <a:alphaModFix amt="0"/>
              </a:blip>
              <a:stretch>
                <a:fillRect l="0" t="-137543" r="0" b="-137543"/>
              </a:stretch>
            </a:blipFill>
          </p:spPr>
        </p:sp>
        <p:sp>
          <p:nvSpPr>
            <p:cNvPr name="TextBox 35" id="35"/>
            <p:cNvSpPr txBox="true"/>
            <p:nvPr/>
          </p:nvSpPr>
          <p:spPr>
            <a:xfrm>
              <a:off x="0" y="0"/>
              <a:ext cx="422452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TASK A</a:t>
              </a:r>
            </a:p>
          </p:txBody>
        </p:sp>
      </p:grpSp>
      <p:grpSp>
        <p:nvGrpSpPr>
          <p:cNvPr name="Group 36" id="36"/>
          <p:cNvGrpSpPr/>
          <p:nvPr/>
        </p:nvGrpSpPr>
        <p:grpSpPr>
          <a:xfrm rot="0">
            <a:off x="5074920" y="3346704"/>
            <a:ext cx="3168396" cy="850392"/>
            <a:chOff x="0" y="0"/>
            <a:chExt cx="4224528" cy="1133856"/>
          </a:xfrm>
        </p:grpSpPr>
        <p:sp>
          <p:nvSpPr>
            <p:cNvPr name="Freeform 37" id="37"/>
            <p:cNvSpPr/>
            <p:nvPr/>
          </p:nvSpPr>
          <p:spPr>
            <a:xfrm flipH="false" flipV="false" rot="0">
              <a:off x="0" y="0"/>
              <a:ext cx="4224528" cy="1133856"/>
            </a:xfrm>
            <a:custGeom>
              <a:avLst/>
              <a:gdLst/>
              <a:ahLst/>
              <a:cxnLst/>
              <a:rect r="r" b="b" t="t" l="l"/>
              <a:pathLst>
                <a:path h="1133856" w="4224528">
                  <a:moveTo>
                    <a:pt x="0" y="0"/>
                  </a:moveTo>
                  <a:lnTo>
                    <a:pt x="4224528" y="0"/>
                  </a:lnTo>
                  <a:lnTo>
                    <a:pt x="4224528" y="1133856"/>
                  </a:lnTo>
                  <a:lnTo>
                    <a:pt x="0" y="1133856"/>
                  </a:lnTo>
                  <a:close/>
                </a:path>
              </a:pathLst>
            </a:custGeom>
            <a:blipFill>
              <a:blip r:embed="rId3">
                <a:alphaModFix amt="0"/>
              </a:blip>
              <a:stretch>
                <a:fillRect l="0" t="-22597" r="0" b="-22597"/>
              </a:stretch>
            </a:blipFill>
          </p:spPr>
        </p:sp>
        <p:sp>
          <p:nvSpPr>
            <p:cNvPr name="TextBox 38" id="38"/>
            <p:cNvSpPr txBox="true"/>
            <p:nvPr/>
          </p:nvSpPr>
          <p:spPr>
            <a:xfrm>
              <a:off x="0" y="-9525"/>
              <a:ext cx="4224528" cy="1143381"/>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AccelStepper</a:t>
              </a:r>
            </a:p>
            <a:p>
              <a:pPr algn="l">
                <a:lnSpc>
                  <a:spcPts val="3240"/>
                </a:lnSpc>
              </a:pPr>
              <a:r>
                <a:rPr lang="en-US" sz="2700">
                  <a:solidFill>
                    <a:srgbClr val="000000"/>
                  </a:solidFill>
                  <a:latin typeface="Aptos"/>
                  <a:ea typeface="Aptos"/>
                  <a:cs typeface="Aptos"/>
                  <a:sym typeface="Aptos"/>
                </a:rPr>
                <a:t>       </a:t>
              </a:r>
              <a:r>
                <a:rPr lang="en-US" sz="2700">
                  <a:solidFill>
                    <a:srgbClr val="000000"/>
                  </a:solidFill>
                  <a:latin typeface="Aptos"/>
                  <a:ea typeface="Aptos"/>
                  <a:cs typeface="Aptos"/>
                  <a:sym typeface="Aptos"/>
                </a:rPr>
                <a:t>512 steps = 90°</a:t>
              </a:r>
            </a:p>
          </p:txBody>
        </p:sp>
      </p:grpSp>
      <p:grpSp>
        <p:nvGrpSpPr>
          <p:cNvPr name="Group 39" id="39"/>
          <p:cNvGrpSpPr/>
          <p:nvPr/>
        </p:nvGrpSpPr>
        <p:grpSpPr>
          <a:xfrm rot="0">
            <a:off x="4899850" y="4995862"/>
            <a:ext cx="3518535" cy="1612011"/>
            <a:chOff x="0" y="0"/>
            <a:chExt cx="4691380" cy="2149348"/>
          </a:xfrm>
        </p:grpSpPr>
        <p:sp>
          <p:nvSpPr>
            <p:cNvPr name="Freeform 40" id="40"/>
            <p:cNvSpPr/>
            <p:nvPr/>
          </p:nvSpPr>
          <p:spPr>
            <a:xfrm flipH="false" flipV="false" rot="0">
              <a:off x="0" y="0"/>
              <a:ext cx="4691380" cy="2149348"/>
            </a:xfrm>
            <a:custGeom>
              <a:avLst/>
              <a:gdLst/>
              <a:ahLst/>
              <a:cxnLst/>
              <a:rect r="r" b="b" t="t" l="l"/>
              <a:pathLst>
                <a:path h="2149348" w="4691380">
                  <a:moveTo>
                    <a:pt x="0" y="148209"/>
                  </a:moveTo>
                  <a:cubicBezTo>
                    <a:pt x="0" y="66421"/>
                    <a:pt x="66421" y="0"/>
                    <a:pt x="148209" y="0"/>
                  </a:cubicBezTo>
                  <a:lnTo>
                    <a:pt x="4543171" y="0"/>
                  </a:lnTo>
                  <a:cubicBezTo>
                    <a:pt x="4625086" y="0"/>
                    <a:pt x="4691380" y="66421"/>
                    <a:pt x="4691380" y="148209"/>
                  </a:cubicBezTo>
                  <a:lnTo>
                    <a:pt x="4691380" y="2001139"/>
                  </a:lnTo>
                  <a:cubicBezTo>
                    <a:pt x="4691380" y="2083054"/>
                    <a:pt x="4624959" y="2149348"/>
                    <a:pt x="4543171" y="2149348"/>
                  </a:cubicBezTo>
                  <a:lnTo>
                    <a:pt x="148209" y="2149348"/>
                  </a:lnTo>
                  <a:cubicBezTo>
                    <a:pt x="66421" y="2149348"/>
                    <a:pt x="0" y="2082927"/>
                    <a:pt x="0" y="2001139"/>
                  </a:cubicBezTo>
                  <a:close/>
                </a:path>
              </a:pathLst>
            </a:custGeom>
            <a:solidFill>
              <a:srgbClr val="10253B"/>
            </a:solidFill>
            <a:ln w="20955" cap="sq">
              <a:solidFill>
                <a:srgbClr val="76E2A1"/>
              </a:solidFill>
              <a:prstDash val="solid"/>
              <a:miter/>
            </a:ln>
          </p:spPr>
        </p:sp>
      </p:grpSp>
      <p:grpSp>
        <p:nvGrpSpPr>
          <p:cNvPr name="Group 41" id="41"/>
          <p:cNvGrpSpPr/>
          <p:nvPr/>
        </p:nvGrpSpPr>
        <p:grpSpPr>
          <a:xfrm rot="0">
            <a:off x="5074920" y="5198364"/>
            <a:ext cx="3168396" cy="329184"/>
            <a:chOff x="0" y="0"/>
            <a:chExt cx="4224528" cy="438912"/>
          </a:xfrm>
        </p:grpSpPr>
        <p:sp>
          <p:nvSpPr>
            <p:cNvPr name="Freeform 42" id="42"/>
            <p:cNvSpPr/>
            <p:nvPr/>
          </p:nvSpPr>
          <p:spPr>
            <a:xfrm flipH="false" flipV="false" rot="0">
              <a:off x="0" y="0"/>
              <a:ext cx="4224528" cy="438912"/>
            </a:xfrm>
            <a:custGeom>
              <a:avLst/>
              <a:gdLst/>
              <a:ahLst/>
              <a:cxnLst/>
              <a:rect r="r" b="b" t="t" l="l"/>
              <a:pathLst>
                <a:path h="438912" w="4224528">
                  <a:moveTo>
                    <a:pt x="0" y="0"/>
                  </a:moveTo>
                  <a:lnTo>
                    <a:pt x="4224528" y="0"/>
                  </a:lnTo>
                  <a:lnTo>
                    <a:pt x="4224528" y="438912"/>
                  </a:lnTo>
                  <a:lnTo>
                    <a:pt x="0" y="438912"/>
                  </a:lnTo>
                  <a:close/>
                </a:path>
              </a:pathLst>
            </a:custGeom>
            <a:blipFill>
              <a:blip r:embed="rId3">
                <a:alphaModFix amt="0"/>
              </a:blip>
              <a:stretch>
                <a:fillRect l="0" t="-137543" r="0" b="-137543"/>
              </a:stretch>
            </a:blipFill>
          </p:spPr>
        </p:sp>
        <p:sp>
          <p:nvSpPr>
            <p:cNvPr name="TextBox 43" id="43"/>
            <p:cNvSpPr txBox="true"/>
            <p:nvPr/>
          </p:nvSpPr>
          <p:spPr>
            <a:xfrm>
              <a:off x="0" y="0"/>
              <a:ext cx="422452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TASK B</a:t>
              </a:r>
            </a:p>
          </p:txBody>
        </p:sp>
      </p:grpSp>
      <p:grpSp>
        <p:nvGrpSpPr>
          <p:cNvPr name="Group 44" id="44"/>
          <p:cNvGrpSpPr/>
          <p:nvPr/>
        </p:nvGrpSpPr>
        <p:grpSpPr>
          <a:xfrm rot="0">
            <a:off x="5074920" y="5637276"/>
            <a:ext cx="3168396" cy="850392"/>
            <a:chOff x="0" y="0"/>
            <a:chExt cx="4224528" cy="1133856"/>
          </a:xfrm>
        </p:grpSpPr>
        <p:sp>
          <p:nvSpPr>
            <p:cNvPr name="Freeform 45" id="45"/>
            <p:cNvSpPr/>
            <p:nvPr/>
          </p:nvSpPr>
          <p:spPr>
            <a:xfrm flipH="false" flipV="false" rot="0">
              <a:off x="0" y="0"/>
              <a:ext cx="4224528" cy="1133856"/>
            </a:xfrm>
            <a:custGeom>
              <a:avLst/>
              <a:gdLst/>
              <a:ahLst/>
              <a:cxnLst/>
              <a:rect r="r" b="b" t="t" l="l"/>
              <a:pathLst>
                <a:path h="1133856" w="4224528">
                  <a:moveTo>
                    <a:pt x="0" y="0"/>
                  </a:moveTo>
                  <a:lnTo>
                    <a:pt x="4224528" y="0"/>
                  </a:lnTo>
                  <a:lnTo>
                    <a:pt x="4224528" y="1133856"/>
                  </a:lnTo>
                  <a:lnTo>
                    <a:pt x="0" y="1133856"/>
                  </a:lnTo>
                  <a:close/>
                </a:path>
              </a:pathLst>
            </a:custGeom>
            <a:blipFill>
              <a:blip r:embed="rId3">
                <a:alphaModFix amt="0"/>
              </a:blip>
              <a:stretch>
                <a:fillRect l="0" t="-22597" r="0" b="-22597"/>
              </a:stretch>
            </a:blipFill>
          </p:spPr>
        </p:sp>
        <p:sp>
          <p:nvSpPr>
            <p:cNvPr name="TextBox 46" id="46"/>
            <p:cNvSpPr txBox="true"/>
            <p:nvPr/>
          </p:nvSpPr>
          <p:spPr>
            <a:xfrm>
              <a:off x="0" y="-9525"/>
              <a:ext cx="4224528" cy="1143381"/>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doorOpenStartTime</a:t>
              </a:r>
            </a:p>
            <a:p>
              <a:pPr algn="l">
                <a:lnSpc>
                  <a:spcPts val="3240"/>
                </a:lnSpc>
              </a:pPr>
              <a:r>
                <a:rPr lang="en-US" sz="2700">
                  <a:solidFill>
                    <a:srgbClr val="000000"/>
                  </a:solidFill>
                  <a:latin typeface="Aptos"/>
                  <a:ea typeface="Aptos"/>
                  <a:cs typeface="Aptos"/>
                  <a:sym typeface="Aptos"/>
                </a:rPr>
                <a:t>       </a:t>
              </a:r>
              <a:r>
                <a:rPr lang="en-US" sz="2700">
                  <a:solidFill>
                    <a:srgbClr val="000000"/>
                  </a:solidFill>
                  <a:latin typeface="Aptos"/>
                  <a:ea typeface="Aptos"/>
                  <a:cs typeface="Aptos"/>
                  <a:sym typeface="Aptos"/>
                </a:rPr>
                <a:t>60 s threshold</a:t>
              </a:r>
            </a:p>
          </p:txBody>
        </p:sp>
      </p:grpSp>
      <p:sp>
        <p:nvSpPr>
          <p:cNvPr name="AutoShape 47" id="47"/>
          <p:cNvSpPr/>
          <p:nvPr/>
        </p:nvSpPr>
        <p:spPr>
          <a:xfrm rot="73260">
            <a:off x="8543382" y="3501771"/>
            <a:ext cx="1429836" cy="0"/>
          </a:xfrm>
          <a:prstGeom prst="line">
            <a:avLst/>
          </a:prstGeom>
          <a:ln cap="rnd" w="19050">
            <a:solidFill>
              <a:srgbClr val="1D3850"/>
            </a:solidFill>
            <a:prstDash val="solid"/>
            <a:headEnd type="none" len="sm" w="sm"/>
            <a:tailEnd type="triangle" len="med" w="lg"/>
          </a:ln>
        </p:spPr>
      </p:sp>
      <p:sp>
        <p:nvSpPr>
          <p:cNvPr name="AutoShape 48" id="48"/>
          <p:cNvSpPr/>
          <p:nvPr/>
        </p:nvSpPr>
        <p:spPr>
          <a:xfrm rot="73260">
            <a:off x="8543382" y="5792343"/>
            <a:ext cx="1429836" cy="0"/>
          </a:xfrm>
          <a:prstGeom prst="line">
            <a:avLst/>
          </a:prstGeom>
          <a:ln cap="rnd" w="19050">
            <a:solidFill>
              <a:srgbClr val="1D3850"/>
            </a:solidFill>
            <a:prstDash val="solid"/>
            <a:headEnd type="none" len="sm" w="sm"/>
            <a:tailEnd type="triangle" len="med" w="lg"/>
          </a:ln>
        </p:spPr>
      </p:sp>
      <p:grpSp>
        <p:nvGrpSpPr>
          <p:cNvPr name="Group 49" id="49"/>
          <p:cNvGrpSpPr/>
          <p:nvPr/>
        </p:nvGrpSpPr>
        <p:grpSpPr>
          <a:xfrm rot="0">
            <a:off x="10002202" y="2705290"/>
            <a:ext cx="3587115" cy="1612011"/>
            <a:chOff x="0" y="0"/>
            <a:chExt cx="4782820" cy="2149348"/>
          </a:xfrm>
        </p:grpSpPr>
        <p:sp>
          <p:nvSpPr>
            <p:cNvPr name="Freeform 50" id="50"/>
            <p:cNvSpPr/>
            <p:nvPr/>
          </p:nvSpPr>
          <p:spPr>
            <a:xfrm flipH="false" flipV="false" rot="0">
              <a:off x="0" y="0"/>
              <a:ext cx="4782820" cy="2149348"/>
            </a:xfrm>
            <a:custGeom>
              <a:avLst/>
              <a:gdLst/>
              <a:ahLst/>
              <a:cxnLst/>
              <a:rect r="r" b="b" t="t" l="l"/>
              <a:pathLst>
                <a:path h="2149348" w="4782820">
                  <a:moveTo>
                    <a:pt x="0" y="148209"/>
                  </a:moveTo>
                  <a:cubicBezTo>
                    <a:pt x="0" y="66421"/>
                    <a:pt x="66421" y="0"/>
                    <a:pt x="148209" y="0"/>
                  </a:cubicBezTo>
                  <a:lnTo>
                    <a:pt x="4634611" y="0"/>
                  </a:lnTo>
                  <a:cubicBezTo>
                    <a:pt x="4716526" y="0"/>
                    <a:pt x="4782820" y="66421"/>
                    <a:pt x="4782820" y="148209"/>
                  </a:cubicBezTo>
                  <a:lnTo>
                    <a:pt x="4782820" y="2001139"/>
                  </a:lnTo>
                  <a:cubicBezTo>
                    <a:pt x="4782820" y="2083054"/>
                    <a:pt x="4716399" y="2149348"/>
                    <a:pt x="4634611" y="2149348"/>
                  </a:cubicBezTo>
                  <a:lnTo>
                    <a:pt x="148209" y="2149348"/>
                  </a:lnTo>
                  <a:cubicBezTo>
                    <a:pt x="66421" y="2149348"/>
                    <a:pt x="0" y="2082927"/>
                    <a:pt x="0" y="2001139"/>
                  </a:cubicBezTo>
                  <a:close/>
                </a:path>
              </a:pathLst>
            </a:custGeom>
            <a:solidFill>
              <a:srgbClr val="10253B"/>
            </a:solidFill>
            <a:ln w="20955" cap="sq">
              <a:solidFill>
                <a:srgbClr val="68A8FF"/>
              </a:solidFill>
              <a:prstDash val="solid"/>
              <a:miter/>
            </a:ln>
          </p:spPr>
        </p:sp>
      </p:grpSp>
      <p:grpSp>
        <p:nvGrpSpPr>
          <p:cNvPr name="Group 51" id="51"/>
          <p:cNvGrpSpPr/>
          <p:nvPr/>
        </p:nvGrpSpPr>
        <p:grpSpPr>
          <a:xfrm rot="0">
            <a:off x="10177272" y="2907792"/>
            <a:ext cx="3236976" cy="329184"/>
            <a:chOff x="0" y="0"/>
            <a:chExt cx="4315968" cy="438912"/>
          </a:xfrm>
        </p:grpSpPr>
        <p:sp>
          <p:nvSpPr>
            <p:cNvPr name="Freeform 52" id="52"/>
            <p:cNvSpPr/>
            <p:nvPr/>
          </p:nvSpPr>
          <p:spPr>
            <a:xfrm flipH="false" flipV="false" rot="0">
              <a:off x="0" y="0"/>
              <a:ext cx="4315968" cy="438912"/>
            </a:xfrm>
            <a:custGeom>
              <a:avLst/>
              <a:gdLst/>
              <a:ahLst/>
              <a:cxnLst/>
              <a:rect r="r" b="b" t="t" l="l"/>
              <a:pathLst>
                <a:path h="438912" w="4315968">
                  <a:moveTo>
                    <a:pt x="0" y="0"/>
                  </a:moveTo>
                  <a:lnTo>
                    <a:pt x="4315968" y="0"/>
                  </a:lnTo>
                  <a:lnTo>
                    <a:pt x="4315968" y="438912"/>
                  </a:lnTo>
                  <a:lnTo>
                    <a:pt x="0" y="438912"/>
                  </a:lnTo>
                  <a:close/>
                </a:path>
              </a:pathLst>
            </a:custGeom>
            <a:blipFill>
              <a:blip r:embed="rId3">
                <a:alphaModFix amt="0"/>
              </a:blip>
              <a:stretch>
                <a:fillRect l="0" t="-141602" r="0" b="-141602"/>
              </a:stretch>
            </a:blipFill>
          </p:spPr>
        </p:sp>
        <p:sp>
          <p:nvSpPr>
            <p:cNvPr name="TextBox 53" id="53"/>
            <p:cNvSpPr txBox="true"/>
            <p:nvPr/>
          </p:nvSpPr>
          <p:spPr>
            <a:xfrm>
              <a:off x="0" y="0"/>
              <a:ext cx="431596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ACTUATOR</a:t>
              </a:r>
            </a:p>
          </p:txBody>
        </p:sp>
      </p:grpSp>
      <p:grpSp>
        <p:nvGrpSpPr>
          <p:cNvPr name="Group 54" id="54"/>
          <p:cNvGrpSpPr/>
          <p:nvPr/>
        </p:nvGrpSpPr>
        <p:grpSpPr>
          <a:xfrm rot="0">
            <a:off x="10177272" y="3346704"/>
            <a:ext cx="3236976" cy="850392"/>
            <a:chOff x="0" y="0"/>
            <a:chExt cx="4315968" cy="1133856"/>
          </a:xfrm>
        </p:grpSpPr>
        <p:sp>
          <p:nvSpPr>
            <p:cNvPr name="Freeform 55" id="55"/>
            <p:cNvSpPr/>
            <p:nvPr/>
          </p:nvSpPr>
          <p:spPr>
            <a:xfrm flipH="false" flipV="false" rot="0">
              <a:off x="0" y="0"/>
              <a:ext cx="4315968" cy="1133856"/>
            </a:xfrm>
            <a:custGeom>
              <a:avLst/>
              <a:gdLst/>
              <a:ahLst/>
              <a:cxnLst/>
              <a:rect r="r" b="b" t="t" l="l"/>
              <a:pathLst>
                <a:path h="1133856" w="4315968">
                  <a:moveTo>
                    <a:pt x="0" y="0"/>
                  </a:moveTo>
                  <a:lnTo>
                    <a:pt x="4315968" y="0"/>
                  </a:lnTo>
                  <a:lnTo>
                    <a:pt x="4315968" y="1133856"/>
                  </a:lnTo>
                  <a:lnTo>
                    <a:pt x="0" y="1133856"/>
                  </a:lnTo>
                  <a:close/>
                </a:path>
              </a:pathLst>
            </a:custGeom>
            <a:blipFill>
              <a:blip r:embed="rId3">
                <a:alphaModFix amt="0"/>
              </a:blip>
              <a:stretch>
                <a:fillRect l="0" t="-24168" r="0" b="-24168"/>
              </a:stretch>
            </a:blipFill>
          </p:spPr>
        </p:sp>
        <p:sp>
          <p:nvSpPr>
            <p:cNvPr name="TextBox 56" id="56"/>
            <p:cNvSpPr txBox="true"/>
            <p:nvPr/>
          </p:nvSpPr>
          <p:spPr>
            <a:xfrm>
              <a:off x="0" y="-9525"/>
              <a:ext cx="4315968" cy="1143381"/>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Motor moves</a:t>
              </a:r>
            </a:p>
            <a:p>
              <a:pPr algn="ctr">
                <a:lnSpc>
                  <a:spcPts val="1530"/>
                </a:lnSpc>
              </a:pPr>
              <a:r>
                <a:rPr lang="en-US" sz="1275">
                  <a:solidFill>
                    <a:srgbClr val="9BAFC2"/>
                  </a:solidFill>
                  <a:latin typeface="Aptos"/>
                  <a:ea typeface="Aptos"/>
                  <a:cs typeface="Aptos"/>
                  <a:sym typeface="Aptos"/>
                </a:rPr>
                <a:t>non-blocking</a:t>
              </a:r>
            </a:p>
          </p:txBody>
        </p:sp>
      </p:grpSp>
      <p:grpSp>
        <p:nvGrpSpPr>
          <p:cNvPr name="Group 57" id="57"/>
          <p:cNvGrpSpPr/>
          <p:nvPr/>
        </p:nvGrpSpPr>
        <p:grpSpPr>
          <a:xfrm rot="0">
            <a:off x="10002202" y="4995862"/>
            <a:ext cx="3587115" cy="1612011"/>
            <a:chOff x="0" y="0"/>
            <a:chExt cx="4782820" cy="2149348"/>
          </a:xfrm>
        </p:grpSpPr>
        <p:sp>
          <p:nvSpPr>
            <p:cNvPr name="Freeform 58" id="58"/>
            <p:cNvSpPr/>
            <p:nvPr/>
          </p:nvSpPr>
          <p:spPr>
            <a:xfrm flipH="false" flipV="false" rot="0">
              <a:off x="0" y="0"/>
              <a:ext cx="4782820" cy="2149348"/>
            </a:xfrm>
            <a:custGeom>
              <a:avLst/>
              <a:gdLst/>
              <a:ahLst/>
              <a:cxnLst/>
              <a:rect r="r" b="b" t="t" l="l"/>
              <a:pathLst>
                <a:path h="2149348" w="4782820">
                  <a:moveTo>
                    <a:pt x="0" y="148209"/>
                  </a:moveTo>
                  <a:cubicBezTo>
                    <a:pt x="0" y="66421"/>
                    <a:pt x="66421" y="0"/>
                    <a:pt x="148209" y="0"/>
                  </a:cubicBezTo>
                  <a:lnTo>
                    <a:pt x="4634611" y="0"/>
                  </a:lnTo>
                  <a:cubicBezTo>
                    <a:pt x="4716526" y="0"/>
                    <a:pt x="4782820" y="66421"/>
                    <a:pt x="4782820" y="148209"/>
                  </a:cubicBezTo>
                  <a:lnTo>
                    <a:pt x="4782820" y="2001139"/>
                  </a:lnTo>
                  <a:cubicBezTo>
                    <a:pt x="4782820" y="2083054"/>
                    <a:pt x="4716399" y="2149348"/>
                    <a:pt x="4634611" y="2149348"/>
                  </a:cubicBezTo>
                  <a:lnTo>
                    <a:pt x="148209" y="2149348"/>
                  </a:lnTo>
                  <a:cubicBezTo>
                    <a:pt x="66421" y="2149348"/>
                    <a:pt x="0" y="2082927"/>
                    <a:pt x="0" y="2001139"/>
                  </a:cubicBezTo>
                  <a:close/>
                </a:path>
              </a:pathLst>
            </a:custGeom>
            <a:solidFill>
              <a:srgbClr val="10253B"/>
            </a:solidFill>
            <a:ln w="20955" cap="sq">
              <a:solidFill>
                <a:srgbClr val="FF5E78"/>
              </a:solidFill>
              <a:prstDash val="solid"/>
              <a:miter/>
            </a:ln>
          </p:spPr>
        </p:sp>
      </p:grpSp>
      <p:grpSp>
        <p:nvGrpSpPr>
          <p:cNvPr name="Group 59" id="59"/>
          <p:cNvGrpSpPr/>
          <p:nvPr/>
        </p:nvGrpSpPr>
        <p:grpSpPr>
          <a:xfrm rot="0">
            <a:off x="10177272" y="5198364"/>
            <a:ext cx="3236976" cy="329184"/>
            <a:chOff x="0" y="0"/>
            <a:chExt cx="4315968" cy="438912"/>
          </a:xfrm>
        </p:grpSpPr>
        <p:sp>
          <p:nvSpPr>
            <p:cNvPr name="Freeform 60" id="60"/>
            <p:cNvSpPr/>
            <p:nvPr/>
          </p:nvSpPr>
          <p:spPr>
            <a:xfrm flipH="false" flipV="false" rot="0">
              <a:off x="0" y="0"/>
              <a:ext cx="4315968" cy="438912"/>
            </a:xfrm>
            <a:custGeom>
              <a:avLst/>
              <a:gdLst/>
              <a:ahLst/>
              <a:cxnLst/>
              <a:rect r="r" b="b" t="t" l="l"/>
              <a:pathLst>
                <a:path h="438912" w="4315968">
                  <a:moveTo>
                    <a:pt x="0" y="0"/>
                  </a:moveTo>
                  <a:lnTo>
                    <a:pt x="4315968" y="0"/>
                  </a:lnTo>
                  <a:lnTo>
                    <a:pt x="4315968" y="438912"/>
                  </a:lnTo>
                  <a:lnTo>
                    <a:pt x="0" y="438912"/>
                  </a:lnTo>
                  <a:close/>
                </a:path>
              </a:pathLst>
            </a:custGeom>
            <a:blipFill>
              <a:blip r:embed="rId3">
                <a:alphaModFix amt="0"/>
              </a:blip>
              <a:stretch>
                <a:fillRect l="0" t="-141602" r="0" b="-141602"/>
              </a:stretch>
            </a:blipFill>
          </p:spPr>
        </p:sp>
        <p:sp>
          <p:nvSpPr>
            <p:cNvPr name="TextBox 61" id="61"/>
            <p:cNvSpPr txBox="true"/>
            <p:nvPr/>
          </p:nvSpPr>
          <p:spPr>
            <a:xfrm>
              <a:off x="0" y="0"/>
              <a:ext cx="431596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WARNING</a:t>
              </a:r>
            </a:p>
          </p:txBody>
        </p:sp>
      </p:grpSp>
      <p:grpSp>
        <p:nvGrpSpPr>
          <p:cNvPr name="Group 62" id="62"/>
          <p:cNvGrpSpPr/>
          <p:nvPr/>
        </p:nvGrpSpPr>
        <p:grpSpPr>
          <a:xfrm rot="0">
            <a:off x="10177272" y="5637276"/>
            <a:ext cx="3236976" cy="850392"/>
            <a:chOff x="0" y="0"/>
            <a:chExt cx="4315968" cy="1133856"/>
          </a:xfrm>
        </p:grpSpPr>
        <p:sp>
          <p:nvSpPr>
            <p:cNvPr name="Freeform 63" id="63"/>
            <p:cNvSpPr/>
            <p:nvPr/>
          </p:nvSpPr>
          <p:spPr>
            <a:xfrm flipH="false" flipV="false" rot="0">
              <a:off x="0" y="0"/>
              <a:ext cx="4315968" cy="1133856"/>
            </a:xfrm>
            <a:custGeom>
              <a:avLst/>
              <a:gdLst/>
              <a:ahLst/>
              <a:cxnLst/>
              <a:rect r="r" b="b" t="t" l="l"/>
              <a:pathLst>
                <a:path h="1133856" w="4315968">
                  <a:moveTo>
                    <a:pt x="0" y="0"/>
                  </a:moveTo>
                  <a:lnTo>
                    <a:pt x="4315968" y="0"/>
                  </a:lnTo>
                  <a:lnTo>
                    <a:pt x="4315968" y="1133856"/>
                  </a:lnTo>
                  <a:lnTo>
                    <a:pt x="0" y="1133856"/>
                  </a:lnTo>
                  <a:close/>
                </a:path>
              </a:pathLst>
            </a:custGeom>
            <a:blipFill>
              <a:blip r:embed="rId3">
                <a:alphaModFix amt="0"/>
              </a:blip>
              <a:stretch>
                <a:fillRect l="0" t="-24168" r="0" b="-24168"/>
              </a:stretch>
            </a:blipFill>
          </p:spPr>
        </p:sp>
        <p:sp>
          <p:nvSpPr>
            <p:cNvPr name="TextBox 64" id="64"/>
            <p:cNvSpPr txBox="true"/>
            <p:nvPr/>
          </p:nvSpPr>
          <p:spPr>
            <a:xfrm>
              <a:off x="0" y="-9525"/>
              <a:ext cx="4315968" cy="1143381"/>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&gt; 60 s →</a:t>
              </a:r>
            </a:p>
            <a:p>
              <a:pPr algn="ctr">
                <a:lnSpc>
                  <a:spcPts val="1530"/>
                </a:lnSpc>
              </a:pPr>
              <a:r>
                <a:rPr lang="en-US" sz="1275">
                  <a:solidFill>
                    <a:srgbClr val="9BAFC2"/>
                  </a:solidFill>
                  <a:latin typeface="Aptos"/>
                  <a:ea typeface="Aptos"/>
                  <a:cs typeface="Aptos"/>
                  <a:sym typeface="Aptos"/>
                </a:rPr>
                <a:t>STATE_WARNING</a:t>
              </a:r>
            </a:p>
          </p:txBody>
        </p:sp>
      </p:grpSp>
      <p:sp>
        <p:nvSpPr>
          <p:cNvPr name="AutoShape 65" id="65"/>
          <p:cNvSpPr/>
          <p:nvPr/>
        </p:nvSpPr>
        <p:spPr>
          <a:xfrm rot="1848480">
            <a:off x="13578430" y="3830955"/>
            <a:ext cx="1344987" cy="0"/>
          </a:xfrm>
          <a:prstGeom prst="line">
            <a:avLst/>
          </a:prstGeom>
          <a:ln cap="rnd" w="19050">
            <a:solidFill>
              <a:srgbClr val="1D3850"/>
            </a:solidFill>
            <a:prstDash val="solid"/>
            <a:headEnd type="none" len="sm" w="sm"/>
            <a:tailEnd type="triangle" len="med" w="lg"/>
          </a:ln>
        </p:spPr>
      </p:sp>
      <p:grpSp>
        <p:nvGrpSpPr>
          <p:cNvPr name="Group 66" id="66"/>
          <p:cNvGrpSpPr/>
          <p:nvPr/>
        </p:nvGrpSpPr>
        <p:grpSpPr>
          <a:xfrm rot="0">
            <a:off x="14871382" y="3761422"/>
            <a:ext cx="2489835" cy="1666875"/>
            <a:chOff x="0" y="0"/>
            <a:chExt cx="3319780" cy="2222500"/>
          </a:xfrm>
        </p:grpSpPr>
        <p:sp>
          <p:nvSpPr>
            <p:cNvPr name="Freeform 67" id="67"/>
            <p:cNvSpPr/>
            <p:nvPr/>
          </p:nvSpPr>
          <p:spPr>
            <a:xfrm flipH="false" flipV="false" rot="0">
              <a:off x="0" y="0"/>
              <a:ext cx="3319780" cy="2222500"/>
            </a:xfrm>
            <a:custGeom>
              <a:avLst/>
              <a:gdLst/>
              <a:ahLst/>
              <a:cxnLst/>
              <a:rect r="r" b="b" t="t" l="l"/>
              <a:pathLst>
                <a:path h="2222500" w="3319780">
                  <a:moveTo>
                    <a:pt x="0" y="148209"/>
                  </a:moveTo>
                  <a:cubicBezTo>
                    <a:pt x="0" y="66294"/>
                    <a:pt x="66294" y="0"/>
                    <a:pt x="148209" y="0"/>
                  </a:cubicBezTo>
                  <a:lnTo>
                    <a:pt x="3171571" y="0"/>
                  </a:lnTo>
                  <a:cubicBezTo>
                    <a:pt x="3253359" y="0"/>
                    <a:pt x="3319780" y="66294"/>
                    <a:pt x="3319780" y="148209"/>
                  </a:cubicBezTo>
                  <a:lnTo>
                    <a:pt x="3319780" y="2074291"/>
                  </a:lnTo>
                  <a:cubicBezTo>
                    <a:pt x="3319780" y="2156079"/>
                    <a:pt x="3253486" y="2222500"/>
                    <a:pt x="3171571" y="2222500"/>
                  </a:cubicBezTo>
                  <a:lnTo>
                    <a:pt x="148209" y="2222500"/>
                  </a:lnTo>
                  <a:cubicBezTo>
                    <a:pt x="66294" y="2222500"/>
                    <a:pt x="0" y="2156206"/>
                    <a:pt x="0" y="2074291"/>
                  </a:cubicBezTo>
                  <a:close/>
                </a:path>
              </a:pathLst>
            </a:custGeom>
            <a:solidFill>
              <a:srgbClr val="10253B"/>
            </a:solidFill>
            <a:ln w="20955" cap="sq">
              <a:solidFill>
                <a:srgbClr val="46D6F5"/>
              </a:solidFill>
              <a:prstDash val="solid"/>
              <a:miter/>
            </a:ln>
          </p:spPr>
        </p:sp>
      </p:grpSp>
      <p:grpSp>
        <p:nvGrpSpPr>
          <p:cNvPr name="Group 68" id="68"/>
          <p:cNvGrpSpPr/>
          <p:nvPr/>
        </p:nvGrpSpPr>
        <p:grpSpPr>
          <a:xfrm rot="0">
            <a:off x="15046452" y="3963924"/>
            <a:ext cx="2139696" cy="329184"/>
            <a:chOff x="0" y="0"/>
            <a:chExt cx="2852928" cy="438912"/>
          </a:xfrm>
        </p:grpSpPr>
        <p:sp>
          <p:nvSpPr>
            <p:cNvPr name="Freeform 69" id="69"/>
            <p:cNvSpPr/>
            <p:nvPr/>
          </p:nvSpPr>
          <p:spPr>
            <a:xfrm flipH="false" flipV="false" rot="0">
              <a:off x="0" y="0"/>
              <a:ext cx="2852928" cy="438912"/>
            </a:xfrm>
            <a:custGeom>
              <a:avLst/>
              <a:gdLst/>
              <a:ahLst/>
              <a:cxnLst/>
              <a:rect r="r" b="b" t="t" l="l"/>
              <a:pathLst>
                <a:path h="438912" w="2852928">
                  <a:moveTo>
                    <a:pt x="0" y="0"/>
                  </a:moveTo>
                  <a:lnTo>
                    <a:pt x="2852928" y="0"/>
                  </a:lnTo>
                  <a:lnTo>
                    <a:pt x="2852928" y="438912"/>
                  </a:lnTo>
                  <a:lnTo>
                    <a:pt x="0" y="438912"/>
                  </a:lnTo>
                  <a:close/>
                </a:path>
              </a:pathLst>
            </a:custGeom>
            <a:blipFill>
              <a:blip r:embed="rId3">
                <a:alphaModFix amt="0"/>
              </a:blip>
              <a:stretch>
                <a:fillRect l="0" t="-76652" r="0" b="-76652"/>
              </a:stretch>
            </a:blipFill>
          </p:spPr>
        </p:sp>
        <p:sp>
          <p:nvSpPr>
            <p:cNvPr name="TextBox 70" id="70"/>
            <p:cNvSpPr txBox="true"/>
            <p:nvPr/>
          </p:nvSpPr>
          <p:spPr>
            <a:xfrm>
              <a:off x="0" y="0"/>
              <a:ext cx="285292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MQTT</a:t>
              </a:r>
            </a:p>
          </p:txBody>
        </p:sp>
      </p:grpSp>
      <p:grpSp>
        <p:nvGrpSpPr>
          <p:cNvPr name="Group 71" id="71"/>
          <p:cNvGrpSpPr/>
          <p:nvPr/>
        </p:nvGrpSpPr>
        <p:grpSpPr>
          <a:xfrm rot="0">
            <a:off x="15046452" y="4402836"/>
            <a:ext cx="2139696" cy="905256"/>
            <a:chOff x="0" y="0"/>
            <a:chExt cx="2852928" cy="1207008"/>
          </a:xfrm>
        </p:grpSpPr>
        <p:sp>
          <p:nvSpPr>
            <p:cNvPr name="Freeform 72" id="72"/>
            <p:cNvSpPr/>
            <p:nvPr/>
          </p:nvSpPr>
          <p:spPr>
            <a:xfrm flipH="false" flipV="false" rot="0">
              <a:off x="0" y="0"/>
              <a:ext cx="2852928" cy="1207008"/>
            </a:xfrm>
            <a:custGeom>
              <a:avLst/>
              <a:gdLst/>
              <a:ahLst/>
              <a:cxnLst/>
              <a:rect r="r" b="b" t="t" l="l"/>
              <a:pathLst>
                <a:path h="1207008" w="2852928">
                  <a:moveTo>
                    <a:pt x="0" y="0"/>
                  </a:moveTo>
                  <a:lnTo>
                    <a:pt x="2852928" y="0"/>
                  </a:lnTo>
                  <a:lnTo>
                    <a:pt x="2852928" y="1207008"/>
                  </a:lnTo>
                  <a:lnTo>
                    <a:pt x="0" y="1207008"/>
                  </a:lnTo>
                  <a:close/>
                </a:path>
              </a:pathLst>
            </a:custGeom>
            <a:blipFill>
              <a:blip r:embed="rId3">
                <a:alphaModFix amt="0"/>
              </a:blip>
              <a:stretch>
                <a:fillRect l="-4282" t="0" r="-4282" b="0"/>
              </a:stretch>
            </a:blipFill>
          </p:spPr>
        </p:sp>
        <p:sp>
          <p:nvSpPr>
            <p:cNvPr name="TextBox 73" id="73"/>
            <p:cNvSpPr txBox="true"/>
            <p:nvPr/>
          </p:nvSpPr>
          <p:spPr>
            <a:xfrm>
              <a:off x="0" y="-9525"/>
              <a:ext cx="2852928" cy="121653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Door status +</a:t>
              </a:r>
            </a:p>
            <a:p>
              <a:pPr algn="ctr">
                <a:lnSpc>
                  <a:spcPts val="1530"/>
                </a:lnSpc>
              </a:pPr>
              <a:r>
                <a:rPr lang="en-US" sz="1275">
                  <a:solidFill>
                    <a:srgbClr val="9BAFC2"/>
                  </a:solidFill>
                  <a:latin typeface="Aptos"/>
                  <a:ea typeface="Aptos"/>
                  <a:cs typeface="Aptos"/>
                  <a:sym typeface="Aptos"/>
                </a:rPr>
                <a:t>alert state</a:t>
              </a:r>
            </a:p>
          </p:txBody>
        </p:sp>
      </p:grpSp>
      <p:sp>
        <p:nvSpPr>
          <p:cNvPr name="TextBox 74" id="74"/>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F6C85F"/>
            </a:solidFill>
            <a:ln w="19050" cap="sq">
              <a:solidFill>
                <a:srgbClr val="F6C85F"/>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04</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4</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EMA noise filtering</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Reduce transient DHT22 spikes while preserving the temperature trend.</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52500" y="3078480"/>
            <a:ext cx="5913120" cy="1633728"/>
            <a:chOff x="0" y="0"/>
            <a:chExt cx="7884160" cy="2178304"/>
          </a:xfrm>
        </p:grpSpPr>
        <p:sp>
          <p:nvSpPr>
            <p:cNvPr name="Freeform 23" id="23"/>
            <p:cNvSpPr/>
            <p:nvPr/>
          </p:nvSpPr>
          <p:spPr>
            <a:xfrm flipH="false" flipV="false" rot="0">
              <a:off x="0" y="0"/>
              <a:ext cx="7884160" cy="2178304"/>
            </a:xfrm>
            <a:custGeom>
              <a:avLst/>
              <a:gdLst/>
              <a:ahLst/>
              <a:cxnLst/>
              <a:rect r="r" b="b" t="t" l="l"/>
              <a:pathLst>
                <a:path h="2178304" w="7884160">
                  <a:moveTo>
                    <a:pt x="0" y="147701"/>
                  </a:moveTo>
                  <a:cubicBezTo>
                    <a:pt x="0" y="66167"/>
                    <a:pt x="66167" y="0"/>
                    <a:pt x="147701" y="0"/>
                  </a:cubicBezTo>
                  <a:lnTo>
                    <a:pt x="7736459" y="0"/>
                  </a:lnTo>
                  <a:cubicBezTo>
                    <a:pt x="7817993" y="0"/>
                    <a:pt x="7884160" y="66167"/>
                    <a:pt x="7884160" y="147701"/>
                  </a:cubicBezTo>
                  <a:lnTo>
                    <a:pt x="7884160" y="2030603"/>
                  </a:lnTo>
                  <a:cubicBezTo>
                    <a:pt x="7884160" y="2112137"/>
                    <a:pt x="7817993" y="2178304"/>
                    <a:pt x="7736459" y="2178304"/>
                  </a:cubicBezTo>
                  <a:lnTo>
                    <a:pt x="147701" y="2178304"/>
                  </a:lnTo>
                  <a:cubicBezTo>
                    <a:pt x="66167" y="2178304"/>
                    <a:pt x="0" y="2112137"/>
                    <a:pt x="0" y="2030603"/>
                  </a:cubicBezTo>
                  <a:close/>
                </a:path>
              </a:pathLst>
            </a:custGeom>
            <a:solidFill>
              <a:srgbClr val="0E1D30"/>
            </a:solidFill>
            <a:ln w="15240" cap="sq">
              <a:solidFill>
                <a:srgbClr val="1D3850"/>
              </a:solidFill>
              <a:prstDash val="solid"/>
              <a:miter/>
            </a:ln>
          </p:spPr>
        </p:sp>
      </p:grpSp>
      <p:grpSp>
        <p:nvGrpSpPr>
          <p:cNvPr name="Group 24" id="24"/>
          <p:cNvGrpSpPr/>
          <p:nvPr/>
        </p:nvGrpSpPr>
        <p:grpSpPr>
          <a:xfrm rot="0">
            <a:off x="2029968" y="3360420"/>
            <a:ext cx="4526280" cy="342900"/>
            <a:chOff x="0" y="0"/>
            <a:chExt cx="6035040" cy="457200"/>
          </a:xfrm>
        </p:grpSpPr>
        <p:sp>
          <p:nvSpPr>
            <p:cNvPr name="Freeform 25" id="25"/>
            <p:cNvSpPr/>
            <p:nvPr/>
          </p:nvSpPr>
          <p:spPr>
            <a:xfrm flipH="false" flipV="false" rot="0">
              <a:off x="0" y="0"/>
              <a:ext cx="6035040" cy="457200"/>
            </a:xfrm>
            <a:custGeom>
              <a:avLst/>
              <a:gdLst/>
              <a:ahLst/>
              <a:cxnLst/>
              <a:rect r="r" b="b" t="t" l="l"/>
              <a:pathLst>
                <a:path h="457200" w="6035040">
                  <a:moveTo>
                    <a:pt x="0" y="0"/>
                  </a:moveTo>
                  <a:lnTo>
                    <a:pt x="6035040" y="0"/>
                  </a:lnTo>
                  <a:lnTo>
                    <a:pt x="6035040" y="457200"/>
                  </a:lnTo>
                  <a:lnTo>
                    <a:pt x="0" y="457200"/>
                  </a:lnTo>
                  <a:close/>
                </a:path>
              </a:pathLst>
            </a:custGeom>
            <a:blipFill>
              <a:blip r:embed="rId3">
                <a:alphaModFix amt="0"/>
              </a:blip>
              <a:stretch>
                <a:fillRect l="0" t="-207202" r="0" b="-207202"/>
              </a:stretch>
            </a:blipFill>
          </p:spPr>
        </p:sp>
        <p:sp>
          <p:nvSpPr>
            <p:cNvPr name="TextBox 26" id="26"/>
            <p:cNvSpPr txBox="true"/>
            <p:nvPr/>
          </p:nvSpPr>
          <p:spPr>
            <a:xfrm>
              <a:off x="0" y="-9525"/>
              <a:ext cx="603504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RECURRENCE</a:t>
              </a:r>
            </a:p>
          </p:txBody>
        </p:sp>
      </p:grpSp>
      <p:sp>
        <p:nvSpPr>
          <p:cNvPr name="TextBox 27" id="27"/>
          <p:cNvSpPr txBox="true"/>
          <p:nvPr/>
        </p:nvSpPr>
        <p:spPr>
          <a:xfrm rot="0">
            <a:off x="1261872" y="3936492"/>
            <a:ext cx="5294376" cy="521208"/>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Tfiltered = α·Tcal + (1−α)·Tfiltered_old</a:t>
            </a:r>
          </a:p>
        </p:txBody>
      </p:sp>
      <p:grpSp>
        <p:nvGrpSpPr>
          <p:cNvPr name="Group 28" id="28"/>
          <p:cNvGrpSpPr/>
          <p:nvPr/>
        </p:nvGrpSpPr>
        <p:grpSpPr>
          <a:xfrm rot="0">
            <a:off x="952500" y="5067300"/>
            <a:ext cx="2758440" cy="1866900"/>
            <a:chOff x="0" y="0"/>
            <a:chExt cx="3677920" cy="2489200"/>
          </a:xfrm>
        </p:grpSpPr>
        <p:sp>
          <p:nvSpPr>
            <p:cNvPr name="Freeform 29" id="29"/>
            <p:cNvSpPr/>
            <p:nvPr/>
          </p:nvSpPr>
          <p:spPr>
            <a:xfrm flipH="false" flipV="false" rot="0">
              <a:off x="0" y="0"/>
              <a:ext cx="3677920" cy="2489200"/>
            </a:xfrm>
            <a:custGeom>
              <a:avLst/>
              <a:gdLst/>
              <a:ahLst/>
              <a:cxnLst/>
              <a:rect r="r" b="b" t="t" l="l"/>
              <a:pathLst>
                <a:path h="2489200" w="3677920">
                  <a:moveTo>
                    <a:pt x="0" y="147447"/>
                  </a:moveTo>
                  <a:cubicBezTo>
                    <a:pt x="0" y="66040"/>
                    <a:pt x="66040" y="0"/>
                    <a:pt x="147447" y="0"/>
                  </a:cubicBezTo>
                  <a:lnTo>
                    <a:pt x="3530473" y="0"/>
                  </a:lnTo>
                  <a:cubicBezTo>
                    <a:pt x="3611880" y="0"/>
                    <a:pt x="3677920" y="66040"/>
                    <a:pt x="3677920" y="147447"/>
                  </a:cubicBezTo>
                  <a:lnTo>
                    <a:pt x="3677920" y="2341753"/>
                  </a:lnTo>
                  <a:cubicBezTo>
                    <a:pt x="3677920" y="2423160"/>
                    <a:pt x="3611880" y="2489200"/>
                    <a:pt x="3530473" y="2489200"/>
                  </a:cubicBezTo>
                  <a:lnTo>
                    <a:pt x="147447" y="2489200"/>
                  </a:lnTo>
                  <a:cubicBezTo>
                    <a:pt x="66040" y="2489200"/>
                    <a:pt x="0" y="2423160"/>
                    <a:pt x="0" y="2341753"/>
                  </a:cubicBezTo>
                  <a:close/>
                </a:path>
              </a:pathLst>
            </a:custGeom>
            <a:solidFill>
              <a:srgbClr val="0E1D30"/>
            </a:solidFill>
            <a:ln w="15240" cap="sq">
              <a:solidFill>
                <a:srgbClr val="1D3850"/>
              </a:solidFill>
              <a:prstDash val="solid"/>
              <a:miter/>
            </a:ln>
          </p:spPr>
        </p:sp>
      </p:grpSp>
      <p:grpSp>
        <p:nvGrpSpPr>
          <p:cNvPr name="Group 30" id="30"/>
          <p:cNvGrpSpPr/>
          <p:nvPr/>
        </p:nvGrpSpPr>
        <p:grpSpPr>
          <a:xfrm rot="0">
            <a:off x="2029968" y="5349240"/>
            <a:ext cx="1371600" cy="342900"/>
            <a:chOff x="0" y="0"/>
            <a:chExt cx="1828800" cy="457200"/>
          </a:xfrm>
        </p:grpSpPr>
        <p:sp>
          <p:nvSpPr>
            <p:cNvPr name="Freeform 31" id="31"/>
            <p:cNvSpPr/>
            <p:nvPr/>
          </p:nvSpPr>
          <p:spPr>
            <a:xfrm flipH="false" flipV="false" rot="0">
              <a:off x="0" y="0"/>
              <a:ext cx="1828800" cy="457200"/>
            </a:xfrm>
            <a:custGeom>
              <a:avLst/>
              <a:gdLst/>
              <a:ahLst/>
              <a:cxnLst/>
              <a:rect r="r" b="b" t="t" l="l"/>
              <a:pathLst>
                <a:path h="457200" w="1828800">
                  <a:moveTo>
                    <a:pt x="0" y="0"/>
                  </a:moveTo>
                  <a:lnTo>
                    <a:pt x="1828800" y="0"/>
                  </a:lnTo>
                  <a:lnTo>
                    <a:pt x="1828800" y="457200"/>
                  </a:lnTo>
                  <a:lnTo>
                    <a:pt x="0" y="457200"/>
                  </a:lnTo>
                  <a:close/>
                </a:path>
              </a:pathLst>
            </a:custGeom>
            <a:blipFill>
              <a:blip r:embed="rId3">
                <a:alphaModFix amt="0"/>
              </a:blip>
              <a:stretch>
                <a:fillRect l="0" t="-27940" r="0" b="-27940"/>
              </a:stretch>
            </a:blipFill>
          </p:spPr>
        </p:sp>
        <p:sp>
          <p:nvSpPr>
            <p:cNvPr name="TextBox 32" id="32"/>
            <p:cNvSpPr txBox="true"/>
            <p:nvPr/>
          </p:nvSpPr>
          <p:spPr>
            <a:xfrm>
              <a:off x="0" y="-9525"/>
              <a:ext cx="182880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α</a:t>
              </a:r>
            </a:p>
          </p:txBody>
        </p:sp>
      </p:grpSp>
      <p:grpSp>
        <p:nvGrpSpPr>
          <p:cNvPr name="Group 33" id="33"/>
          <p:cNvGrpSpPr/>
          <p:nvPr/>
        </p:nvGrpSpPr>
        <p:grpSpPr>
          <a:xfrm rot="0">
            <a:off x="1261872" y="5980176"/>
            <a:ext cx="2139696" cy="576072"/>
            <a:chOff x="0" y="0"/>
            <a:chExt cx="2852928" cy="768096"/>
          </a:xfrm>
        </p:grpSpPr>
        <p:sp>
          <p:nvSpPr>
            <p:cNvPr name="Freeform 34" id="34"/>
            <p:cNvSpPr/>
            <p:nvPr/>
          </p:nvSpPr>
          <p:spPr>
            <a:xfrm flipH="false" flipV="false" rot="0">
              <a:off x="0" y="0"/>
              <a:ext cx="2852928" cy="768096"/>
            </a:xfrm>
            <a:custGeom>
              <a:avLst/>
              <a:gdLst/>
              <a:ahLst/>
              <a:cxnLst/>
              <a:rect r="r" b="b" t="t" l="l"/>
              <a:pathLst>
                <a:path h="768096" w="2852928">
                  <a:moveTo>
                    <a:pt x="0" y="0"/>
                  </a:moveTo>
                  <a:lnTo>
                    <a:pt x="2852928" y="0"/>
                  </a:lnTo>
                  <a:lnTo>
                    <a:pt x="2852928" y="768096"/>
                  </a:lnTo>
                  <a:lnTo>
                    <a:pt x="0" y="768096"/>
                  </a:lnTo>
                  <a:close/>
                </a:path>
              </a:pathLst>
            </a:custGeom>
            <a:blipFill>
              <a:blip r:embed="rId3">
                <a:alphaModFix amt="0"/>
              </a:blip>
              <a:stretch>
                <a:fillRect l="0" t="-22372" r="0" b="-22373"/>
              </a:stretch>
            </a:blipFill>
          </p:spPr>
        </p:sp>
        <p:sp>
          <p:nvSpPr>
            <p:cNvPr name="TextBox 35" id="35"/>
            <p:cNvSpPr txBox="true"/>
            <p:nvPr/>
          </p:nvSpPr>
          <p:spPr>
            <a:xfrm>
              <a:off x="0" y="0"/>
              <a:ext cx="285292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0.2</a:t>
              </a:r>
            </a:p>
          </p:txBody>
        </p:sp>
      </p:grpSp>
      <p:grpSp>
        <p:nvGrpSpPr>
          <p:cNvPr name="Group 36" id="36"/>
          <p:cNvGrpSpPr/>
          <p:nvPr/>
        </p:nvGrpSpPr>
        <p:grpSpPr>
          <a:xfrm rot="0">
            <a:off x="3997452" y="5067300"/>
            <a:ext cx="2868168" cy="1866900"/>
            <a:chOff x="0" y="0"/>
            <a:chExt cx="3824224" cy="2489200"/>
          </a:xfrm>
        </p:grpSpPr>
        <p:sp>
          <p:nvSpPr>
            <p:cNvPr name="Freeform 37" id="37"/>
            <p:cNvSpPr/>
            <p:nvPr/>
          </p:nvSpPr>
          <p:spPr>
            <a:xfrm flipH="false" flipV="false" rot="0">
              <a:off x="0" y="0"/>
              <a:ext cx="3824224" cy="2489200"/>
            </a:xfrm>
            <a:custGeom>
              <a:avLst/>
              <a:gdLst/>
              <a:ahLst/>
              <a:cxnLst/>
              <a:rect r="r" b="b" t="t" l="l"/>
              <a:pathLst>
                <a:path h="2489200" w="3824224">
                  <a:moveTo>
                    <a:pt x="0" y="147447"/>
                  </a:moveTo>
                  <a:cubicBezTo>
                    <a:pt x="0" y="66040"/>
                    <a:pt x="66040" y="0"/>
                    <a:pt x="147447" y="0"/>
                  </a:cubicBezTo>
                  <a:lnTo>
                    <a:pt x="3676777" y="0"/>
                  </a:lnTo>
                  <a:cubicBezTo>
                    <a:pt x="3758184" y="0"/>
                    <a:pt x="3824224" y="66040"/>
                    <a:pt x="3824224" y="147447"/>
                  </a:cubicBezTo>
                  <a:lnTo>
                    <a:pt x="3824224" y="2341753"/>
                  </a:lnTo>
                  <a:cubicBezTo>
                    <a:pt x="3824224" y="2423160"/>
                    <a:pt x="3758184" y="2489200"/>
                    <a:pt x="3676777" y="2489200"/>
                  </a:cubicBezTo>
                  <a:lnTo>
                    <a:pt x="147447" y="2489200"/>
                  </a:lnTo>
                  <a:cubicBezTo>
                    <a:pt x="66040" y="2489200"/>
                    <a:pt x="0" y="2423160"/>
                    <a:pt x="0" y="2341753"/>
                  </a:cubicBezTo>
                  <a:close/>
                </a:path>
              </a:pathLst>
            </a:custGeom>
            <a:solidFill>
              <a:srgbClr val="0E1D30"/>
            </a:solidFill>
            <a:ln w="15240" cap="sq">
              <a:solidFill>
                <a:srgbClr val="1D3850"/>
              </a:solidFill>
              <a:prstDash val="solid"/>
              <a:miter/>
            </a:ln>
          </p:spPr>
        </p:sp>
      </p:grpSp>
      <p:grpSp>
        <p:nvGrpSpPr>
          <p:cNvPr name="Group 38" id="38"/>
          <p:cNvGrpSpPr/>
          <p:nvPr/>
        </p:nvGrpSpPr>
        <p:grpSpPr>
          <a:xfrm rot="0">
            <a:off x="5074920" y="5349240"/>
            <a:ext cx="1481328" cy="342900"/>
            <a:chOff x="0" y="0"/>
            <a:chExt cx="1975104" cy="457200"/>
          </a:xfrm>
        </p:grpSpPr>
        <p:sp>
          <p:nvSpPr>
            <p:cNvPr name="Freeform 39" id="39"/>
            <p:cNvSpPr/>
            <p:nvPr/>
          </p:nvSpPr>
          <p:spPr>
            <a:xfrm flipH="false" flipV="false" rot="0">
              <a:off x="0" y="0"/>
              <a:ext cx="1975104" cy="457200"/>
            </a:xfrm>
            <a:custGeom>
              <a:avLst/>
              <a:gdLst/>
              <a:ahLst/>
              <a:cxnLst/>
              <a:rect r="r" b="b" t="t" l="l"/>
              <a:pathLst>
                <a:path h="457200" w="1975104">
                  <a:moveTo>
                    <a:pt x="0" y="0"/>
                  </a:moveTo>
                  <a:lnTo>
                    <a:pt x="1975104" y="0"/>
                  </a:lnTo>
                  <a:lnTo>
                    <a:pt x="1975104" y="457200"/>
                  </a:lnTo>
                  <a:lnTo>
                    <a:pt x="0" y="457200"/>
                  </a:lnTo>
                  <a:close/>
                </a:path>
              </a:pathLst>
            </a:custGeom>
            <a:blipFill>
              <a:blip r:embed="rId3">
                <a:alphaModFix amt="0"/>
              </a:blip>
              <a:stretch>
                <a:fillRect l="0" t="-34175" r="0" b="-34175"/>
              </a:stretch>
            </a:blipFill>
          </p:spPr>
        </p:sp>
        <p:sp>
          <p:nvSpPr>
            <p:cNvPr name="TextBox 40" id="40"/>
            <p:cNvSpPr txBox="true"/>
            <p:nvPr/>
          </p:nvSpPr>
          <p:spPr>
            <a:xfrm>
              <a:off x="0" y="-9525"/>
              <a:ext cx="197510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HISTORY</a:t>
              </a:r>
            </a:p>
          </p:txBody>
        </p:sp>
      </p:grpSp>
      <p:grpSp>
        <p:nvGrpSpPr>
          <p:cNvPr name="Group 41" id="41"/>
          <p:cNvGrpSpPr/>
          <p:nvPr/>
        </p:nvGrpSpPr>
        <p:grpSpPr>
          <a:xfrm rot="0">
            <a:off x="4306824" y="5980176"/>
            <a:ext cx="2249424" cy="576072"/>
            <a:chOff x="0" y="0"/>
            <a:chExt cx="2999232" cy="768096"/>
          </a:xfrm>
        </p:grpSpPr>
        <p:sp>
          <p:nvSpPr>
            <p:cNvPr name="Freeform 42" id="42"/>
            <p:cNvSpPr/>
            <p:nvPr/>
          </p:nvSpPr>
          <p:spPr>
            <a:xfrm flipH="false" flipV="false" rot="0">
              <a:off x="0" y="0"/>
              <a:ext cx="2999232" cy="768096"/>
            </a:xfrm>
            <a:custGeom>
              <a:avLst/>
              <a:gdLst/>
              <a:ahLst/>
              <a:cxnLst/>
              <a:rect r="r" b="b" t="t" l="l"/>
              <a:pathLst>
                <a:path h="768096" w="2999232">
                  <a:moveTo>
                    <a:pt x="0" y="0"/>
                  </a:moveTo>
                  <a:lnTo>
                    <a:pt x="2999232" y="0"/>
                  </a:lnTo>
                  <a:lnTo>
                    <a:pt x="2999232" y="768096"/>
                  </a:lnTo>
                  <a:lnTo>
                    <a:pt x="0" y="768096"/>
                  </a:lnTo>
                  <a:close/>
                </a:path>
              </a:pathLst>
            </a:custGeom>
            <a:blipFill>
              <a:blip r:embed="rId3">
                <a:alphaModFix amt="0"/>
              </a:blip>
              <a:stretch>
                <a:fillRect l="0" t="-26084" r="0" b="-26084"/>
              </a:stretch>
            </a:blipFill>
          </p:spPr>
        </p:sp>
        <p:sp>
          <p:nvSpPr>
            <p:cNvPr name="TextBox 43" id="43"/>
            <p:cNvSpPr txBox="true"/>
            <p:nvPr/>
          </p:nvSpPr>
          <p:spPr>
            <a:xfrm>
              <a:off x="0" y="0"/>
              <a:ext cx="2999232"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80%</a:t>
              </a:r>
            </a:p>
          </p:txBody>
        </p:sp>
      </p:grpSp>
      <p:grpSp>
        <p:nvGrpSpPr>
          <p:cNvPr name="Group 44" id="44"/>
          <p:cNvGrpSpPr/>
          <p:nvPr/>
        </p:nvGrpSpPr>
        <p:grpSpPr>
          <a:xfrm rot="0">
            <a:off x="8229600" y="3017520"/>
            <a:ext cx="2743200" cy="342900"/>
            <a:chOff x="0" y="0"/>
            <a:chExt cx="3657600" cy="457200"/>
          </a:xfrm>
        </p:grpSpPr>
        <p:sp>
          <p:nvSpPr>
            <p:cNvPr name="Freeform 45" id="45"/>
            <p:cNvSpPr/>
            <p:nvPr/>
          </p:nvSpPr>
          <p:spPr>
            <a:xfrm flipH="false" flipV="false" rot="0">
              <a:off x="0" y="0"/>
              <a:ext cx="3657600" cy="457200"/>
            </a:xfrm>
            <a:custGeom>
              <a:avLst/>
              <a:gdLst/>
              <a:ahLst/>
              <a:cxnLst/>
              <a:rect r="r" b="b" t="t" l="l"/>
              <a:pathLst>
                <a:path h="457200" w="3657600">
                  <a:moveTo>
                    <a:pt x="0" y="0"/>
                  </a:moveTo>
                  <a:lnTo>
                    <a:pt x="3657600" y="0"/>
                  </a:lnTo>
                  <a:lnTo>
                    <a:pt x="3657600" y="457200"/>
                  </a:lnTo>
                  <a:lnTo>
                    <a:pt x="0" y="457200"/>
                  </a:lnTo>
                  <a:close/>
                </a:path>
              </a:pathLst>
            </a:custGeom>
            <a:blipFill>
              <a:blip r:embed="rId3">
                <a:alphaModFix amt="0"/>
              </a:blip>
              <a:stretch>
                <a:fillRect l="0" t="-105880" r="0" b="-105880"/>
              </a:stretch>
            </a:blipFill>
          </p:spPr>
        </p:sp>
        <p:sp>
          <p:nvSpPr>
            <p:cNvPr name="TextBox 46" id="46"/>
            <p:cNvSpPr txBox="true"/>
            <p:nvPr/>
          </p:nvSpPr>
          <p:spPr>
            <a:xfrm>
              <a:off x="0" y="0"/>
              <a:ext cx="3657600" cy="457200"/>
            </a:xfrm>
            <a:prstGeom prst="rect">
              <a:avLst/>
            </a:prstGeom>
          </p:spPr>
          <p:txBody>
            <a:bodyPr anchor="ctr" rtlCol="false" tIns="0" lIns="0" bIns="0" rIns="0"/>
            <a:lstStyle/>
            <a:p>
              <a:pPr algn="l">
                <a:lnSpc>
                  <a:spcPts val="1800"/>
                </a:lnSpc>
              </a:pPr>
              <a:r>
                <a:rPr lang="en-US" sz="1500" b="true">
                  <a:solidFill>
                    <a:srgbClr val="DDE7F0"/>
                  </a:solidFill>
                  <a:latin typeface="Aptos Bold"/>
                  <a:ea typeface="Aptos Bold"/>
                  <a:cs typeface="Aptos Bold"/>
                  <a:sym typeface="Aptos Bold"/>
                </a:rPr>
                <a:t>Signal shape</a:t>
              </a:r>
            </a:p>
          </p:txBody>
        </p:sp>
      </p:grpSp>
      <p:sp>
        <p:nvSpPr>
          <p:cNvPr name="AutoShape 47" id="47"/>
          <p:cNvSpPr/>
          <p:nvPr/>
        </p:nvSpPr>
        <p:spPr>
          <a:xfrm rot="8280">
            <a:off x="8494385" y="8156257"/>
            <a:ext cx="7905769" cy="0"/>
          </a:xfrm>
          <a:prstGeom prst="line">
            <a:avLst/>
          </a:prstGeom>
          <a:ln cap="rnd" w="9525">
            <a:solidFill>
              <a:srgbClr val="1D3850"/>
            </a:solidFill>
            <a:prstDash val="solid"/>
            <a:headEnd type="none" len="sm" w="sm"/>
            <a:tailEnd type="none" len="sm" w="sm"/>
          </a:ln>
        </p:spPr>
      </p:sp>
      <p:sp>
        <p:nvSpPr>
          <p:cNvPr name="AutoShape 48" id="48"/>
          <p:cNvSpPr/>
          <p:nvPr/>
        </p:nvSpPr>
        <p:spPr>
          <a:xfrm rot="635820">
            <a:off x="9172146" y="7072694"/>
            <a:ext cx="720957" cy="0"/>
          </a:xfrm>
          <a:prstGeom prst="line">
            <a:avLst/>
          </a:prstGeom>
          <a:ln cap="rnd" w="9525">
            <a:solidFill>
              <a:srgbClr val="FF5E78"/>
            </a:solidFill>
            <a:prstDash val="solid"/>
            <a:headEnd type="none" len="sm" w="sm"/>
            <a:tailEnd type="triangle" len="med" w="lg"/>
          </a:ln>
        </p:spPr>
      </p:sp>
      <p:sp>
        <p:nvSpPr>
          <p:cNvPr name="AutoShape 49" id="49"/>
          <p:cNvSpPr/>
          <p:nvPr/>
        </p:nvSpPr>
        <p:spPr>
          <a:xfrm rot="180780">
            <a:off x="9170165" y="7109079"/>
            <a:ext cx="724900" cy="0"/>
          </a:xfrm>
          <a:prstGeom prst="line">
            <a:avLst/>
          </a:prstGeom>
          <a:ln cap="rnd" w="19050">
            <a:solidFill>
              <a:srgbClr val="46D6F5"/>
            </a:solidFill>
            <a:prstDash val="solid"/>
            <a:headEnd type="none" len="sm" w="sm"/>
            <a:tailEnd type="triangle" len="med" w="lg"/>
          </a:ln>
        </p:spPr>
      </p:sp>
      <p:sp>
        <p:nvSpPr>
          <p:cNvPr name="AutoShape 50" id="50"/>
          <p:cNvSpPr/>
          <p:nvPr/>
        </p:nvSpPr>
        <p:spPr>
          <a:xfrm rot="4576980">
            <a:off x="10095795" y="5481638"/>
            <a:ext cx="2988459" cy="0"/>
          </a:xfrm>
          <a:prstGeom prst="line">
            <a:avLst/>
          </a:prstGeom>
          <a:ln cap="rnd" w="9525">
            <a:solidFill>
              <a:srgbClr val="FF5E78"/>
            </a:solidFill>
            <a:prstDash val="solid"/>
            <a:headEnd type="none" len="sm" w="sm"/>
            <a:tailEnd type="triangle" len="med" w="lg"/>
          </a:ln>
        </p:spPr>
      </p:sp>
      <p:sp>
        <p:nvSpPr>
          <p:cNvPr name="AutoShape 51" id="51"/>
          <p:cNvSpPr/>
          <p:nvPr/>
        </p:nvSpPr>
        <p:spPr>
          <a:xfrm rot="629760">
            <a:off x="11221907" y="6498717"/>
            <a:ext cx="736216" cy="0"/>
          </a:xfrm>
          <a:prstGeom prst="line">
            <a:avLst/>
          </a:prstGeom>
          <a:ln cap="rnd" w="19050">
            <a:solidFill>
              <a:srgbClr val="46D6F5"/>
            </a:solidFill>
            <a:prstDash val="solid"/>
            <a:headEnd type="none" len="sm" w="sm"/>
            <a:tailEnd type="triangle" len="med" w="lg"/>
          </a:ln>
        </p:spPr>
      </p:sp>
      <p:sp>
        <p:nvSpPr>
          <p:cNvPr name="AutoShape 52" id="52"/>
          <p:cNvSpPr/>
          <p:nvPr/>
        </p:nvSpPr>
        <p:spPr>
          <a:xfrm rot="180780">
            <a:off x="11913365" y="6546723"/>
            <a:ext cx="724900" cy="0"/>
          </a:xfrm>
          <a:prstGeom prst="line">
            <a:avLst/>
          </a:prstGeom>
          <a:ln cap="rnd" w="19050">
            <a:solidFill>
              <a:srgbClr val="46D6F5"/>
            </a:solidFill>
            <a:prstDash val="solid"/>
            <a:headEnd type="none" len="sm" w="sm"/>
            <a:tailEnd type="triangle" len="med" w="lg"/>
          </a:ln>
        </p:spPr>
      </p:sp>
      <p:sp>
        <p:nvSpPr>
          <p:cNvPr name="AutoShape 53" id="53"/>
          <p:cNvSpPr/>
          <p:nvPr/>
        </p:nvSpPr>
        <p:spPr>
          <a:xfrm rot="1365060">
            <a:off x="12577391" y="6743510"/>
            <a:ext cx="768448" cy="0"/>
          </a:xfrm>
          <a:prstGeom prst="line">
            <a:avLst/>
          </a:prstGeom>
          <a:ln cap="rnd" w="9525">
            <a:solidFill>
              <a:srgbClr val="FF5E78"/>
            </a:solidFill>
            <a:prstDash val="solid"/>
            <a:headEnd type="none" len="sm" w="sm"/>
            <a:tailEnd type="triangle" len="med" w="lg"/>
          </a:ln>
        </p:spPr>
      </p:sp>
      <p:sp>
        <p:nvSpPr>
          <p:cNvPr name="AutoShape 54" id="54"/>
          <p:cNvSpPr/>
          <p:nvPr/>
        </p:nvSpPr>
        <p:spPr>
          <a:xfrm rot="502979">
            <a:off x="12595765" y="6581013"/>
            <a:ext cx="731720" cy="0"/>
          </a:xfrm>
          <a:prstGeom prst="line">
            <a:avLst/>
          </a:prstGeom>
          <a:ln cap="rnd" w="19050">
            <a:solidFill>
              <a:srgbClr val="46D6F5"/>
            </a:solidFill>
            <a:prstDash val="solid"/>
            <a:headEnd type="none" len="sm" w="sm"/>
            <a:tailEnd type="triangle" len="med" w="lg"/>
          </a:ln>
        </p:spPr>
      </p:sp>
      <p:sp>
        <p:nvSpPr>
          <p:cNvPr name="AutoShape 55" id="55"/>
          <p:cNvSpPr/>
          <p:nvPr/>
        </p:nvSpPr>
        <p:spPr>
          <a:xfrm rot="1012140">
            <a:off x="14648755" y="6400610"/>
            <a:ext cx="740521" cy="0"/>
          </a:xfrm>
          <a:prstGeom prst="line">
            <a:avLst/>
          </a:prstGeom>
          <a:ln cap="rnd" w="9525">
            <a:solidFill>
              <a:srgbClr val="FF5E78"/>
            </a:solidFill>
            <a:prstDash val="solid"/>
            <a:headEnd type="none" len="sm" w="sm"/>
            <a:tailEnd type="triangle" len="med" w="lg"/>
          </a:ln>
        </p:spPr>
      </p:sp>
      <p:grpSp>
        <p:nvGrpSpPr>
          <p:cNvPr name="Group 56" id="56"/>
          <p:cNvGrpSpPr/>
          <p:nvPr/>
        </p:nvGrpSpPr>
        <p:grpSpPr>
          <a:xfrm rot="0">
            <a:off x="8523732" y="8427720"/>
            <a:ext cx="1043940" cy="426720"/>
            <a:chOff x="0" y="0"/>
            <a:chExt cx="1391920" cy="568960"/>
          </a:xfrm>
        </p:grpSpPr>
        <p:sp>
          <p:nvSpPr>
            <p:cNvPr name="Freeform 57" id="57"/>
            <p:cNvSpPr/>
            <p:nvPr/>
          </p:nvSpPr>
          <p:spPr>
            <a:xfrm flipH="false" flipV="false" rot="0">
              <a:off x="0" y="0"/>
              <a:ext cx="1391920" cy="568960"/>
            </a:xfrm>
            <a:custGeom>
              <a:avLst/>
              <a:gdLst/>
              <a:ahLst/>
              <a:cxnLst/>
              <a:rect r="r" b="b" t="t" l="l"/>
              <a:pathLst>
                <a:path h="568960" w="1391920">
                  <a:moveTo>
                    <a:pt x="0" y="113792"/>
                  </a:moveTo>
                  <a:cubicBezTo>
                    <a:pt x="0" y="50927"/>
                    <a:pt x="50927" y="0"/>
                    <a:pt x="113792" y="0"/>
                  </a:cubicBezTo>
                  <a:lnTo>
                    <a:pt x="1278128" y="0"/>
                  </a:lnTo>
                  <a:cubicBezTo>
                    <a:pt x="1340993" y="0"/>
                    <a:pt x="1391920" y="50927"/>
                    <a:pt x="1391920" y="113792"/>
                  </a:cubicBezTo>
                  <a:lnTo>
                    <a:pt x="1391920" y="455168"/>
                  </a:lnTo>
                  <a:cubicBezTo>
                    <a:pt x="1391920" y="518033"/>
                    <a:pt x="1340993" y="568960"/>
                    <a:pt x="1278128" y="568960"/>
                  </a:cubicBezTo>
                  <a:lnTo>
                    <a:pt x="113792" y="568960"/>
                  </a:lnTo>
                  <a:cubicBezTo>
                    <a:pt x="50927" y="568960"/>
                    <a:pt x="0" y="518033"/>
                    <a:pt x="0" y="455168"/>
                  </a:cubicBezTo>
                  <a:close/>
                </a:path>
              </a:pathLst>
            </a:custGeom>
            <a:solidFill>
              <a:srgbClr val="FF5E78">
                <a:alpha val="3137"/>
              </a:srgbClr>
            </a:solidFill>
            <a:ln w="15240" cap="sq">
              <a:solidFill>
                <a:srgbClr val="FF5E78"/>
              </a:solidFill>
              <a:prstDash val="solid"/>
              <a:miter/>
            </a:ln>
          </p:spPr>
        </p:sp>
      </p:grpSp>
      <p:grpSp>
        <p:nvGrpSpPr>
          <p:cNvPr name="Group 58" id="58"/>
          <p:cNvGrpSpPr/>
          <p:nvPr/>
        </p:nvGrpSpPr>
        <p:grpSpPr>
          <a:xfrm rot="0">
            <a:off x="8531352" y="8531352"/>
            <a:ext cx="1028700" cy="178308"/>
            <a:chOff x="0" y="0"/>
            <a:chExt cx="1371600" cy="237744"/>
          </a:xfrm>
        </p:grpSpPr>
        <p:sp>
          <p:nvSpPr>
            <p:cNvPr name="Freeform 59" id="59"/>
            <p:cNvSpPr/>
            <p:nvPr/>
          </p:nvSpPr>
          <p:spPr>
            <a:xfrm flipH="false" flipV="false" rot="0">
              <a:off x="0" y="0"/>
              <a:ext cx="1371600" cy="237744"/>
            </a:xfrm>
            <a:custGeom>
              <a:avLst/>
              <a:gdLst/>
              <a:ahLst/>
              <a:cxnLst/>
              <a:rect r="r" b="b" t="t" l="l"/>
              <a:pathLst>
                <a:path h="237744" w="1371600">
                  <a:moveTo>
                    <a:pt x="0" y="0"/>
                  </a:moveTo>
                  <a:lnTo>
                    <a:pt x="1371600" y="0"/>
                  </a:lnTo>
                  <a:lnTo>
                    <a:pt x="1371600" y="237744"/>
                  </a:lnTo>
                  <a:lnTo>
                    <a:pt x="0" y="237744"/>
                  </a:lnTo>
                  <a:close/>
                </a:path>
              </a:pathLst>
            </a:custGeom>
            <a:blipFill>
              <a:blip r:embed="rId3">
                <a:alphaModFix amt="0"/>
              </a:blip>
              <a:stretch>
                <a:fillRect l="0" t="-62413" r="0" b="-62413"/>
              </a:stretch>
            </a:blipFill>
          </p:spPr>
        </p:sp>
        <p:sp>
          <p:nvSpPr>
            <p:cNvPr name="TextBox 60" id="60"/>
            <p:cNvSpPr txBox="true"/>
            <p:nvPr/>
          </p:nvSpPr>
          <p:spPr>
            <a:xfrm>
              <a:off x="0" y="0"/>
              <a:ext cx="1371600" cy="237744"/>
            </a:xfrm>
            <a:prstGeom prst="rect">
              <a:avLst/>
            </a:prstGeom>
          </p:spPr>
          <p:txBody>
            <a:bodyPr anchor="ctr" rtlCol="false" tIns="0" lIns="0" bIns="0" rIns="0"/>
            <a:lstStyle/>
            <a:p>
              <a:pPr algn="ctr">
                <a:lnSpc>
                  <a:spcPts val="1439"/>
                </a:lnSpc>
              </a:pPr>
              <a:r>
                <a:rPr lang="en-US" sz="1200" b="true">
                  <a:solidFill>
                    <a:srgbClr val="FF5E78"/>
                  </a:solidFill>
                  <a:latin typeface="Aptos Bold"/>
                  <a:ea typeface="Aptos Bold"/>
                  <a:cs typeface="Aptos Bold"/>
                  <a:sym typeface="Aptos Bold"/>
                </a:rPr>
                <a:t>RAW</a:t>
              </a:r>
            </a:p>
          </p:txBody>
        </p:sp>
      </p:grpSp>
      <p:grpSp>
        <p:nvGrpSpPr>
          <p:cNvPr name="Group 61" id="61"/>
          <p:cNvGrpSpPr/>
          <p:nvPr/>
        </p:nvGrpSpPr>
        <p:grpSpPr>
          <a:xfrm rot="0">
            <a:off x="9730740" y="8427720"/>
            <a:ext cx="1112520" cy="426720"/>
            <a:chOff x="0" y="0"/>
            <a:chExt cx="1483360" cy="568960"/>
          </a:xfrm>
        </p:grpSpPr>
        <p:sp>
          <p:nvSpPr>
            <p:cNvPr name="Freeform 62" id="62"/>
            <p:cNvSpPr/>
            <p:nvPr/>
          </p:nvSpPr>
          <p:spPr>
            <a:xfrm flipH="false" flipV="false" rot="0">
              <a:off x="0" y="0"/>
              <a:ext cx="1483360" cy="568960"/>
            </a:xfrm>
            <a:custGeom>
              <a:avLst/>
              <a:gdLst/>
              <a:ahLst/>
              <a:cxnLst/>
              <a:rect r="r" b="b" t="t" l="l"/>
              <a:pathLst>
                <a:path h="568960" w="1483360">
                  <a:moveTo>
                    <a:pt x="0" y="113792"/>
                  </a:moveTo>
                  <a:cubicBezTo>
                    <a:pt x="0" y="50927"/>
                    <a:pt x="50927" y="0"/>
                    <a:pt x="113792" y="0"/>
                  </a:cubicBezTo>
                  <a:lnTo>
                    <a:pt x="1369568" y="0"/>
                  </a:lnTo>
                  <a:cubicBezTo>
                    <a:pt x="1432433" y="0"/>
                    <a:pt x="1483360" y="50927"/>
                    <a:pt x="1483360" y="113792"/>
                  </a:cubicBezTo>
                  <a:lnTo>
                    <a:pt x="1483360" y="455168"/>
                  </a:lnTo>
                  <a:cubicBezTo>
                    <a:pt x="1483360" y="518033"/>
                    <a:pt x="1432433" y="568960"/>
                    <a:pt x="1369568" y="568960"/>
                  </a:cubicBezTo>
                  <a:lnTo>
                    <a:pt x="113792" y="568960"/>
                  </a:lnTo>
                  <a:cubicBezTo>
                    <a:pt x="50927" y="568960"/>
                    <a:pt x="0" y="518033"/>
                    <a:pt x="0" y="455168"/>
                  </a:cubicBezTo>
                  <a:close/>
                </a:path>
              </a:pathLst>
            </a:custGeom>
            <a:solidFill>
              <a:srgbClr val="46D6F5">
                <a:alpha val="3137"/>
              </a:srgbClr>
            </a:solidFill>
            <a:ln w="15240" cap="sq">
              <a:solidFill>
                <a:srgbClr val="46D6F5"/>
              </a:solidFill>
              <a:prstDash val="solid"/>
              <a:miter/>
            </a:ln>
          </p:spPr>
        </p:sp>
      </p:grpSp>
      <p:grpSp>
        <p:nvGrpSpPr>
          <p:cNvPr name="Group 63" id="63"/>
          <p:cNvGrpSpPr/>
          <p:nvPr/>
        </p:nvGrpSpPr>
        <p:grpSpPr>
          <a:xfrm rot="0">
            <a:off x="9738360" y="8531352"/>
            <a:ext cx="1097280" cy="178308"/>
            <a:chOff x="0" y="0"/>
            <a:chExt cx="1463040" cy="237744"/>
          </a:xfrm>
        </p:grpSpPr>
        <p:sp>
          <p:nvSpPr>
            <p:cNvPr name="Freeform 64" id="64"/>
            <p:cNvSpPr/>
            <p:nvPr/>
          </p:nvSpPr>
          <p:spPr>
            <a:xfrm flipH="false" flipV="false" rot="0">
              <a:off x="0" y="0"/>
              <a:ext cx="1463040" cy="237744"/>
            </a:xfrm>
            <a:custGeom>
              <a:avLst/>
              <a:gdLst/>
              <a:ahLst/>
              <a:cxnLst/>
              <a:rect r="r" b="b" t="t" l="l"/>
              <a:pathLst>
                <a:path h="237744" w="1463040">
                  <a:moveTo>
                    <a:pt x="0" y="0"/>
                  </a:moveTo>
                  <a:lnTo>
                    <a:pt x="1463040" y="0"/>
                  </a:lnTo>
                  <a:lnTo>
                    <a:pt x="1463040" y="237744"/>
                  </a:lnTo>
                  <a:lnTo>
                    <a:pt x="0" y="237744"/>
                  </a:lnTo>
                  <a:close/>
                </a:path>
              </a:pathLst>
            </a:custGeom>
            <a:blipFill>
              <a:blip r:embed="rId3">
                <a:alphaModFix amt="0"/>
              </a:blip>
              <a:stretch>
                <a:fillRect l="0" t="-69907" r="0" b="-69907"/>
              </a:stretch>
            </a:blipFill>
          </p:spPr>
        </p:sp>
        <p:sp>
          <p:nvSpPr>
            <p:cNvPr name="TextBox 65" id="65"/>
            <p:cNvSpPr txBox="true"/>
            <p:nvPr/>
          </p:nvSpPr>
          <p:spPr>
            <a:xfrm>
              <a:off x="0" y="0"/>
              <a:ext cx="1463040" cy="237744"/>
            </a:xfrm>
            <a:prstGeom prst="rect">
              <a:avLst/>
            </a:prstGeom>
          </p:spPr>
          <p:txBody>
            <a:bodyPr anchor="ctr" rtlCol="false" tIns="0" lIns="0" bIns="0" rIns="0"/>
            <a:lstStyle/>
            <a:p>
              <a:pPr algn="ctr">
                <a:lnSpc>
                  <a:spcPts val="1439"/>
                </a:lnSpc>
              </a:pPr>
              <a:r>
                <a:rPr lang="en-US" sz="1200" b="true">
                  <a:solidFill>
                    <a:srgbClr val="46D6F5"/>
                  </a:solidFill>
                  <a:latin typeface="Aptos Bold"/>
                  <a:ea typeface="Aptos Bold"/>
                  <a:cs typeface="Aptos Bold"/>
                  <a:sym typeface="Aptos Bold"/>
                </a:rPr>
                <a:t>EMA</a:t>
              </a:r>
            </a:p>
          </p:txBody>
        </p:sp>
      </p:grpSp>
      <p:grpSp>
        <p:nvGrpSpPr>
          <p:cNvPr name="Group 66" id="66"/>
          <p:cNvGrpSpPr/>
          <p:nvPr/>
        </p:nvGrpSpPr>
        <p:grpSpPr>
          <a:xfrm rot="0">
            <a:off x="952500" y="7330440"/>
            <a:ext cx="5913120" cy="1249680"/>
            <a:chOff x="0" y="0"/>
            <a:chExt cx="7884160" cy="1666240"/>
          </a:xfrm>
        </p:grpSpPr>
        <p:sp>
          <p:nvSpPr>
            <p:cNvPr name="Freeform 67" id="67"/>
            <p:cNvSpPr/>
            <p:nvPr/>
          </p:nvSpPr>
          <p:spPr>
            <a:xfrm flipH="false" flipV="false" rot="0">
              <a:off x="0" y="0"/>
              <a:ext cx="7884160" cy="1666240"/>
            </a:xfrm>
            <a:custGeom>
              <a:avLst/>
              <a:gdLst/>
              <a:ahLst/>
              <a:cxnLst/>
              <a:rect r="r" b="b" t="t" l="l"/>
              <a:pathLst>
                <a:path h="1666240" w="7884160">
                  <a:moveTo>
                    <a:pt x="0" y="148082"/>
                  </a:moveTo>
                  <a:cubicBezTo>
                    <a:pt x="0" y="66294"/>
                    <a:pt x="66294" y="0"/>
                    <a:pt x="148082" y="0"/>
                  </a:cubicBezTo>
                  <a:lnTo>
                    <a:pt x="7736078" y="0"/>
                  </a:lnTo>
                  <a:cubicBezTo>
                    <a:pt x="7817866" y="0"/>
                    <a:pt x="7884160" y="66294"/>
                    <a:pt x="7884160" y="148082"/>
                  </a:cubicBezTo>
                  <a:lnTo>
                    <a:pt x="7884160" y="1518158"/>
                  </a:lnTo>
                  <a:cubicBezTo>
                    <a:pt x="7884160" y="1599946"/>
                    <a:pt x="7817866" y="1666240"/>
                    <a:pt x="7736078" y="1666240"/>
                  </a:cubicBezTo>
                  <a:lnTo>
                    <a:pt x="148082" y="1666240"/>
                  </a:lnTo>
                  <a:cubicBezTo>
                    <a:pt x="66294" y="1666240"/>
                    <a:pt x="0" y="1599946"/>
                    <a:pt x="0" y="1518158"/>
                  </a:cubicBezTo>
                  <a:close/>
                </a:path>
              </a:pathLst>
            </a:custGeom>
            <a:solidFill>
              <a:srgbClr val="0E1D30"/>
            </a:solidFill>
            <a:ln w="15240" cap="sq">
              <a:solidFill>
                <a:srgbClr val="1D3850"/>
              </a:solidFill>
              <a:prstDash val="solid"/>
              <a:miter/>
            </a:ln>
          </p:spPr>
        </p:sp>
      </p:grpSp>
      <p:grpSp>
        <p:nvGrpSpPr>
          <p:cNvPr name="Group 68" id="68"/>
          <p:cNvGrpSpPr/>
          <p:nvPr/>
        </p:nvGrpSpPr>
        <p:grpSpPr>
          <a:xfrm rot="0">
            <a:off x="2029968" y="7612380"/>
            <a:ext cx="4526280" cy="342900"/>
            <a:chOff x="0" y="0"/>
            <a:chExt cx="6035040" cy="457200"/>
          </a:xfrm>
        </p:grpSpPr>
        <p:sp>
          <p:nvSpPr>
            <p:cNvPr name="Freeform 69" id="69"/>
            <p:cNvSpPr/>
            <p:nvPr/>
          </p:nvSpPr>
          <p:spPr>
            <a:xfrm flipH="false" flipV="false" rot="0">
              <a:off x="0" y="0"/>
              <a:ext cx="6035040" cy="457200"/>
            </a:xfrm>
            <a:custGeom>
              <a:avLst/>
              <a:gdLst/>
              <a:ahLst/>
              <a:cxnLst/>
              <a:rect r="r" b="b" t="t" l="l"/>
              <a:pathLst>
                <a:path h="457200" w="6035040">
                  <a:moveTo>
                    <a:pt x="0" y="0"/>
                  </a:moveTo>
                  <a:lnTo>
                    <a:pt x="6035040" y="0"/>
                  </a:lnTo>
                  <a:lnTo>
                    <a:pt x="6035040" y="457200"/>
                  </a:lnTo>
                  <a:lnTo>
                    <a:pt x="0" y="457200"/>
                  </a:lnTo>
                  <a:close/>
                </a:path>
              </a:pathLst>
            </a:custGeom>
            <a:blipFill>
              <a:blip r:embed="rId3">
                <a:alphaModFix amt="0"/>
              </a:blip>
              <a:stretch>
                <a:fillRect l="0" t="-207202" r="0" b="-207202"/>
              </a:stretch>
            </a:blipFill>
          </p:spPr>
        </p:sp>
        <p:sp>
          <p:nvSpPr>
            <p:cNvPr name="TextBox 70" id="70"/>
            <p:cNvSpPr txBox="true"/>
            <p:nvPr/>
          </p:nvSpPr>
          <p:spPr>
            <a:xfrm>
              <a:off x="0" y="-9525"/>
              <a:ext cx="603504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PURPOSE</a:t>
              </a:r>
            </a:p>
          </p:txBody>
        </p:sp>
      </p:grpSp>
      <p:sp>
        <p:nvSpPr>
          <p:cNvPr name="TextBox 71" id="71"/>
          <p:cNvSpPr txBox="true"/>
          <p:nvPr/>
        </p:nvSpPr>
        <p:spPr>
          <a:xfrm rot="0">
            <a:off x="1261872" y="8188452"/>
            <a:ext cx="5294376" cy="13716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Purpose: filter transient noise before the Thermal FSM.</a:t>
            </a:r>
          </a:p>
        </p:txBody>
      </p:sp>
      <p:sp>
        <p:nvSpPr>
          <p:cNvPr name="TextBox 72" id="72"/>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F6C85F"/>
            </a:solidFill>
            <a:ln w="19050" cap="sq">
              <a:solidFill>
                <a:srgbClr val="F6C85F"/>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04</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4</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Thermal FSM</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The FSM converts temperature exposure into three operating states.</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1155382" y="3487103"/>
            <a:ext cx="4135755" cy="1776603"/>
            <a:chOff x="0" y="0"/>
            <a:chExt cx="5514340" cy="2368804"/>
          </a:xfrm>
        </p:grpSpPr>
        <p:sp>
          <p:nvSpPr>
            <p:cNvPr name="Freeform 23" id="23"/>
            <p:cNvSpPr/>
            <p:nvPr/>
          </p:nvSpPr>
          <p:spPr>
            <a:xfrm flipH="false" flipV="false" rot="0">
              <a:off x="0" y="0"/>
              <a:ext cx="5514340" cy="2368804"/>
            </a:xfrm>
            <a:custGeom>
              <a:avLst/>
              <a:gdLst/>
              <a:ahLst/>
              <a:cxnLst/>
              <a:rect r="r" b="b" t="t" l="l"/>
              <a:pathLst>
                <a:path h="2368804" w="5514340">
                  <a:moveTo>
                    <a:pt x="0" y="148082"/>
                  </a:moveTo>
                  <a:cubicBezTo>
                    <a:pt x="0" y="66294"/>
                    <a:pt x="66294" y="0"/>
                    <a:pt x="148082" y="0"/>
                  </a:cubicBezTo>
                  <a:lnTo>
                    <a:pt x="5366258" y="0"/>
                  </a:lnTo>
                  <a:cubicBezTo>
                    <a:pt x="5448046" y="0"/>
                    <a:pt x="5514340" y="66294"/>
                    <a:pt x="5514340" y="148082"/>
                  </a:cubicBezTo>
                  <a:lnTo>
                    <a:pt x="5514340" y="2220722"/>
                  </a:lnTo>
                  <a:cubicBezTo>
                    <a:pt x="5514340" y="2302510"/>
                    <a:pt x="5448046" y="2368804"/>
                    <a:pt x="5366258" y="2368804"/>
                  </a:cubicBezTo>
                  <a:lnTo>
                    <a:pt x="148082" y="2368804"/>
                  </a:lnTo>
                  <a:cubicBezTo>
                    <a:pt x="66294" y="2368804"/>
                    <a:pt x="0" y="2302510"/>
                    <a:pt x="0" y="2220722"/>
                  </a:cubicBezTo>
                  <a:close/>
                </a:path>
              </a:pathLst>
            </a:custGeom>
            <a:solidFill>
              <a:srgbClr val="10253B"/>
            </a:solidFill>
            <a:ln w="20955" cap="sq">
              <a:solidFill>
                <a:srgbClr val="76E2A1"/>
              </a:solidFill>
              <a:prstDash val="solid"/>
              <a:miter/>
            </a:ln>
          </p:spPr>
        </p:sp>
      </p:grpSp>
      <p:grpSp>
        <p:nvGrpSpPr>
          <p:cNvPr name="Group 24" id="24"/>
          <p:cNvGrpSpPr/>
          <p:nvPr/>
        </p:nvGrpSpPr>
        <p:grpSpPr>
          <a:xfrm rot="0">
            <a:off x="1330452" y="3689604"/>
            <a:ext cx="3785616" cy="329184"/>
            <a:chOff x="0" y="0"/>
            <a:chExt cx="5047488" cy="438912"/>
          </a:xfrm>
        </p:grpSpPr>
        <p:sp>
          <p:nvSpPr>
            <p:cNvPr name="Freeform 25" id="25"/>
            <p:cNvSpPr/>
            <p:nvPr/>
          </p:nvSpPr>
          <p:spPr>
            <a:xfrm flipH="false" flipV="false" rot="0">
              <a:off x="0" y="0"/>
              <a:ext cx="5047488" cy="438912"/>
            </a:xfrm>
            <a:custGeom>
              <a:avLst/>
              <a:gdLst/>
              <a:ahLst/>
              <a:cxnLst/>
              <a:rect r="r" b="b" t="t" l="l"/>
              <a:pathLst>
                <a:path h="438912" w="5047488">
                  <a:moveTo>
                    <a:pt x="0" y="0"/>
                  </a:moveTo>
                  <a:lnTo>
                    <a:pt x="5047488" y="0"/>
                  </a:lnTo>
                  <a:lnTo>
                    <a:pt x="5047488" y="438912"/>
                  </a:lnTo>
                  <a:lnTo>
                    <a:pt x="0" y="438912"/>
                  </a:lnTo>
                  <a:close/>
                </a:path>
              </a:pathLst>
            </a:custGeom>
            <a:blipFill>
              <a:blip r:embed="rId3">
                <a:alphaModFix amt="0"/>
              </a:blip>
              <a:stretch>
                <a:fillRect l="0" t="-174077" r="0" b="-174077"/>
              </a:stretch>
            </a:blipFill>
          </p:spPr>
        </p:sp>
        <p:sp>
          <p:nvSpPr>
            <p:cNvPr name="TextBox 26" id="26"/>
            <p:cNvSpPr txBox="true"/>
            <p:nvPr/>
          </p:nvSpPr>
          <p:spPr>
            <a:xfrm>
              <a:off x="0" y="0"/>
              <a:ext cx="504748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STATE_NORMAL</a:t>
              </a:r>
            </a:p>
          </p:txBody>
        </p:sp>
      </p:grpSp>
      <p:grpSp>
        <p:nvGrpSpPr>
          <p:cNvPr name="Group 27" id="27"/>
          <p:cNvGrpSpPr/>
          <p:nvPr/>
        </p:nvGrpSpPr>
        <p:grpSpPr>
          <a:xfrm rot="0">
            <a:off x="1330452" y="4128516"/>
            <a:ext cx="3785616" cy="1014984"/>
            <a:chOff x="0" y="0"/>
            <a:chExt cx="5047488" cy="1353312"/>
          </a:xfrm>
        </p:grpSpPr>
        <p:sp>
          <p:nvSpPr>
            <p:cNvPr name="Freeform 28" id="28"/>
            <p:cNvSpPr/>
            <p:nvPr/>
          </p:nvSpPr>
          <p:spPr>
            <a:xfrm flipH="false" flipV="false" rot="0">
              <a:off x="0" y="0"/>
              <a:ext cx="5047488" cy="1353312"/>
            </a:xfrm>
            <a:custGeom>
              <a:avLst/>
              <a:gdLst/>
              <a:ahLst/>
              <a:cxnLst/>
              <a:rect r="r" b="b" t="t" l="l"/>
              <a:pathLst>
                <a:path h="1353312" w="5047488">
                  <a:moveTo>
                    <a:pt x="0" y="0"/>
                  </a:moveTo>
                  <a:lnTo>
                    <a:pt x="5047488" y="0"/>
                  </a:lnTo>
                  <a:lnTo>
                    <a:pt x="5047488" y="1353312"/>
                  </a:lnTo>
                  <a:lnTo>
                    <a:pt x="0" y="1353312"/>
                  </a:lnTo>
                  <a:close/>
                </a:path>
              </a:pathLst>
            </a:custGeom>
            <a:blipFill>
              <a:blip r:embed="rId3">
                <a:alphaModFix amt="0"/>
              </a:blip>
              <a:stretch>
                <a:fillRect l="0" t="-22673" r="0" b="-22673"/>
              </a:stretch>
            </a:blipFill>
          </p:spPr>
        </p:sp>
        <p:sp>
          <p:nvSpPr>
            <p:cNvPr name="TextBox 29" id="29"/>
            <p:cNvSpPr txBox="true"/>
            <p:nvPr/>
          </p:nvSpPr>
          <p:spPr>
            <a:xfrm>
              <a:off x="0" y="-9525"/>
              <a:ext cx="5047488" cy="1362837"/>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2.0°C ≤ T ≤ 8.0°C</a:t>
              </a:r>
            </a:p>
          </p:txBody>
        </p:sp>
      </p:grpSp>
      <p:grpSp>
        <p:nvGrpSpPr>
          <p:cNvPr name="Group 30" id="30"/>
          <p:cNvGrpSpPr/>
          <p:nvPr/>
        </p:nvGrpSpPr>
        <p:grpSpPr>
          <a:xfrm rot="0">
            <a:off x="7053262" y="3487103"/>
            <a:ext cx="4135755" cy="1776603"/>
            <a:chOff x="0" y="0"/>
            <a:chExt cx="5514340" cy="2368804"/>
          </a:xfrm>
        </p:grpSpPr>
        <p:sp>
          <p:nvSpPr>
            <p:cNvPr name="Freeform 31" id="31"/>
            <p:cNvSpPr/>
            <p:nvPr/>
          </p:nvSpPr>
          <p:spPr>
            <a:xfrm flipH="false" flipV="false" rot="0">
              <a:off x="0" y="0"/>
              <a:ext cx="5514340" cy="2368804"/>
            </a:xfrm>
            <a:custGeom>
              <a:avLst/>
              <a:gdLst/>
              <a:ahLst/>
              <a:cxnLst/>
              <a:rect r="r" b="b" t="t" l="l"/>
              <a:pathLst>
                <a:path h="2368804" w="5514340">
                  <a:moveTo>
                    <a:pt x="0" y="148082"/>
                  </a:moveTo>
                  <a:cubicBezTo>
                    <a:pt x="0" y="66294"/>
                    <a:pt x="66294" y="0"/>
                    <a:pt x="148082" y="0"/>
                  </a:cubicBezTo>
                  <a:lnTo>
                    <a:pt x="5366258" y="0"/>
                  </a:lnTo>
                  <a:cubicBezTo>
                    <a:pt x="5448046" y="0"/>
                    <a:pt x="5514340" y="66294"/>
                    <a:pt x="5514340" y="148082"/>
                  </a:cubicBezTo>
                  <a:lnTo>
                    <a:pt x="5514340" y="2220722"/>
                  </a:lnTo>
                  <a:cubicBezTo>
                    <a:pt x="5514340" y="2302510"/>
                    <a:pt x="5448046" y="2368804"/>
                    <a:pt x="5366258" y="2368804"/>
                  </a:cubicBezTo>
                  <a:lnTo>
                    <a:pt x="148082" y="2368804"/>
                  </a:lnTo>
                  <a:cubicBezTo>
                    <a:pt x="66294" y="2368804"/>
                    <a:pt x="0" y="2302510"/>
                    <a:pt x="0" y="2220722"/>
                  </a:cubicBezTo>
                  <a:close/>
                </a:path>
              </a:pathLst>
            </a:custGeom>
            <a:solidFill>
              <a:srgbClr val="10253B"/>
            </a:solidFill>
            <a:ln w="20955" cap="sq">
              <a:solidFill>
                <a:srgbClr val="F6C85F"/>
              </a:solidFill>
              <a:prstDash val="solid"/>
              <a:miter/>
            </a:ln>
          </p:spPr>
        </p:sp>
      </p:grpSp>
      <p:grpSp>
        <p:nvGrpSpPr>
          <p:cNvPr name="Group 32" id="32"/>
          <p:cNvGrpSpPr/>
          <p:nvPr/>
        </p:nvGrpSpPr>
        <p:grpSpPr>
          <a:xfrm rot="0">
            <a:off x="7228332" y="3689604"/>
            <a:ext cx="3785616" cy="329184"/>
            <a:chOff x="0" y="0"/>
            <a:chExt cx="5047488" cy="438912"/>
          </a:xfrm>
        </p:grpSpPr>
        <p:sp>
          <p:nvSpPr>
            <p:cNvPr name="Freeform 33" id="33"/>
            <p:cNvSpPr/>
            <p:nvPr/>
          </p:nvSpPr>
          <p:spPr>
            <a:xfrm flipH="false" flipV="false" rot="0">
              <a:off x="0" y="0"/>
              <a:ext cx="5047488" cy="438912"/>
            </a:xfrm>
            <a:custGeom>
              <a:avLst/>
              <a:gdLst/>
              <a:ahLst/>
              <a:cxnLst/>
              <a:rect r="r" b="b" t="t" l="l"/>
              <a:pathLst>
                <a:path h="438912" w="5047488">
                  <a:moveTo>
                    <a:pt x="0" y="0"/>
                  </a:moveTo>
                  <a:lnTo>
                    <a:pt x="5047488" y="0"/>
                  </a:lnTo>
                  <a:lnTo>
                    <a:pt x="5047488" y="438912"/>
                  </a:lnTo>
                  <a:lnTo>
                    <a:pt x="0" y="438912"/>
                  </a:lnTo>
                  <a:close/>
                </a:path>
              </a:pathLst>
            </a:custGeom>
            <a:blipFill>
              <a:blip r:embed="rId3">
                <a:alphaModFix amt="0"/>
              </a:blip>
              <a:stretch>
                <a:fillRect l="0" t="-174077" r="0" b="-174077"/>
              </a:stretch>
            </a:blipFill>
          </p:spPr>
        </p:sp>
        <p:sp>
          <p:nvSpPr>
            <p:cNvPr name="TextBox 34" id="34"/>
            <p:cNvSpPr txBox="true"/>
            <p:nvPr/>
          </p:nvSpPr>
          <p:spPr>
            <a:xfrm>
              <a:off x="0" y="0"/>
              <a:ext cx="504748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STATE_WARNING</a:t>
              </a:r>
            </a:p>
          </p:txBody>
        </p:sp>
      </p:grpSp>
      <p:grpSp>
        <p:nvGrpSpPr>
          <p:cNvPr name="Group 35" id="35"/>
          <p:cNvGrpSpPr/>
          <p:nvPr/>
        </p:nvGrpSpPr>
        <p:grpSpPr>
          <a:xfrm rot="0">
            <a:off x="7228332" y="4128516"/>
            <a:ext cx="3785616" cy="1014984"/>
            <a:chOff x="0" y="0"/>
            <a:chExt cx="5047488" cy="1353312"/>
          </a:xfrm>
        </p:grpSpPr>
        <p:sp>
          <p:nvSpPr>
            <p:cNvPr name="Freeform 36" id="36"/>
            <p:cNvSpPr/>
            <p:nvPr/>
          </p:nvSpPr>
          <p:spPr>
            <a:xfrm flipH="false" flipV="false" rot="0">
              <a:off x="0" y="0"/>
              <a:ext cx="5047488" cy="1353312"/>
            </a:xfrm>
            <a:custGeom>
              <a:avLst/>
              <a:gdLst/>
              <a:ahLst/>
              <a:cxnLst/>
              <a:rect r="r" b="b" t="t" l="l"/>
              <a:pathLst>
                <a:path h="1353312" w="5047488">
                  <a:moveTo>
                    <a:pt x="0" y="0"/>
                  </a:moveTo>
                  <a:lnTo>
                    <a:pt x="5047488" y="0"/>
                  </a:lnTo>
                  <a:lnTo>
                    <a:pt x="5047488" y="1353312"/>
                  </a:lnTo>
                  <a:lnTo>
                    <a:pt x="0" y="1353312"/>
                  </a:lnTo>
                  <a:close/>
                </a:path>
              </a:pathLst>
            </a:custGeom>
            <a:blipFill>
              <a:blip r:embed="rId3">
                <a:alphaModFix amt="0"/>
              </a:blip>
              <a:stretch>
                <a:fillRect l="0" t="-22673" r="0" b="-22673"/>
              </a:stretch>
            </a:blipFill>
          </p:spPr>
        </p:sp>
        <p:sp>
          <p:nvSpPr>
            <p:cNvPr name="TextBox 37" id="37"/>
            <p:cNvSpPr txBox="true"/>
            <p:nvPr/>
          </p:nvSpPr>
          <p:spPr>
            <a:xfrm>
              <a:off x="0" y="-9525"/>
              <a:ext cx="5047488" cy="1362837"/>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Door &gt; 60 s</a:t>
              </a:r>
            </a:p>
          </p:txBody>
        </p:sp>
      </p:grpSp>
      <p:grpSp>
        <p:nvGrpSpPr>
          <p:cNvPr name="Group 38" id="38"/>
          <p:cNvGrpSpPr/>
          <p:nvPr/>
        </p:nvGrpSpPr>
        <p:grpSpPr>
          <a:xfrm rot="0">
            <a:off x="12951143" y="3487103"/>
            <a:ext cx="4135755" cy="1776603"/>
            <a:chOff x="0" y="0"/>
            <a:chExt cx="5514340" cy="2368804"/>
          </a:xfrm>
        </p:grpSpPr>
        <p:sp>
          <p:nvSpPr>
            <p:cNvPr name="Freeform 39" id="39"/>
            <p:cNvSpPr/>
            <p:nvPr/>
          </p:nvSpPr>
          <p:spPr>
            <a:xfrm flipH="false" flipV="false" rot="0">
              <a:off x="0" y="0"/>
              <a:ext cx="5514340" cy="2368804"/>
            </a:xfrm>
            <a:custGeom>
              <a:avLst/>
              <a:gdLst/>
              <a:ahLst/>
              <a:cxnLst/>
              <a:rect r="r" b="b" t="t" l="l"/>
              <a:pathLst>
                <a:path h="2368804" w="5514340">
                  <a:moveTo>
                    <a:pt x="0" y="148082"/>
                  </a:moveTo>
                  <a:cubicBezTo>
                    <a:pt x="0" y="66294"/>
                    <a:pt x="66294" y="0"/>
                    <a:pt x="148082" y="0"/>
                  </a:cubicBezTo>
                  <a:lnTo>
                    <a:pt x="5366258" y="0"/>
                  </a:lnTo>
                  <a:cubicBezTo>
                    <a:pt x="5448046" y="0"/>
                    <a:pt x="5514340" y="66294"/>
                    <a:pt x="5514340" y="148082"/>
                  </a:cubicBezTo>
                  <a:lnTo>
                    <a:pt x="5514340" y="2220722"/>
                  </a:lnTo>
                  <a:cubicBezTo>
                    <a:pt x="5514340" y="2302510"/>
                    <a:pt x="5448046" y="2368804"/>
                    <a:pt x="5366258" y="2368804"/>
                  </a:cubicBezTo>
                  <a:lnTo>
                    <a:pt x="148082" y="2368804"/>
                  </a:lnTo>
                  <a:cubicBezTo>
                    <a:pt x="66294" y="2368804"/>
                    <a:pt x="0" y="2302510"/>
                    <a:pt x="0" y="2220722"/>
                  </a:cubicBezTo>
                  <a:close/>
                </a:path>
              </a:pathLst>
            </a:custGeom>
            <a:solidFill>
              <a:srgbClr val="10253B"/>
            </a:solidFill>
            <a:ln w="20955" cap="sq">
              <a:solidFill>
                <a:srgbClr val="FF5E78"/>
              </a:solidFill>
              <a:prstDash val="solid"/>
              <a:miter/>
            </a:ln>
          </p:spPr>
        </p:sp>
      </p:grpSp>
      <p:grpSp>
        <p:nvGrpSpPr>
          <p:cNvPr name="Group 40" id="40"/>
          <p:cNvGrpSpPr/>
          <p:nvPr/>
        </p:nvGrpSpPr>
        <p:grpSpPr>
          <a:xfrm rot="0">
            <a:off x="13126212" y="3689604"/>
            <a:ext cx="3785616" cy="329184"/>
            <a:chOff x="0" y="0"/>
            <a:chExt cx="5047488" cy="438912"/>
          </a:xfrm>
        </p:grpSpPr>
        <p:sp>
          <p:nvSpPr>
            <p:cNvPr name="Freeform 41" id="41"/>
            <p:cNvSpPr/>
            <p:nvPr/>
          </p:nvSpPr>
          <p:spPr>
            <a:xfrm flipH="false" flipV="false" rot="0">
              <a:off x="0" y="0"/>
              <a:ext cx="5047488" cy="438912"/>
            </a:xfrm>
            <a:custGeom>
              <a:avLst/>
              <a:gdLst/>
              <a:ahLst/>
              <a:cxnLst/>
              <a:rect r="r" b="b" t="t" l="l"/>
              <a:pathLst>
                <a:path h="438912" w="5047488">
                  <a:moveTo>
                    <a:pt x="0" y="0"/>
                  </a:moveTo>
                  <a:lnTo>
                    <a:pt x="5047488" y="0"/>
                  </a:lnTo>
                  <a:lnTo>
                    <a:pt x="5047488" y="438912"/>
                  </a:lnTo>
                  <a:lnTo>
                    <a:pt x="0" y="438912"/>
                  </a:lnTo>
                  <a:close/>
                </a:path>
              </a:pathLst>
            </a:custGeom>
            <a:blipFill>
              <a:blip r:embed="rId3">
                <a:alphaModFix amt="0"/>
              </a:blip>
              <a:stretch>
                <a:fillRect l="0" t="-174077" r="0" b="-174077"/>
              </a:stretch>
            </a:blipFill>
          </p:spPr>
        </p:sp>
        <p:sp>
          <p:nvSpPr>
            <p:cNvPr name="TextBox 42" id="42"/>
            <p:cNvSpPr txBox="true"/>
            <p:nvPr/>
          </p:nvSpPr>
          <p:spPr>
            <a:xfrm>
              <a:off x="0" y="0"/>
              <a:ext cx="504748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STATE_VIOLATION</a:t>
              </a:r>
            </a:p>
          </p:txBody>
        </p:sp>
      </p:grpSp>
      <p:grpSp>
        <p:nvGrpSpPr>
          <p:cNvPr name="Group 43" id="43"/>
          <p:cNvGrpSpPr/>
          <p:nvPr/>
        </p:nvGrpSpPr>
        <p:grpSpPr>
          <a:xfrm rot="0">
            <a:off x="13126212" y="4128516"/>
            <a:ext cx="3785616" cy="1014984"/>
            <a:chOff x="0" y="0"/>
            <a:chExt cx="5047488" cy="1353312"/>
          </a:xfrm>
        </p:grpSpPr>
        <p:sp>
          <p:nvSpPr>
            <p:cNvPr name="Freeform 44" id="44"/>
            <p:cNvSpPr/>
            <p:nvPr/>
          </p:nvSpPr>
          <p:spPr>
            <a:xfrm flipH="false" flipV="false" rot="0">
              <a:off x="0" y="0"/>
              <a:ext cx="5047488" cy="1353312"/>
            </a:xfrm>
            <a:custGeom>
              <a:avLst/>
              <a:gdLst/>
              <a:ahLst/>
              <a:cxnLst/>
              <a:rect r="r" b="b" t="t" l="l"/>
              <a:pathLst>
                <a:path h="1353312" w="5047488">
                  <a:moveTo>
                    <a:pt x="0" y="0"/>
                  </a:moveTo>
                  <a:lnTo>
                    <a:pt x="5047488" y="0"/>
                  </a:lnTo>
                  <a:lnTo>
                    <a:pt x="5047488" y="1353312"/>
                  </a:lnTo>
                  <a:lnTo>
                    <a:pt x="0" y="1353312"/>
                  </a:lnTo>
                  <a:close/>
                </a:path>
              </a:pathLst>
            </a:custGeom>
            <a:blipFill>
              <a:blip r:embed="rId3">
                <a:alphaModFix amt="0"/>
              </a:blip>
              <a:stretch>
                <a:fillRect l="0" t="-22673" r="0" b="-22673"/>
              </a:stretch>
            </a:blipFill>
          </p:spPr>
        </p:sp>
        <p:sp>
          <p:nvSpPr>
            <p:cNvPr name="TextBox 45" id="45"/>
            <p:cNvSpPr txBox="true"/>
            <p:nvPr/>
          </p:nvSpPr>
          <p:spPr>
            <a:xfrm>
              <a:off x="0" y="-9525"/>
              <a:ext cx="5047488" cy="1362837"/>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exposure &gt; tolerance</a:t>
              </a:r>
            </a:p>
            <a:p>
              <a:pPr algn="ctr">
                <a:lnSpc>
                  <a:spcPts val="1530"/>
                </a:lnSpc>
              </a:pPr>
              <a:r>
                <a:rPr lang="en-US" sz="1275">
                  <a:solidFill>
                    <a:srgbClr val="9BAFC2"/>
                  </a:solidFill>
                  <a:latin typeface="Aptos"/>
                  <a:ea typeface="Aptos"/>
                  <a:cs typeface="Aptos"/>
                  <a:sym typeface="Aptos"/>
                </a:rPr>
                <a:t>→ relay action</a:t>
              </a:r>
            </a:p>
          </p:txBody>
        </p:sp>
      </p:grpSp>
      <p:sp>
        <p:nvSpPr>
          <p:cNvPr name="AutoShape 46" id="46"/>
          <p:cNvSpPr/>
          <p:nvPr/>
        </p:nvSpPr>
        <p:spPr>
          <a:xfrm rot="73140">
            <a:off x="5331914" y="4352163"/>
            <a:ext cx="1611992" cy="0"/>
          </a:xfrm>
          <a:prstGeom prst="line">
            <a:avLst/>
          </a:prstGeom>
          <a:ln cap="rnd" w="19050">
            <a:solidFill>
              <a:srgbClr val="1D3850"/>
            </a:solidFill>
            <a:prstDash val="solid"/>
            <a:headEnd type="none" len="sm" w="sm"/>
            <a:tailEnd type="triangle" len="med" w="lg"/>
          </a:ln>
        </p:spPr>
      </p:sp>
      <p:sp>
        <p:nvSpPr>
          <p:cNvPr name="AutoShape 47" id="47"/>
          <p:cNvSpPr/>
          <p:nvPr/>
        </p:nvSpPr>
        <p:spPr>
          <a:xfrm rot="73140">
            <a:off x="11229794" y="4352163"/>
            <a:ext cx="1611992" cy="0"/>
          </a:xfrm>
          <a:prstGeom prst="line">
            <a:avLst/>
          </a:prstGeom>
          <a:ln cap="rnd" w="19050">
            <a:solidFill>
              <a:srgbClr val="1D3850"/>
            </a:solidFill>
            <a:prstDash val="solid"/>
            <a:headEnd type="none" len="sm" w="sm"/>
            <a:tailEnd type="triangle" len="med" w="lg"/>
          </a:ln>
        </p:spPr>
      </p:sp>
      <p:grpSp>
        <p:nvGrpSpPr>
          <p:cNvPr name="Group 48" id="48"/>
          <p:cNvGrpSpPr/>
          <p:nvPr/>
        </p:nvGrpSpPr>
        <p:grpSpPr>
          <a:xfrm rot="0">
            <a:off x="1432560" y="6850380"/>
            <a:ext cx="15514320" cy="1359408"/>
            <a:chOff x="0" y="0"/>
            <a:chExt cx="20685760" cy="1812544"/>
          </a:xfrm>
        </p:grpSpPr>
        <p:sp>
          <p:nvSpPr>
            <p:cNvPr name="Freeform 49" id="49"/>
            <p:cNvSpPr/>
            <p:nvPr/>
          </p:nvSpPr>
          <p:spPr>
            <a:xfrm flipH="false" flipV="false" rot="0">
              <a:off x="0" y="0"/>
              <a:ext cx="20685761" cy="1812544"/>
            </a:xfrm>
            <a:custGeom>
              <a:avLst/>
              <a:gdLst/>
              <a:ahLst/>
              <a:cxnLst/>
              <a:rect r="r" b="b" t="t" l="l"/>
              <a:pathLst>
                <a:path h="1812544" w="20685761">
                  <a:moveTo>
                    <a:pt x="0" y="147955"/>
                  </a:moveTo>
                  <a:cubicBezTo>
                    <a:pt x="0" y="66294"/>
                    <a:pt x="66294" y="0"/>
                    <a:pt x="147955" y="0"/>
                  </a:cubicBezTo>
                  <a:lnTo>
                    <a:pt x="20537805" y="0"/>
                  </a:lnTo>
                  <a:cubicBezTo>
                    <a:pt x="20619465" y="0"/>
                    <a:pt x="20685761" y="66294"/>
                    <a:pt x="20685761" y="147955"/>
                  </a:cubicBezTo>
                  <a:lnTo>
                    <a:pt x="20685761" y="1664589"/>
                  </a:lnTo>
                  <a:cubicBezTo>
                    <a:pt x="20685761" y="1746250"/>
                    <a:pt x="20619465" y="1812544"/>
                    <a:pt x="20537805" y="1812544"/>
                  </a:cubicBezTo>
                  <a:lnTo>
                    <a:pt x="147955" y="1812544"/>
                  </a:lnTo>
                  <a:cubicBezTo>
                    <a:pt x="66294" y="1812544"/>
                    <a:pt x="0" y="1746250"/>
                    <a:pt x="0" y="1664589"/>
                  </a:cubicBezTo>
                  <a:close/>
                </a:path>
              </a:pathLst>
            </a:custGeom>
            <a:solidFill>
              <a:srgbClr val="0E1D30"/>
            </a:solidFill>
            <a:ln w="15240" cap="sq">
              <a:solidFill>
                <a:srgbClr val="1D3850"/>
              </a:solidFill>
              <a:prstDash val="solid"/>
              <a:miter/>
            </a:ln>
          </p:spPr>
        </p:sp>
      </p:grpSp>
      <p:grpSp>
        <p:nvGrpSpPr>
          <p:cNvPr name="Group 50" id="50"/>
          <p:cNvGrpSpPr/>
          <p:nvPr/>
        </p:nvGrpSpPr>
        <p:grpSpPr>
          <a:xfrm rot="0">
            <a:off x="2510028" y="7132320"/>
            <a:ext cx="14127480" cy="342900"/>
            <a:chOff x="0" y="0"/>
            <a:chExt cx="18836640" cy="457200"/>
          </a:xfrm>
        </p:grpSpPr>
        <p:sp>
          <p:nvSpPr>
            <p:cNvPr name="Freeform 51" id="51"/>
            <p:cNvSpPr/>
            <p:nvPr/>
          </p:nvSpPr>
          <p:spPr>
            <a:xfrm flipH="false" flipV="false" rot="0">
              <a:off x="0" y="0"/>
              <a:ext cx="18836639" cy="457200"/>
            </a:xfrm>
            <a:custGeom>
              <a:avLst/>
              <a:gdLst/>
              <a:ahLst/>
              <a:cxnLst/>
              <a:rect r="r" b="b" t="t" l="l"/>
              <a:pathLst>
                <a:path h="457200" w="18836639">
                  <a:moveTo>
                    <a:pt x="0" y="0"/>
                  </a:moveTo>
                  <a:lnTo>
                    <a:pt x="18836639" y="0"/>
                  </a:lnTo>
                  <a:lnTo>
                    <a:pt x="18836639" y="457200"/>
                  </a:lnTo>
                  <a:lnTo>
                    <a:pt x="0" y="457200"/>
                  </a:lnTo>
                  <a:close/>
                </a:path>
              </a:pathLst>
            </a:custGeom>
            <a:blipFill>
              <a:blip r:embed="rId3">
                <a:alphaModFix amt="0"/>
              </a:blip>
              <a:stretch>
                <a:fillRect l="0" t="-752783" r="0" b="-752783"/>
              </a:stretch>
            </a:blipFill>
          </p:spPr>
        </p:sp>
        <p:sp>
          <p:nvSpPr>
            <p:cNvPr name="TextBox 52" id="52"/>
            <p:cNvSpPr txBox="true"/>
            <p:nvPr/>
          </p:nvSpPr>
          <p:spPr>
            <a:xfrm>
              <a:off x="0" y="-9525"/>
              <a:ext cx="1883664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CORE RULE</a:t>
              </a:r>
            </a:p>
          </p:txBody>
        </p:sp>
      </p:grpSp>
      <p:sp>
        <p:nvSpPr>
          <p:cNvPr name="TextBox 53" id="53"/>
          <p:cNvSpPr txBox="true"/>
          <p:nvPr/>
        </p:nvSpPr>
        <p:spPr>
          <a:xfrm rot="0">
            <a:off x="1741932" y="7708392"/>
            <a:ext cx="14895576" cy="246888"/>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Thermal exposure accumulates over time; alert escalation is based on sustained severity rather than a single reading.</a:t>
            </a:r>
          </a:p>
        </p:txBody>
      </p:sp>
      <p:sp>
        <p:nvSpPr>
          <p:cNvPr name="TextBox 54" id="54"/>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F6C85F"/>
            </a:solidFill>
            <a:ln w="19050" cap="sq">
              <a:solidFill>
                <a:srgbClr val="F6C85F"/>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04</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4</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Non-blocking stepper control</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Use AccelStepper so sensing and Wi-Fi remain active during door motion.</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25068" y="3009900"/>
            <a:ext cx="7284720" cy="5364480"/>
            <a:chOff x="0" y="0"/>
            <a:chExt cx="9712960" cy="7152640"/>
          </a:xfrm>
        </p:grpSpPr>
        <p:sp>
          <p:nvSpPr>
            <p:cNvPr name="Freeform 23" id="23"/>
            <p:cNvSpPr/>
            <p:nvPr/>
          </p:nvSpPr>
          <p:spPr>
            <a:xfrm flipH="false" flipV="false" rot="0">
              <a:off x="0" y="0"/>
              <a:ext cx="9712960" cy="7152639"/>
            </a:xfrm>
            <a:custGeom>
              <a:avLst/>
              <a:gdLst/>
              <a:ahLst/>
              <a:cxnLst/>
              <a:rect r="r" b="b" t="t" l="l"/>
              <a:pathLst>
                <a:path h="7152639" w="9712960">
                  <a:moveTo>
                    <a:pt x="0" y="109982"/>
                  </a:moveTo>
                  <a:cubicBezTo>
                    <a:pt x="0" y="49276"/>
                    <a:pt x="49276" y="0"/>
                    <a:pt x="109982" y="0"/>
                  </a:cubicBezTo>
                  <a:lnTo>
                    <a:pt x="9602978" y="0"/>
                  </a:lnTo>
                  <a:cubicBezTo>
                    <a:pt x="9663685" y="0"/>
                    <a:pt x="9712960" y="49276"/>
                    <a:pt x="9712960" y="109982"/>
                  </a:cubicBezTo>
                  <a:lnTo>
                    <a:pt x="9712960" y="7042658"/>
                  </a:lnTo>
                  <a:cubicBezTo>
                    <a:pt x="9712960" y="7103364"/>
                    <a:pt x="9663685" y="7152639"/>
                    <a:pt x="9602978" y="7152639"/>
                  </a:cubicBezTo>
                  <a:lnTo>
                    <a:pt x="109982" y="7152639"/>
                  </a:lnTo>
                  <a:cubicBezTo>
                    <a:pt x="49276" y="7152639"/>
                    <a:pt x="0" y="7103364"/>
                    <a:pt x="0" y="7042658"/>
                  </a:cubicBezTo>
                  <a:close/>
                </a:path>
              </a:pathLst>
            </a:custGeom>
            <a:solidFill>
              <a:srgbClr val="050C14"/>
            </a:solidFill>
            <a:ln w="15240" cap="sq">
              <a:solidFill>
                <a:srgbClr val="1D3850"/>
              </a:solidFill>
              <a:prstDash val="solid"/>
              <a:miter/>
            </a:ln>
          </p:spPr>
        </p:sp>
      </p:grpSp>
      <p:grpSp>
        <p:nvGrpSpPr>
          <p:cNvPr name="Group 24" id="24"/>
          <p:cNvGrpSpPr/>
          <p:nvPr/>
        </p:nvGrpSpPr>
        <p:grpSpPr>
          <a:xfrm rot="0">
            <a:off x="923163" y="3007995"/>
            <a:ext cx="115062" cy="5368290"/>
            <a:chOff x="0" y="0"/>
            <a:chExt cx="153416" cy="7157720"/>
          </a:xfrm>
        </p:grpSpPr>
        <p:sp>
          <p:nvSpPr>
            <p:cNvPr name="Freeform 25" id="25"/>
            <p:cNvSpPr/>
            <p:nvPr/>
          </p:nvSpPr>
          <p:spPr>
            <a:xfrm flipH="false" flipV="false" rot="0">
              <a:off x="0" y="0"/>
              <a:ext cx="153416" cy="7157720"/>
            </a:xfrm>
            <a:custGeom>
              <a:avLst/>
              <a:gdLst/>
              <a:ahLst/>
              <a:cxnLst/>
              <a:rect r="r" b="b" t="t" l="l"/>
              <a:pathLst>
                <a:path h="7157720" w="153416">
                  <a:moveTo>
                    <a:pt x="0" y="0"/>
                  </a:moveTo>
                  <a:lnTo>
                    <a:pt x="153416" y="0"/>
                  </a:lnTo>
                  <a:lnTo>
                    <a:pt x="153416" y="7157720"/>
                  </a:lnTo>
                  <a:lnTo>
                    <a:pt x="0" y="7157720"/>
                  </a:lnTo>
                  <a:close/>
                </a:path>
              </a:pathLst>
            </a:custGeom>
            <a:solidFill>
              <a:srgbClr val="F6C85F"/>
            </a:solidFill>
            <a:ln w="19050" cap="sq">
              <a:solidFill>
                <a:srgbClr val="F6C85F"/>
              </a:solidFill>
              <a:prstDash val="solid"/>
              <a:miter/>
            </a:ln>
          </p:spPr>
        </p:sp>
      </p:grpSp>
      <p:sp>
        <p:nvSpPr>
          <p:cNvPr name="TextBox 26" id="26"/>
          <p:cNvSpPr txBox="true"/>
          <p:nvPr/>
        </p:nvSpPr>
        <p:spPr>
          <a:xfrm rot="0">
            <a:off x="1207008" y="3231642"/>
            <a:ext cx="6830568" cy="4984242"/>
          </a:xfrm>
          <a:prstGeom prst="rect">
            <a:avLst/>
          </a:prstGeom>
        </p:spPr>
        <p:txBody>
          <a:bodyPr anchor="t" rtlCol="false" tIns="0" lIns="0" bIns="0" rIns="0">
            <a:spAutoFit/>
          </a:bodyPr>
          <a:lstStyle/>
          <a:p>
            <a:pPr algn="l">
              <a:lnSpc>
                <a:spcPts val="1547"/>
              </a:lnSpc>
            </a:pPr>
            <a:r>
              <a:rPr lang="en-US" sz="1289">
                <a:solidFill>
                  <a:srgbClr val="D9E7F1"/>
                </a:solidFill>
                <a:latin typeface="Courier New"/>
                <a:ea typeface="Courier New"/>
                <a:cs typeface="Courier New"/>
                <a:sym typeface="Courier New"/>
              </a:rPr>
              <a:t>stepper.moveTo(512);</a:t>
            </a:r>
          </a:p>
          <a:p>
            <a:pPr algn="l">
              <a:lnSpc>
                <a:spcPts val="1547"/>
              </a:lnSpc>
            </a:pPr>
          </a:p>
          <a:p>
            <a:pPr algn="l">
              <a:lnSpc>
                <a:spcPts val="1547"/>
              </a:lnSpc>
            </a:pPr>
            <a:r>
              <a:rPr lang="en-US" sz="1289">
                <a:solidFill>
                  <a:srgbClr val="D9E7F1"/>
                </a:solidFill>
                <a:latin typeface="Courier New"/>
                <a:ea typeface="Courier New"/>
                <a:cs typeface="Courier New"/>
                <a:sym typeface="Courier New"/>
              </a:rPr>
              <a:t>while (stepper.distanceToGo() != 0) {</a:t>
            </a:r>
          </a:p>
          <a:p>
            <a:pPr algn="l">
              <a:lnSpc>
                <a:spcPts val="1547"/>
              </a:lnSpc>
            </a:pPr>
            <a:r>
              <a:rPr lang="en-US" sz="1289">
                <a:solidFill>
                  <a:srgbClr val="D9E7F1"/>
                </a:solidFill>
                <a:latin typeface="Courier New"/>
                <a:ea typeface="Courier New"/>
                <a:cs typeface="Courier New"/>
                <a:sym typeface="Courier New"/>
              </a:rPr>
              <a:t>    stepper.run();</a:t>
            </a:r>
          </a:p>
          <a:p>
            <a:pPr algn="l">
              <a:lnSpc>
                <a:spcPts val="1547"/>
              </a:lnSpc>
            </a:pPr>
            <a:r>
              <a:rPr lang="en-US" sz="1289">
                <a:solidFill>
                  <a:srgbClr val="D9E7F1"/>
                </a:solidFill>
                <a:latin typeface="Courier New"/>
                <a:ea typeface="Courier New"/>
                <a:cs typeface="Courier New"/>
                <a:sym typeface="Courier New"/>
              </a:rPr>
              <a:t>    readSensors();</a:t>
            </a:r>
          </a:p>
          <a:p>
            <a:pPr algn="l">
              <a:lnSpc>
                <a:spcPts val="1547"/>
              </a:lnSpc>
            </a:pPr>
            <a:r>
              <a:rPr lang="en-US" sz="1289">
                <a:solidFill>
                  <a:srgbClr val="D9E7F1"/>
                </a:solidFill>
                <a:latin typeface="Courier New"/>
                <a:ea typeface="Courier New"/>
                <a:cs typeface="Courier New"/>
                <a:sym typeface="Courier New"/>
              </a:rPr>
              <a:t>    maintainMQTT();</a:t>
            </a:r>
          </a:p>
          <a:p>
            <a:pPr algn="l">
              <a:lnSpc>
                <a:spcPts val="1547"/>
              </a:lnSpc>
            </a:pPr>
            <a:r>
              <a:rPr lang="en-US" sz="1289">
                <a:solidFill>
                  <a:srgbClr val="D9E7F1"/>
                </a:solidFill>
                <a:latin typeface="Courier New"/>
                <a:ea typeface="Courier New"/>
                <a:cs typeface="Courier New"/>
                <a:sym typeface="Courier New"/>
              </a:rPr>
              <a:t>}</a:t>
            </a:r>
          </a:p>
          <a:p>
            <a:pPr algn="l">
              <a:lnSpc>
                <a:spcPts val="1547"/>
              </a:lnSpc>
            </a:pPr>
          </a:p>
          <a:p>
            <a:pPr algn="l">
              <a:lnSpc>
                <a:spcPts val="1547"/>
              </a:lnSpc>
            </a:pPr>
            <a:r>
              <a:rPr lang="en-US" sz="1289">
                <a:solidFill>
                  <a:srgbClr val="D9E7F1"/>
                </a:solidFill>
                <a:latin typeface="Courier New"/>
                <a:ea typeface="Courier New"/>
                <a:cs typeface="Courier New"/>
                <a:sym typeface="Courier New"/>
              </a:rPr>
              <a:t>stepper.disableOutputs();</a:t>
            </a:r>
          </a:p>
        </p:txBody>
      </p:sp>
      <p:grpSp>
        <p:nvGrpSpPr>
          <p:cNvPr name="Group 27" id="27"/>
          <p:cNvGrpSpPr/>
          <p:nvPr/>
        </p:nvGrpSpPr>
        <p:grpSpPr>
          <a:xfrm rot="0">
            <a:off x="8767762" y="3007042"/>
            <a:ext cx="3381375" cy="1584579"/>
            <a:chOff x="0" y="0"/>
            <a:chExt cx="4508500" cy="2112772"/>
          </a:xfrm>
        </p:grpSpPr>
        <p:sp>
          <p:nvSpPr>
            <p:cNvPr name="Freeform 28" id="28"/>
            <p:cNvSpPr/>
            <p:nvPr/>
          </p:nvSpPr>
          <p:spPr>
            <a:xfrm flipH="false" flipV="false" rot="0">
              <a:off x="0" y="0"/>
              <a:ext cx="4508500" cy="2112772"/>
            </a:xfrm>
            <a:custGeom>
              <a:avLst/>
              <a:gdLst/>
              <a:ahLst/>
              <a:cxnLst/>
              <a:rect r="r" b="b" t="t" l="l"/>
              <a:pathLst>
                <a:path h="2112772" w="4508500">
                  <a:moveTo>
                    <a:pt x="0" y="148336"/>
                  </a:moveTo>
                  <a:cubicBezTo>
                    <a:pt x="0" y="66421"/>
                    <a:pt x="66421" y="0"/>
                    <a:pt x="148336" y="0"/>
                  </a:cubicBezTo>
                  <a:lnTo>
                    <a:pt x="4360164" y="0"/>
                  </a:lnTo>
                  <a:cubicBezTo>
                    <a:pt x="4442079" y="0"/>
                    <a:pt x="4508500" y="66421"/>
                    <a:pt x="4508500" y="148336"/>
                  </a:cubicBezTo>
                  <a:lnTo>
                    <a:pt x="4508500" y="1964436"/>
                  </a:lnTo>
                  <a:cubicBezTo>
                    <a:pt x="4508500" y="2046351"/>
                    <a:pt x="4442079" y="2112772"/>
                    <a:pt x="4360164" y="2112772"/>
                  </a:cubicBezTo>
                  <a:lnTo>
                    <a:pt x="148336" y="2112772"/>
                  </a:lnTo>
                  <a:cubicBezTo>
                    <a:pt x="66421" y="2112772"/>
                    <a:pt x="0" y="2046351"/>
                    <a:pt x="0" y="1964436"/>
                  </a:cubicBezTo>
                  <a:close/>
                </a:path>
              </a:pathLst>
            </a:custGeom>
            <a:solidFill>
              <a:srgbClr val="10253B"/>
            </a:solidFill>
            <a:ln w="20955" cap="sq">
              <a:solidFill>
                <a:srgbClr val="F6C85F"/>
              </a:solidFill>
              <a:prstDash val="solid"/>
              <a:miter/>
            </a:ln>
          </p:spPr>
        </p:sp>
      </p:grpSp>
      <p:grpSp>
        <p:nvGrpSpPr>
          <p:cNvPr name="Group 29" id="29"/>
          <p:cNvGrpSpPr/>
          <p:nvPr/>
        </p:nvGrpSpPr>
        <p:grpSpPr>
          <a:xfrm rot="0">
            <a:off x="8942832" y="3209544"/>
            <a:ext cx="3031236" cy="329184"/>
            <a:chOff x="0" y="0"/>
            <a:chExt cx="4041648" cy="438912"/>
          </a:xfrm>
        </p:grpSpPr>
        <p:sp>
          <p:nvSpPr>
            <p:cNvPr name="Freeform 30" id="30"/>
            <p:cNvSpPr/>
            <p:nvPr/>
          </p:nvSpPr>
          <p:spPr>
            <a:xfrm flipH="false" flipV="false" rot="0">
              <a:off x="0" y="0"/>
              <a:ext cx="4041648" cy="438912"/>
            </a:xfrm>
            <a:custGeom>
              <a:avLst/>
              <a:gdLst/>
              <a:ahLst/>
              <a:cxnLst/>
              <a:rect r="r" b="b" t="t" l="l"/>
              <a:pathLst>
                <a:path h="438912" w="4041648">
                  <a:moveTo>
                    <a:pt x="0" y="0"/>
                  </a:moveTo>
                  <a:lnTo>
                    <a:pt x="4041648" y="0"/>
                  </a:lnTo>
                  <a:lnTo>
                    <a:pt x="4041648" y="438912"/>
                  </a:lnTo>
                  <a:lnTo>
                    <a:pt x="0" y="438912"/>
                  </a:lnTo>
                  <a:close/>
                </a:path>
              </a:pathLst>
            </a:custGeom>
            <a:blipFill>
              <a:blip r:embed="rId3">
                <a:alphaModFix amt="0"/>
              </a:blip>
              <a:stretch>
                <a:fillRect l="0" t="-129424" r="0" b="-129424"/>
              </a:stretch>
            </a:blipFill>
          </p:spPr>
        </p:sp>
        <p:sp>
          <p:nvSpPr>
            <p:cNvPr name="TextBox 31" id="31"/>
            <p:cNvSpPr txBox="true"/>
            <p:nvPr/>
          </p:nvSpPr>
          <p:spPr>
            <a:xfrm>
              <a:off x="0" y="0"/>
              <a:ext cx="404164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TARGET</a:t>
              </a:r>
            </a:p>
          </p:txBody>
        </p:sp>
      </p:grpSp>
      <p:grpSp>
        <p:nvGrpSpPr>
          <p:cNvPr name="Group 32" id="32"/>
          <p:cNvGrpSpPr/>
          <p:nvPr/>
        </p:nvGrpSpPr>
        <p:grpSpPr>
          <a:xfrm rot="0">
            <a:off x="8942832" y="3648456"/>
            <a:ext cx="3031236" cy="822960"/>
            <a:chOff x="0" y="0"/>
            <a:chExt cx="4041648" cy="1097280"/>
          </a:xfrm>
        </p:grpSpPr>
        <p:sp>
          <p:nvSpPr>
            <p:cNvPr name="Freeform 33" id="33"/>
            <p:cNvSpPr/>
            <p:nvPr/>
          </p:nvSpPr>
          <p:spPr>
            <a:xfrm flipH="false" flipV="false" rot="0">
              <a:off x="0" y="0"/>
              <a:ext cx="4041648" cy="1097280"/>
            </a:xfrm>
            <a:custGeom>
              <a:avLst/>
              <a:gdLst/>
              <a:ahLst/>
              <a:cxnLst/>
              <a:rect r="r" b="b" t="t" l="l"/>
              <a:pathLst>
                <a:path h="1097280" w="4041648">
                  <a:moveTo>
                    <a:pt x="0" y="0"/>
                  </a:moveTo>
                  <a:lnTo>
                    <a:pt x="4041648" y="0"/>
                  </a:lnTo>
                  <a:lnTo>
                    <a:pt x="4041648" y="1097280"/>
                  </a:lnTo>
                  <a:lnTo>
                    <a:pt x="0" y="1097280"/>
                  </a:lnTo>
                  <a:close/>
                </a:path>
              </a:pathLst>
            </a:custGeom>
            <a:blipFill>
              <a:blip r:embed="rId3">
                <a:alphaModFix amt="0"/>
              </a:blip>
              <a:stretch>
                <a:fillRect l="0" t="-21769" r="0" b="-21769"/>
              </a:stretch>
            </a:blipFill>
          </p:spPr>
        </p:sp>
        <p:sp>
          <p:nvSpPr>
            <p:cNvPr name="TextBox 34" id="34"/>
            <p:cNvSpPr txBox="true"/>
            <p:nvPr/>
          </p:nvSpPr>
          <p:spPr>
            <a:xfrm>
              <a:off x="0" y="-9525"/>
              <a:ext cx="4041648" cy="1106805"/>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512 steps</a:t>
              </a:r>
            </a:p>
          </p:txBody>
        </p:sp>
      </p:grpSp>
      <p:sp>
        <p:nvSpPr>
          <p:cNvPr name="AutoShape 35" id="35"/>
          <p:cNvSpPr/>
          <p:nvPr/>
        </p:nvSpPr>
        <p:spPr>
          <a:xfrm rot="112140">
            <a:off x="12259361" y="3789807"/>
            <a:ext cx="993029" cy="0"/>
          </a:xfrm>
          <a:prstGeom prst="line">
            <a:avLst/>
          </a:prstGeom>
          <a:ln cap="rnd" w="19050">
            <a:solidFill>
              <a:srgbClr val="1D3850"/>
            </a:solidFill>
            <a:prstDash val="solid"/>
            <a:headEnd type="none" len="sm" w="sm"/>
            <a:tailEnd type="triangle" len="med" w="lg"/>
          </a:ln>
        </p:spPr>
      </p:sp>
      <p:grpSp>
        <p:nvGrpSpPr>
          <p:cNvPr name="Group 36" id="36"/>
          <p:cNvGrpSpPr/>
          <p:nvPr/>
        </p:nvGrpSpPr>
        <p:grpSpPr>
          <a:xfrm rot="0">
            <a:off x="13294043" y="3007042"/>
            <a:ext cx="3381375" cy="1584579"/>
            <a:chOff x="0" y="0"/>
            <a:chExt cx="4508500" cy="2112772"/>
          </a:xfrm>
        </p:grpSpPr>
        <p:sp>
          <p:nvSpPr>
            <p:cNvPr name="Freeform 37" id="37"/>
            <p:cNvSpPr/>
            <p:nvPr/>
          </p:nvSpPr>
          <p:spPr>
            <a:xfrm flipH="false" flipV="false" rot="0">
              <a:off x="0" y="0"/>
              <a:ext cx="4508500" cy="2112772"/>
            </a:xfrm>
            <a:custGeom>
              <a:avLst/>
              <a:gdLst/>
              <a:ahLst/>
              <a:cxnLst/>
              <a:rect r="r" b="b" t="t" l="l"/>
              <a:pathLst>
                <a:path h="2112772" w="4508500">
                  <a:moveTo>
                    <a:pt x="0" y="148336"/>
                  </a:moveTo>
                  <a:cubicBezTo>
                    <a:pt x="0" y="66421"/>
                    <a:pt x="66421" y="0"/>
                    <a:pt x="148336" y="0"/>
                  </a:cubicBezTo>
                  <a:lnTo>
                    <a:pt x="4360164" y="0"/>
                  </a:lnTo>
                  <a:cubicBezTo>
                    <a:pt x="4442079" y="0"/>
                    <a:pt x="4508500" y="66421"/>
                    <a:pt x="4508500" y="148336"/>
                  </a:cubicBezTo>
                  <a:lnTo>
                    <a:pt x="4508500" y="1964436"/>
                  </a:lnTo>
                  <a:cubicBezTo>
                    <a:pt x="4508500" y="2046351"/>
                    <a:pt x="4442079" y="2112772"/>
                    <a:pt x="4360164" y="2112772"/>
                  </a:cubicBezTo>
                  <a:lnTo>
                    <a:pt x="148336" y="2112772"/>
                  </a:lnTo>
                  <a:cubicBezTo>
                    <a:pt x="66421" y="2112772"/>
                    <a:pt x="0" y="2046351"/>
                    <a:pt x="0" y="1964436"/>
                  </a:cubicBezTo>
                  <a:close/>
                </a:path>
              </a:pathLst>
            </a:custGeom>
            <a:solidFill>
              <a:srgbClr val="10253B"/>
            </a:solidFill>
            <a:ln w="20955" cap="sq">
              <a:solidFill>
                <a:srgbClr val="46D6F5"/>
              </a:solidFill>
              <a:prstDash val="solid"/>
              <a:miter/>
            </a:ln>
          </p:spPr>
        </p:sp>
      </p:grpSp>
      <p:grpSp>
        <p:nvGrpSpPr>
          <p:cNvPr name="Group 38" id="38"/>
          <p:cNvGrpSpPr/>
          <p:nvPr/>
        </p:nvGrpSpPr>
        <p:grpSpPr>
          <a:xfrm rot="0">
            <a:off x="13469112" y="3209544"/>
            <a:ext cx="3031236" cy="329184"/>
            <a:chOff x="0" y="0"/>
            <a:chExt cx="4041648" cy="438912"/>
          </a:xfrm>
        </p:grpSpPr>
        <p:sp>
          <p:nvSpPr>
            <p:cNvPr name="Freeform 39" id="39"/>
            <p:cNvSpPr/>
            <p:nvPr/>
          </p:nvSpPr>
          <p:spPr>
            <a:xfrm flipH="false" flipV="false" rot="0">
              <a:off x="0" y="0"/>
              <a:ext cx="4041648" cy="438912"/>
            </a:xfrm>
            <a:custGeom>
              <a:avLst/>
              <a:gdLst/>
              <a:ahLst/>
              <a:cxnLst/>
              <a:rect r="r" b="b" t="t" l="l"/>
              <a:pathLst>
                <a:path h="438912" w="4041648">
                  <a:moveTo>
                    <a:pt x="0" y="0"/>
                  </a:moveTo>
                  <a:lnTo>
                    <a:pt x="4041648" y="0"/>
                  </a:lnTo>
                  <a:lnTo>
                    <a:pt x="4041648" y="438912"/>
                  </a:lnTo>
                  <a:lnTo>
                    <a:pt x="0" y="438912"/>
                  </a:lnTo>
                  <a:close/>
                </a:path>
              </a:pathLst>
            </a:custGeom>
            <a:blipFill>
              <a:blip r:embed="rId3">
                <a:alphaModFix amt="0"/>
              </a:blip>
              <a:stretch>
                <a:fillRect l="0" t="-129424" r="0" b="-129424"/>
              </a:stretch>
            </a:blipFill>
          </p:spPr>
        </p:sp>
        <p:sp>
          <p:nvSpPr>
            <p:cNvPr name="TextBox 40" id="40"/>
            <p:cNvSpPr txBox="true"/>
            <p:nvPr/>
          </p:nvSpPr>
          <p:spPr>
            <a:xfrm>
              <a:off x="0" y="0"/>
              <a:ext cx="404164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RUN LOOP</a:t>
              </a:r>
            </a:p>
          </p:txBody>
        </p:sp>
      </p:grpSp>
      <p:grpSp>
        <p:nvGrpSpPr>
          <p:cNvPr name="Group 41" id="41"/>
          <p:cNvGrpSpPr/>
          <p:nvPr/>
        </p:nvGrpSpPr>
        <p:grpSpPr>
          <a:xfrm rot="0">
            <a:off x="13469112" y="3648456"/>
            <a:ext cx="3031236" cy="822960"/>
            <a:chOff x="0" y="0"/>
            <a:chExt cx="4041648" cy="1097280"/>
          </a:xfrm>
        </p:grpSpPr>
        <p:sp>
          <p:nvSpPr>
            <p:cNvPr name="Freeform 42" id="42"/>
            <p:cNvSpPr/>
            <p:nvPr/>
          </p:nvSpPr>
          <p:spPr>
            <a:xfrm flipH="false" flipV="false" rot="0">
              <a:off x="0" y="0"/>
              <a:ext cx="4041648" cy="1097280"/>
            </a:xfrm>
            <a:custGeom>
              <a:avLst/>
              <a:gdLst/>
              <a:ahLst/>
              <a:cxnLst/>
              <a:rect r="r" b="b" t="t" l="l"/>
              <a:pathLst>
                <a:path h="1097280" w="4041648">
                  <a:moveTo>
                    <a:pt x="0" y="0"/>
                  </a:moveTo>
                  <a:lnTo>
                    <a:pt x="4041648" y="0"/>
                  </a:lnTo>
                  <a:lnTo>
                    <a:pt x="4041648" y="1097280"/>
                  </a:lnTo>
                  <a:lnTo>
                    <a:pt x="0" y="1097280"/>
                  </a:lnTo>
                  <a:close/>
                </a:path>
              </a:pathLst>
            </a:custGeom>
            <a:blipFill>
              <a:blip r:embed="rId3">
                <a:alphaModFix amt="0"/>
              </a:blip>
              <a:stretch>
                <a:fillRect l="0" t="-21769" r="0" b="-21769"/>
              </a:stretch>
            </a:blipFill>
          </p:spPr>
        </p:sp>
        <p:sp>
          <p:nvSpPr>
            <p:cNvPr name="TextBox 43" id="43"/>
            <p:cNvSpPr txBox="true"/>
            <p:nvPr/>
          </p:nvSpPr>
          <p:spPr>
            <a:xfrm>
              <a:off x="0" y="-9525"/>
              <a:ext cx="4041648" cy="1106805"/>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stepper.run()</a:t>
              </a:r>
            </a:p>
          </p:txBody>
        </p:sp>
      </p:grpSp>
      <p:grpSp>
        <p:nvGrpSpPr>
          <p:cNvPr name="Group 44" id="44"/>
          <p:cNvGrpSpPr/>
          <p:nvPr/>
        </p:nvGrpSpPr>
        <p:grpSpPr>
          <a:xfrm rot="0">
            <a:off x="8767762" y="5201603"/>
            <a:ext cx="3381375" cy="1584579"/>
            <a:chOff x="0" y="0"/>
            <a:chExt cx="4508500" cy="2112772"/>
          </a:xfrm>
        </p:grpSpPr>
        <p:sp>
          <p:nvSpPr>
            <p:cNvPr name="Freeform 45" id="45"/>
            <p:cNvSpPr/>
            <p:nvPr/>
          </p:nvSpPr>
          <p:spPr>
            <a:xfrm flipH="false" flipV="false" rot="0">
              <a:off x="0" y="0"/>
              <a:ext cx="4508500" cy="2112772"/>
            </a:xfrm>
            <a:custGeom>
              <a:avLst/>
              <a:gdLst/>
              <a:ahLst/>
              <a:cxnLst/>
              <a:rect r="r" b="b" t="t" l="l"/>
              <a:pathLst>
                <a:path h="2112772" w="4508500">
                  <a:moveTo>
                    <a:pt x="0" y="148336"/>
                  </a:moveTo>
                  <a:cubicBezTo>
                    <a:pt x="0" y="66421"/>
                    <a:pt x="66421" y="0"/>
                    <a:pt x="148336" y="0"/>
                  </a:cubicBezTo>
                  <a:lnTo>
                    <a:pt x="4360164" y="0"/>
                  </a:lnTo>
                  <a:cubicBezTo>
                    <a:pt x="4442079" y="0"/>
                    <a:pt x="4508500" y="66421"/>
                    <a:pt x="4508500" y="148336"/>
                  </a:cubicBezTo>
                  <a:lnTo>
                    <a:pt x="4508500" y="1964436"/>
                  </a:lnTo>
                  <a:cubicBezTo>
                    <a:pt x="4508500" y="2046351"/>
                    <a:pt x="4442079" y="2112772"/>
                    <a:pt x="4360164" y="2112772"/>
                  </a:cubicBezTo>
                  <a:lnTo>
                    <a:pt x="148336" y="2112772"/>
                  </a:lnTo>
                  <a:cubicBezTo>
                    <a:pt x="66421" y="2112772"/>
                    <a:pt x="0" y="2046351"/>
                    <a:pt x="0" y="1964436"/>
                  </a:cubicBezTo>
                  <a:close/>
                </a:path>
              </a:pathLst>
            </a:custGeom>
            <a:solidFill>
              <a:srgbClr val="10253B"/>
            </a:solidFill>
            <a:ln w="20955" cap="sq">
              <a:solidFill>
                <a:srgbClr val="76E2A1"/>
              </a:solidFill>
              <a:prstDash val="solid"/>
              <a:miter/>
            </a:ln>
          </p:spPr>
        </p:sp>
      </p:grpSp>
      <p:grpSp>
        <p:nvGrpSpPr>
          <p:cNvPr name="Group 46" id="46"/>
          <p:cNvGrpSpPr/>
          <p:nvPr/>
        </p:nvGrpSpPr>
        <p:grpSpPr>
          <a:xfrm rot="0">
            <a:off x="8942832" y="5404104"/>
            <a:ext cx="3031236" cy="329184"/>
            <a:chOff x="0" y="0"/>
            <a:chExt cx="4041648" cy="438912"/>
          </a:xfrm>
        </p:grpSpPr>
        <p:sp>
          <p:nvSpPr>
            <p:cNvPr name="Freeform 47" id="47"/>
            <p:cNvSpPr/>
            <p:nvPr/>
          </p:nvSpPr>
          <p:spPr>
            <a:xfrm flipH="false" flipV="false" rot="0">
              <a:off x="0" y="0"/>
              <a:ext cx="4041648" cy="438912"/>
            </a:xfrm>
            <a:custGeom>
              <a:avLst/>
              <a:gdLst/>
              <a:ahLst/>
              <a:cxnLst/>
              <a:rect r="r" b="b" t="t" l="l"/>
              <a:pathLst>
                <a:path h="438912" w="4041648">
                  <a:moveTo>
                    <a:pt x="0" y="0"/>
                  </a:moveTo>
                  <a:lnTo>
                    <a:pt x="4041648" y="0"/>
                  </a:lnTo>
                  <a:lnTo>
                    <a:pt x="4041648" y="438912"/>
                  </a:lnTo>
                  <a:lnTo>
                    <a:pt x="0" y="438912"/>
                  </a:lnTo>
                  <a:close/>
                </a:path>
              </a:pathLst>
            </a:custGeom>
            <a:blipFill>
              <a:blip r:embed="rId3">
                <a:alphaModFix amt="0"/>
              </a:blip>
              <a:stretch>
                <a:fillRect l="0" t="-129424" r="0" b="-129424"/>
              </a:stretch>
            </a:blipFill>
          </p:spPr>
        </p:sp>
        <p:sp>
          <p:nvSpPr>
            <p:cNvPr name="TextBox 48" id="48"/>
            <p:cNvSpPr txBox="true"/>
            <p:nvPr/>
          </p:nvSpPr>
          <p:spPr>
            <a:xfrm>
              <a:off x="0" y="0"/>
              <a:ext cx="404164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PARALLEL</a:t>
              </a:r>
            </a:p>
          </p:txBody>
        </p:sp>
      </p:grpSp>
      <p:grpSp>
        <p:nvGrpSpPr>
          <p:cNvPr name="Group 49" id="49"/>
          <p:cNvGrpSpPr/>
          <p:nvPr/>
        </p:nvGrpSpPr>
        <p:grpSpPr>
          <a:xfrm rot="0">
            <a:off x="8942832" y="5843016"/>
            <a:ext cx="3031236" cy="822960"/>
            <a:chOff x="0" y="0"/>
            <a:chExt cx="4041648" cy="1097280"/>
          </a:xfrm>
        </p:grpSpPr>
        <p:sp>
          <p:nvSpPr>
            <p:cNvPr name="Freeform 50" id="50"/>
            <p:cNvSpPr/>
            <p:nvPr/>
          </p:nvSpPr>
          <p:spPr>
            <a:xfrm flipH="false" flipV="false" rot="0">
              <a:off x="0" y="0"/>
              <a:ext cx="4041648" cy="1097280"/>
            </a:xfrm>
            <a:custGeom>
              <a:avLst/>
              <a:gdLst/>
              <a:ahLst/>
              <a:cxnLst/>
              <a:rect r="r" b="b" t="t" l="l"/>
              <a:pathLst>
                <a:path h="1097280" w="4041648">
                  <a:moveTo>
                    <a:pt x="0" y="0"/>
                  </a:moveTo>
                  <a:lnTo>
                    <a:pt x="4041648" y="0"/>
                  </a:lnTo>
                  <a:lnTo>
                    <a:pt x="4041648" y="1097280"/>
                  </a:lnTo>
                  <a:lnTo>
                    <a:pt x="0" y="1097280"/>
                  </a:lnTo>
                  <a:close/>
                </a:path>
              </a:pathLst>
            </a:custGeom>
            <a:blipFill>
              <a:blip r:embed="rId3">
                <a:alphaModFix amt="0"/>
              </a:blip>
              <a:stretch>
                <a:fillRect l="0" t="-21769" r="0" b="-21769"/>
              </a:stretch>
            </a:blipFill>
          </p:spPr>
        </p:sp>
        <p:sp>
          <p:nvSpPr>
            <p:cNvPr name="TextBox 51" id="51"/>
            <p:cNvSpPr txBox="true"/>
            <p:nvPr/>
          </p:nvSpPr>
          <p:spPr>
            <a:xfrm>
              <a:off x="0" y="-9525"/>
              <a:ext cx="4041648" cy="1106805"/>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Sensors + Wi-Fi</a:t>
              </a:r>
            </a:p>
          </p:txBody>
        </p:sp>
      </p:grpSp>
      <p:sp>
        <p:nvSpPr>
          <p:cNvPr name="AutoShape 52" id="52"/>
          <p:cNvSpPr/>
          <p:nvPr/>
        </p:nvSpPr>
        <p:spPr>
          <a:xfrm rot="112140">
            <a:off x="12259361" y="5984367"/>
            <a:ext cx="993029" cy="0"/>
          </a:xfrm>
          <a:prstGeom prst="line">
            <a:avLst/>
          </a:prstGeom>
          <a:ln cap="rnd" w="19050">
            <a:solidFill>
              <a:srgbClr val="1D3850"/>
            </a:solidFill>
            <a:prstDash val="solid"/>
            <a:headEnd type="none" len="sm" w="sm"/>
            <a:tailEnd type="triangle" len="med" w="lg"/>
          </a:ln>
        </p:spPr>
      </p:sp>
      <p:grpSp>
        <p:nvGrpSpPr>
          <p:cNvPr name="Group 53" id="53"/>
          <p:cNvGrpSpPr/>
          <p:nvPr/>
        </p:nvGrpSpPr>
        <p:grpSpPr>
          <a:xfrm rot="0">
            <a:off x="13294043" y="5201603"/>
            <a:ext cx="3381375" cy="1584579"/>
            <a:chOff x="0" y="0"/>
            <a:chExt cx="4508500" cy="2112772"/>
          </a:xfrm>
        </p:grpSpPr>
        <p:sp>
          <p:nvSpPr>
            <p:cNvPr name="Freeform 54" id="54"/>
            <p:cNvSpPr/>
            <p:nvPr/>
          </p:nvSpPr>
          <p:spPr>
            <a:xfrm flipH="false" flipV="false" rot="0">
              <a:off x="0" y="0"/>
              <a:ext cx="4508500" cy="2112772"/>
            </a:xfrm>
            <a:custGeom>
              <a:avLst/>
              <a:gdLst/>
              <a:ahLst/>
              <a:cxnLst/>
              <a:rect r="r" b="b" t="t" l="l"/>
              <a:pathLst>
                <a:path h="2112772" w="4508500">
                  <a:moveTo>
                    <a:pt x="0" y="148336"/>
                  </a:moveTo>
                  <a:cubicBezTo>
                    <a:pt x="0" y="66421"/>
                    <a:pt x="66421" y="0"/>
                    <a:pt x="148336" y="0"/>
                  </a:cubicBezTo>
                  <a:lnTo>
                    <a:pt x="4360164" y="0"/>
                  </a:lnTo>
                  <a:cubicBezTo>
                    <a:pt x="4442079" y="0"/>
                    <a:pt x="4508500" y="66421"/>
                    <a:pt x="4508500" y="148336"/>
                  </a:cubicBezTo>
                  <a:lnTo>
                    <a:pt x="4508500" y="1964436"/>
                  </a:lnTo>
                  <a:cubicBezTo>
                    <a:pt x="4508500" y="2046351"/>
                    <a:pt x="4442079" y="2112772"/>
                    <a:pt x="4360164" y="2112772"/>
                  </a:cubicBezTo>
                  <a:lnTo>
                    <a:pt x="148336" y="2112772"/>
                  </a:lnTo>
                  <a:cubicBezTo>
                    <a:pt x="66421" y="2112772"/>
                    <a:pt x="0" y="2046351"/>
                    <a:pt x="0" y="1964436"/>
                  </a:cubicBezTo>
                  <a:close/>
                </a:path>
              </a:pathLst>
            </a:custGeom>
            <a:solidFill>
              <a:srgbClr val="10253B"/>
            </a:solidFill>
            <a:ln w="20955" cap="sq">
              <a:solidFill>
                <a:srgbClr val="68A8FF"/>
              </a:solidFill>
              <a:prstDash val="solid"/>
              <a:miter/>
            </a:ln>
          </p:spPr>
        </p:sp>
      </p:grpSp>
      <p:grpSp>
        <p:nvGrpSpPr>
          <p:cNvPr name="Group 55" id="55"/>
          <p:cNvGrpSpPr/>
          <p:nvPr/>
        </p:nvGrpSpPr>
        <p:grpSpPr>
          <a:xfrm rot="0">
            <a:off x="13469112" y="5404104"/>
            <a:ext cx="3031236" cy="329184"/>
            <a:chOff x="0" y="0"/>
            <a:chExt cx="4041648" cy="438912"/>
          </a:xfrm>
        </p:grpSpPr>
        <p:sp>
          <p:nvSpPr>
            <p:cNvPr name="Freeform 56" id="56"/>
            <p:cNvSpPr/>
            <p:nvPr/>
          </p:nvSpPr>
          <p:spPr>
            <a:xfrm flipH="false" flipV="false" rot="0">
              <a:off x="0" y="0"/>
              <a:ext cx="4041648" cy="438912"/>
            </a:xfrm>
            <a:custGeom>
              <a:avLst/>
              <a:gdLst/>
              <a:ahLst/>
              <a:cxnLst/>
              <a:rect r="r" b="b" t="t" l="l"/>
              <a:pathLst>
                <a:path h="438912" w="4041648">
                  <a:moveTo>
                    <a:pt x="0" y="0"/>
                  </a:moveTo>
                  <a:lnTo>
                    <a:pt x="4041648" y="0"/>
                  </a:lnTo>
                  <a:lnTo>
                    <a:pt x="4041648" y="438912"/>
                  </a:lnTo>
                  <a:lnTo>
                    <a:pt x="0" y="438912"/>
                  </a:lnTo>
                  <a:close/>
                </a:path>
              </a:pathLst>
            </a:custGeom>
            <a:blipFill>
              <a:blip r:embed="rId3">
                <a:alphaModFix amt="0"/>
              </a:blip>
              <a:stretch>
                <a:fillRect l="0" t="-129424" r="0" b="-129424"/>
              </a:stretch>
            </a:blipFill>
          </p:spPr>
        </p:sp>
        <p:sp>
          <p:nvSpPr>
            <p:cNvPr name="TextBox 57" id="57"/>
            <p:cNvSpPr txBox="true"/>
            <p:nvPr/>
          </p:nvSpPr>
          <p:spPr>
            <a:xfrm>
              <a:off x="0" y="0"/>
              <a:ext cx="404164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FINISH</a:t>
              </a:r>
            </a:p>
          </p:txBody>
        </p:sp>
      </p:grpSp>
      <p:grpSp>
        <p:nvGrpSpPr>
          <p:cNvPr name="Group 58" id="58"/>
          <p:cNvGrpSpPr/>
          <p:nvPr/>
        </p:nvGrpSpPr>
        <p:grpSpPr>
          <a:xfrm rot="0">
            <a:off x="13469112" y="5843016"/>
            <a:ext cx="3031236" cy="822960"/>
            <a:chOff x="0" y="0"/>
            <a:chExt cx="4041648" cy="1097280"/>
          </a:xfrm>
        </p:grpSpPr>
        <p:sp>
          <p:nvSpPr>
            <p:cNvPr name="Freeform 59" id="59"/>
            <p:cNvSpPr/>
            <p:nvPr/>
          </p:nvSpPr>
          <p:spPr>
            <a:xfrm flipH="false" flipV="false" rot="0">
              <a:off x="0" y="0"/>
              <a:ext cx="4041648" cy="1097280"/>
            </a:xfrm>
            <a:custGeom>
              <a:avLst/>
              <a:gdLst/>
              <a:ahLst/>
              <a:cxnLst/>
              <a:rect r="r" b="b" t="t" l="l"/>
              <a:pathLst>
                <a:path h="1097280" w="4041648">
                  <a:moveTo>
                    <a:pt x="0" y="0"/>
                  </a:moveTo>
                  <a:lnTo>
                    <a:pt x="4041648" y="0"/>
                  </a:lnTo>
                  <a:lnTo>
                    <a:pt x="4041648" y="1097280"/>
                  </a:lnTo>
                  <a:lnTo>
                    <a:pt x="0" y="1097280"/>
                  </a:lnTo>
                  <a:close/>
                </a:path>
              </a:pathLst>
            </a:custGeom>
            <a:blipFill>
              <a:blip r:embed="rId3">
                <a:alphaModFix amt="0"/>
              </a:blip>
              <a:stretch>
                <a:fillRect l="0" t="-21769" r="0" b="-21769"/>
              </a:stretch>
            </a:blipFill>
          </p:spPr>
        </p:sp>
        <p:sp>
          <p:nvSpPr>
            <p:cNvPr name="TextBox 60" id="60"/>
            <p:cNvSpPr txBox="true"/>
            <p:nvPr/>
          </p:nvSpPr>
          <p:spPr>
            <a:xfrm>
              <a:off x="0" y="-9525"/>
              <a:ext cx="4041648" cy="1106805"/>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disableOutputs()</a:t>
              </a:r>
            </a:p>
          </p:txBody>
        </p:sp>
      </p:grpSp>
      <p:grpSp>
        <p:nvGrpSpPr>
          <p:cNvPr name="Group 61" id="61"/>
          <p:cNvGrpSpPr/>
          <p:nvPr/>
        </p:nvGrpSpPr>
        <p:grpSpPr>
          <a:xfrm rot="0">
            <a:off x="8770620" y="7467600"/>
            <a:ext cx="7901940" cy="947928"/>
            <a:chOff x="0" y="0"/>
            <a:chExt cx="10535920" cy="1263904"/>
          </a:xfrm>
        </p:grpSpPr>
        <p:sp>
          <p:nvSpPr>
            <p:cNvPr name="Freeform 62" id="62"/>
            <p:cNvSpPr/>
            <p:nvPr/>
          </p:nvSpPr>
          <p:spPr>
            <a:xfrm flipH="false" flipV="false" rot="0">
              <a:off x="0" y="0"/>
              <a:ext cx="10535920" cy="1263904"/>
            </a:xfrm>
            <a:custGeom>
              <a:avLst/>
              <a:gdLst/>
              <a:ahLst/>
              <a:cxnLst/>
              <a:rect r="r" b="b" t="t" l="l"/>
              <a:pathLst>
                <a:path h="1263904" w="10535920">
                  <a:moveTo>
                    <a:pt x="0" y="148717"/>
                  </a:moveTo>
                  <a:cubicBezTo>
                    <a:pt x="0" y="66548"/>
                    <a:pt x="66548" y="0"/>
                    <a:pt x="148717" y="0"/>
                  </a:cubicBezTo>
                  <a:lnTo>
                    <a:pt x="10387203" y="0"/>
                  </a:lnTo>
                  <a:cubicBezTo>
                    <a:pt x="10469372" y="0"/>
                    <a:pt x="10535920" y="66548"/>
                    <a:pt x="10535920" y="148717"/>
                  </a:cubicBezTo>
                  <a:lnTo>
                    <a:pt x="10535920" y="1115187"/>
                  </a:lnTo>
                  <a:cubicBezTo>
                    <a:pt x="10535920" y="1197356"/>
                    <a:pt x="10469372" y="1263904"/>
                    <a:pt x="10387203" y="1263904"/>
                  </a:cubicBezTo>
                  <a:lnTo>
                    <a:pt x="148717" y="1263904"/>
                  </a:lnTo>
                  <a:cubicBezTo>
                    <a:pt x="66548" y="1263904"/>
                    <a:pt x="0" y="1197356"/>
                    <a:pt x="0" y="1115187"/>
                  </a:cubicBezTo>
                  <a:close/>
                </a:path>
              </a:pathLst>
            </a:custGeom>
            <a:solidFill>
              <a:srgbClr val="0E1D30"/>
            </a:solidFill>
            <a:ln w="15240" cap="sq">
              <a:solidFill>
                <a:srgbClr val="1D3850"/>
              </a:solidFill>
              <a:prstDash val="solid"/>
              <a:miter/>
            </a:ln>
          </p:spPr>
        </p:sp>
      </p:grpSp>
      <p:grpSp>
        <p:nvGrpSpPr>
          <p:cNvPr name="Group 63" id="63"/>
          <p:cNvGrpSpPr/>
          <p:nvPr/>
        </p:nvGrpSpPr>
        <p:grpSpPr>
          <a:xfrm rot="0">
            <a:off x="9848088" y="7749540"/>
            <a:ext cx="6515100" cy="342900"/>
            <a:chOff x="0" y="0"/>
            <a:chExt cx="8686800" cy="457200"/>
          </a:xfrm>
        </p:grpSpPr>
        <p:sp>
          <p:nvSpPr>
            <p:cNvPr name="Freeform 64" id="64"/>
            <p:cNvSpPr/>
            <p:nvPr/>
          </p:nvSpPr>
          <p:spPr>
            <a:xfrm flipH="false" flipV="false" rot="0">
              <a:off x="0" y="0"/>
              <a:ext cx="8686800" cy="457200"/>
            </a:xfrm>
            <a:custGeom>
              <a:avLst/>
              <a:gdLst/>
              <a:ahLst/>
              <a:cxnLst/>
              <a:rect r="r" b="b" t="t" l="l"/>
              <a:pathLst>
                <a:path h="457200" w="8686800">
                  <a:moveTo>
                    <a:pt x="0" y="0"/>
                  </a:moveTo>
                  <a:lnTo>
                    <a:pt x="8686800" y="0"/>
                  </a:lnTo>
                  <a:lnTo>
                    <a:pt x="8686800" y="457200"/>
                  </a:lnTo>
                  <a:lnTo>
                    <a:pt x="0" y="457200"/>
                  </a:lnTo>
                  <a:close/>
                </a:path>
              </a:pathLst>
            </a:custGeom>
            <a:blipFill>
              <a:blip r:embed="rId3">
                <a:alphaModFix amt="0"/>
              </a:blip>
              <a:stretch>
                <a:fillRect l="0" t="-320215" r="0" b="-320215"/>
              </a:stretch>
            </a:blipFill>
          </p:spPr>
        </p:sp>
        <p:sp>
          <p:nvSpPr>
            <p:cNvPr name="TextBox 65" id="65"/>
            <p:cNvSpPr txBox="true"/>
            <p:nvPr/>
          </p:nvSpPr>
          <p:spPr>
            <a:xfrm>
              <a:off x="0" y="-9525"/>
              <a:ext cx="868680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BENEFIT</a:t>
              </a:r>
            </a:p>
          </p:txBody>
        </p:sp>
      </p:grpSp>
      <p:sp>
        <p:nvSpPr>
          <p:cNvPr name="TextBox 66" id="66"/>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F6C85F"/>
            </a:solidFill>
            <a:ln w="19050" cap="sq">
              <a:solidFill>
                <a:srgbClr val="F6C85F"/>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04</a:t>
              </a:r>
            </a:p>
          </p:txBody>
        </p:sp>
      </p:grpSp>
      <p:grpSp>
        <p:nvGrpSpPr>
          <p:cNvPr name="Group 12" id="12"/>
          <p:cNvGrpSpPr/>
          <p:nvPr/>
        </p:nvGrpSpPr>
        <p:grpSpPr>
          <a:xfrm rot="0">
            <a:off x="1755648" y="521208"/>
            <a:ext cx="9326880" cy="267462"/>
            <a:chOff x="0" y="0"/>
            <a:chExt cx="12435840" cy="356616"/>
          </a:xfrm>
        </p:grpSpPr>
        <p:sp>
          <p:nvSpPr>
            <p:cNvPr name="Freeform 13" id="13"/>
            <p:cNvSpPr/>
            <p:nvPr/>
          </p:nvSpPr>
          <p:spPr>
            <a:xfrm flipH="false" flipV="false" rot="0">
              <a:off x="0" y="0"/>
              <a:ext cx="12435840" cy="356616"/>
            </a:xfrm>
            <a:custGeom>
              <a:avLst/>
              <a:gdLst/>
              <a:ahLst/>
              <a:cxnLst/>
              <a:rect r="r" b="b" t="t" l="l"/>
              <a:pathLst>
                <a:path h="356616" w="12435840">
                  <a:moveTo>
                    <a:pt x="0" y="0"/>
                  </a:moveTo>
                  <a:lnTo>
                    <a:pt x="12435840" y="0"/>
                  </a:lnTo>
                  <a:lnTo>
                    <a:pt x="12435840" y="356616"/>
                  </a:lnTo>
                  <a:lnTo>
                    <a:pt x="0" y="356616"/>
                  </a:lnTo>
                  <a:close/>
                </a:path>
              </a:pathLst>
            </a:custGeom>
            <a:blipFill>
              <a:blip r:embed="rId3">
                <a:alphaModFix amt="0"/>
              </a:blip>
              <a:stretch>
                <a:fillRect l="0" t="-617939" r="0" b="-641016"/>
              </a:stretch>
            </a:blipFill>
          </p:spPr>
        </p:sp>
        <p:sp>
          <p:nvSpPr>
            <p:cNvPr name="TextBox 14" id="14"/>
            <p:cNvSpPr txBox="true"/>
            <p:nvPr/>
          </p:nvSpPr>
          <p:spPr>
            <a:xfrm>
              <a:off x="0" y="0"/>
              <a:ext cx="12435840" cy="356616"/>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4 • EDGE ALGORITHMS</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Offline Ring Buffer Management</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Continuous sampling and time-series preservation during network outages.</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617220" y="2659548"/>
            <a:ext cx="5965807" cy="574131"/>
            <a:chOff x="0" y="0"/>
            <a:chExt cx="7954409" cy="765508"/>
          </a:xfrm>
        </p:grpSpPr>
        <p:sp>
          <p:nvSpPr>
            <p:cNvPr name="Freeform 23" id="23"/>
            <p:cNvSpPr/>
            <p:nvPr/>
          </p:nvSpPr>
          <p:spPr>
            <a:xfrm flipH="false" flipV="false" rot="0">
              <a:off x="0" y="0"/>
              <a:ext cx="7954409" cy="765508"/>
            </a:xfrm>
            <a:custGeom>
              <a:avLst/>
              <a:gdLst/>
              <a:ahLst/>
              <a:cxnLst/>
              <a:rect r="r" b="b" t="t" l="l"/>
              <a:pathLst>
                <a:path h="765508" w="7954409">
                  <a:moveTo>
                    <a:pt x="0" y="0"/>
                  </a:moveTo>
                  <a:lnTo>
                    <a:pt x="7954409" y="0"/>
                  </a:lnTo>
                  <a:lnTo>
                    <a:pt x="7954409" y="765508"/>
                  </a:lnTo>
                  <a:lnTo>
                    <a:pt x="0" y="765508"/>
                  </a:lnTo>
                  <a:close/>
                </a:path>
              </a:pathLst>
            </a:custGeom>
            <a:blipFill>
              <a:blip r:embed="rId3">
                <a:alphaModFix amt="0"/>
              </a:blip>
              <a:stretch>
                <a:fillRect l="0" t="-62042" r="54017" b="-24156"/>
              </a:stretch>
            </a:blipFill>
          </p:spPr>
        </p:sp>
        <p:sp>
          <p:nvSpPr>
            <p:cNvPr name="TextBox 24" id="24"/>
            <p:cNvSpPr txBox="true"/>
            <p:nvPr/>
          </p:nvSpPr>
          <p:spPr>
            <a:xfrm>
              <a:off x="0" y="-9525"/>
              <a:ext cx="7954409" cy="775033"/>
            </a:xfrm>
            <a:prstGeom prst="rect">
              <a:avLst/>
            </a:prstGeom>
          </p:spPr>
          <p:txBody>
            <a:bodyPr anchor="ctr" rtlCol="false" tIns="0" lIns="0" bIns="0" rIns="0"/>
            <a:lstStyle/>
            <a:p>
              <a:pPr algn="l">
                <a:lnSpc>
                  <a:spcPts val="2160"/>
                </a:lnSpc>
              </a:pPr>
              <a:r>
                <a:rPr lang="en-US" sz="1800" b="true">
                  <a:solidFill>
                    <a:srgbClr val="46D6F5"/>
                  </a:solidFill>
                  <a:latin typeface="Courier New Bold"/>
                  <a:ea typeface="Courier New Bold"/>
                  <a:cs typeface="Courier New Bold"/>
                  <a:sym typeface="Courier New Bold"/>
                </a:rPr>
                <a:t>dataBuffer[100] (Allocated in ESP32 SRAM)</a:t>
              </a:r>
            </a:p>
          </p:txBody>
        </p:sp>
      </p:grpSp>
      <p:grpSp>
        <p:nvGrpSpPr>
          <p:cNvPr name="Group 25" id="25"/>
          <p:cNvGrpSpPr/>
          <p:nvPr/>
        </p:nvGrpSpPr>
        <p:grpSpPr>
          <a:xfrm rot="0">
            <a:off x="979932" y="3764280"/>
            <a:ext cx="1016508" cy="865632"/>
            <a:chOff x="0" y="0"/>
            <a:chExt cx="1355344" cy="1154176"/>
          </a:xfrm>
        </p:grpSpPr>
        <p:sp>
          <p:nvSpPr>
            <p:cNvPr name="Freeform 26" id="26"/>
            <p:cNvSpPr/>
            <p:nvPr/>
          </p:nvSpPr>
          <p:spPr>
            <a:xfrm flipH="false" flipV="false" rot="0">
              <a:off x="0" y="0"/>
              <a:ext cx="1355344" cy="1154176"/>
            </a:xfrm>
            <a:custGeom>
              <a:avLst/>
              <a:gdLst/>
              <a:ahLst/>
              <a:cxnLst/>
              <a:rect r="r" b="b" t="t" l="l"/>
              <a:pathLst>
                <a:path h="1154176" w="1355344">
                  <a:moveTo>
                    <a:pt x="0" y="55880"/>
                  </a:moveTo>
                  <a:cubicBezTo>
                    <a:pt x="0" y="25019"/>
                    <a:pt x="25019" y="0"/>
                    <a:pt x="55880" y="0"/>
                  </a:cubicBezTo>
                  <a:lnTo>
                    <a:pt x="1299464" y="0"/>
                  </a:lnTo>
                  <a:cubicBezTo>
                    <a:pt x="1330325" y="0"/>
                    <a:pt x="1355344" y="25019"/>
                    <a:pt x="1355344" y="55880"/>
                  </a:cubicBezTo>
                  <a:lnTo>
                    <a:pt x="1355344" y="1098296"/>
                  </a:lnTo>
                  <a:cubicBezTo>
                    <a:pt x="1355344" y="1129157"/>
                    <a:pt x="1330325" y="1154176"/>
                    <a:pt x="1299464" y="1154176"/>
                  </a:cubicBezTo>
                  <a:lnTo>
                    <a:pt x="55880" y="1154176"/>
                  </a:lnTo>
                  <a:cubicBezTo>
                    <a:pt x="25019" y="1154176"/>
                    <a:pt x="0" y="1129157"/>
                    <a:pt x="0" y="1098296"/>
                  </a:cubicBezTo>
                  <a:close/>
                </a:path>
              </a:pathLst>
            </a:custGeom>
            <a:solidFill>
              <a:srgbClr val="10253B"/>
            </a:solidFill>
            <a:ln w="15240" cap="sq">
              <a:solidFill>
                <a:srgbClr val="76E2A1"/>
              </a:solidFill>
              <a:prstDash val="solid"/>
              <a:miter/>
            </a:ln>
          </p:spPr>
        </p:sp>
      </p:grpSp>
      <p:grpSp>
        <p:nvGrpSpPr>
          <p:cNvPr name="Group 27" id="27"/>
          <p:cNvGrpSpPr/>
          <p:nvPr/>
        </p:nvGrpSpPr>
        <p:grpSpPr>
          <a:xfrm rot="0">
            <a:off x="987552" y="4018788"/>
            <a:ext cx="1001268" cy="219456"/>
            <a:chOff x="0" y="0"/>
            <a:chExt cx="1335024" cy="292608"/>
          </a:xfrm>
        </p:grpSpPr>
        <p:sp>
          <p:nvSpPr>
            <p:cNvPr name="Freeform 28" id="28"/>
            <p:cNvSpPr/>
            <p:nvPr/>
          </p:nvSpPr>
          <p:spPr>
            <a:xfrm flipH="false" flipV="false" rot="0">
              <a:off x="0" y="0"/>
              <a:ext cx="1335024" cy="292608"/>
            </a:xfrm>
            <a:custGeom>
              <a:avLst/>
              <a:gdLst/>
              <a:ahLst/>
              <a:cxnLst/>
              <a:rect r="r" b="b" t="t" l="l"/>
              <a:pathLst>
                <a:path h="292608" w="1335024">
                  <a:moveTo>
                    <a:pt x="0" y="0"/>
                  </a:moveTo>
                  <a:lnTo>
                    <a:pt x="1335024" y="0"/>
                  </a:lnTo>
                  <a:lnTo>
                    <a:pt x="1335024" y="292608"/>
                  </a:lnTo>
                  <a:lnTo>
                    <a:pt x="0" y="292608"/>
                  </a:lnTo>
                  <a:close/>
                </a:path>
              </a:pathLst>
            </a:custGeom>
            <a:blipFill>
              <a:blip r:embed="rId3">
                <a:alphaModFix amt="0"/>
              </a:blip>
              <a:stretch>
                <a:fillRect l="0" t="-38900" r="0" b="-38900"/>
              </a:stretch>
            </a:blipFill>
          </p:spPr>
        </p:sp>
        <p:sp>
          <p:nvSpPr>
            <p:cNvPr name="TextBox 29" id="29"/>
            <p:cNvSpPr txBox="true"/>
            <p:nvPr/>
          </p:nvSpPr>
          <p:spPr>
            <a:xfrm>
              <a:off x="0" y="0"/>
              <a:ext cx="1335024" cy="292608"/>
            </a:xfrm>
            <a:prstGeom prst="rect">
              <a:avLst/>
            </a:prstGeom>
          </p:spPr>
          <p:txBody>
            <a:bodyPr anchor="ctr" rtlCol="false" tIns="0" lIns="0" bIns="0" rIns="0"/>
            <a:lstStyle/>
            <a:p>
              <a:pPr algn="ctr">
                <a:lnSpc>
                  <a:spcPts val="1980"/>
                </a:lnSpc>
              </a:pPr>
              <a:r>
                <a:rPr lang="en-US" sz="1650" b="true">
                  <a:solidFill>
                    <a:srgbClr val="76E2A1"/>
                  </a:solidFill>
                  <a:latin typeface="Aptos Bold"/>
                  <a:ea typeface="Aptos Bold"/>
                  <a:cs typeface="Aptos Bold"/>
                  <a:sym typeface="Aptos Bold"/>
                </a:rPr>
                <a:t>Tᵢ</a:t>
              </a:r>
            </a:p>
          </p:txBody>
        </p:sp>
      </p:grpSp>
      <p:grpSp>
        <p:nvGrpSpPr>
          <p:cNvPr name="Group 30" id="30"/>
          <p:cNvGrpSpPr/>
          <p:nvPr/>
        </p:nvGrpSpPr>
        <p:grpSpPr>
          <a:xfrm rot="0">
            <a:off x="2159508" y="3764280"/>
            <a:ext cx="1016508" cy="865632"/>
            <a:chOff x="0" y="0"/>
            <a:chExt cx="1355344" cy="1154176"/>
          </a:xfrm>
        </p:grpSpPr>
        <p:sp>
          <p:nvSpPr>
            <p:cNvPr name="Freeform 31" id="31"/>
            <p:cNvSpPr/>
            <p:nvPr/>
          </p:nvSpPr>
          <p:spPr>
            <a:xfrm flipH="false" flipV="false" rot="0">
              <a:off x="0" y="0"/>
              <a:ext cx="1355344" cy="1154176"/>
            </a:xfrm>
            <a:custGeom>
              <a:avLst/>
              <a:gdLst/>
              <a:ahLst/>
              <a:cxnLst/>
              <a:rect r="r" b="b" t="t" l="l"/>
              <a:pathLst>
                <a:path h="1154176" w="1355344">
                  <a:moveTo>
                    <a:pt x="0" y="55880"/>
                  </a:moveTo>
                  <a:cubicBezTo>
                    <a:pt x="0" y="25019"/>
                    <a:pt x="25019" y="0"/>
                    <a:pt x="55880" y="0"/>
                  </a:cubicBezTo>
                  <a:lnTo>
                    <a:pt x="1299464" y="0"/>
                  </a:lnTo>
                  <a:cubicBezTo>
                    <a:pt x="1330325" y="0"/>
                    <a:pt x="1355344" y="25019"/>
                    <a:pt x="1355344" y="55880"/>
                  </a:cubicBezTo>
                  <a:lnTo>
                    <a:pt x="1355344" y="1098296"/>
                  </a:lnTo>
                  <a:cubicBezTo>
                    <a:pt x="1355344" y="1129157"/>
                    <a:pt x="1330325" y="1154176"/>
                    <a:pt x="1299464" y="1154176"/>
                  </a:cubicBezTo>
                  <a:lnTo>
                    <a:pt x="55880" y="1154176"/>
                  </a:lnTo>
                  <a:cubicBezTo>
                    <a:pt x="25019" y="1154176"/>
                    <a:pt x="0" y="1129157"/>
                    <a:pt x="0" y="1098296"/>
                  </a:cubicBezTo>
                  <a:close/>
                </a:path>
              </a:pathLst>
            </a:custGeom>
            <a:solidFill>
              <a:srgbClr val="10253B"/>
            </a:solidFill>
            <a:ln w="15240" cap="sq">
              <a:solidFill>
                <a:srgbClr val="76E2A1"/>
              </a:solidFill>
              <a:prstDash val="solid"/>
              <a:miter/>
            </a:ln>
          </p:spPr>
        </p:sp>
      </p:grpSp>
      <p:grpSp>
        <p:nvGrpSpPr>
          <p:cNvPr name="Group 32" id="32"/>
          <p:cNvGrpSpPr/>
          <p:nvPr/>
        </p:nvGrpSpPr>
        <p:grpSpPr>
          <a:xfrm rot="0">
            <a:off x="2167128" y="4018788"/>
            <a:ext cx="1001268" cy="219456"/>
            <a:chOff x="0" y="0"/>
            <a:chExt cx="1335024" cy="292608"/>
          </a:xfrm>
        </p:grpSpPr>
        <p:sp>
          <p:nvSpPr>
            <p:cNvPr name="Freeform 33" id="33"/>
            <p:cNvSpPr/>
            <p:nvPr/>
          </p:nvSpPr>
          <p:spPr>
            <a:xfrm flipH="false" flipV="false" rot="0">
              <a:off x="0" y="0"/>
              <a:ext cx="1335024" cy="292608"/>
            </a:xfrm>
            <a:custGeom>
              <a:avLst/>
              <a:gdLst/>
              <a:ahLst/>
              <a:cxnLst/>
              <a:rect r="r" b="b" t="t" l="l"/>
              <a:pathLst>
                <a:path h="292608" w="1335024">
                  <a:moveTo>
                    <a:pt x="0" y="0"/>
                  </a:moveTo>
                  <a:lnTo>
                    <a:pt x="1335024" y="0"/>
                  </a:lnTo>
                  <a:lnTo>
                    <a:pt x="1335024" y="292608"/>
                  </a:lnTo>
                  <a:lnTo>
                    <a:pt x="0" y="292608"/>
                  </a:lnTo>
                  <a:close/>
                </a:path>
              </a:pathLst>
            </a:custGeom>
            <a:blipFill>
              <a:blip r:embed="rId3">
                <a:alphaModFix amt="0"/>
              </a:blip>
              <a:stretch>
                <a:fillRect l="0" t="-38900" r="0" b="-38900"/>
              </a:stretch>
            </a:blipFill>
          </p:spPr>
        </p:sp>
        <p:sp>
          <p:nvSpPr>
            <p:cNvPr name="TextBox 34" id="34"/>
            <p:cNvSpPr txBox="true"/>
            <p:nvPr/>
          </p:nvSpPr>
          <p:spPr>
            <a:xfrm>
              <a:off x="0" y="0"/>
              <a:ext cx="1335024" cy="292608"/>
            </a:xfrm>
            <a:prstGeom prst="rect">
              <a:avLst/>
            </a:prstGeom>
          </p:spPr>
          <p:txBody>
            <a:bodyPr anchor="ctr" rtlCol="false" tIns="0" lIns="0" bIns="0" rIns="0"/>
            <a:lstStyle/>
            <a:p>
              <a:pPr algn="ctr">
                <a:lnSpc>
                  <a:spcPts val="1980"/>
                </a:lnSpc>
              </a:pPr>
              <a:r>
                <a:rPr lang="en-US" sz="1650" b="true">
                  <a:solidFill>
                    <a:srgbClr val="76E2A1"/>
                  </a:solidFill>
                  <a:latin typeface="Aptos Bold"/>
                  <a:ea typeface="Aptos Bold"/>
                  <a:cs typeface="Aptos Bold"/>
                  <a:sym typeface="Aptos Bold"/>
                </a:rPr>
                <a:t>Tᵢ</a:t>
              </a:r>
            </a:p>
          </p:txBody>
        </p:sp>
      </p:grpSp>
      <p:grpSp>
        <p:nvGrpSpPr>
          <p:cNvPr name="Group 35" id="35"/>
          <p:cNvGrpSpPr/>
          <p:nvPr/>
        </p:nvGrpSpPr>
        <p:grpSpPr>
          <a:xfrm rot="0">
            <a:off x="3339084" y="3764280"/>
            <a:ext cx="1016508" cy="865632"/>
            <a:chOff x="0" y="0"/>
            <a:chExt cx="1355344" cy="1154176"/>
          </a:xfrm>
        </p:grpSpPr>
        <p:sp>
          <p:nvSpPr>
            <p:cNvPr name="Freeform 36" id="36"/>
            <p:cNvSpPr/>
            <p:nvPr/>
          </p:nvSpPr>
          <p:spPr>
            <a:xfrm flipH="false" flipV="false" rot="0">
              <a:off x="0" y="0"/>
              <a:ext cx="1355344" cy="1154176"/>
            </a:xfrm>
            <a:custGeom>
              <a:avLst/>
              <a:gdLst/>
              <a:ahLst/>
              <a:cxnLst/>
              <a:rect r="r" b="b" t="t" l="l"/>
              <a:pathLst>
                <a:path h="1154176" w="1355344">
                  <a:moveTo>
                    <a:pt x="0" y="55880"/>
                  </a:moveTo>
                  <a:cubicBezTo>
                    <a:pt x="0" y="25019"/>
                    <a:pt x="25019" y="0"/>
                    <a:pt x="55880" y="0"/>
                  </a:cubicBezTo>
                  <a:lnTo>
                    <a:pt x="1299464" y="0"/>
                  </a:lnTo>
                  <a:cubicBezTo>
                    <a:pt x="1330325" y="0"/>
                    <a:pt x="1355344" y="25019"/>
                    <a:pt x="1355344" y="55880"/>
                  </a:cubicBezTo>
                  <a:lnTo>
                    <a:pt x="1355344" y="1098296"/>
                  </a:lnTo>
                  <a:cubicBezTo>
                    <a:pt x="1355344" y="1129157"/>
                    <a:pt x="1330325" y="1154176"/>
                    <a:pt x="1299464" y="1154176"/>
                  </a:cubicBezTo>
                  <a:lnTo>
                    <a:pt x="55880" y="1154176"/>
                  </a:lnTo>
                  <a:cubicBezTo>
                    <a:pt x="25019" y="1154176"/>
                    <a:pt x="0" y="1129157"/>
                    <a:pt x="0" y="1098296"/>
                  </a:cubicBezTo>
                  <a:close/>
                </a:path>
              </a:pathLst>
            </a:custGeom>
            <a:solidFill>
              <a:srgbClr val="10253B"/>
            </a:solidFill>
            <a:ln w="15240" cap="sq">
              <a:solidFill>
                <a:srgbClr val="76E2A1"/>
              </a:solidFill>
              <a:prstDash val="solid"/>
              <a:miter/>
            </a:ln>
          </p:spPr>
        </p:sp>
      </p:grpSp>
      <p:grpSp>
        <p:nvGrpSpPr>
          <p:cNvPr name="Group 37" id="37"/>
          <p:cNvGrpSpPr/>
          <p:nvPr/>
        </p:nvGrpSpPr>
        <p:grpSpPr>
          <a:xfrm rot="0">
            <a:off x="3346704" y="4018788"/>
            <a:ext cx="1001268" cy="219456"/>
            <a:chOff x="0" y="0"/>
            <a:chExt cx="1335024" cy="292608"/>
          </a:xfrm>
        </p:grpSpPr>
        <p:sp>
          <p:nvSpPr>
            <p:cNvPr name="Freeform 38" id="38"/>
            <p:cNvSpPr/>
            <p:nvPr/>
          </p:nvSpPr>
          <p:spPr>
            <a:xfrm flipH="false" flipV="false" rot="0">
              <a:off x="0" y="0"/>
              <a:ext cx="1335024" cy="292608"/>
            </a:xfrm>
            <a:custGeom>
              <a:avLst/>
              <a:gdLst/>
              <a:ahLst/>
              <a:cxnLst/>
              <a:rect r="r" b="b" t="t" l="l"/>
              <a:pathLst>
                <a:path h="292608" w="1335024">
                  <a:moveTo>
                    <a:pt x="0" y="0"/>
                  </a:moveTo>
                  <a:lnTo>
                    <a:pt x="1335024" y="0"/>
                  </a:lnTo>
                  <a:lnTo>
                    <a:pt x="1335024" y="292608"/>
                  </a:lnTo>
                  <a:lnTo>
                    <a:pt x="0" y="292608"/>
                  </a:lnTo>
                  <a:close/>
                </a:path>
              </a:pathLst>
            </a:custGeom>
            <a:blipFill>
              <a:blip r:embed="rId3">
                <a:alphaModFix amt="0"/>
              </a:blip>
              <a:stretch>
                <a:fillRect l="0" t="-38900" r="0" b="-38900"/>
              </a:stretch>
            </a:blipFill>
          </p:spPr>
        </p:sp>
        <p:sp>
          <p:nvSpPr>
            <p:cNvPr name="TextBox 39" id="39"/>
            <p:cNvSpPr txBox="true"/>
            <p:nvPr/>
          </p:nvSpPr>
          <p:spPr>
            <a:xfrm>
              <a:off x="0" y="0"/>
              <a:ext cx="1335024" cy="292608"/>
            </a:xfrm>
            <a:prstGeom prst="rect">
              <a:avLst/>
            </a:prstGeom>
          </p:spPr>
          <p:txBody>
            <a:bodyPr anchor="ctr" rtlCol="false" tIns="0" lIns="0" bIns="0" rIns="0"/>
            <a:lstStyle/>
            <a:p>
              <a:pPr algn="ctr">
                <a:lnSpc>
                  <a:spcPts val="1980"/>
                </a:lnSpc>
              </a:pPr>
              <a:r>
                <a:rPr lang="en-US" sz="1650" b="true">
                  <a:solidFill>
                    <a:srgbClr val="76E2A1"/>
                  </a:solidFill>
                  <a:latin typeface="Aptos Bold"/>
                  <a:ea typeface="Aptos Bold"/>
                  <a:cs typeface="Aptos Bold"/>
                  <a:sym typeface="Aptos Bold"/>
                </a:rPr>
                <a:t>Tᵢ</a:t>
              </a:r>
            </a:p>
          </p:txBody>
        </p:sp>
      </p:grpSp>
      <p:grpSp>
        <p:nvGrpSpPr>
          <p:cNvPr name="Group 40" id="40"/>
          <p:cNvGrpSpPr/>
          <p:nvPr/>
        </p:nvGrpSpPr>
        <p:grpSpPr>
          <a:xfrm rot="0">
            <a:off x="4518660" y="3764280"/>
            <a:ext cx="1016508" cy="865632"/>
            <a:chOff x="0" y="0"/>
            <a:chExt cx="1355344" cy="1154176"/>
          </a:xfrm>
        </p:grpSpPr>
        <p:sp>
          <p:nvSpPr>
            <p:cNvPr name="Freeform 41" id="41"/>
            <p:cNvSpPr/>
            <p:nvPr/>
          </p:nvSpPr>
          <p:spPr>
            <a:xfrm flipH="false" flipV="false" rot="0">
              <a:off x="0" y="0"/>
              <a:ext cx="1355344" cy="1154176"/>
            </a:xfrm>
            <a:custGeom>
              <a:avLst/>
              <a:gdLst/>
              <a:ahLst/>
              <a:cxnLst/>
              <a:rect r="r" b="b" t="t" l="l"/>
              <a:pathLst>
                <a:path h="1154176" w="1355344">
                  <a:moveTo>
                    <a:pt x="0" y="55880"/>
                  </a:moveTo>
                  <a:cubicBezTo>
                    <a:pt x="0" y="25019"/>
                    <a:pt x="25019" y="0"/>
                    <a:pt x="55880" y="0"/>
                  </a:cubicBezTo>
                  <a:lnTo>
                    <a:pt x="1299464" y="0"/>
                  </a:lnTo>
                  <a:cubicBezTo>
                    <a:pt x="1330325" y="0"/>
                    <a:pt x="1355344" y="25019"/>
                    <a:pt x="1355344" y="55880"/>
                  </a:cubicBezTo>
                  <a:lnTo>
                    <a:pt x="1355344" y="1098296"/>
                  </a:lnTo>
                  <a:cubicBezTo>
                    <a:pt x="1355344" y="1129157"/>
                    <a:pt x="1330325" y="1154176"/>
                    <a:pt x="1299464" y="1154176"/>
                  </a:cubicBezTo>
                  <a:lnTo>
                    <a:pt x="55880" y="1154176"/>
                  </a:lnTo>
                  <a:cubicBezTo>
                    <a:pt x="25019" y="1154176"/>
                    <a:pt x="0" y="1129157"/>
                    <a:pt x="0" y="1098296"/>
                  </a:cubicBezTo>
                  <a:close/>
                </a:path>
              </a:pathLst>
            </a:custGeom>
            <a:solidFill>
              <a:srgbClr val="10253B"/>
            </a:solidFill>
            <a:ln w="15240" cap="sq">
              <a:solidFill>
                <a:srgbClr val="76E2A1"/>
              </a:solidFill>
              <a:prstDash val="solid"/>
              <a:miter/>
            </a:ln>
          </p:spPr>
        </p:sp>
      </p:grpSp>
      <p:grpSp>
        <p:nvGrpSpPr>
          <p:cNvPr name="Group 42" id="42"/>
          <p:cNvGrpSpPr/>
          <p:nvPr/>
        </p:nvGrpSpPr>
        <p:grpSpPr>
          <a:xfrm rot="0">
            <a:off x="4526280" y="4018788"/>
            <a:ext cx="1001268" cy="219456"/>
            <a:chOff x="0" y="0"/>
            <a:chExt cx="1335024" cy="292608"/>
          </a:xfrm>
        </p:grpSpPr>
        <p:sp>
          <p:nvSpPr>
            <p:cNvPr name="Freeform 43" id="43"/>
            <p:cNvSpPr/>
            <p:nvPr/>
          </p:nvSpPr>
          <p:spPr>
            <a:xfrm flipH="false" flipV="false" rot="0">
              <a:off x="0" y="0"/>
              <a:ext cx="1335024" cy="292608"/>
            </a:xfrm>
            <a:custGeom>
              <a:avLst/>
              <a:gdLst/>
              <a:ahLst/>
              <a:cxnLst/>
              <a:rect r="r" b="b" t="t" l="l"/>
              <a:pathLst>
                <a:path h="292608" w="1335024">
                  <a:moveTo>
                    <a:pt x="0" y="0"/>
                  </a:moveTo>
                  <a:lnTo>
                    <a:pt x="1335024" y="0"/>
                  </a:lnTo>
                  <a:lnTo>
                    <a:pt x="1335024" y="292608"/>
                  </a:lnTo>
                  <a:lnTo>
                    <a:pt x="0" y="292608"/>
                  </a:lnTo>
                  <a:close/>
                </a:path>
              </a:pathLst>
            </a:custGeom>
            <a:blipFill>
              <a:blip r:embed="rId3">
                <a:alphaModFix amt="0"/>
              </a:blip>
              <a:stretch>
                <a:fillRect l="0" t="-38900" r="0" b="-38900"/>
              </a:stretch>
            </a:blipFill>
          </p:spPr>
        </p:sp>
        <p:sp>
          <p:nvSpPr>
            <p:cNvPr name="TextBox 44" id="44"/>
            <p:cNvSpPr txBox="true"/>
            <p:nvPr/>
          </p:nvSpPr>
          <p:spPr>
            <a:xfrm>
              <a:off x="0" y="0"/>
              <a:ext cx="1335024" cy="292608"/>
            </a:xfrm>
            <a:prstGeom prst="rect">
              <a:avLst/>
            </a:prstGeom>
          </p:spPr>
          <p:txBody>
            <a:bodyPr anchor="ctr" rtlCol="false" tIns="0" lIns="0" bIns="0" rIns="0"/>
            <a:lstStyle/>
            <a:p>
              <a:pPr algn="ctr">
                <a:lnSpc>
                  <a:spcPts val="1980"/>
                </a:lnSpc>
              </a:pPr>
              <a:r>
                <a:rPr lang="en-US" sz="1650" b="true">
                  <a:solidFill>
                    <a:srgbClr val="76E2A1"/>
                  </a:solidFill>
                  <a:latin typeface="Aptos Bold"/>
                  <a:ea typeface="Aptos Bold"/>
                  <a:cs typeface="Aptos Bold"/>
                  <a:sym typeface="Aptos Bold"/>
                </a:rPr>
                <a:t>Tᵢ</a:t>
              </a:r>
            </a:p>
          </p:txBody>
        </p:sp>
      </p:grpSp>
      <p:grpSp>
        <p:nvGrpSpPr>
          <p:cNvPr name="Group 45" id="45"/>
          <p:cNvGrpSpPr/>
          <p:nvPr/>
        </p:nvGrpSpPr>
        <p:grpSpPr>
          <a:xfrm rot="0">
            <a:off x="5698236" y="3764280"/>
            <a:ext cx="1016508" cy="865632"/>
            <a:chOff x="0" y="0"/>
            <a:chExt cx="1355344" cy="1154176"/>
          </a:xfrm>
        </p:grpSpPr>
        <p:sp>
          <p:nvSpPr>
            <p:cNvPr name="Freeform 46" id="46"/>
            <p:cNvSpPr/>
            <p:nvPr/>
          </p:nvSpPr>
          <p:spPr>
            <a:xfrm flipH="false" flipV="false" rot="0">
              <a:off x="0" y="0"/>
              <a:ext cx="1355344" cy="1154176"/>
            </a:xfrm>
            <a:custGeom>
              <a:avLst/>
              <a:gdLst/>
              <a:ahLst/>
              <a:cxnLst/>
              <a:rect r="r" b="b" t="t" l="l"/>
              <a:pathLst>
                <a:path h="1154176" w="1355344">
                  <a:moveTo>
                    <a:pt x="0" y="55880"/>
                  </a:moveTo>
                  <a:cubicBezTo>
                    <a:pt x="0" y="25019"/>
                    <a:pt x="25019" y="0"/>
                    <a:pt x="55880" y="0"/>
                  </a:cubicBezTo>
                  <a:lnTo>
                    <a:pt x="1299464" y="0"/>
                  </a:lnTo>
                  <a:cubicBezTo>
                    <a:pt x="1330325" y="0"/>
                    <a:pt x="1355344" y="25019"/>
                    <a:pt x="1355344" y="55880"/>
                  </a:cubicBezTo>
                  <a:lnTo>
                    <a:pt x="1355344" y="1098296"/>
                  </a:lnTo>
                  <a:cubicBezTo>
                    <a:pt x="1355344" y="1129157"/>
                    <a:pt x="1330325" y="1154176"/>
                    <a:pt x="1299464" y="1154176"/>
                  </a:cubicBezTo>
                  <a:lnTo>
                    <a:pt x="55880" y="1154176"/>
                  </a:lnTo>
                  <a:cubicBezTo>
                    <a:pt x="25019" y="1154176"/>
                    <a:pt x="0" y="1129157"/>
                    <a:pt x="0" y="1098296"/>
                  </a:cubicBezTo>
                  <a:close/>
                </a:path>
              </a:pathLst>
            </a:custGeom>
            <a:solidFill>
              <a:srgbClr val="10253B"/>
            </a:solidFill>
            <a:ln w="15240" cap="sq">
              <a:solidFill>
                <a:srgbClr val="76E2A1"/>
              </a:solidFill>
              <a:prstDash val="solid"/>
              <a:miter/>
            </a:ln>
          </p:spPr>
        </p:sp>
      </p:grpSp>
      <p:grpSp>
        <p:nvGrpSpPr>
          <p:cNvPr name="Group 47" id="47"/>
          <p:cNvGrpSpPr/>
          <p:nvPr/>
        </p:nvGrpSpPr>
        <p:grpSpPr>
          <a:xfrm rot="0">
            <a:off x="5705856" y="4018788"/>
            <a:ext cx="1001268" cy="219456"/>
            <a:chOff x="0" y="0"/>
            <a:chExt cx="1335024" cy="292608"/>
          </a:xfrm>
        </p:grpSpPr>
        <p:sp>
          <p:nvSpPr>
            <p:cNvPr name="Freeform 48" id="48"/>
            <p:cNvSpPr/>
            <p:nvPr/>
          </p:nvSpPr>
          <p:spPr>
            <a:xfrm flipH="false" flipV="false" rot="0">
              <a:off x="0" y="0"/>
              <a:ext cx="1335024" cy="292608"/>
            </a:xfrm>
            <a:custGeom>
              <a:avLst/>
              <a:gdLst/>
              <a:ahLst/>
              <a:cxnLst/>
              <a:rect r="r" b="b" t="t" l="l"/>
              <a:pathLst>
                <a:path h="292608" w="1335024">
                  <a:moveTo>
                    <a:pt x="0" y="0"/>
                  </a:moveTo>
                  <a:lnTo>
                    <a:pt x="1335024" y="0"/>
                  </a:lnTo>
                  <a:lnTo>
                    <a:pt x="1335024" y="292608"/>
                  </a:lnTo>
                  <a:lnTo>
                    <a:pt x="0" y="292608"/>
                  </a:lnTo>
                  <a:close/>
                </a:path>
              </a:pathLst>
            </a:custGeom>
            <a:blipFill>
              <a:blip r:embed="rId3">
                <a:alphaModFix amt="0"/>
              </a:blip>
              <a:stretch>
                <a:fillRect l="0" t="-38900" r="0" b="-38900"/>
              </a:stretch>
            </a:blipFill>
          </p:spPr>
        </p:sp>
        <p:sp>
          <p:nvSpPr>
            <p:cNvPr name="TextBox 49" id="49"/>
            <p:cNvSpPr txBox="true"/>
            <p:nvPr/>
          </p:nvSpPr>
          <p:spPr>
            <a:xfrm>
              <a:off x="0" y="0"/>
              <a:ext cx="1335024" cy="292608"/>
            </a:xfrm>
            <a:prstGeom prst="rect">
              <a:avLst/>
            </a:prstGeom>
          </p:spPr>
          <p:txBody>
            <a:bodyPr anchor="ctr" rtlCol="false" tIns="0" lIns="0" bIns="0" rIns="0"/>
            <a:lstStyle/>
            <a:p>
              <a:pPr algn="ctr">
                <a:lnSpc>
                  <a:spcPts val="1980"/>
                </a:lnSpc>
              </a:pPr>
              <a:r>
                <a:rPr lang="en-US" sz="1650" b="true">
                  <a:solidFill>
                    <a:srgbClr val="76E2A1"/>
                  </a:solidFill>
                  <a:latin typeface="Aptos Bold"/>
                  <a:ea typeface="Aptos Bold"/>
                  <a:cs typeface="Aptos Bold"/>
                  <a:sym typeface="Aptos Bold"/>
                </a:rPr>
                <a:t>Tᵢ</a:t>
              </a:r>
            </a:p>
          </p:txBody>
        </p:sp>
      </p:grpSp>
      <p:grpSp>
        <p:nvGrpSpPr>
          <p:cNvPr name="Group 50" id="50"/>
          <p:cNvGrpSpPr/>
          <p:nvPr/>
        </p:nvGrpSpPr>
        <p:grpSpPr>
          <a:xfrm rot="0">
            <a:off x="979932" y="4943856"/>
            <a:ext cx="1016508" cy="865632"/>
            <a:chOff x="0" y="0"/>
            <a:chExt cx="1355344" cy="1154176"/>
          </a:xfrm>
        </p:grpSpPr>
        <p:sp>
          <p:nvSpPr>
            <p:cNvPr name="Freeform 51" id="51"/>
            <p:cNvSpPr/>
            <p:nvPr/>
          </p:nvSpPr>
          <p:spPr>
            <a:xfrm flipH="false" flipV="false" rot="0">
              <a:off x="0" y="0"/>
              <a:ext cx="1355344" cy="1154176"/>
            </a:xfrm>
            <a:custGeom>
              <a:avLst/>
              <a:gdLst/>
              <a:ahLst/>
              <a:cxnLst/>
              <a:rect r="r" b="b" t="t" l="l"/>
              <a:pathLst>
                <a:path h="1154176" w="1355344">
                  <a:moveTo>
                    <a:pt x="0" y="55880"/>
                  </a:moveTo>
                  <a:cubicBezTo>
                    <a:pt x="0" y="25019"/>
                    <a:pt x="25019" y="0"/>
                    <a:pt x="55880" y="0"/>
                  </a:cubicBezTo>
                  <a:lnTo>
                    <a:pt x="1299464" y="0"/>
                  </a:lnTo>
                  <a:cubicBezTo>
                    <a:pt x="1330325" y="0"/>
                    <a:pt x="1355344" y="25019"/>
                    <a:pt x="1355344" y="55880"/>
                  </a:cubicBezTo>
                  <a:lnTo>
                    <a:pt x="1355344" y="1098296"/>
                  </a:lnTo>
                  <a:cubicBezTo>
                    <a:pt x="1355344" y="1129157"/>
                    <a:pt x="1330325" y="1154176"/>
                    <a:pt x="1299464" y="1154176"/>
                  </a:cubicBezTo>
                  <a:lnTo>
                    <a:pt x="55880" y="1154176"/>
                  </a:lnTo>
                  <a:cubicBezTo>
                    <a:pt x="25019" y="1154176"/>
                    <a:pt x="0" y="1129157"/>
                    <a:pt x="0" y="1098296"/>
                  </a:cubicBezTo>
                  <a:close/>
                </a:path>
              </a:pathLst>
            </a:custGeom>
            <a:solidFill>
              <a:srgbClr val="10253B"/>
            </a:solidFill>
            <a:ln w="15240" cap="sq">
              <a:solidFill>
                <a:srgbClr val="76E2A1"/>
              </a:solidFill>
              <a:prstDash val="solid"/>
              <a:miter/>
            </a:ln>
          </p:spPr>
        </p:sp>
      </p:grpSp>
      <p:grpSp>
        <p:nvGrpSpPr>
          <p:cNvPr name="Group 52" id="52"/>
          <p:cNvGrpSpPr/>
          <p:nvPr/>
        </p:nvGrpSpPr>
        <p:grpSpPr>
          <a:xfrm rot="0">
            <a:off x="987552" y="5198364"/>
            <a:ext cx="1001268" cy="219456"/>
            <a:chOff x="0" y="0"/>
            <a:chExt cx="1335024" cy="292608"/>
          </a:xfrm>
        </p:grpSpPr>
        <p:sp>
          <p:nvSpPr>
            <p:cNvPr name="Freeform 53" id="53"/>
            <p:cNvSpPr/>
            <p:nvPr/>
          </p:nvSpPr>
          <p:spPr>
            <a:xfrm flipH="false" flipV="false" rot="0">
              <a:off x="0" y="0"/>
              <a:ext cx="1335024" cy="292608"/>
            </a:xfrm>
            <a:custGeom>
              <a:avLst/>
              <a:gdLst/>
              <a:ahLst/>
              <a:cxnLst/>
              <a:rect r="r" b="b" t="t" l="l"/>
              <a:pathLst>
                <a:path h="292608" w="1335024">
                  <a:moveTo>
                    <a:pt x="0" y="0"/>
                  </a:moveTo>
                  <a:lnTo>
                    <a:pt x="1335024" y="0"/>
                  </a:lnTo>
                  <a:lnTo>
                    <a:pt x="1335024" y="292608"/>
                  </a:lnTo>
                  <a:lnTo>
                    <a:pt x="0" y="292608"/>
                  </a:lnTo>
                  <a:close/>
                </a:path>
              </a:pathLst>
            </a:custGeom>
            <a:blipFill>
              <a:blip r:embed="rId3">
                <a:alphaModFix amt="0"/>
              </a:blip>
              <a:stretch>
                <a:fillRect l="0" t="-38900" r="0" b="-38900"/>
              </a:stretch>
            </a:blipFill>
          </p:spPr>
        </p:sp>
        <p:sp>
          <p:nvSpPr>
            <p:cNvPr name="TextBox 54" id="54"/>
            <p:cNvSpPr txBox="true"/>
            <p:nvPr/>
          </p:nvSpPr>
          <p:spPr>
            <a:xfrm>
              <a:off x="0" y="0"/>
              <a:ext cx="1335024" cy="292608"/>
            </a:xfrm>
            <a:prstGeom prst="rect">
              <a:avLst/>
            </a:prstGeom>
          </p:spPr>
          <p:txBody>
            <a:bodyPr anchor="ctr" rtlCol="false" tIns="0" lIns="0" bIns="0" rIns="0"/>
            <a:lstStyle/>
            <a:p>
              <a:pPr algn="ctr">
                <a:lnSpc>
                  <a:spcPts val="1980"/>
                </a:lnSpc>
              </a:pPr>
              <a:r>
                <a:rPr lang="en-US" sz="1650" b="true">
                  <a:solidFill>
                    <a:srgbClr val="76E2A1"/>
                  </a:solidFill>
                  <a:latin typeface="Aptos Bold"/>
                  <a:ea typeface="Aptos Bold"/>
                  <a:cs typeface="Aptos Bold"/>
                  <a:sym typeface="Aptos Bold"/>
                </a:rPr>
                <a:t>Tᵢ</a:t>
              </a:r>
            </a:p>
          </p:txBody>
        </p:sp>
      </p:grpSp>
      <p:grpSp>
        <p:nvGrpSpPr>
          <p:cNvPr name="Group 55" id="55"/>
          <p:cNvGrpSpPr/>
          <p:nvPr/>
        </p:nvGrpSpPr>
        <p:grpSpPr>
          <a:xfrm rot="0">
            <a:off x="2159508" y="4943856"/>
            <a:ext cx="1016508" cy="865632"/>
            <a:chOff x="0" y="0"/>
            <a:chExt cx="1355344" cy="1154176"/>
          </a:xfrm>
        </p:grpSpPr>
        <p:sp>
          <p:nvSpPr>
            <p:cNvPr name="Freeform 56" id="56"/>
            <p:cNvSpPr/>
            <p:nvPr/>
          </p:nvSpPr>
          <p:spPr>
            <a:xfrm flipH="false" flipV="false" rot="0">
              <a:off x="0" y="0"/>
              <a:ext cx="1355344" cy="1154176"/>
            </a:xfrm>
            <a:custGeom>
              <a:avLst/>
              <a:gdLst/>
              <a:ahLst/>
              <a:cxnLst/>
              <a:rect r="r" b="b" t="t" l="l"/>
              <a:pathLst>
                <a:path h="1154176" w="1355344">
                  <a:moveTo>
                    <a:pt x="0" y="55880"/>
                  </a:moveTo>
                  <a:cubicBezTo>
                    <a:pt x="0" y="25019"/>
                    <a:pt x="25019" y="0"/>
                    <a:pt x="55880" y="0"/>
                  </a:cubicBezTo>
                  <a:lnTo>
                    <a:pt x="1299464" y="0"/>
                  </a:lnTo>
                  <a:cubicBezTo>
                    <a:pt x="1330325" y="0"/>
                    <a:pt x="1355344" y="25019"/>
                    <a:pt x="1355344" y="55880"/>
                  </a:cubicBezTo>
                  <a:lnTo>
                    <a:pt x="1355344" y="1098296"/>
                  </a:lnTo>
                  <a:cubicBezTo>
                    <a:pt x="1355344" y="1129157"/>
                    <a:pt x="1330325" y="1154176"/>
                    <a:pt x="1299464" y="1154176"/>
                  </a:cubicBezTo>
                  <a:lnTo>
                    <a:pt x="55880" y="1154176"/>
                  </a:lnTo>
                  <a:cubicBezTo>
                    <a:pt x="25019" y="1154176"/>
                    <a:pt x="0" y="1129157"/>
                    <a:pt x="0" y="1098296"/>
                  </a:cubicBezTo>
                  <a:close/>
                </a:path>
              </a:pathLst>
            </a:custGeom>
            <a:solidFill>
              <a:srgbClr val="0B1B2E"/>
            </a:solidFill>
            <a:ln w="15240" cap="sq">
              <a:solidFill>
                <a:srgbClr val="1D3850"/>
              </a:solidFill>
              <a:prstDash val="solid"/>
              <a:miter/>
            </a:ln>
          </p:spPr>
        </p:sp>
      </p:grpSp>
      <p:grpSp>
        <p:nvGrpSpPr>
          <p:cNvPr name="Group 57" id="57"/>
          <p:cNvGrpSpPr/>
          <p:nvPr/>
        </p:nvGrpSpPr>
        <p:grpSpPr>
          <a:xfrm rot="0">
            <a:off x="2167128" y="5198364"/>
            <a:ext cx="1001268" cy="219456"/>
            <a:chOff x="0" y="0"/>
            <a:chExt cx="1335024" cy="292608"/>
          </a:xfrm>
        </p:grpSpPr>
        <p:sp>
          <p:nvSpPr>
            <p:cNvPr name="Freeform 58" id="58"/>
            <p:cNvSpPr/>
            <p:nvPr/>
          </p:nvSpPr>
          <p:spPr>
            <a:xfrm flipH="false" flipV="false" rot="0">
              <a:off x="0" y="0"/>
              <a:ext cx="1335024" cy="292608"/>
            </a:xfrm>
            <a:custGeom>
              <a:avLst/>
              <a:gdLst/>
              <a:ahLst/>
              <a:cxnLst/>
              <a:rect r="r" b="b" t="t" l="l"/>
              <a:pathLst>
                <a:path h="292608" w="1335024">
                  <a:moveTo>
                    <a:pt x="0" y="0"/>
                  </a:moveTo>
                  <a:lnTo>
                    <a:pt x="1335024" y="0"/>
                  </a:lnTo>
                  <a:lnTo>
                    <a:pt x="1335024" y="292608"/>
                  </a:lnTo>
                  <a:lnTo>
                    <a:pt x="0" y="292608"/>
                  </a:lnTo>
                  <a:close/>
                </a:path>
              </a:pathLst>
            </a:custGeom>
            <a:blipFill>
              <a:blip r:embed="rId3">
                <a:alphaModFix amt="0"/>
              </a:blip>
              <a:stretch>
                <a:fillRect l="0" t="-38900" r="0" b="-38900"/>
              </a:stretch>
            </a:blipFill>
          </p:spPr>
        </p:sp>
        <p:sp>
          <p:nvSpPr>
            <p:cNvPr name="TextBox 59" id="59"/>
            <p:cNvSpPr txBox="true"/>
            <p:nvPr/>
          </p:nvSpPr>
          <p:spPr>
            <a:xfrm>
              <a:off x="0" y="0"/>
              <a:ext cx="1335024" cy="292608"/>
            </a:xfrm>
            <a:prstGeom prst="rect">
              <a:avLst/>
            </a:prstGeom>
          </p:spPr>
          <p:txBody>
            <a:bodyPr anchor="ctr" rtlCol="false" tIns="0" lIns="0" bIns="0" rIns="0"/>
            <a:lstStyle/>
            <a:p>
              <a:pPr algn="ctr">
                <a:lnSpc>
                  <a:spcPts val="1980"/>
                </a:lnSpc>
              </a:pPr>
              <a:r>
                <a:rPr lang="en-US" sz="1650" b="true">
                  <a:solidFill>
                    <a:srgbClr val="9BAFC2"/>
                  </a:solidFill>
                  <a:latin typeface="Aptos Bold"/>
                  <a:ea typeface="Aptos Bold"/>
                  <a:cs typeface="Aptos Bold"/>
                  <a:sym typeface="Aptos Bold"/>
                </a:rPr>
                <a:t>—</a:t>
              </a:r>
            </a:p>
          </p:txBody>
        </p:sp>
      </p:grpSp>
      <p:grpSp>
        <p:nvGrpSpPr>
          <p:cNvPr name="Group 60" id="60"/>
          <p:cNvGrpSpPr/>
          <p:nvPr/>
        </p:nvGrpSpPr>
        <p:grpSpPr>
          <a:xfrm rot="0">
            <a:off x="3339084" y="4943856"/>
            <a:ext cx="1016508" cy="865632"/>
            <a:chOff x="0" y="0"/>
            <a:chExt cx="1355344" cy="1154176"/>
          </a:xfrm>
        </p:grpSpPr>
        <p:sp>
          <p:nvSpPr>
            <p:cNvPr name="Freeform 61" id="61"/>
            <p:cNvSpPr/>
            <p:nvPr/>
          </p:nvSpPr>
          <p:spPr>
            <a:xfrm flipH="false" flipV="false" rot="0">
              <a:off x="0" y="0"/>
              <a:ext cx="1355344" cy="1154176"/>
            </a:xfrm>
            <a:custGeom>
              <a:avLst/>
              <a:gdLst/>
              <a:ahLst/>
              <a:cxnLst/>
              <a:rect r="r" b="b" t="t" l="l"/>
              <a:pathLst>
                <a:path h="1154176" w="1355344">
                  <a:moveTo>
                    <a:pt x="0" y="55880"/>
                  </a:moveTo>
                  <a:cubicBezTo>
                    <a:pt x="0" y="25019"/>
                    <a:pt x="25019" y="0"/>
                    <a:pt x="55880" y="0"/>
                  </a:cubicBezTo>
                  <a:lnTo>
                    <a:pt x="1299464" y="0"/>
                  </a:lnTo>
                  <a:cubicBezTo>
                    <a:pt x="1330325" y="0"/>
                    <a:pt x="1355344" y="25019"/>
                    <a:pt x="1355344" y="55880"/>
                  </a:cubicBezTo>
                  <a:lnTo>
                    <a:pt x="1355344" y="1098296"/>
                  </a:lnTo>
                  <a:cubicBezTo>
                    <a:pt x="1355344" y="1129157"/>
                    <a:pt x="1330325" y="1154176"/>
                    <a:pt x="1299464" y="1154176"/>
                  </a:cubicBezTo>
                  <a:lnTo>
                    <a:pt x="55880" y="1154176"/>
                  </a:lnTo>
                  <a:cubicBezTo>
                    <a:pt x="25019" y="1154176"/>
                    <a:pt x="0" y="1129157"/>
                    <a:pt x="0" y="1098296"/>
                  </a:cubicBezTo>
                  <a:close/>
                </a:path>
              </a:pathLst>
            </a:custGeom>
            <a:solidFill>
              <a:srgbClr val="0B1B2E"/>
            </a:solidFill>
            <a:ln w="15240" cap="sq">
              <a:solidFill>
                <a:srgbClr val="1D3850"/>
              </a:solidFill>
              <a:prstDash val="solid"/>
              <a:miter/>
            </a:ln>
          </p:spPr>
        </p:sp>
      </p:grpSp>
      <p:grpSp>
        <p:nvGrpSpPr>
          <p:cNvPr name="Group 62" id="62"/>
          <p:cNvGrpSpPr/>
          <p:nvPr/>
        </p:nvGrpSpPr>
        <p:grpSpPr>
          <a:xfrm rot="0">
            <a:off x="3346704" y="5198364"/>
            <a:ext cx="1001268" cy="219456"/>
            <a:chOff x="0" y="0"/>
            <a:chExt cx="1335024" cy="292608"/>
          </a:xfrm>
        </p:grpSpPr>
        <p:sp>
          <p:nvSpPr>
            <p:cNvPr name="Freeform 63" id="63"/>
            <p:cNvSpPr/>
            <p:nvPr/>
          </p:nvSpPr>
          <p:spPr>
            <a:xfrm flipH="false" flipV="false" rot="0">
              <a:off x="0" y="0"/>
              <a:ext cx="1335024" cy="292608"/>
            </a:xfrm>
            <a:custGeom>
              <a:avLst/>
              <a:gdLst/>
              <a:ahLst/>
              <a:cxnLst/>
              <a:rect r="r" b="b" t="t" l="l"/>
              <a:pathLst>
                <a:path h="292608" w="1335024">
                  <a:moveTo>
                    <a:pt x="0" y="0"/>
                  </a:moveTo>
                  <a:lnTo>
                    <a:pt x="1335024" y="0"/>
                  </a:lnTo>
                  <a:lnTo>
                    <a:pt x="1335024" y="292608"/>
                  </a:lnTo>
                  <a:lnTo>
                    <a:pt x="0" y="292608"/>
                  </a:lnTo>
                  <a:close/>
                </a:path>
              </a:pathLst>
            </a:custGeom>
            <a:blipFill>
              <a:blip r:embed="rId3">
                <a:alphaModFix amt="0"/>
              </a:blip>
              <a:stretch>
                <a:fillRect l="0" t="-38900" r="0" b="-38900"/>
              </a:stretch>
            </a:blipFill>
          </p:spPr>
        </p:sp>
        <p:sp>
          <p:nvSpPr>
            <p:cNvPr name="TextBox 64" id="64"/>
            <p:cNvSpPr txBox="true"/>
            <p:nvPr/>
          </p:nvSpPr>
          <p:spPr>
            <a:xfrm>
              <a:off x="0" y="0"/>
              <a:ext cx="1335024" cy="292608"/>
            </a:xfrm>
            <a:prstGeom prst="rect">
              <a:avLst/>
            </a:prstGeom>
          </p:spPr>
          <p:txBody>
            <a:bodyPr anchor="ctr" rtlCol="false" tIns="0" lIns="0" bIns="0" rIns="0"/>
            <a:lstStyle/>
            <a:p>
              <a:pPr algn="ctr">
                <a:lnSpc>
                  <a:spcPts val="1980"/>
                </a:lnSpc>
              </a:pPr>
              <a:r>
                <a:rPr lang="en-US" sz="1650" b="true">
                  <a:solidFill>
                    <a:srgbClr val="9BAFC2"/>
                  </a:solidFill>
                  <a:latin typeface="Aptos Bold"/>
                  <a:ea typeface="Aptos Bold"/>
                  <a:cs typeface="Aptos Bold"/>
                  <a:sym typeface="Aptos Bold"/>
                </a:rPr>
                <a:t>—</a:t>
              </a:r>
            </a:p>
          </p:txBody>
        </p:sp>
      </p:grpSp>
      <p:grpSp>
        <p:nvGrpSpPr>
          <p:cNvPr name="Group 65" id="65"/>
          <p:cNvGrpSpPr/>
          <p:nvPr/>
        </p:nvGrpSpPr>
        <p:grpSpPr>
          <a:xfrm rot="0">
            <a:off x="4518660" y="4943856"/>
            <a:ext cx="1016508" cy="865632"/>
            <a:chOff x="0" y="0"/>
            <a:chExt cx="1355344" cy="1154176"/>
          </a:xfrm>
        </p:grpSpPr>
        <p:sp>
          <p:nvSpPr>
            <p:cNvPr name="Freeform 66" id="66"/>
            <p:cNvSpPr/>
            <p:nvPr/>
          </p:nvSpPr>
          <p:spPr>
            <a:xfrm flipH="false" flipV="false" rot="0">
              <a:off x="0" y="0"/>
              <a:ext cx="1355344" cy="1154176"/>
            </a:xfrm>
            <a:custGeom>
              <a:avLst/>
              <a:gdLst/>
              <a:ahLst/>
              <a:cxnLst/>
              <a:rect r="r" b="b" t="t" l="l"/>
              <a:pathLst>
                <a:path h="1154176" w="1355344">
                  <a:moveTo>
                    <a:pt x="0" y="55880"/>
                  </a:moveTo>
                  <a:cubicBezTo>
                    <a:pt x="0" y="25019"/>
                    <a:pt x="25019" y="0"/>
                    <a:pt x="55880" y="0"/>
                  </a:cubicBezTo>
                  <a:lnTo>
                    <a:pt x="1299464" y="0"/>
                  </a:lnTo>
                  <a:cubicBezTo>
                    <a:pt x="1330325" y="0"/>
                    <a:pt x="1355344" y="25019"/>
                    <a:pt x="1355344" y="55880"/>
                  </a:cubicBezTo>
                  <a:lnTo>
                    <a:pt x="1355344" y="1098296"/>
                  </a:lnTo>
                  <a:cubicBezTo>
                    <a:pt x="1355344" y="1129157"/>
                    <a:pt x="1330325" y="1154176"/>
                    <a:pt x="1299464" y="1154176"/>
                  </a:cubicBezTo>
                  <a:lnTo>
                    <a:pt x="55880" y="1154176"/>
                  </a:lnTo>
                  <a:cubicBezTo>
                    <a:pt x="25019" y="1154176"/>
                    <a:pt x="0" y="1129157"/>
                    <a:pt x="0" y="1098296"/>
                  </a:cubicBezTo>
                  <a:close/>
                </a:path>
              </a:pathLst>
            </a:custGeom>
            <a:solidFill>
              <a:srgbClr val="0B1B2E"/>
            </a:solidFill>
            <a:ln w="15240" cap="sq">
              <a:solidFill>
                <a:srgbClr val="1D3850"/>
              </a:solidFill>
              <a:prstDash val="solid"/>
              <a:miter/>
            </a:ln>
          </p:spPr>
        </p:sp>
      </p:grpSp>
      <p:grpSp>
        <p:nvGrpSpPr>
          <p:cNvPr name="Group 67" id="67"/>
          <p:cNvGrpSpPr/>
          <p:nvPr/>
        </p:nvGrpSpPr>
        <p:grpSpPr>
          <a:xfrm rot="0">
            <a:off x="4526280" y="5198364"/>
            <a:ext cx="1001268" cy="219456"/>
            <a:chOff x="0" y="0"/>
            <a:chExt cx="1335024" cy="292608"/>
          </a:xfrm>
        </p:grpSpPr>
        <p:sp>
          <p:nvSpPr>
            <p:cNvPr name="Freeform 68" id="68"/>
            <p:cNvSpPr/>
            <p:nvPr/>
          </p:nvSpPr>
          <p:spPr>
            <a:xfrm flipH="false" flipV="false" rot="0">
              <a:off x="0" y="0"/>
              <a:ext cx="1335024" cy="292608"/>
            </a:xfrm>
            <a:custGeom>
              <a:avLst/>
              <a:gdLst/>
              <a:ahLst/>
              <a:cxnLst/>
              <a:rect r="r" b="b" t="t" l="l"/>
              <a:pathLst>
                <a:path h="292608" w="1335024">
                  <a:moveTo>
                    <a:pt x="0" y="0"/>
                  </a:moveTo>
                  <a:lnTo>
                    <a:pt x="1335024" y="0"/>
                  </a:lnTo>
                  <a:lnTo>
                    <a:pt x="1335024" y="292608"/>
                  </a:lnTo>
                  <a:lnTo>
                    <a:pt x="0" y="292608"/>
                  </a:lnTo>
                  <a:close/>
                </a:path>
              </a:pathLst>
            </a:custGeom>
            <a:blipFill>
              <a:blip r:embed="rId3">
                <a:alphaModFix amt="0"/>
              </a:blip>
              <a:stretch>
                <a:fillRect l="0" t="-38900" r="0" b="-38900"/>
              </a:stretch>
            </a:blipFill>
          </p:spPr>
        </p:sp>
        <p:sp>
          <p:nvSpPr>
            <p:cNvPr name="TextBox 69" id="69"/>
            <p:cNvSpPr txBox="true"/>
            <p:nvPr/>
          </p:nvSpPr>
          <p:spPr>
            <a:xfrm>
              <a:off x="0" y="0"/>
              <a:ext cx="1335024" cy="292608"/>
            </a:xfrm>
            <a:prstGeom prst="rect">
              <a:avLst/>
            </a:prstGeom>
          </p:spPr>
          <p:txBody>
            <a:bodyPr anchor="ctr" rtlCol="false" tIns="0" lIns="0" bIns="0" rIns="0"/>
            <a:lstStyle/>
            <a:p>
              <a:pPr algn="ctr">
                <a:lnSpc>
                  <a:spcPts val="1980"/>
                </a:lnSpc>
              </a:pPr>
              <a:r>
                <a:rPr lang="en-US" sz="1650" b="true">
                  <a:solidFill>
                    <a:srgbClr val="9BAFC2"/>
                  </a:solidFill>
                  <a:latin typeface="Aptos Bold"/>
                  <a:ea typeface="Aptos Bold"/>
                  <a:cs typeface="Aptos Bold"/>
                  <a:sym typeface="Aptos Bold"/>
                </a:rPr>
                <a:t>—</a:t>
              </a:r>
            </a:p>
          </p:txBody>
        </p:sp>
      </p:grpSp>
      <p:grpSp>
        <p:nvGrpSpPr>
          <p:cNvPr name="Group 70" id="70"/>
          <p:cNvGrpSpPr/>
          <p:nvPr/>
        </p:nvGrpSpPr>
        <p:grpSpPr>
          <a:xfrm rot="0">
            <a:off x="5698236" y="4943856"/>
            <a:ext cx="1016508" cy="865632"/>
            <a:chOff x="0" y="0"/>
            <a:chExt cx="1355344" cy="1154176"/>
          </a:xfrm>
        </p:grpSpPr>
        <p:sp>
          <p:nvSpPr>
            <p:cNvPr name="Freeform 71" id="71"/>
            <p:cNvSpPr/>
            <p:nvPr/>
          </p:nvSpPr>
          <p:spPr>
            <a:xfrm flipH="false" flipV="false" rot="0">
              <a:off x="0" y="0"/>
              <a:ext cx="1355344" cy="1154176"/>
            </a:xfrm>
            <a:custGeom>
              <a:avLst/>
              <a:gdLst/>
              <a:ahLst/>
              <a:cxnLst/>
              <a:rect r="r" b="b" t="t" l="l"/>
              <a:pathLst>
                <a:path h="1154176" w="1355344">
                  <a:moveTo>
                    <a:pt x="0" y="55880"/>
                  </a:moveTo>
                  <a:cubicBezTo>
                    <a:pt x="0" y="25019"/>
                    <a:pt x="25019" y="0"/>
                    <a:pt x="55880" y="0"/>
                  </a:cubicBezTo>
                  <a:lnTo>
                    <a:pt x="1299464" y="0"/>
                  </a:lnTo>
                  <a:cubicBezTo>
                    <a:pt x="1330325" y="0"/>
                    <a:pt x="1355344" y="25019"/>
                    <a:pt x="1355344" y="55880"/>
                  </a:cubicBezTo>
                  <a:lnTo>
                    <a:pt x="1355344" y="1098296"/>
                  </a:lnTo>
                  <a:cubicBezTo>
                    <a:pt x="1355344" y="1129157"/>
                    <a:pt x="1330325" y="1154176"/>
                    <a:pt x="1299464" y="1154176"/>
                  </a:cubicBezTo>
                  <a:lnTo>
                    <a:pt x="55880" y="1154176"/>
                  </a:lnTo>
                  <a:cubicBezTo>
                    <a:pt x="25019" y="1154176"/>
                    <a:pt x="0" y="1129157"/>
                    <a:pt x="0" y="1098296"/>
                  </a:cubicBezTo>
                  <a:close/>
                </a:path>
              </a:pathLst>
            </a:custGeom>
            <a:solidFill>
              <a:srgbClr val="0B1B2E"/>
            </a:solidFill>
            <a:ln w="15240" cap="sq">
              <a:solidFill>
                <a:srgbClr val="1D3850"/>
              </a:solidFill>
              <a:prstDash val="solid"/>
              <a:miter/>
            </a:ln>
          </p:spPr>
        </p:sp>
      </p:grpSp>
      <p:grpSp>
        <p:nvGrpSpPr>
          <p:cNvPr name="Group 72" id="72"/>
          <p:cNvGrpSpPr/>
          <p:nvPr/>
        </p:nvGrpSpPr>
        <p:grpSpPr>
          <a:xfrm rot="0">
            <a:off x="5705856" y="5198364"/>
            <a:ext cx="1001268" cy="219456"/>
            <a:chOff x="0" y="0"/>
            <a:chExt cx="1335024" cy="292608"/>
          </a:xfrm>
        </p:grpSpPr>
        <p:sp>
          <p:nvSpPr>
            <p:cNvPr name="Freeform 73" id="73"/>
            <p:cNvSpPr/>
            <p:nvPr/>
          </p:nvSpPr>
          <p:spPr>
            <a:xfrm flipH="false" flipV="false" rot="0">
              <a:off x="0" y="0"/>
              <a:ext cx="1335024" cy="292608"/>
            </a:xfrm>
            <a:custGeom>
              <a:avLst/>
              <a:gdLst/>
              <a:ahLst/>
              <a:cxnLst/>
              <a:rect r="r" b="b" t="t" l="l"/>
              <a:pathLst>
                <a:path h="292608" w="1335024">
                  <a:moveTo>
                    <a:pt x="0" y="0"/>
                  </a:moveTo>
                  <a:lnTo>
                    <a:pt x="1335024" y="0"/>
                  </a:lnTo>
                  <a:lnTo>
                    <a:pt x="1335024" y="292608"/>
                  </a:lnTo>
                  <a:lnTo>
                    <a:pt x="0" y="292608"/>
                  </a:lnTo>
                  <a:close/>
                </a:path>
              </a:pathLst>
            </a:custGeom>
            <a:blipFill>
              <a:blip r:embed="rId3">
                <a:alphaModFix amt="0"/>
              </a:blip>
              <a:stretch>
                <a:fillRect l="0" t="-38900" r="0" b="-38900"/>
              </a:stretch>
            </a:blipFill>
          </p:spPr>
        </p:sp>
        <p:sp>
          <p:nvSpPr>
            <p:cNvPr name="TextBox 74" id="74"/>
            <p:cNvSpPr txBox="true"/>
            <p:nvPr/>
          </p:nvSpPr>
          <p:spPr>
            <a:xfrm>
              <a:off x="0" y="0"/>
              <a:ext cx="1335024" cy="292608"/>
            </a:xfrm>
            <a:prstGeom prst="rect">
              <a:avLst/>
            </a:prstGeom>
          </p:spPr>
          <p:txBody>
            <a:bodyPr anchor="ctr" rtlCol="false" tIns="0" lIns="0" bIns="0" rIns="0"/>
            <a:lstStyle/>
            <a:p>
              <a:pPr algn="ctr">
                <a:lnSpc>
                  <a:spcPts val="1980"/>
                </a:lnSpc>
              </a:pPr>
              <a:r>
                <a:rPr lang="en-US" sz="1650" b="true">
                  <a:solidFill>
                    <a:srgbClr val="9BAFC2"/>
                  </a:solidFill>
                  <a:latin typeface="Aptos Bold"/>
                  <a:ea typeface="Aptos Bold"/>
                  <a:cs typeface="Aptos Bold"/>
                  <a:sym typeface="Aptos Bold"/>
                </a:rPr>
                <a:t>—</a:t>
              </a:r>
            </a:p>
          </p:txBody>
        </p:sp>
      </p:grpSp>
      <p:grpSp>
        <p:nvGrpSpPr>
          <p:cNvPr name="Group 75" id="75"/>
          <p:cNvGrpSpPr/>
          <p:nvPr/>
        </p:nvGrpSpPr>
        <p:grpSpPr>
          <a:xfrm rot="0">
            <a:off x="1298563" y="6076188"/>
            <a:ext cx="3220097" cy="426720"/>
            <a:chOff x="0" y="0"/>
            <a:chExt cx="4293463" cy="568960"/>
          </a:xfrm>
        </p:grpSpPr>
        <p:sp>
          <p:nvSpPr>
            <p:cNvPr name="Freeform 76" id="76"/>
            <p:cNvSpPr/>
            <p:nvPr/>
          </p:nvSpPr>
          <p:spPr>
            <a:xfrm flipH="false" flipV="false" rot="0">
              <a:off x="0" y="0"/>
              <a:ext cx="4293463" cy="568960"/>
            </a:xfrm>
            <a:custGeom>
              <a:avLst/>
              <a:gdLst/>
              <a:ahLst/>
              <a:cxnLst/>
              <a:rect r="r" b="b" t="t" l="l"/>
              <a:pathLst>
                <a:path h="568960" w="4293463">
                  <a:moveTo>
                    <a:pt x="0" y="113792"/>
                  </a:moveTo>
                  <a:cubicBezTo>
                    <a:pt x="0" y="50927"/>
                    <a:pt x="69066" y="0"/>
                    <a:pt x="154322" y="0"/>
                  </a:cubicBezTo>
                  <a:lnTo>
                    <a:pt x="4139141" y="0"/>
                  </a:lnTo>
                  <a:cubicBezTo>
                    <a:pt x="4224397" y="0"/>
                    <a:pt x="4293463" y="50927"/>
                    <a:pt x="4293463" y="113792"/>
                  </a:cubicBezTo>
                  <a:lnTo>
                    <a:pt x="4293463" y="455168"/>
                  </a:lnTo>
                  <a:cubicBezTo>
                    <a:pt x="4293463" y="518033"/>
                    <a:pt x="4224397" y="568960"/>
                    <a:pt x="4139141" y="568960"/>
                  </a:cubicBezTo>
                  <a:lnTo>
                    <a:pt x="154322" y="568960"/>
                  </a:lnTo>
                  <a:cubicBezTo>
                    <a:pt x="69066" y="568960"/>
                    <a:pt x="0" y="518033"/>
                    <a:pt x="0" y="455168"/>
                  </a:cubicBezTo>
                  <a:close/>
                </a:path>
              </a:pathLst>
            </a:custGeom>
            <a:solidFill>
              <a:srgbClr val="F6C85F">
                <a:alpha val="3137"/>
              </a:srgbClr>
            </a:solidFill>
            <a:ln w="15240" cap="sq">
              <a:solidFill>
                <a:srgbClr val="F6C85F"/>
              </a:solidFill>
              <a:prstDash val="solid"/>
              <a:miter/>
            </a:ln>
          </p:spPr>
        </p:sp>
      </p:grpSp>
      <p:grpSp>
        <p:nvGrpSpPr>
          <p:cNvPr name="Group 77" id="77"/>
          <p:cNvGrpSpPr/>
          <p:nvPr/>
        </p:nvGrpSpPr>
        <p:grpSpPr>
          <a:xfrm rot="0">
            <a:off x="1440856" y="6133338"/>
            <a:ext cx="2935511" cy="313887"/>
            <a:chOff x="0" y="0"/>
            <a:chExt cx="4480560" cy="479096"/>
          </a:xfrm>
        </p:grpSpPr>
        <p:sp>
          <p:nvSpPr>
            <p:cNvPr name="Freeform 78" id="78"/>
            <p:cNvSpPr/>
            <p:nvPr/>
          </p:nvSpPr>
          <p:spPr>
            <a:xfrm flipH="false" flipV="false" rot="0">
              <a:off x="0" y="0"/>
              <a:ext cx="4480560" cy="479096"/>
            </a:xfrm>
            <a:custGeom>
              <a:avLst/>
              <a:gdLst/>
              <a:ahLst/>
              <a:cxnLst/>
              <a:rect r="r" b="b" t="t" l="l"/>
              <a:pathLst>
                <a:path h="479096" w="4480560">
                  <a:moveTo>
                    <a:pt x="0" y="0"/>
                  </a:moveTo>
                  <a:lnTo>
                    <a:pt x="4480560" y="0"/>
                  </a:lnTo>
                  <a:lnTo>
                    <a:pt x="4480560" y="479096"/>
                  </a:lnTo>
                  <a:lnTo>
                    <a:pt x="0" y="479096"/>
                  </a:lnTo>
                  <a:close/>
                </a:path>
              </a:pathLst>
            </a:custGeom>
            <a:blipFill>
              <a:blip r:embed="rId3">
                <a:alphaModFix amt="0"/>
              </a:blip>
              <a:stretch>
                <a:fillRect l="0" t="-103118" r="29795" b="-52742"/>
              </a:stretch>
            </a:blipFill>
          </p:spPr>
        </p:sp>
        <p:sp>
          <p:nvSpPr>
            <p:cNvPr name="TextBox 79" id="79"/>
            <p:cNvSpPr txBox="true"/>
            <p:nvPr/>
          </p:nvSpPr>
          <p:spPr>
            <a:xfrm>
              <a:off x="0" y="0"/>
              <a:ext cx="4480560" cy="479096"/>
            </a:xfrm>
            <a:prstGeom prst="rect">
              <a:avLst/>
            </a:prstGeom>
          </p:spPr>
          <p:txBody>
            <a:bodyPr anchor="ctr" rtlCol="false" tIns="0" lIns="0" bIns="0" rIns="0"/>
            <a:lstStyle/>
            <a:p>
              <a:pPr algn="ctr">
                <a:lnSpc>
                  <a:spcPts val="1439"/>
                </a:lnSpc>
              </a:pPr>
              <a:r>
                <a:rPr lang="en-US" sz="1200" b="true">
                  <a:solidFill>
                    <a:srgbClr val="F6C85F"/>
                  </a:solidFill>
                  <a:latin typeface="Aptos Bold"/>
                  <a:ea typeface="Aptos Bold"/>
                  <a:cs typeface="Aptos Bold"/>
                  <a:sym typeface="Aptos Bold"/>
                </a:rPr>
                <a:t>Preserves Original UNIX Epoch T</a:t>
              </a:r>
              <a:r>
                <a:rPr lang="en-US" sz="1200" b="true">
                  <a:solidFill>
                    <a:srgbClr val="F6C85F"/>
                  </a:solidFill>
                  <a:latin typeface="Aptos Bold"/>
                  <a:ea typeface="Aptos Bold"/>
                  <a:cs typeface="Aptos Bold"/>
                  <a:sym typeface="Aptos Bold"/>
                </a:rPr>
                <a:t>imestamp</a:t>
              </a:r>
            </a:p>
          </p:txBody>
        </p:sp>
      </p:grpSp>
      <p:sp>
        <p:nvSpPr>
          <p:cNvPr name="AutoShape 80" id="80"/>
          <p:cNvSpPr/>
          <p:nvPr/>
        </p:nvSpPr>
        <p:spPr>
          <a:xfrm>
            <a:off x="5179539" y="4757043"/>
            <a:ext cx="1615438" cy="38098"/>
          </a:xfrm>
          <a:prstGeom prst="line">
            <a:avLst/>
          </a:prstGeom>
          <a:ln cap="rnd" w="19050">
            <a:solidFill>
              <a:srgbClr val="FF5E78"/>
            </a:solidFill>
            <a:prstDash val="solid"/>
            <a:headEnd type="none" len="sm" w="sm"/>
            <a:tailEnd type="triangle" len="med" w="lg"/>
          </a:ln>
        </p:spPr>
      </p:sp>
      <p:grpSp>
        <p:nvGrpSpPr>
          <p:cNvPr name="Group 81" id="81"/>
          <p:cNvGrpSpPr/>
          <p:nvPr/>
        </p:nvGrpSpPr>
        <p:grpSpPr>
          <a:xfrm rot="0">
            <a:off x="6795202" y="4018788"/>
            <a:ext cx="3107055" cy="1735455"/>
            <a:chOff x="0" y="0"/>
            <a:chExt cx="4142740" cy="2313940"/>
          </a:xfrm>
        </p:grpSpPr>
        <p:sp>
          <p:nvSpPr>
            <p:cNvPr name="Freeform 82" id="82"/>
            <p:cNvSpPr/>
            <p:nvPr/>
          </p:nvSpPr>
          <p:spPr>
            <a:xfrm flipH="false" flipV="false" rot="0">
              <a:off x="0" y="0"/>
              <a:ext cx="4142740" cy="2313940"/>
            </a:xfrm>
            <a:custGeom>
              <a:avLst/>
              <a:gdLst/>
              <a:ahLst/>
              <a:cxnLst/>
              <a:rect r="r" b="b" t="t" l="l"/>
              <a:pathLst>
                <a:path h="2313940" w="4142740">
                  <a:moveTo>
                    <a:pt x="0" y="148082"/>
                  </a:moveTo>
                  <a:cubicBezTo>
                    <a:pt x="0" y="66294"/>
                    <a:pt x="66294" y="0"/>
                    <a:pt x="148082" y="0"/>
                  </a:cubicBezTo>
                  <a:lnTo>
                    <a:pt x="3994658" y="0"/>
                  </a:lnTo>
                  <a:cubicBezTo>
                    <a:pt x="4076446" y="0"/>
                    <a:pt x="4142740" y="66294"/>
                    <a:pt x="4142740" y="148082"/>
                  </a:cubicBezTo>
                  <a:lnTo>
                    <a:pt x="4142740" y="2165858"/>
                  </a:lnTo>
                  <a:cubicBezTo>
                    <a:pt x="4142740" y="2247646"/>
                    <a:pt x="4076446" y="2313940"/>
                    <a:pt x="3994658" y="2313940"/>
                  </a:cubicBezTo>
                  <a:lnTo>
                    <a:pt x="148082" y="2313940"/>
                  </a:lnTo>
                  <a:cubicBezTo>
                    <a:pt x="66294" y="2313940"/>
                    <a:pt x="0" y="2247646"/>
                    <a:pt x="0" y="2165858"/>
                  </a:cubicBezTo>
                  <a:close/>
                </a:path>
              </a:pathLst>
            </a:custGeom>
            <a:solidFill>
              <a:srgbClr val="10253B"/>
            </a:solidFill>
            <a:ln w="20955" cap="sq">
              <a:solidFill>
                <a:srgbClr val="FF5E78"/>
              </a:solidFill>
              <a:prstDash val="solid"/>
              <a:miter/>
            </a:ln>
          </p:spPr>
        </p:sp>
      </p:grpSp>
      <p:grpSp>
        <p:nvGrpSpPr>
          <p:cNvPr name="Group 83" id="83"/>
          <p:cNvGrpSpPr/>
          <p:nvPr/>
        </p:nvGrpSpPr>
        <p:grpSpPr>
          <a:xfrm rot="0">
            <a:off x="6970271" y="4221290"/>
            <a:ext cx="2756916" cy="329184"/>
            <a:chOff x="0" y="0"/>
            <a:chExt cx="3675888" cy="438912"/>
          </a:xfrm>
        </p:grpSpPr>
        <p:sp>
          <p:nvSpPr>
            <p:cNvPr name="Freeform 84" id="84"/>
            <p:cNvSpPr/>
            <p:nvPr/>
          </p:nvSpPr>
          <p:spPr>
            <a:xfrm flipH="false" flipV="false" rot="0">
              <a:off x="0" y="0"/>
              <a:ext cx="3675888" cy="438912"/>
            </a:xfrm>
            <a:custGeom>
              <a:avLst/>
              <a:gdLst/>
              <a:ahLst/>
              <a:cxnLst/>
              <a:rect r="r" b="b" t="t" l="l"/>
              <a:pathLst>
                <a:path h="438912" w="3675888">
                  <a:moveTo>
                    <a:pt x="0" y="0"/>
                  </a:moveTo>
                  <a:lnTo>
                    <a:pt x="3675888" y="0"/>
                  </a:lnTo>
                  <a:lnTo>
                    <a:pt x="3675888" y="438912"/>
                  </a:lnTo>
                  <a:lnTo>
                    <a:pt x="0" y="438912"/>
                  </a:lnTo>
                  <a:close/>
                </a:path>
              </a:pathLst>
            </a:custGeom>
            <a:blipFill>
              <a:blip r:embed="rId3">
                <a:alphaModFix amt="0"/>
              </a:blip>
              <a:stretch>
                <a:fillRect l="0" t="-113187" r="0" b="-113187"/>
              </a:stretch>
            </a:blipFill>
          </p:spPr>
        </p:sp>
        <p:sp>
          <p:nvSpPr>
            <p:cNvPr name="TextBox 85" id="85"/>
            <p:cNvSpPr txBox="true"/>
            <p:nvPr/>
          </p:nvSpPr>
          <p:spPr>
            <a:xfrm>
              <a:off x="0" y="0"/>
              <a:ext cx="367588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OFFLINE</a:t>
              </a:r>
            </a:p>
          </p:txBody>
        </p:sp>
      </p:grpSp>
      <p:grpSp>
        <p:nvGrpSpPr>
          <p:cNvPr name="Group 86" id="86"/>
          <p:cNvGrpSpPr/>
          <p:nvPr/>
        </p:nvGrpSpPr>
        <p:grpSpPr>
          <a:xfrm rot="0">
            <a:off x="6860353" y="4660201"/>
            <a:ext cx="3009652" cy="973836"/>
            <a:chOff x="0" y="0"/>
            <a:chExt cx="4012870" cy="1298448"/>
          </a:xfrm>
        </p:grpSpPr>
        <p:sp>
          <p:nvSpPr>
            <p:cNvPr name="Freeform 87" id="87"/>
            <p:cNvSpPr/>
            <p:nvPr/>
          </p:nvSpPr>
          <p:spPr>
            <a:xfrm flipH="false" flipV="false" rot="0">
              <a:off x="0" y="0"/>
              <a:ext cx="4012870" cy="1298448"/>
            </a:xfrm>
            <a:custGeom>
              <a:avLst/>
              <a:gdLst/>
              <a:ahLst/>
              <a:cxnLst/>
              <a:rect r="r" b="b" t="t" l="l"/>
              <a:pathLst>
                <a:path h="1298448" w="4012870">
                  <a:moveTo>
                    <a:pt x="0" y="0"/>
                  </a:moveTo>
                  <a:lnTo>
                    <a:pt x="4012870" y="0"/>
                  </a:lnTo>
                  <a:lnTo>
                    <a:pt x="4012870" y="1298448"/>
                  </a:lnTo>
                  <a:lnTo>
                    <a:pt x="0" y="1298448"/>
                  </a:lnTo>
                  <a:close/>
                </a:path>
              </a:pathLst>
            </a:custGeom>
            <a:blipFill>
              <a:blip r:embed="rId3">
                <a:alphaModFix amt="0"/>
              </a:blip>
              <a:stretch>
                <a:fillRect l="0" t="-5161" r="8397" b="-5161"/>
              </a:stretch>
            </a:blipFill>
          </p:spPr>
        </p:sp>
        <p:sp>
          <p:nvSpPr>
            <p:cNvPr name="TextBox 88" id="88"/>
            <p:cNvSpPr txBox="true"/>
            <p:nvPr/>
          </p:nvSpPr>
          <p:spPr>
            <a:xfrm>
              <a:off x="0" y="-9525"/>
              <a:ext cx="4012870" cy="130797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buffer_push() -&gt; Push telemetry into RAM</a:t>
              </a:r>
            </a:p>
          </p:txBody>
        </p:sp>
      </p:grpSp>
      <p:sp>
        <p:nvSpPr>
          <p:cNvPr name="AutoShape 89" id="89"/>
          <p:cNvSpPr/>
          <p:nvPr/>
        </p:nvSpPr>
        <p:spPr>
          <a:xfrm>
            <a:off x="10037319" y="4833180"/>
            <a:ext cx="1478285" cy="38091"/>
          </a:xfrm>
          <a:prstGeom prst="line">
            <a:avLst/>
          </a:prstGeom>
          <a:ln cap="rnd" w="19050">
            <a:solidFill>
              <a:srgbClr val="76E2A1"/>
            </a:solidFill>
            <a:prstDash val="solid"/>
            <a:headEnd type="none" len="sm" w="sm"/>
            <a:tailEnd type="triangle" len="med" w="lg"/>
          </a:ln>
        </p:spPr>
      </p:sp>
      <p:grpSp>
        <p:nvGrpSpPr>
          <p:cNvPr name="Group 90" id="90"/>
          <p:cNvGrpSpPr/>
          <p:nvPr/>
        </p:nvGrpSpPr>
        <p:grpSpPr>
          <a:xfrm rot="0">
            <a:off x="11568370" y="4018788"/>
            <a:ext cx="3107055" cy="1735455"/>
            <a:chOff x="0" y="0"/>
            <a:chExt cx="4142740" cy="2313940"/>
          </a:xfrm>
        </p:grpSpPr>
        <p:sp>
          <p:nvSpPr>
            <p:cNvPr name="Freeform 91" id="91"/>
            <p:cNvSpPr/>
            <p:nvPr/>
          </p:nvSpPr>
          <p:spPr>
            <a:xfrm flipH="false" flipV="false" rot="0">
              <a:off x="0" y="0"/>
              <a:ext cx="4142740" cy="2313940"/>
            </a:xfrm>
            <a:custGeom>
              <a:avLst/>
              <a:gdLst/>
              <a:ahLst/>
              <a:cxnLst/>
              <a:rect r="r" b="b" t="t" l="l"/>
              <a:pathLst>
                <a:path h="2313940" w="4142740">
                  <a:moveTo>
                    <a:pt x="0" y="148082"/>
                  </a:moveTo>
                  <a:cubicBezTo>
                    <a:pt x="0" y="66294"/>
                    <a:pt x="66294" y="0"/>
                    <a:pt x="148082" y="0"/>
                  </a:cubicBezTo>
                  <a:lnTo>
                    <a:pt x="3994658" y="0"/>
                  </a:lnTo>
                  <a:cubicBezTo>
                    <a:pt x="4076446" y="0"/>
                    <a:pt x="4142740" y="66294"/>
                    <a:pt x="4142740" y="148082"/>
                  </a:cubicBezTo>
                  <a:lnTo>
                    <a:pt x="4142740" y="2165858"/>
                  </a:lnTo>
                  <a:cubicBezTo>
                    <a:pt x="4142740" y="2247646"/>
                    <a:pt x="4076446" y="2313940"/>
                    <a:pt x="3994658" y="2313940"/>
                  </a:cubicBezTo>
                  <a:lnTo>
                    <a:pt x="148082" y="2313940"/>
                  </a:lnTo>
                  <a:cubicBezTo>
                    <a:pt x="66294" y="2313940"/>
                    <a:pt x="0" y="2247646"/>
                    <a:pt x="0" y="2165858"/>
                  </a:cubicBezTo>
                  <a:close/>
                </a:path>
              </a:pathLst>
            </a:custGeom>
            <a:solidFill>
              <a:srgbClr val="10253B"/>
            </a:solidFill>
            <a:ln w="20955" cap="sq">
              <a:solidFill>
                <a:srgbClr val="76E2A1"/>
              </a:solidFill>
              <a:prstDash val="solid"/>
              <a:miter/>
            </a:ln>
          </p:spPr>
        </p:sp>
      </p:grpSp>
      <p:grpSp>
        <p:nvGrpSpPr>
          <p:cNvPr name="Group 92" id="92"/>
          <p:cNvGrpSpPr/>
          <p:nvPr/>
        </p:nvGrpSpPr>
        <p:grpSpPr>
          <a:xfrm rot="0">
            <a:off x="11743439" y="4221290"/>
            <a:ext cx="2756916" cy="367466"/>
            <a:chOff x="0" y="0"/>
            <a:chExt cx="3675888" cy="489955"/>
          </a:xfrm>
        </p:grpSpPr>
        <p:sp>
          <p:nvSpPr>
            <p:cNvPr name="Freeform 93" id="93"/>
            <p:cNvSpPr/>
            <p:nvPr/>
          </p:nvSpPr>
          <p:spPr>
            <a:xfrm flipH="false" flipV="false" rot="0">
              <a:off x="0" y="0"/>
              <a:ext cx="3675888" cy="489955"/>
            </a:xfrm>
            <a:custGeom>
              <a:avLst/>
              <a:gdLst/>
              <a:ahLst/>
              <a:cxnLst/>
              <a:rect r="r" b="b" t="t" l="l"/>
              <a:pathLst>
                <a:path h="489955" w="3675888">
                  <a:moveTo>
                    <a:pt x="0" y="0"/>
                  </a:moveTo>
                  <a:lnTo>
                    <a:pt x="3675888" y="0"/>
                  </a:lnTo>
                  <a:lnTo>
                    <a:pt x="3675888" y="489955"/>
                  </a:lnTo>
                  <a:lnTo>
                    <a:pt x="0" y="489955"/>
                  </a:lnTo>
                  <a:close/>
                </a:path>
              </a:pathLst>
            </a:custGeom>
            <a:blipFill>
              <a:blip r:embed="rId3">
                <a:alphaModFix amt="0"/>
              </a:blip>
              <a:stretch>
                <a:fillRect l="0" t="-101395" r="0" b="-90977"/>
              </a:stretch>
            </a:blipFill>
          </p:spPr>
        </p:sp>
        <p:sp>
          <p:nvSpPr>
            <p:cNvPr name="TextBox 94" id="94"/>
            <p:cNvSpPr txBox="true"/>
            <p:nvPr/>
          </p:nvSpPr>
          <p:spPr>
            <a:xfrm>
              <a:off x="0" y="0"/>
              <a:ext cx="3675888" cy="489955"/>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RECOVERY (ONLINE)</a:t>
              </a:r>
            </a:p>
          </p:txBody>
        </p:sp>
      </p:grpSp>
      <p:grpSp>
        <p:nvGrpSpPr>
          <p:cNvPr name="Group 95" id="95"/>
          <p:cNvGrpSpPr/>
          <p:nvPr/>
        </p:nvGrpSpPr>
        <p:grpSpPr>
          <a:xfrm rot="0">
            <a:off x="11743439" y="4660202"/>
            <a:ext cx="2756916" cy="973836"/>
            <a:chOff x="0" y="0"/>
            <a:chExt cx="3675888" cy="1298448"/>
          </a:xfrm>
        </p:grpSpPr>
        <p:sp>
          <p:nvSpPr>
            <p:cNvPr name="Freeform 96" id="96"/>
            <p:cNvSpPr/>
            <p:nvPr/>
          </p:nvSpPr>
          <p:spPr>
            <a:xfrm flipH="false" flipV="false" rot="0">
              <a:off x="0" y="0"/>
              <a:ext cx="3675888" cy="1298448"/>
            </a:xfrm>
            <a:custGeom>
              <a:avLst/>
              <a:gdLst/>
              <a:ahLst/>
              <a:cxnLst/>
              <a:rect r="r" b="b" t="t" l="l"/>
              <a:pathLst>
                <a:path h="1298448" w="3675888">
                  <a:moveTo>
                    <a:pt x="0" y="0"/>
                  </a:moveTo>
                  <a:lnTo>
                    <a:pt x="3675888" y="0"/>
                  </a:lnTo>
                  <a:lnTo>
                    <a:pt x="3675888" y="1298448"/>
                  </a:lnTo>
                  <a:lnTo>
                    <a:pt x="0" y="1298448"/>
                  </a:lnTo>
                  <a:close/>
                </a:path>
              </a:pathLst>
            </a:custGeom>
            <a:blipFill>
              <a:blip r:embed="rId3">
                <a:alphaModFix amt="0"/>
              </a:blip>
              <a:stretch>
                <a:fillRect l="0" t="-5161" r="0" b="-5161"/>
              </a:stretch>
            </a:blipFill>
          </p:spPr>
        </p:sp>
        <p:sp>
          <p:nvSpPr>
            <p:cNvPr name="TextBox 97" id="97"/>
            <p:cNvSpPr txBox="true"/>
            <p:nvPr/>
          </p:nvSpPr>
          <p:spPr>
            <a:xfrm>
              <a:off x="0" y="-9525"/>
              <a:ext cx="3675888" cy="130797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buffer_pop() -&gt; Sequentially flush data</a:t>
              </a:r>
            </a:p>
          </p:txBody>
        </p:sp>
      </p:grpSp>
      <p:sp>
        <p:nvSpPr>
          <p:cNvPr name="AutoShape 98" id="98"/>
          <p:cNvSpPr/>
          <p:nvPr/>
        </p:nvSpPr>
        <p:spPr>
          <a:xfrm>
            <a:off x="14810492" y="4833182"/>
            <a:ext cx="1505716" cy="38087"/>
          </a:xfrm>
          <a:prstGeom prst="line">
            <a:avLst/>
          </a:prstGeom>
          <a:ln cap="rnd" w="19050">
            <a:solidFill>
              <a:srgbClr val="46D6F5"/>
            </a:solidFill>
            <a:prstDash val="solid"/>
            <a:headEnd type="none" len="sm" w="sm"/>
            <a:tailEnd type="triangle" len="med" w="lg"/>
          </a:ln>
        </p:spPr>
      </p:sp>
      <p:grpSp>
        <p:nvGrpSpPr>
          <p:cNvPr name="Group 99" id="99"/>
          <p:cNvGrpSpPr/>
          <p:nvPr/>
        </p:nvGrpSpPr>
        <p:grpSpPr>
          <a:xfrm rot="0">
            <a:off x="16368970" y="4018788"/>
            <a:ext cx="1735455" cy="1735455"/>
            <a:chOff x="0" y="0"/>
            <a:chExt cx="2313940" cy="2313940"/>
          </a:xfrm>
        </p:grpSpPr>
        <p:sp>
          <p:nvSpPr>
            <p:cNvPr name="Freeform 100" id="100"/>
            <p:cNvSpPr/>
            <p:nvPr/>
          </p:nvSpPr>
          <p:spPr>
            <a:xfrm flipH="false" flipV="false" rot="0">
              <a:off x="0" y="0"/>
              <a:ext cx="2313940" cy="2313940"/>
            </a:xfrm>
            <a:custGeom>
              <a:avLst/>
              <a:gdLst/>
              <a:ahLst/>
              <a:cxnLst/>
              <a:rect r="r" b="b" t="t" l="l"/>
              <a:pathLst>
                <a:path h="2313940" w="2313940">
                  <a:moveTo>
                    <a:pt x="0" y="148082"/>
                  </a:moveTo>
                  <a:cubicBezTo>
                    <a:pt x="0" y="66294"/>
                    <a:pt x="66294" y="0"/>
                    <a:pt x="148082" y="0"/>
                  </a:cubicBezTo>
                  <a:lnTo>
                    <a:pt x="2165858" y="0"/>
                  </a:lnTo>
                  <a:cubicBezTo>
                    <a:pt x="2247646" y="0"/>
                    <a:pt x="2313940" y="66294"/>
                    <a:pt x="2313940" y="148082"/>
                  </a:cubicBezTo>
                  <a:lnTo>
                    <a:pt x="2313940" y="2165858"/>
                  </a:lnTo>
                  <a:cubicBezTo>
                    <a:pt x="2313940" y="2247646"/>
                    <a:pt x="2247646" y="2313940"/>
                    <a:pt x="2165858" y="2313940"/>
                  </a:cubicBezTo>
                  <a:lnTo>
                    <a:pt x="148082" y="2313940"/>
                  </a:lnTo>
                  <a:cubicBezTo>
                    <a:pt x="66294" y="2313940"/>
                    <a:pt x="0" y="2247646"/>
                    <a:pt x="0" y="2165858"/>
                  </a:cubicBezTo>
                  <a:close/>
                </a:path>
              </a:pathLst>
            </a:custGeom>
            <a:solidFill>
              <a:srgbClr val="10253B"/>
            </a:solidFill>
            <a:ln w="20955" cap="sq">
              <a:solidFill>
                <a:srgbClr val="46D6F5"/>
              </a:solidFill>
              <a:prstDash val="solid"/>
              <a:miter/>
            </a:ln>
          </p:spPr>
        </p:sp>
      </p:grpSp>
      <p:grpSp>
        <p:nvGrpSpPr>
          <p:cNvPr name="Group 101" id="101"/>
          <p:cNvGrpSpPr/>
          <p:nvPr/>
        </p:nvGrpSpPr>
        <p:grpSpPr>
          <a:xfrm rot="0">
            <a:off x="16430749" y="4263740"/>
            <a:ext cx="1673676" cy="620290"/>
            <a:chOff x="0" y="0"/>
            <a:chExt cx="2384289" cy="883655"/>
          </a:xfrm>
        </p:grpSpPr>
        <p:sp>
          <p:nvSpPr>
            <p:cNvPr name="Freeform 102" id="102"/>
            <p:cNvSpPr/>
            <p:nvPr/>
          </p:nvSpPr>
          <p:spPr>
            <a:xfrm flipH="false" flipV="false" rot="0">
              <a:off x="0" y="0"/>
              <a:ext cx="2384289" cy="883655"/>
            </a:xfrm>
            <a:custGeom>
              <a:avLst/>
              <a:gdLst/>
              <a:ahLst/>
              <a:cxnLst/>
              <a:rect r="r" b="b" t="t" l="l"/>
              <a:pathLst>
                <a:path h="883655" w="2384289">
                  <a:moveTo>
                    <a:pt x="0" y="0"/>
                  </a:moveTo>
                  <a:lnTo>
                    <a:pt x="2384289" y="0"/>
                  </a:lnTo>
                  <a:lnTo>
                    <a:pt x="2384289" y="883655"/>
                  </a:lnTo>
                  <a:lnTo>
                    <a:pt x="0" y="883655"/>
                  </a:lnTo>
                  <a:close/>
                </a:path>
              </a:pathLst>
            </a:custGeom>
            <a:blipFill>
              <a:blip r:embed="rId3">
                <a:alphaModFix amt="0"/>
              </a:blip>
              <a:stretch>
                <a:fillRect l="0" t="-15894" r="22530" b="34435"/>
              </a:stretch>
            </a:blipFill>
          </p:spPr>
        </p:sp>
        <p:sp>
          <p:nvSpPr>
            <p:cNvPr name="TextBox 103" id="103"/>
            <p:cNvSpPr txBox="true"/>
            <p:nvPr/>
          </p:nvSpPr>
          <p:spPr>
            <a:xfrm>
              <a:off x="0" y="0"/>
              <a:ext cx="2384289" cy="883655"/>
            </a:xfrm>
            <a:prstGeom prst="rect">
              <a:avLst/>
            </a:prstGeom>
          </p:spPr>
          <p:txBody>
            <a:bodyPr anchor="ctr" rtlCol="false" tIns="0" lIns="0" bIns="0" rIns="0"/>
            <a:lstStyle/>
            <a:p>
              <a:pPr algn="ctr">
                <a:lnSpc>
                  <a:spcPts val="2220"/>
                </a:lnSpc>
              </a:pPr>
              <a:r>
                <a:rPr lang="en-US" sz="1850" b="true">
                  <a:solidFill>
                    <a:srgbClr val="F5F8FC"/>
                  </a:solidFill>
                  <a:latin typeface="Aptos Bold"/>
                  <a:ea typeface="Aptos Bold"/>
                  <a:cs typeface="Aptos Bold"/>
                  <a:sym typeface="Aptos Bold"/>
                </a:rPr>
                <a:t>EMQX BROKER</a:t>
              </a:r>
            </a:p>
          </p:txBody>
        </p:sp>
      </p:grpSp>
      <p:grpSp>
        <p:nvGrpSpPr>
          <p:cNvPr name="Group 104" id="104"/>
          <p:cNvGrpSpPr/>
          <p:nvPr/>
        </p:nvGrpSpPr>
        <p:grpSpPr>
          <a:xfrm rot="0">
            <a:off x="16329825" y="4660202"/>
            <a:ext cx="1788217" cy="973836"/>
            <a:chOff x="0" y="0"/>
            <a:chExt cx="2384289" cy="1298448"/>
          </a:xfrm>
        </p:grpSpPr>
        <p:sp>
          <p:nvSpPr>
            <p:cNvPr name="Freeform 105" id="105"/>
            <p:cNvSpPr/>
            <p:nvPr/>
          </p:nvSpPr>
          <p:spPr>
            <a:xfrm flipH="false" flipV="false" rot="0">
              <a:off x="0" y="0"/>
              <a:ext cx="2384289" cy="1298448"/>
            </a:xfrm>
            <a:custGeom>
              <a:avLst/>
              <a:gdLst/>
              <a:ahLst/>
              <a:cxnLst/>
              <a:rect r="r" b="b" t="t" l="l"/>
              <a:pathLst>
                <a:path h="1298448" w="2384289">
                  <a:moveTo>
                    <a:pt x="0" y="0"/>
                  </a:moveTo>
                  <a:lnTo>
                    <a:pt x="2384289" y="0"/>
                  </a:lnTo>
                  <a:lnTo>
                    <a:pt x="2384289" y="1298448"/>
                  </a:lnTo>
                  <a:lnTo>
                    <a:pt x="0" y="1298448"/>
                  </a:lnTo>
                  <a:close/>
                </a:path>
              </a:pathLst>
            </a:custGeom>
            <a:blipFill>
              <a:blip r:embed="rId3">
                <a:alphaModFix amt="0"/>
              </a:blip>
              <a:stretch>
                <a:fillRect l="-31137" t="0" r="-8606" b="0"/>
              </a:stretch>
            </a:blipFill>
          </p:spPr>
        </p:sp>
        <p:sp>
          <p:nvSpPr>
            <p:cNvPr name="TextBox 106" id="106"/>
            <p:cNvSpPr txBox="true"/>
            <p:nvPr/>
          </p:nvSpPr>
          <p:spPr>
            <a:xfrm>
              <a:off x="0" y="-9525"/>
              <a:ext cx="2384289" cy="130797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Backfill synchronization (50ms delay)</a:t>
              </a:r>
            </a:p>
          </p:txBody>
        </p:sp>
      </p:grpSp>
      <p:grpSp>
        <p:nvGrpSpPr>
          <p:cNvPr name="Group 107" id="107"/>
          <p:cNvGrpSpPr/>
          <p:nvPr/>
        </p:nvGrpSpPr>
        <p:grpSpPr>
          <a:xfrm rot="0">
            <a:off x="1242060" y="6769608"/>
            <a:ext cx="7901940" cy="2679571"/>
            <a:chOff x="0" y="0"/>
            <a:chExt cx="10535920" cy="3572762"/>
          </a:xfrm>
        </p:grpSpPr>
        <p:sp>
          <p:nvSpPr>
            <p:cNvPr name="Freeform 108" id="108"/>
            <p:cNvSpPr/>
            <p:nvPr/>
          </p:nvSpPr>
          <p:spPr>
            <a:xfrm flipH="false" flipV="false" rot="0">
              <a:off x="0" y="0"/>
              <a:ext cx="10535920" cy="3572762"/>
            </a:xfrm>
            <a:custGeom>
              <a:avLst/>
              <a:gdLst/>
              <a:ahLst/>
              <a:cxnLst/>
              <a:rect r="r" b="b" t="t" l="l"/>
              <a:pathLst>
                <a:path h="3572762" w="10535920">
                  <a:moveTo>
                    <a:pt x="0" y="234180"/>
                  </a:moveTo>
                  <a:cubicBezTo>
                    <a:pt x="0" y="104797"/>
                    <a:pt x="66040" y="0"/>
                    <a:pt x="147574" y="0"/>
                  </a:cubicBezTo>
                  <a:lnTo>
                    <a:pt x="10388346" y="0"/>
                  </a:lnTo>
                  <a:cubicBezTo>
                    <a:pt x="10469880" y="0"/>
                    <a:pt x="10535920" y="104797"/>
                    <a:pt x="10535920" y="234180"/>
                  </a:cubicBezTo>
                  <a:lnTo>
                    <a:pt x="10535920" y="3338581"/>
                  </a:lnTo>
                  <a:cubicBezTo>
                    <a:pt x="10535920" y="3467965"/>
                    <a:pt x="10469880" y="3572762"/>
                    <a:pt x="10388346" y="3572762"/>
                  </a:cubicBezTo>
                  <a:lnTo>
                    <a:pt x="147574" y="3572762"/>
                  </a:lnTo>
                  <a:cubicBezTo>
                    <a:pt x="66040" y="3572762"/>
                    <a:pt x="0" y="3467965"/>
                    <a:pt x="0" y="3338581"/>
                  </a:cubicBezTo>
                  <a:close/>
                </a:path>
              </a:pathLst>
            </a:custGeom>
            <a:solidFill>
              <a:srgbClr val="0E1D30"/>
            </a:solidFill>
            <a:ln w="15240" cap="sq">
              <a:solidFill>
                <a:srgbClr val="1D3850"/>
              </a:solidFill>
              <a:prstDash val="solid"/>
              <a:miter/>
            </a:ln>
          </p:spPr>
        </p:sp>
      </p:grpSp>
      <p:grpSp>
        <p:nvGrpSpPr>
          <p:cNvPr name="Group 109" id="109"/>
          <p:cNvGrpSpPr/>
          <p:nvPr/>
        </p:nvGrpSpPr>
        <p:grpSpPr>
          <a:xfrm rot="0">
            <a:off x="1239202" y="6945820"/>
            <a:ext cx="7880223" cy="493014"/>
            <a:chOff x="0" y="0"/>
            <a:chExt cx="10506964" cy="657352"/>
          </a:xfrm>
        </p:grpSpPr>
        <p:sp>
          <p:nvSpPr>
            <p:cNvPr name="Freeform 110" id="110"/>
            <p:cNvSpPr/>
            <p:nvPr/>
          </p:nvSpPr>
          <p:spPr>
            <a:xfrm flipH="false" flipV="false" rot="0">
              <a:off x="0" y="0"/>
              <a:ext cx="10506964" cy="657352"/>
            </a:xfrm>
            <a:custGeom>
              <a:avLst/>
              <a:gdLst/>
              <a:ahLst/>
              <a:cxnLst/>
              <a:rect r="r" b="b" t="t" l="l"/>
              <a:pathLst>
                <a:path h="657352" w="10506964">
                  <a:moveTo>
                    <a:pt x="0" y="0"/>
                  </a:moveTo>
                  <a:lnTo>
                    <a:pt x="10506964" y="0"/>
                  </a:lnTo>
                  <a:lnTo>
                    <a:pt x="10506964" y="657352"/>
                  </a:lnTo>
                  <a:lnTo>
                    <a:pt x="0" y="657352"/>
                  </a:lnTo>
                  <a:close/>
                </a:path>
              </a:pathLst>
            </a:custGeom>
            <a:blipFill>
              <a:blip r:embed="rId3">
                <a:alphaModFix amt="0"/>
              </a:blip>
              <a:stretch>
                <a:fillRect l="0" t="-222715" r="17323" b="-192267"/>
              </a:stretch>
            </a:blipFill>
          </p:spPr>
        </p:sp>
        <p:sp>
          <p:nvSpPr>
            <p:cNvPr name="TextBox 111" id="111"/>
            <p:cNvSpPr txBox="true"/>
            <p:nvPr/>
          </p:nvSpPr>
          <p:spPr>
            <a:xfrm>
              <a:off x="0" y="-9525"/>
              <a:ext cx="10506964" cy="666877"/>
            </a:xfrm>
            <a:prstGeom prst="rect">
              <a:avLst/>
            </a:prstGeom>
          </p:spPr>
          <p:txBody>
            <a:bodyPr anchor="ctr" rtlCol="false" tIns="0" lIns="0" bIns="0" rIns="0"/>
            <a:lstStyle/>
            <a:p>
              <a:pPr algn="ctr">
                <a:lnSpc>
                  <a:spcPts val="1620"/>
                </a:lnSpc>
              </a:pPr>
              <a:r>
                <a:rPr lang="en-US" sz="1350" b="true">
                  <a:solidFill>
                    <a:srgbClr val="9BAFC2"/>
                  </a:solidFill>
                  <a:latin typeface="Aptos Bold"/>
                  <a:ea typeface="Aptos Bold"/>
                  <a:cs typeface="Aptos Bold"/>
                  <a:sym typeface="Aptos Bold"/>
                </a:rPr>
                <a:t>FAULT-TOLERANCE PRINCIPLE</a:t>
              </a:r>
            </a:p>
          </p:txBody>
        </p:sp>
      </p:grpSp>
      <p:sp>
        <p:nvSpPr>
          <p:cNvPr name="TextBox 112" id="112"/>
          <p:cNvSpPr txBox="true"/>
          <p:nvPr/>
        </p:nvSpPr>
        <p:spPr>
          <a:xfrm rot="0">
            <a:off x="1414272" y="7903631"/>
            <a:ext cx="7705153" cy="974645"/>
          </a:xfrm>
          <a:prstGeom prst="rect">
            <a:avLst/>
          </a:prstGeom>
        </p:spPr>
        <p:txBody>
          <a:bodyPr anchor="t" rtlCol="false" tIns="0" lIns="0" bIns="0" rIns="0">
            <a:spAutoFit/>
          </a:bodyPr>
          <a:lstStyle/>
          <a:p>
            <a:pPr algn="l">
              <a:lnSpc>
                <a:spcPts val="1933"/>
              </a:lnSpc>
            </a:pPr>
            <a:r>
              <a:rPr lang="en-US" sz="1611">
                <a:solidFill>
                  <a:srgbClr val="F5F8FC"/>
                </a:solidFill>
                <a:latin typeface="Aptos"/>
                <a:ea typeface="Aptos"/>
                <a:cs typeface="Aptos"/>
                <a:sym typeface="Aptos"/>
              </a:rPr>
              <a:t>Environmental acquisition never halts. Upon MQTT disconnection, the transmission path shifts from 'direct publish' to 'local buffer'. The system utilizes head, tail, and count index variables to automatically overwrite the oldest records when the 100-record array reaches maximum capacity</a:t>
            </a:r>
          </a:p>
        </p:txBody>
      </p:sp>
      <p:sp>
        <p:nvSpPr>
          <p:cNvPr name="TextBox 113" id="113"/>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46D6F5"/>
            </a:solidFill>
            <a:ln w="19050" cap="sq">
              <a:solidFill>
                <a:srgbClr val="46D6F5"/>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05</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5</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MQTT Protocol &amp; EMQX Public Broker</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D</a:t>
              </a:r>
              <a:r>
                <a:rPr lang="en-US" sz="1575">
                  <a:solidFill>
                    <a:srgbClr val="9BAFC2"/>
                  </a:solidFill>
                  <a:latin typeface="Aptos"/>
                  <a:ea typeface="Aptos"/>
                  <a:cs typeface="Aptos"/>
                  <a:sym typeface="Aptos"/>
                </a:rPr>
                <a:t>ecoupling edge devices (Publishers) from backend applications (Subscribers)</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22210" y="3487103"/>
            <a:ext cx="3107055" cy="1461135"/>
            <a:chOff x="0" y="0"/>
            <a:chExt cx="4142740" cy="1948180"/>
          </a:xfrm>
        </p:grpSpPr>
        <p:sp>
          <p:nvSpPr>
            <p:cNvPr name="Freeform 23" id="23"/>
            <p:cNvSpPr/>
            <p:nvPr/>
          </p:nvSpPr>
          <p:spPr>
            <a:xfrm flipH="false" flipV="false" rot="0">
              <a:off x="0" y="0"/>
              <a:ext cx="4142740" cy="1948180"/>
            </a:xfrm>
            <a:custGeom>
              <a:avLst/>
              <a:gdLst/>
              <a:ahLst/>
              <a:cxnLst/>
              <a:rect r="r" b="b" t="t" l="l"/>
              <a:pathLst>
                <a:path h="1948180" w="4142740">
                  <a:moveTo>
                    <a:pt x="0" y="148463"/>
                  </a:moveTo>
                  <a:cubicBezTo>
                    <a:pt x="0" y="66421"/>
                    <a:pt x="66421" y="0"/>
                    <a:pt x="148463" y="0"/>
                  </a:cubicBezTo>
                  <a:lnTo>
                    <a:pt x="3994277" y="0"/>
                  </a:lnTo>
                  <a:cubicBezTo>
                    <a:pt x="4076192" y="0"/>
                    <a:pt x="4142740" y="66421"/>
                    <a:pt x="4142740" y="148463"/>
                  </a:cubicBezTo>
                  <a:lnTo>
                    <a:pt x="4142740" y="1799717"/>
                  </a:lnTo>
                  <a:cubicBezTo>
                    <a:pt x="4142740" y="1881632"/>
                    <a:pt x="4076319" y="1948180"/>
                    <a:pt x="3994277" y="1948180"/>
                  </a:cubicBezTo>
                  <a:lnTo>
                    <a:pt x="148463" y="1948180"/>
                  </a:lnTo>
                  <a:cubicBezTo>
                    <a:pt x="66421" y="1948180"/>
                    <a:pt x="0" y="1881759"/>
                    <a:pt x="0" y="1799717"/>
                  </a:cubicBezTo>
                  <a:close/>
                </a:path>
              </a:pathLst>
            </a:custGeom>
            <a:solidFill>
              <a:srgbClr val="10253B"/>
            </a:solidFill>
            <a:ln w="20955" cap="sq">
              <a:solidFill>
                <a:srgbClr val="46D6F5"/>
              </a:solidFill>
              <a:prstDash val="solid"/>
              <a:miter/>
            </a:ln>
          </p:spPr>
        </p:sp>
      </p:grpSp>
      <p:grpSp>
        <p:nvGrpSpPr>
          <p:cNvPr name="Group 24" id="24"/>
          <p:cNvGrpSpPr/>
          <p:nvPr/>
        </p:nvGrpSpPr>
        <p:grpSpPr>
          <a:xfrm rot="0">
            <a:off x="1097280" y="3689604"/>
            <a:ext cx="2756916" cy="329184"/>
            <a:chOff x="0" y="0"/>
            <a:chExt cx="3675888" cy="438912"/>
          </a:xfrm>
        </p:grpSpPr>
        <p:sp>
          <p:nvSpPr>
            <p:cNvPr name="Freeform 25" id="25"/>
            <p:cNvSpPr/>
            <p:nvPr/>
          </p:nvSpPr>
          <p:spPr>
            <a:xfrm flipH="false" flipV="false" rot="0">
              <a:off x="0" y="0"/>
              <a:ext cx="3675888" cy="438912"/>
            </a:xfrm>
            <a:custGeom>
              <a:avLst/>
              <a:gdLst/>
              <a:ahLst/>
              <a:cxnLst/>
              <a:rect r="r" b="b" t="t" l="l"/>
              <a:pathLst>
                <a:path h="438912" w="3675888">
                  <a:moveTo>
                    <a:pt x="0" y="0"/>
                  </a:moveTo>
                  <a:lnTo>
                    <a:pt x="3675888" y="0"/>
                  </a:lnTo>
                  <a:lnTo>
                    <a:pt x="3675888" y="438912"/>
                  </a:lnTo>
                  <a:lnTo>
                    <a:pt x="0" y="438912"/>
                  </a:lnTo>
                  <a:close/>
                </a:path>
              </a:pathLst>
            </a:custGeom>
            <a:blipFill>
              <a:blip r:embed="rId3">
                <a:alphaModFix amt="0"/>
              </a:blip>
              <a:stretch>
                <a:fillRect l="0" t="-113187" r="0" b="-113187"/>
              </a:stretch>
            </a:blipFill>
          </p:spPr>
        </p:sp>
        <p:sp>
          <p:nvSpPr>
            <p:cNvPr name="TextBox 26" id="26"/>
            <p:cNvSpPr txBox="true"/>
            <p:nvPr/>
          </p:nvSpPr>
          <p:spPr>
            <a:xfrm>
              <a:off x="0" y="0"/>
              <a:ext cx="367588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ESP32</a:t>
              </a:r>
            </a:p>
          </p:txBody>
        </p:sp>
      </p:grpSp>
      <p:grpSp>
        <p:nvGrpSpPr>
          <p:cNvPr name="Group 27" id="27"/>
          <p:cNvGrpSpPr/>
          <p:nvPr/>
        </p:nvGrpSpPr>
        <p:grpSpPr>
          <a:xfrm rot="0">
            <a:off x="1097280" y="4128516"/>
            <a:ext cx="2756916" cy="699516"/>
            <a:chOff x="0" y="0"/>
            <a:chExt cx="3675888" cy="932688"/>
          </a:xfrm>
        </p:grpSpPr>
        <p:sp>
          <p:nvSpPr>
            <p:cNvPr name="Freeform 28" id="28"/>
            <p:cNvSpPr/>
            <p:nvPr/>
          </p:nvSpPr>
          <p:spPr>
            <a:xfrm flipH="false" flipV="false" rot="0">
              <a:off x="0" y="0"/>
              <a:ext cx="3675888" cy="932688"/>
            </a:xfrm>
            <a:custGeom>
              <a:avLst/>
              <a:gdLst/>
              <a:ahLst/>
              <a:cxnLst/>
              <a:rect r="r" b="b" t="t" l="l"/>
              <a:pathLst>
                <a:path h="932688" w="3675888">
                  <a:moveTo>
                    <a:pt x="0" y="0"/>
                  </a:moveTo>
                  <a:lnTo>
                    <a:pt x="3675888" y="0"/>
                  </a:lnTo>
                  <a:lnTo>
                    <a:pt x="3675888" y="932688"/>
                  </a:lnTo>
                  <a:lnTo>
                    <a:pt x="0" y="932688"/>
                  </a:lnTo>
                  <a:close/>
                </a:path>
              </a:pathLst>
            </a:custGeom>
            <a:blipFill>
              <a:blip r:embed="rId3">
                <a:alphaModFix amt="0"/>
              </a:blip>
              <a:stretch>
                <a:fillRect l="0" t="-26793" r="0" b="-26793"/>
              </a:stretch>
            </a:blipFill>
          </p:spPr>
        </p:sp>
        <p:sp>
          <p:nvSpPr>
            <p:cNvPr name="TextBox 29" id="29"/>
            <p:cNvSpPr txBox="true"/>
            <p:nvPr/>
          </p:nvSpPr>
          <p:spPr>
            <a:xfrm>
              <a:off x="0" y="-9525"/>
              <a:ext cx="3675888" cy="94221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Publisher</a:t>
              </a:r>
            </a:p>
          </p:txBody>
        </p:sp>
      </p:grpSp>
      <p:sp>
        <p:nvSpPr>
          <p:cNvPr name="AutoShape 30" id="30"/>
          <p:cNvSpPr/>
          <p:nvPr/>
        </p:nvSpPr>
        <p:spPr>
          <a:xfrm rot="88140">
            <a:off x="4166016" y="4215003"/>
            <a:ext cx="1337748" cy="0"/>
          </a:xfrm>
          <a:prstGeom prst="line">
            <a:avLst/>
          </a:prstGeom>
          <a:ln cap="rnd" w="19050">
            <a:solidFill>
              <a:srgbClr val="1D3850"/>
            </a:solidFill>
            <a:prstDash val="solid"/>
            <a:headEnd type="none" len="sm" w="sm"/>
            <a:tailEnd type="triangle" len="med" w="lg"/>
          </a:ln>
        </p:spPr>
      </p:sp>
      <p:grpSp>
        <p:nvGrpSpPr>
          <p:cNvPr name="Group 31" id="31"/>
          <p:cNvGrpSpPr/>
          <p:nvPr/>
        </p:nvGrpSpPr>
        <p:grpSpPr>
          <a:xfrm rot="0">
            <a:off x="5544503" y="3349942"/>
            <a:ext cx="3449955" cy="1735455"/>
            <a:chOff x="0" y="0"/>
            <a:chExt cx="4599940" cy="2313940"/>
          </a:xfrm>
        </p:grpSpPr>
        <p:sp>
          <p:nvSpPr>
            <p:cNvPr name="Freeform 32" id="32"/>
            <p:cNvSpPr/>
            <p:nvPr/>
          </p:nvSpPr>
          <p:spPr>
            <a:xfrm flipH="false" flipV="false" rot="0">
              <a:off x="0" y="0"/>
              <a:ext cx="4599940" cy="2313940"/>
            </a:xfrm>
            <a:custGeom>
              <a:avLst/>
              <a:gdLst/>
              <a:ahLst/>
              <a:cxnLst/>
              <a:rect r="r" b="b" t="t" l="l"/>
              <a:pathLst>
                <a:path h="2313940" w="4599940">
                  <a:moveTo>
                    <a:pt x="0" y="148082"/>
                  </a:moveTo>
                  <a:cubicBezTo>
                    <a:pt x="0" y="66294"/>
                    <a:pt x="66294" y="0"/>
                    <a:pt x="148082" y="0"/>
                  </a:cubicBezTo>
                  <a:lnTo>
                    <a:pt x="4451858" y="0"/>
                  </a:lnTo>
                  <a:cubicBezTo>
                    <a:pt x="4533646" y="0"/>
                    <a:pt x="4599940" y="66294"/>
                    <a:pt x="4599940" y="148082"/>
                  </a:cubicBezTo>
                  <a:lnTo>
                    <a:pt x="4599940" y="2165858"/>
                  </a:lnTo>
                  <a:cubicBezTo>
                    <a:pt x="4599940" y="2247646"/>
                    <a:pt x="4533646" y="2313940"/>
                    <a:pt x="4451858" y="2313940"/>
                  </a:cubicBezTo>
                  <a:lnTo>
                    <a:pt x="148082" y="2313940"/>
                  </a:lnTo>
                  <a:cubicBezTo>
                    <a:pt x="66294" y="2313940"/>
                    <a:pt x="0" y="2247646"/>
                    <a:pt x="0" y="2165858"/>
                  </a:cubicBezTo>
                  <a:close/>
                </a:path>
              </a:pathLst>
            </a:custGeom>
            <a:solidFill>
              <a:srgbClr val="10253B"/>
            </a:solidFill>
            <a:ln w="20955" cap="sq">
              <a:solidFill>
                <a:srgbClr val="76E2A1"/>
              </a:solidFill>
              <a:prstDash val="solid"/>
              <a:miter/>
            </a:ln>
          </p:spPr>
        </p:sp>
      </p:grpSp>
      <p:grpSp>
        <p:nvGrpSpPr>
          <p:cNvPr name="Group 33" id="33"/>
          <p:cNvGrpSpPr/>
          <p:nvPr/>
        </p:nvGrpSpPr>
        <p:grpSpPr>
          <a:xfrm rot="0">
            <a:off x="5719572" y="3552444"/>
            <a:ext cx="3099816" cy="329184"/>
            <a:chOff x="0" y="0"/>
            <a:chExt cx="4133088" cy="438912"/>
          </a:xfrm>
        </p:grpSpPr>
        <p:sp>
          <p:nvSpPr>
            <p:cNvPr name="Freeform 34" id="34"/>
            <p:cNvSpPr/>
            <p:nvPr/>
          </p:nvSpPr>
          <p:spPr>
            <a:xfrm flipH="false" flipV="false" rot="0">
              <a:off x="0" y="0"/>
              <a:ext cx="4133088" cy="438912"/>
            </a:xfrm>
            <a:custGeom>
              <a:avLst/>
              <a:gdLst/>
              <a:ahLst/>
              <a:cxnLst/>
              <a:rect r="r" b="b" t="t" l="l"/>
              <a:pathLst>
                <a:path h="438912" w="4133088">
                  <a:moveTo>
                    <a:pt x="0" y="0"/>
                  </a:moveTo>
                  <a:lnTo>
                    <a:pt x="4133088" y="0"/>
                  </a:lnTo>
                  <a:lnTo>
                    <a:pt x="4133088" y="438912"/>
                  </a:lnTo>
                  <a:lnTo>
                    <a:pt x="0" y="438912"/>
                  </a:lnTo>
                  <a:close/>
                </a:path>
              </a:pathLst>
            </a:custGeom>
            <a:blipFill>
              <a:blip r:embed="rId3">
                <a:alphaModFix amt="0"/>
              </a:blip>
              <a:stretch>
                <a:fillRect l="0" t="-133484" r="0" b="-133484"/>
              </a:stretch>
            </a:blipFill>
          </p:spPr>
        </p:sp>
        <p:sp>
          <p:nvSpPr>
            <p:cNvPr name="TextBox 35" id="35"/>
            <p:cNvSpPr txBox="true"/>
            <p:nvPr/>
          </p:nvSpPr>
          <p:spPr>
            <a:xfrm>
              <a:off x="0" y="0"/>
              <a:ext cx="413308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EMQX BROKER</a:t>
              </a:r>
            </a:p>
          </p:txBody>
        </p:sp>
      </p:grpSp>
      <p:grpSp>
        <p:nvGrpSpPr>
          <p:cNvPr name="Group 36" id="36"/>
          <p:cNvGrpSpPr/>
          <p:nvPr/>
        </p:nvGrpSpPr>
        <p:grpSpPr>
          <a:xfrm rot="0">
            <a:off x="5719572" y="3991356"/>
            <a:ext cx="3099816" cy="973836"/>
            <a:chOff x="0" y="0"/>
            <a:chExt cx="4133088" cy="1298448"/>
          </a:xfrm>
        </p:grpSpPr>
        <p:sp>
          <p:nvSpPr>
            <p:cNvPr name="Freeform 37" id="37"/>
            <p:cNvSpPr/>
            <p:nvPr/>
          </p:nvSpPr>
          <p:spPr>
            <a:xfrm flipH="false" flipV="false" rot="0">
              <a:off x="0" y="0"/>
              <a:ext cx="4133088" cy="1298448"/>
            </a:xfrm>
            <a:custGeom>
              <a:avLst/>
              <a:gdLst/>
              <a:ahLst/>
              <a:cxnLst/>
              <a:rect r="r" b="b" t="t" l="l"/>
              <a:pathLst>
                <a:path h="1298448" w="4133088">
                  <a:moveTo>
                    <a:pt x="0" y="0"/>
                  </a:moveTo>
                  <a:lnTo>
                    <a:pt x="4133088" y="0"/>
                  </a:lnTo>
                  <a:lnTo>
                    <a:pt x="4133088" y="1298448"/>
                  </a:lnTo>
                  <a:lnTo>
                    <a:pt x="0" y="1298448"/>
                  </a:lnTo>
                  <a:close/>
                </a:path>
              </a:pathLst>
            </a:custGeom>
            <a:blipFill>
              <a:blip r:embed="rId3">
                <a:alphaModFix amt="0"/>
              </a:blip>
              <a:stretch>
                <a:fillRect l="0" t="-12022" r="0" b="-12022"/>
              </a:stretch>
            </a:blipFill>
          </p:spPr>
        </p:sp>
        <p:sp>
          <p:nvSpPr>
            <p:cNvPr name="TextBox 38" id="38"/>
            <p:cNvSpPr txBox="true"/>
            <p:nvPr/>
          </p:nvSpPr>
          <p:spPr>
            <a:xfrm>
              <a:off x="0" y="-9525"/>
              <a:ext cx="4133088" cy="1307973"/>
            </a:xfrm>
            <a:prstGeom prst="rect">
              <a:avLst/>
            </a:prstGeom>
          </p:spPr>
          <p:txBody>
            <a:bodyPr anchor="ctr" rtlCol="false" tIns="0" lIns="0" bIns="0" rIns="0"/>
            <a:lstStyle/>
            <a:p>
              <a:pPr algn="ctr">
                <a:lnSpc>
                  <a:spcPts val="1649"/>
                </a:lnSpc>
              </a:pPr>
              <a:r>
                <a:rPr lang="en-US" sz="1374">
                  <a:solidFill>
                    <a:srgbClr val="9BAFC2"/>
                  </a:solidFill>
                  <a:latin typeface="Aptos"/>
                  <a:ea typeface="Aptos"/>
                  <a:cs typeface="Aptos"/>
                  <a:sym typeface="Aptos"/>
                </a:rPr>
                <a:t>broker.emqx.io</a:t>
              </a:r>
            </a:p>
            <a:p>
              <a:pPr algn="ctr">
                <a:lnSpc>
                  <a:spcPts val="1649"/>
                </a:lnSpc>
              </a:pPr>
              <a:r>
                <a:rPr lang="en-US" sz="1374">
                  <a:solidFill>
                    <a:srgbClr val="9BAFC2"/>
                  </a:solidFill>
                  <a:latin typeface="Aptos"/>
                  <a:ea typeface="Aptos"/>
                  <a:cs typeface="Aptos"/>
                  <a:sym typeface="Aptos"/>
                </a:rPr>
                <a:t>TCP 1883</a:t>
              </a:r>
            </a:p>
            <a:p>
              <a:pPr algn="ctr">
                <a:lnSpc>
                  <a:spcPts val="1649"/>
                </a:lnSpc>
              </a:pPr>
              <a:r>
                <a:rPr lang="en-US" sz="1374">
                  <a:solidFill>
                    <a:srgbClr val="9BAFC2"/>
                  </a:solidFill>
                  <a:latin typeface="Aptos"/>
                  <a:ea typeface="Aptos"/>
                  <a:cs typeface="Aptos"/>
                  <a:sym typeface="Aptos"/>
                </a:rPr>
                <a:t>WebSockets 8083</a:t>
              </a:r>
            </a:p>
          </p:txBody>
        </p:sp>
      </p:grpSp>
      <p:sp>
        <p:nvSpPr>
          <p:cNvPr name="AutoShape 39" id="39"/>
          <p:cNvSpPr/>
          <p:nvPr/>
        </p:nvSpPr>
        <p:spPr>
          <a:xfrm rot="2632080">
            <a:off x="8859317" y="4880229"/>
            <a:ext cx="1963826" cy="0"/>
          </a:xfrm>
          <a:prstGeom prst="line">
            <a:avLst/>
          </a:prstGeom>
          <a:ln cap="rnd" w="19050">
            <a:solidFill>
              <a:srgbClr val="1D3850"/>
            </a:solidFill>
            <a:prstDash val="solid"/>
            <a:headEnd type="none" len="sm" w="sm"/>
            <a:tailEnd type="triangle" len="med" w="lg"/>
          </a:ln>
        </p:spPr>
      </p:sp>
      <p:grpSp>
        <p:nvGrpSpPr>
          <p:cNvPr name="Group 40" id="40"/>
          <p:cNvGrpSpPr/>
          <p:nvPr/>
        </p:nvGrpSpPr>
        <p:grpSpPr>
          <a:xfrm rot="0">
            <a:off x="10619422" y="2211514"/>
            <a:ext cx="3312795" cy="1598295"/>
            <a:chOff x="0" y="0"/>
            <a:chExt cx="4417060" cy="2131060"/>
          </a:xfrm>
        </p:grpSpPr>
        <p:sp>
          <p:nvSpPr>
            <p:cNvPr name="Freeform 41" id="41"/>
            <p:cNvSpPr/>
            <p:nvPr/>
          </p:nvSpPr>
          <p:spPr>
            <a:xfrm flipH="false" flipV="false" rot="0">
              <a:off x="0" y="0"/>
              <a:ext cx="4417060" cy="2131060"/>
            </a:xfrm>
            <a:custGeom>
              <a:avLst/>
              <a:gdLst/>
              <a:ahLst/>
              <a:cxnLst/>
              <a:rect r="r" b="b" t="t" l="l"/>
              <a:pathLst>
                <a:path h="2131060" w="4417060">
                  <a:moveTo>
                    <a:pt x="0" y="148209"/>
                  </a:moveTo>
                  <a:cubicBezTo>
                    <a:pt x="0" y="66421"/>
                    <a:pt x="66421" y="0"/>
                    <a:pt x="148209" y="0"/>
                  </a:cubicBezTo>
                  <a:lnTo>
                    <a:pt x="4268851" y="0"/>
                  </a:lnTo>
                  <a:cubicBezTo>
                    <a:pt x="4350766" y="0"/>
                    <a:pt x="4417060" y="66421"/>
                    <a:pt x="4417060" y="148209"/>
                  </a:cubicBezTo>
                  <a:lnTo>
                    <a:pt x="4417060" y="1982851"/>
                  </a:lnTo>
                  <a:cubicBezTo>
                    <a:pt x="4417060" y="2064766"/>
                    <a:pt x="4350639" y="2131060"/>
                    <a:pt x="4268851" y="2131060"/>
                  </a:cubicBezTo>
                  <a:lnTo>
                    <a:pt x="148209" y="2131060"/>
                  </a:lnTo>
                  <a:cubicBezTo>
                    <a:pt x="66421" y="2131060"/>
                    <a:pt x="0" y="2064639"/>
                    <a:pt x="0" y="1982851"/>
                  </a:cubicBezTo>
                  <a:close/>
                </a:path>
              </a:pathLst>
            </a:custGeom>
            <a:solidFill>
              <a:srgbClr val="10253B"/>
            </a:solidFill>
            <a:ln w="20955" cap="sq">
              <a:solidFill>
                <a:srgbClr val="68A8FF"/>
              </a:solidFill>
              <a:prstDash val="solid"/>
              <a:miter/>
            </a:ln>
          </p:spPr>
        </p:sp>
      </p:grpSp>
      <p:grpSp>
        <p:nvGrpSpPr>
          <p:cNvPr name="Group 42" id="42"/>
          <p:cNvGrpSpPr/>
          <p:nvPr/>
        </p:nvGrpSpPr>
        <p:grpSpPr>
          <a:xfrm rot="0">
            <a:off x="10794492" y="2414016"/>
            <a:ext cx="2962656" cy="329184"/>
            <a:chOff x="0" y="0"/>
            <a:chExt cx="3950208" cy="438912"/>
          </a:xfrm>
        </p:grpSpPr>
        <p:sp>
          <p:nvSpPr>
            <p:cNvPr name="Freeform 43" id="43"/>
            <p:cNvSpPr/>
            <p:nvPr/>
          </p:nvSpPr>
          <p:spPr>
            <a:xfrm flipH="false" flipV="false" rot="0">
              <a:off x="0" y="0"/>
              <a:ext cx="3950208" cy="438912"/>
            </a:xfrm>
            <a:custGeom>
              <a:avLst/>
              <a:gdLst/>
              <a:ahLst/>
              <a:cxnLst/>
              <a:rect r="r" b="b" t="t" l="l"/>
              <a:pathLst>
                <a:path h="438912" w="3950208">
                  <a:moveTo>
                    <a:pt x="0" y="0"/>
                  </a:moveTo>
                  <a:lnTo>
                    <a:pt x="3950208" y="0"/>
                  </a:lnTo>
                  <a:lnTo>
                    <a:pt x="3950208" y="438912"/>
                  </a:lnTo>
                  <a:lnTo>
                    <a:pt x="0" y="438912"/>
                  </a:lnTo>
                  <a:close/>
                </a:path>
              </a:pathLst>
            </a:custGeom>
            <a:blipFill>
              <a:blip r:embed="rId3">
                <a:alphaModFix amt="0"/>
              </a:blip>
              <a:stretch>
                <a:fillRect l="0" t="-125365" r="0" b="-125365"/>
              </a:stretch>
            </a:blipFill>
          </p:spPr>
        </p:sp>
        <p:sp>
          <p:nvSpPr>
            <p:cNvPr name="TextBox 44" id="44"/>
            <p:cNvSpPr txBox="true"/>
            <p:nvPr/>
          </p:nvSpPr>
          <p:spPr>
            <a:xfrm>
              <a:off x="0" y="0"/>
              <a:ext cx="395020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NODE.JS</a:t>
              </a:r>
            </a:p>
          </p:txBody>
        </p:sp>
      </p:grpSp>
      <p:grpSp>
        <p:nvGrpSpPr>
          <p:cNvPr name="Group 45" id="45"/>
          <p:cNvGrpSpPr/>
          <p:nvPr/>
        </p:nvGrpSpPr>
        <p:grpSpPr>
          <a:xfrm rot="0">
            <a:off x="10794492" y="2852928"/>
            <a:ext cx="2962656" cy="836676"/>
            <a:chOff x="0" y="0"/>
            <a:chExt cx="3950208" cy="1115568"/>
          </a:xfrm>
        </p:grpSpPr>
        <p:sp>
          <p:nvSpPr>
            <p:cNvPr name="Freeform 46" id="46"/>
            <p:cNvSpPr/>
            <p:nvPr/>
          </p:nvSpPr>
          <p:spPr>
            <a:xfrm flipH="false" flipV="false" rot="0">
              <a:off x="0" y="0"/>
              <a:ext cx="3950208" cy="1115568"/>
            </a:xfrm>
            <a:custGeom>
              <a:avLst/>
              <a:gdLst/>
              <a:ahLst/>
              <a:cxnLst/>
              <a:rect r="r" b="b" t="t" l="l"/>
              <a:pathLst>
                <a:path h="1115568" w="3950208">
                  <a:moveTo>
                    <a:pt x="0" y="0"/>
                  </a:moveTo>
                  <a:lnTo>
                    <a:pt x="3950208" y="0"/>
                  </a:lnTo>
                  <a:lnTo>
                    <a:pt x="3950208" y="1115568"/>
                  </a:lnTo>
                  <a:lnTo>
                    <a:pt x="0" y="1115568"/>
                  </a:lnTo>
                  <a:close/>
                </a:path>
              </a:pathLst>
            </a:custGeom>
            <a:blipFill>
              <a:blip r:embed="rId3">
                <a:alphaModFix amt="0"/>
              </a:blip>
              <a:stretch>
                <a:fillRect l="0" t="-18996" r="0" b="-18996"/>
              </a:stretch>
            </a:blipFill>
          </p:spPr>
        </p:sp>
        <p:sp>
          <p:nvSpPr>
            <p:cNvPr name="TextBox 47" id="47"/>
            <p:cNvSpPr txBox="true"/>
            <p:nvPr/>
          </p:nvSpPr>
          <p:spPr>
            <a:xfrm>
              <a:off x="0" y="-9525"/>
              <a:ext cx="3950208" cy="112509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Subscriber</a:t>
              </a:r>
            </a:p>
          </p:txBody>
        </p:sp>
      </p:grpSp>
      <p:grpSp>
        <p:nvGrpSpPr>
          <p:cNvPr name="Group 48" id="48"/>
          <p:cNvGrpSpPr/>
          <p:nvPr/>
        </p:nvGrpSpPr>
        <p:grpSpPr>
          <a:xfrm rot="0">
            <a:off x="10619422" y="4762690"/>
            <a:ext cx="3312795" cy="1598295"/>
            <a:chOff x="0" y="0"/>
            <a:chExt cx="4417060" cy="2131060"/>
          </a:xfrm>
        </p:grpSpPr>
        <p:sp>
          <p:nvSpPr>
            <p:cNvPr name="Freeform 49" id="49"/>
            <p:cNvSpPr/>
            <p:nvPr/>
          </p:nvSpPr>
          <p:spPr>
            <a:xfrm flipH="false" flipV="false" rot="0">
              <a:off x="0" y="0"/>
              <a:ext cx="4417060" cy="2131060"/>
            </a:xfrm>
            <a:custGeom>
              <a:avLst/>
              <a:gdLst/>
              <a:ahLst/>
              <a:cxnLst/>
              <a:rect r="r" b="b" t="t" l="l"/>
              <a:pathLst>
                <a:path h="2131060" w="4417060">
                  <a:moveTo>
                    <a:pt x="0" y="148209"/>
                  </a:moveTo>
                  <a:cubicBezTo>
                    <a:pt x="0" y="66421"/>
                    <a:pt x="66421" y="0"/>
                    <a:pt x="148209" y="0"/>
                  </a:cubicBezTo>
                  <a:lnTo>
                    <a:pt x="4268851" y="0"/>
                  </a:lnTo>
                  <a:cubicBezTo>
                    <a:pt x="4350766" y="0"/>
                    <a:pt x="4417060" y="66421"/>
                    <a:pt x="4417060" y="148209"/>
                  </a:cubicBezTo>
                  <a:lnTo>
                    <a:pt x="4417060" y="1982851"/>
                  </a:lnTo>
                  <a:cubicBezTo>
                    <a:pt x="4417060" y="2064766"/>
                    <a:pt x="4350639" y="2131060"/>
                    <a:pt x="4268851" y="2131060"/>
                  </a:cubicBezTo>
                  <a:lnTo>
                    <a:pt x="148209" y="2131060"/>
                  </a:lnTo>
                  <a:cubicBezTo>
                    <a:pt x="66421" y="2131060"/>
                    <a:pt x="0" y="2064639"/>
                    <a:pt x="0" y="1982851"/>
                  </a:cubicBezTo>
                  <a:close/>
                </a:path>
              </a:pathLst>
            </a:custGeom>
            <a:solidFill>
              <a:srgbClr val="10253B"/>
            </a:solidFill>
            <a:ln w="20955" cap="sq">
              <a:solidFill>
                <a:srgbClr val="F6C85F"/>
              </a:solidFill>
              <a:prstDash val="solid"/>
              <a:miter/>
            </a:ln>
          </p:spPr>
        </p:sp>
      </p:grpSp>
      <p:grpSp>
        <p:nvGrpSpPr>
          <p:cNvPr name="Group 50" id="50"/>
          <p:cNvGrpSpPr/>
          <p:nvPr/>
        </p:nvGrpSpPr>
        <p:grpSpPr>
          <a:xfrm rot="0">
            <a:off x="10794492" y="4965192"/>
            <a:ext cx="2962656" cy="329184"/>
            <a:chOff x="0" y="0"/>
            <a:chExt cx="3950208" cy="438912"/>
          </a:xfrm>
        </p:grpSpPr>
        <p:sp>
          <p:nvSpPr>
            <p:cNvPr name="Freeform 51" id="51"/>
            <p:cNvSpPr/>
            <p:nvPr/>
          </p:nvSpPr>
          <p:spPr>
            <a:xfrm flipH="false" flipV="false" rot="0">
              <a:off x="0" y="0"/>
              <a:ext cx="3950208" cy="438912"/>
            </a:xfrm>
            <a:custGeom>
              <a:avLst/>
              <a:gdLst/>
              <a:ahLst/>
              <a:cxnLst/>
              <a:rect r="r" b="b" t="t" l="l"/>
              <a:pathLst>
                <a:path h="438912" w="3950208">
                  <a:moveTo>
                    <a:pt x="0" y="0"/>
                  </a:moveTo>
                  <a:lnTo>
                    <a:pt x="3950208" y="0"/>
                  </a:lnTo>
                  <a:lnTo>
                    <a:pt x="3950208" y="438912"/>
                  </a:lnTo>
                  <a:lnTo>
                    <a:pt x="0" y="438912"/>
                  </a:lnTo>
                  <a:close/>
                </a:path>
              </a:pathLst>
            </a:custGeom>
            <a:blipFill>
              <a:blip r:embed="rId3">
                <a:alphaModFix amt="0"/>
              </a:blip>
              <a:stretch>
                <a:fillRect l="0" t="-125365" r="0" b="-125365"/>
              </a:stretch>
            </a:blipFill>
          </p:spPr>
        </p:sp>
        <p:sp>
          <p:nvSpPr>
            <p:cNvPr name="TextBox 52" id="52"/>
            <p:cNvSpPr txBox="true"/>
            <p:nvPr/>
          </p:nvSpPr>
          <p:spPr>
            <a:xfrm>
              <a:off x="0" y="0"/>
              <a:ext cx="395020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WEB / MQTT.js</a:t>
              </a:r>
            </a:p>
          </p:txBody>
        </p:sp>
      </p:grpSp>
      <p:grpSp>
        <p:nvGrpSpPr>
          <p:cNvPr name="Group 53" id="53"/>
          <p:cNvGrpSpPr/>
          <p:nvPr/>
        </p:nvGrpSpPr>
        <p:grpSpPr>
          <a:xfrm rot="0">
            <a:off x="10794492" y="5404104"/>
            <a:ext cx="2962656" cy="836676"/>
            <a:chOff x="0" y="0"/>
            <a:chExt cx="3950208" cy="1115568"/>
          </a:xfrm>
        </p:grpSpPr>
        <p:sp>
          <p:nvSpPr>
            <p:cNvPr name="Freeform 54" id="54"/>
            <p:cNvSpPr/>
            <p:nvPr/>
          </p:nvSpPr>
          <p:spPr>
            <a:xfrm flipH="false" flipV="false" rot="0">
              <a:off x="0" y="0"/>
              <a:ext cx="3950208" cy="1115568"/>
            </a:xfrm>
            <a:custGeom>
              <a:avLst/>
              <a:gdLst/>
              <a:ahLst/>
              <a:cxnLst/>
              <a:rect r="r" b="b" t="t" l="l"/>
              <a:pathLst>
                <a:path h="1115568" w="3950208">
                  <a:moveTo>
                    <a:pt x="0" y="0"/>
                  </a:moveTo>
                  <a:lnTo>
                    <a:pt x="3950208" y="0"/>
                  </a:lnTo>
                  <a:lnTo>
                    <a:pt x="3950208" y="1115568"/>
                  </a:lnTo>
                  <a:lnTo>
                    <a:pt x="0" y="1115568"/>
                  </a:lnTo>
                  <a:close/>
                </a:path>
              </a:pathLst>
            </a:custGeom>
            <a:blipFill>
              <a:blip r:embed="rId3">
                <a:alphaModFix amt="0"/>
              </a:blip>
              <a:stretch>
                <a:fillRect l="0" t="-18996" r="0" b="-18996"/>
              </a:stretch>
            </a:blipFill>
          </p:spPr>
        </p:sp>
        <p:sp>
          <p:nvSpPr>
            <p:cNvPr name="TextBox 55" id="55"/>
            <p:cNvSpPr txBox="true"/>
            <p:nvPr/>
          </p:nvSpPr>
          <p:spPr>
            <a:xfrm>
              <a:off x="0" y="-9525"/>
              <a:ext cx="3950208" cy="112509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Subscriber</a:t>
              </a:r>
            </a:p>
          </p:txBody>
        </p:sp>
      </p:grpSp>
      <p:grpSp>
        <p:nvGrpSpPr>
          <p:cNvPr name="Group 56" id="56"/>
          <p:cNvGrpSpPr/>
          <p:nvPr/>
        </p:nvGrpSpPr>
        <p:grpSpPr>
          <a:xfrm rot="0">
            <a:off x="14325600" y="2872740"/>
            <a:ext cx="2758440" cy="2045208"/>
            <a:chOff x="0" y="0"/>
            <a:chExt cx="3677920" cy="2726944"/>
          </a:xfrm>
        </p:grpSpPr>
        <p:sp>
          <p:nvSpPr>
            <p:cNvPr name="Freeform 57" id="57"/>
            <p:cNvSpPr/>
            <p:nvPr/>
          </p:nvSpPr>
          <p:spPr>
            <a:xfrm flipH="false" flipV="false" rot="0">
              <a:off x="0" y="0"/>
              <a:ext cx="3677920" cy="2726944"/>
            </a:xfrm>
            <a:custGeom>
              <a:avLst/>
              <a:gdLst/>
              <a:ahLst/>
              <a:cxnLst/>
              <a:rect r="r" b="b" t="t" l="l"/>
              <a:pathLst>
                <a:path h="2726944" w="3677920">
                  <a:moveTo>
                    <a:pt x="0" y="147447"/>
                  </a:moveTo>
                  <a:cubicBezTo>
                    <a:pt x="0" y="66040"/>
                    <a:pt x="66040" y="0"/>
                    <a:pt x="147447" y="0"/>
                  </a:cubicBezTo>
                  <a:lnTo>
                    <a:pt x="3530473" y="0"/>
                  </a:lnTo>
                  <a:cubicBezTo>
                    <a:pt x="3611880" y="0"/>
                    <a:pt x="3677920" y="66040"/>
                    <a:pt x="3677920" y="147447"/>
                  </a:cubicBezTo>
                  <a:lnTo>
                    <a:pt x="3677920" y="2579497"/>
                  </a:lnTo>
                  <a:cubicBezTo>
                    <a:pt x="3677920" y="2660904"/>
                    <a:pt x="3611880" y="2726944"/>
                    <a:pt x="3530473" y="2726944"/>
                  </a:cubicBezTo>
                  <a:lnTo>
                    <a:pt x="147447" y="2726944"/>
                  </a:lnTo>
                  <a:cubicBezTo>
                    <a:pt x="66040" y="2726944"/>
                    <a:pt x="0" y="2660904"/>
                    <a:pt x="0" y="2579497"/>
                  </a:cubicBezTo>
                  <a:close/>
                </a:path>
              </a:pathLst>
            </a:custGeom>
            <a:solidFill>
              <a:srgbClr val="0E1D30"/>
            </a:solidFill>
            <a:ln w="15240" cap="sq">
              <a:solidFill>
                <a:srgbClr val="1D3850"/>
              </a:solidFill>
              <a:prstDash val="solid"/>
              <a:miter/>
            </a:ln>
          </p:spPr>
        </p:sp>
      </p:grpSp>
      <p:grpSp>
        <p:nvGrpSpPr>
          <p:cNvPr name="Group 58" id="58"/>
          <p:cNvGrpSpPr/>
          <p:nvPr/>
        </p:nvGrpSpPr>
        <p:grpSpPr>
          <a:xfrm rot="0">
            <a:off x="15403068" y="3154680"/>
            <a:ext cx="1371600" cy="342900"/>
            <a:chOff x="0" y="0"/>
            <a:chExt cx="1828800" cy="457200"/>
          </a:xfrm>
        </p:grpSpPr>
        <p:sp>
          <p:nvSpPr>
            <p:cNvPr name="Freeform 59" id="59"/>
            <p:cNvSpPr/>
            <p:nvPr/>
          </p:nvSpPr>
          <p:spPr>
            <a:xfrm flipH="false" flipV="false" rot="0">
              <a:off x="0" y="0"/>
              <a:ext cx="1828800" cy="457200"/>
            </a:xfrm>
            <a:custGeom>
              <a:avLst/>
              <a:gdLst/>
              <a:ahLst/>
              <a:cxnLst/>
              <a:rect r="r" b="b" t="t" l="l"/>
              <a:pathLst>
                <a:path h="457200" w="1828800">
                  <a:moveTo>
                    <a:pt x="0" y="0"/>
                  </a:moveTo>
                  <a:lnTo>
                    <a:pt x="1828800" y="0"/>
                  </a:lnTo>
                  <a:lnTo>
                    <a:pt x="1828800" y="457200"/>
                  </a:lnTo>
                  <a:lnTo>
                    <a:pt x="0" y="457200"/>
                  </a:lnTo>
                  <a:close/>
                </a:path>
              </a:pathLst>
            </a:custGeom>
            <a:blipFill>
              <a:blip r:embed="rId3">
                <a:alphaModFix amt="0"/>
              </a:blip>
              <a:stretch>
                <a:fillRect l="0" t="-27940" r="0" b="-27940"/>
              </a:stretch>
            </a:blipFill>
          </p:spPr>
        </p:sp>
        <p:sp>
          <p:nvSpPr>
            <p:cNvPr name="TextBox 60" id="60"/>
            <p:cNvSpPr txBox="true"/>
            <p:nvPr/>
          </p:nvSpPr>
          <p:spPr>
            <a:xfrm>
              <a:off x="0" y="-9525"/>
              <a:ext cx="182880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TOPIC</a:t>
              </a:r>
            </a:p>
          </p:txBody>
        </p:sp>
      </p:grpSp>
      <p:sp>
        <p:nvSpPr>
          <p:cNvPr name="TextBox 61" id="61"/>
          <p:cNvSpPr txBox="true"/>
          <p:nvPr/>
        </p:nvSpPr>
        <p:spPr>
          <a:xfrm rot="0">
            <a:off x="14362748" y="4207381"/>
            <a:ext cx="2793873" cy="249082"/>
          </a:xfrm>
          <a:prstGeom prst="rect">
            <a:avLst/>
          </a:prstGeom>
        </p:spPr>
        <p:txBody>
          <a:bodyPr anchor="t" rtlCol="false" tIns="0" lIns="0" bIns="0" rIns="0">
            <a:spAutoFit/>
          </a:bodyPr>
          <a:lstStyle/>
          <a:p>
            <a:pPr algn="l">
              <a:lnSpc>
                <a:spcPts val="1976"/>
              </a:lnSpc>
            </a:pPr>
            <a:r>
              <a:rPr lang="en-US" sz="1647">
                <a:solidFill>
                  <a:srgbClr val="F5F8FC"/>
                </a:solidFill>
                <a:latin typeface="Aptos"/>
                <a:ea typeface="Aptos"/>
                <a:cs typeface="Aptos"/>
                <a:sym typeface="Aptos"/>
              </a:rPr>
              <a:t>coldchain/nhom07/telemetry</a:t>
            </a:r>
          </a:p>
        </p:txBody>
      </p:sp>
      <p:grpSp>
        <p:nvGrpSpPr>
          <p:cNvPr name="Group 62" id="62"/>
          <p:cNvGrpSpPr/>
          <p:nvPr/>
        </p:nvGrpSpPr>
        <p:grpSpPr>
          <a:xfrm rot="0">
            <a:off x="11531169" y="6696265"/>
            <a:ext cx="4940276" cy="2964180"/>
            <a:chOff x="0" y="0"/>
            <a:chExt cx="6587035" cy="3952240"/>
          </a:xfrm>
        </p:grpSpPr>
        <p:sp>
          <p:nvSpPr>
            <p:cNvPr name="Freeform 63" id="63"/>
            <p:cNvSpPr/>
            <p:nvPr/>
          </p:nvSpPr>
          <p:spPr>
            <a:xfrm flipH="false" flipV="false" rot="0">
              <a:off x="0" y="0"/>
              <a:ext cx="6587035" cy="3952240"/>
            </a:xfrm>
            <a:custGeom>
              <a:avLst/>
              <a:gdLst/>
              <a:ahLst/>
              <a:cxnLst/>
              <a:rect r="r" b="b" t="t" l="l"/>
              <a:pathLst>
                <a:path h="3952240" w="6587035">
                  <a:moveTo>
                    <a:pt x="0" y="110363"/>
                  </a:moveTo>
                  <a:cubicBezTo>
                    <a:pt x="0" y="49403"/>
                    <a:pt x="88479" y="0"/>
                    <a:pt x="197657" y="0"/>
                  </a:cubicBezTo>
                  <a:lnTo>
                    <a:pt x="6389378" y="0"/>
                  </a:lnTo>
                  <a:cubicBezTo>
                    <a:pt x="6498555" y="0"/>
                    <a:pt x="6587035" y="49403"/>
                    <a:pt x="6587035" y="110363"/>
                  </a:cubicBezTo>
                  <a:lnTo>
                    <a:pt x="6587035" y="3841877"/>
                  </a:lnTo>
                  <a:cubicBezTo>
                    <a:pt x="6587035" y="3902837"/>
                    <a:pt x="6498555" y="3952240"/>
                    <a:pt x="6389378" y="3952240"/>
                  </a:cubicBezTo>
                  <a:lnTo>
                    <a:pt x="197657" y="3952240"/>
                  </a:lnTo>
                  <a:cubicBezTo>
                    <a:pt x="88479" y="3952240"/>
                    <a:pt x="0" y="3902837"/>
                    <a:pt x="0" y="3841877"/>
                  </a:cubicBezTo>
                  <a:close/>
                </a:path>
              </a:pathLst>
            </a:custGeom>
            <a:solidFill>
              <a:srgbClr val="050C14"/>
            </a:solidFill>
            <a:ln w="15240" cap="sq">
              <a:solidFill>
                <a:srgbClr val="1D3850"/>
              </a:solidFill>
              <a:prstDash val="solid"/>
              <a:miter/>
            </a:ln>
          </p:spPr>
        </p:sp>
      </p:grpSp>
      <p:grpSp>
        <p:nvGrpSpPr>
          <p:cNvPr name="Group 64" id="64"/>
          <p:cNvGrpSpPr/>
          <p:nvPr/>
        </p:nvGrpSpPr>
        <p:grpSpPr>
          <a:xfrm rot="0">
            <a:off x="11529264" y="6694360"/>
            <a:ext cx="47625" cy="2967990"/>
            <a:chOff x="0" y="0"/>
            <a:chExt cx="63500" cy="3957320"/>
          </a:xfrm>
        </p:grpSpPr>
        <p:sp>
          <p:nvSpPr>
            <p:cNvPr name="Freeform 65" id="65"/>
            <p:cNvSpPr/>
            <p:nvPr/>
          </p:nvSpPr>
          <p:spPr>
            <a:xfrm flipH="false" flipV="false" rot="0">
              <a:off x="0" y="0"/>
              <a:ext cx="63500" cy="3957320"/>
            </a:xfrm>
            <a:custGeom>
              <a:avLst/>
              <a:gdLst/>
              <a:ahLst/>
              <a:cxnLst/>
              <a:rect r="r" b="b" t="t" l="l"/>
              <a:pathLst>
                <a:path h="3957320" w="63500">
                  <a:moveTo>
                    <a:pt x="0" y="0"/>
                  </a:moveTo>
                  <a:lnTo>
                    <a:pt x="63500" y="0"/>
                  </a:lnTo>
                  <a:lnTo>
                    <a:pt x="63500" y="3957320"/>
                  </a:lnTo>
                  <a:lnTo>
                    <a:pt x="0" y="3957320"/>
                  </a:lnTo>
                  <a:close/>
                </a:path>
              </a:pathLst>
            </a:custGeom>
            <a:solidFill>
              <a:srgbClr val="76E2A1"/>
            </a:solidFill>
            <a:ln w="19050" cap="sq">
              <a:solidFill>
                <a:srgbClr val="76E2A1"/>
              </a:solidFill>
              <a:prstDash val="solid"/>
              <a:miter/>
            </a:ln>
          </p:spPr>
        </p:sp>
      </p:grpSp>
      <p:sp>
        <p:nvSpPr>
          <p:cNvPr name="TextBox 66" id="66"/>
          <p:cNvSpPr txBox="true"/>
          <p:nvPr/>
        </p:nvSpPr>
        <p:spPr>
          <a:xfrm rot="0">
            <a:off x="11667448" y="6980111"/>
            <a:ext cx="5489172" cy="2489130"/>
          </a:xfrm>
          <a:prstGeom prst="rect">
            <a:avLst/>
          </a:prstGeom>
        </p:spPr>
        <p:txBody>
          <a:bodyPr anchor="t" rtlCol="false" tIns="0" lIns="0" bIns="0" rIns="0">
            <a:spAutoFit/>
          </a:bodyPr>
          <a:lstStyle/>
          <a:p>
            <a:pPr algn="l">
              <a:lnSpc>
                <a:spcPts val="2518"/>
              </a:lnSpc>
            </a:pPr>
            <a:r>
              <a:rPr lang="en-US" sz="2098">
                <a:solidFill>
                  <a:srgbClr val="D9E7F1"/>
                </a:solidFill>
                <a:latin typeface="Courier New"/>
                <a:ea typeface="Courier New"/>
                <a:cs typeface="Courier New"/>
                <a:sym typeface="Courier New"/>
              </a:rPr>
              <a:t>{ </a:t>
            </a:r>
          </a:p>
          <a:p>
            <a:pPr algn="l">
              <a:lnSpc>
                <a:spcPts val="2518"/>
              </a:lnSpc>
            </a:pPr>
            <a:r>
              <a:rPr lang="en-US" sz="2098">
                <a:solidFill>
                  <a:srgbClr val="D9E7F1"/>
                </a:solidFill>
                <a:latin typeface="Courier New"/>
                <a:ea typeface="Courier New"/>
                <a:cs typeface="Courier New"/>
                <a:sym typeface="Courier New"/>
              </a:rPr>
              <a:t>"timestamp": 1789489174, "device_id": "ESP32_COLD_01", "temperature": 8.3, </a:t>
            </a:r>
          </a:p>
          <a:p>
            <a:pPr algn="l">
              <a:lnSpc>
                <a:spcPts val="2518"/>
              </a:lnSpc>
            </a:pPr>
            <a:r>
              <a:rPr lang="en-US" sz="2098">
                <a:solidFill>
                  <a:srgbClr val="D9E7F1"/>
                </a:solidFill>
                <a:latin typeface="Courier New"/>
                <a:ea typeface="Courier New"/>
                <a:cs typeface="Courier New"/>
                <a:sym typeface="Courier New"/>
              </a:rPr>
              <a:t>"humidity": 60.0, </a:t>
            </a:r>
          </a:p>
          <a:p>
            <a:pPr algn="l">
              <a:lnSpc>
                <a:spcPts val="2518"/>
              </a:lnSpc>
            </a:pPr>
            <a:r>
              <a:rPr lang="en-US" sz="2098">
                <a:solidFill>
                  <a:srgbClr val="D9E7F1"/>
                </a:solidFill>
                <a:latin typeface="Courier New"/>
                <a:ea typeface="Courier New"/>
                <a:cs typeface="Courier New"/>
                <a:sym typeface="Courier New"/>
              </a:rPr>
              <a:t>"door_open": 0, </a:t>
            </a:r>
          </a:p>
          <a:p>
            <a:pPr algn="l">
              <a:lnSpc>
                <a:spcPts val="2518"/>
              </a:lnSpc>
            </a:pPr>
            <a:r>
              <a:rPr lang="en-US" sz="2098">
                <a:solidFill>
                  <a:srgbClr val="D9E7F1"/>
                </a:solidFill>
                <a:latin typeface="Courier New"/>
                <a:ea typeface="Courier New"/>
                <a:cs typeface="Courier New"/>
                <a:sym typeface="Courier New"/>
              </a:rPr>
              <a:t>"cooling_state": 1 </a:t>
            </a:r>
          </a:p>
          <a:p>
            <a:pPr algn="l">
              <a:lnSpc>
                <a:spcPts val="2518"/>
              </a:lnSpc>
            </a:pPr>
            <a:r>
              <a:rPr lang="en-US" sz="2098">
                <a:solidFill>
                  <a:srgbClr val="D9E7F1"/>
                </a:solidFill>
                <a:latin typeface="Courier New"/>
                <a:ea typeface="Courier New"/>
                <a:cs typeface="Courier New"/>
                <a:sym typeface="Courier New"/>
              </a:rPr>
              <a:t>}</a:t>
            </a:r>
          </a:p>
        </p:txBody>
      </p:sp>
      <p:sp>
        <p:nvSpPr>
          <p:cNvPr name="TextBox 67" id="67"/>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46D6F5"/>
            </a:solidFill>
            <a:ln w="19050" cap="sq">
              <a:solidFill>
                <a:srgbClr val="46D6F5"/>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05</a:t>
              </a:r>
            </a:p>
          </p:txBody>
        </p:sp>
      </p:grpSp>
      <p:grpSp>
        <p:nvGrpSpPr>
          <p:cNvPr name="Group 12" id="12"/>
          <p:cNvGrpSpPr/>
          <p:nvPr/>
        </p:nvGrpSpPr>
        <p:grpSpPr>
          <a:xfrm rot="0">
            <a:off x="1824228" y="541782"/>
            <a:ext cx="9326880" cy="372999"/>
            <a:chOff x="0" y="0"/>
            <a:chExt cx="12435840" cy="497332"/>
          </a:xfrm>
        </p:grpSpPr>
        <p:sp>
          <p:nvSpPr>
            <p:cNvPr name="Freeform 13" id="13"/>
            <p:cNvSpPr/>
            <p:nvPr/>
          </p:nvSpPr>
          <p:spPr>
            <a:xfrm flipH="false" flipV="false" rot="0">
              <a:off x="0" y="0"/>
              <a:ext cx="12435840" cy="497332"/>
            </a:xfrm>
            <a:custGeom>
              <a:avLst/>
              <a:gdLst/>
              <a:ahLst/>
              <a:cxnLst/>
              <a:rect r="r" b="b" t="t" l="l"/>
              <a:pathLst>
                <a:path h="497332" w="12435840">
                  <a:moveTo>
                    <a:pt x="0" y="0"/>
                  </a:moveTo>
                  <a:lnTo>
                    <a:pt x="12435840" y="0"/>
                  </a:lnTo>
                  <a:lnTo>
                    <a:pt x="12435840" y="497332"/>
                  </a:lnTo>
                  <a:lnTo>
                    <a:pt x="0" y="497332"/>
                  </a:lnTo>
                  <a:close/>
                </a:path>
              </a:pathLst>
            </a:custGeom>
            <a:blipFill>
              <a:blip r:embed="rId3">
                <a:alphaModFix amt="0"/>
              </a:blip>
              <a:stretch>
                <a:fillRect l="0" t="-443098" r="0" b="-431352"/>
              </a:stretch>
            </a:blipFill>
          </p:spPr>
        </p:sp>
        <p:sp>
          <p:nvSpPr>
            <p:cNvPr name="TextBox 14" id="14"/>
            <p:cNvSpPr txBox="true"/>
            <p:nvPr/>
          </p:nvSpPr>
          <p:spPr>
            <a:xfrm>
              <a:off x="0" y="0"/>
              <a:ext cx="12435840" cy="49733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5 • BACKEND ARCHITECTURE</a:t>
              </a:r>
            </a:p>
          </p:txBody>
        </p:sp>
      </p:grpSp>
      <p:grpSp>
        <p:nvGrpSpPr>
          <p:cNvPr name="Group 15" id="15"/>
          <p:cNvGrpSpPr/>
          <p:nvPr/>
        </p:nvGrpSpPr>
        <p:grpSpPr>
          <a:xfrm rot="0">
            <a:off x="617220" y="1193292"/>
            <a:ext cx="16424910" cy="850392"/>
            <a:chOff x="0" y="0"/>
            <a:chExt cx="21899880" cy="1133856"/>
          </a:xfrm>
        </p:grpSpPr>
        <p:sp>
          <p:nvSpPr>
            <p:cNvPr name="Freeform 16" id="16"/>
            <p:cNvSpPr/>
            <p:nvPr/>
          </p:nvSpPr>
          <p:spPr>
            <a:xfrm flipH="false" flipV="false" rot="0">
              <a:off x="0" y="0"/>
              <a:ext cx="21899880" cy="1133856"/>
            </a:xfrm>
            <a:custGeom>
              <a:avLst/>
              <a:gdLst/>
              <a:ahLst/>
              <a:cxnLst/>
              <a:rect r="r" b="b" t="t" l="l"/>
              <a:pathLst>
                <a:path h="1133856" w="21899880">
                  <a:moveTo>
                    <a:pt x="0" y="0"/>
                  </a:moveTo>
                  <a:lnTo>
                    <a:pt x="21899880" y="0"/>
                  </a:lnTo>
                  <a:lnTo>
                    <a:pt x="21899880" y="1133856"/>
                  </a:lnTo>
                  <a:lnTo>
                    <a:pt x="0" y="1133856"/>
                  </a:lnTo>
                  <a:close/>
                </a:path>
              </a:pathLst>
            </a:custGeom>
            <a:blipFill>
              <a:blip r:embed="rId3">
                <a:alphaModFix amt="0"/>
              </a:blip>
              <a:stretch>
                <a:fillRect l="0" t="-327129" r="-208" b="-327129"/>
              </a:stretch>
            </a:blipFill>
          </p:spPr>
        </p:sp>
        <p:sp>
          <p:nvSpPr>
            <p:cNvPr name="TextBox 17" id="17"/>
            <p:cNvSpPr txBox="true"/>
            <p:nvPr/>
          </p:nvSpPr>
          <p:spPr>
            <a:xfrm>
              <a:off x="0" y="0"/>
              <a:ext cx="2189988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Central Processing Server: Node.js &amp; Express</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Asynchronous Non-blocking I/O for real-time telemetry ingestion and REST API provisioning</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52500" y="3009900"/>
            <a:ext cx="8519160" cy="4747260"/>
            <a:chOff x="0" y="0"/>
            <a:chExt cx="11358880" cy="6329680"/>
          </a:xfrm>
        </p:grpSpPr>
        <p:sp>
          <p:nvSpPr>
            <p:cNvPr name="Freeform 23" id="23"/>
            <p:cNvSpPr/>
            <p:nvPr/>
          </p:nvSpPr>
          <p:spPr>
            <a:xfrm flipH="false" flipV="false" rot="0">
              <a:off x="0" y="0"/>
              <a:ext cx="11358880" cy="6329680"/>
            </a:xfrm>
            <a:custGeom>
              <a:avLst/>
              <a:gdLst/>
              <a:ahLst/>
              <a:cxnLst/>
              <a:rect r="r" b="b" t="t" l="l"/>
              <a:pathLst>
                <a:path h="6329680" w="11358880">
                  <a:moveTo>
                    <a:pt x="0" y="110109"/>
                  </a:moveTo>
                  <a:cubicBezTo>
                    <a:pt x="0" y="49276"/>
                    <a:pt x="49276" y="0"/>
                    <a:pt x="110109" y="0"/>
                  </a:cubicBezTo>
                  <a:lnTo>
                    <a:pt x="11248771" y="0"/>
                  </a:lnTo>
                  <a:cubicBezTo>
                    <a:pt x="11309603" y="0"/>
                    <a:pt x="11358880" y="49276"/>
                    <a:pt x="11358880" y="110109"/>
                  </a:cubicBezTo>
                  <a:lnTo>
                    <a:pt x="11358880" y="6219571"/>
                  </a:lnTo>
                  <a:cubicBezTo>
                    <a:pt x="11358880" y="6280404"/>
                    <a:pt x="11309603" y="6329680"/>
                    <a:pt x="11248771" y="6329680"/>
                  </a:cubicBezTo>
                  <a:lnTo>
                    <a:pt x="110109" y="6329680"/>
                  </a:lnTo>
                  <a:cubicBezTo>
                    <a:pt x="49276" y="6329680"/>
                    <a:pt x="0" y="6280404"/>
                    <a:pt x="0" y="6219571"/>
                  </a:cubicBezTo>
                  <a:close/>
                </a:path>
              </a:pathLst>
            </a:custGeom>
            <a:solidFill>
              <a:srgbClr val="050C14"/>
            </a:solidFill>
            <a:ln w="15240" cap="sq">
              <a:solidFill>
                <a:srgbClr val="1D3850"/>
              </a:solidFill>
              <a:prstDash val="solid"/>
              <a:miter/>
            </a:ln>
          </p:spPr>
        </p:sp>
      </p:grpSp>
      <p:grpSp>
        <p:nvGrpSpPr>
          <p:cNvPr name="Group 24" id="24"/>
          <p:cNvGrpSpPr/>
          <p:nvPr/>
        </p:nvGrpSpPr>
        <p:grpSpPr>
          <a:xfrm rot="0">
            <a:off x="950595" y="3007995"/>
            <a:ext cx="115062" cy="4751070"/>
            <a:chOff x="0" y="0"/>
            <a:chExt cx="153416" cy="6334760"/>
          </a:xfrm>
        </p:grpSpPr>
        <p:sp>
          <p:nvSpPr>
            <p:cNvPr name="Freeform 25" id="25"/>
            <p:cNvSpPr/>
            <p:nvPr/>
          </p:nvSpPr>
          <p:spPr>
            <a:xfrm flipH="false" flipV="false" rot="0">
              <a:off x="0" y="0"/>
              <a:ext cx="153416" cy="6334760"/>
            </a:xfrm>
            <a:custGeom>
              <a:avLst/>
              <a:gdLst/>
              <a:ahLst/>
              <a:cxnLst/>
              <a:rect r="r" b="b" t="t" l="l"/>
              <a:pathLst>
                <a:path h="6334760" w="153416">
                  <a:moveTo>
                    <a:pt x="0" y="0"/>
                  </a:moveTo>
                  <a:lnTo>
                    <a:pt x="153416" y="0"/>
                  </a:lnTo>
                  <a:lnTo>
                    <a:pt x="153416" y="6334760"/>
                  </a:lnTo>
                  <a:lnTo>
                    <a:pt x="0" y="6334760"/>
                  </a:lnTo>
                  <a:close/>
                </a:path>
              </a:pathLst>
            </a:custGeom>
            <a:solidFill>
              <a:srgbClr val="68A8FF"/>
            </a:solidFill>
            <a:ln w="19050" cap="sq">
              <a:solidFill>
                <a:srgbClr val="68A8FF"/>
              </a:solidFill>
              <a:prstDash val="solid"/>
              <a:miter/>
            </a:ln>
          </p:spPr>
        </p:sp>
      </p:grpSp>
      <p:sp>
        <p:nvSpPr>
          <p:cNvPr name="TextBox 26" id="26"/>
          <p:cNvSpPr txBox="true"/>
          <p:nvPr/>
        </p:nvSpPr>
        <p:spPr>
          <a:xfrm rot="0">
            <a:off x="1179347" y="3350629"/>
            <a:ext cx="7964424" cy="3476625"/>
          </a:xfrm>
          <a:prstGeom prst="rect">
            <a:avLst/>
          </a:prstGeom>
        </p:spPr>
        <p:txBody>
          <a:bodyPr anchor="t" rtlCol="false" tIns="0" lIns="0" bIns="0" rIns="0">
            <a:spAutoFit/>
          </a:bodyPr>
          <a:lstStyle/>
          <a:p>
            <a:pPr algn="l">
              <a:lnSpc>
                <a:spcPts val="2008"/>
              </a:lnSpc>
            </a:pPr>
            <a:r>
              <a:rPr lang="en-US" sz="1673">
                <a:solidFill>
                  <a:srgbClr val="D9E7F1"/>
                </a:solidFill>
                <a:latin typeface="Courier New"/>
                <a:ea typeface="Courier New"/>
                <a:cs typeface="Courier New"/>
                <a:sym typeface="Courier New"/>
              </a:rPr>
              <a:t>client.on('message', (topic, message) =&gt; { </a:t>
            </a:r>
          </a:p>
          <a:p>
            <a:pPr algn="l">
              <a:lnSpc>
                <a:spcPts val="2008"/>
              </a:lnSpc>
            </a:pPr>
            <a:r>
              <a:rPr lang="en-US" sz="1673">
                <a:solidFill>
                  <a:srgbClr val="D9E7F1"/>
                </a:solidFill>
                <a:latin typeface="Courier New"/>
                <a:ea typeface="Courier New"/>
                <a:cs typeface="Courier New"/>
                <a:sym typeface="Courier New"/>
              </a:rPr>
              <a:t>const data = JSON.parse(message.toString()); </a:t>
            </a:r>
          </a:p>
          <a:p>
            <a:pPr algn="l">
              <a:lnSpc>
                <a:spcPts val="2008"/>
              </a:lnSpc>
            </a:pPr>
          </a:p>
          <a:p>
            <a:pPr algn="l">
              <a:lnSpc>
                <a:spcPts val="2008"/>
              </a:lnSpc>
            </a:pPr>
            <a:r>
              <a:rPr lang="en-US" sz="1673">
                <a:solidFill>
                  <a:srgbClr val="D9E7F1"/>
                </a:solidFill>
                <a:latin typeface="Courier New"/>
                <a:ea typeface="Courier New"/>
                <a:cs typeface="Courier New"/>
                <a:sym typeface="Courier New"/>
              </a:rPr>
              <a:t>// 1. Insert into telemetry_data </a:t>
            </a:r>
          </a:p>
          <a:p>
            <a:pPr algn="l">
              <a:lnSpc>
                <a:spcPts val="2008"/>
              </a:lnSpc>
            </a:pPr>
            <a:r>
              <a:rPr lang="en-US" sz="1673">
                <a:solidFill>
                  <a:srgbClr val="D9E7F1"/>
                </a:solidFill>
                <a:latin typeface="Courier New"/>
                <a:ea typeface="Courier New"/>
                <a:cs typeface="Courier New"/>
                <a:sym typeface="Courier New"/>
              </a:rPr>
              <a:t>db.run(sqlInsert, [data.timestamp, data.device_id, ...]); </a:t>
            </a:r>
          </a:p>
          <a:p>
            <a:pPr algn="l">
              <a:lnSpc>
                <a:spcPts val="2008"/>
              </a:lnSpc>
            </a:pPr>
          </a:p>
          <a:p>
            <a:pPr algn="l">
              <a:lnSpc>
                <a:spcPts val="2008"/>
              </a:lnSpc>
            </a:pPr>
            <a:r>
              <a:rPr lang="en-US" sz="1673">
                <a:solidFill>
                  <a:srgbClr val="D9E7F1"/>
                </a:solidFill>
                <a:latin typeface="Courier New"/>
                <a:ea typeface="Courier New"/>
                <a:cs typeface="Courier New"/>
                <a:sym typeface="Courier New"/>
              </a:rPr>
              <a:t>// 2. Threshold check (2.0°C - 8.0°C)</a:t>
            </a:r>
          </a:p>
          <a:p>
            <a:pPr algn="l">
              <a:lnSpc>
                <a:spcPts val="2008"/>
              </a:lnSpc>
            </a:pPr>
            <a:r>
              <a:rPr lang="en-US" sz="1673">
                <a:solidFill>
                  <a:srgbClr val="D9E7F1"/>
                </a:solidFill>
                <a:latin typeface="Courier New"/>
                <a:ea typeface="Courier New"/>
                <a:cs typeface="Courier New"/>
                <a:sym typeface="Courier New"/>
              </a:rPr>
              <a:t>if (data.temperature &gt; 8.0 || data.temperature &lt; 2.0) { </a:t>
            </a:r>
          </a:p>
          <a:p>
            <a:pPr algn="l">
              <a:lnSpc>
                <a:spcPts val="2008"/>
              </a:lnSpc>
            </a:pPr>
          </a:p>
          <a:p>
            <a:pPr algn="l">
              <a:lnSpc>
                <a:spcPts val="2008"/>
              </a:lnSpc>
            </a:pPr>
            <a:r>
              <a:rPr lang="en-US" sz="1673">
                <a:solidFill>
                  <a:srgbClr val="D9E7F1"/>
                </a:solidFill>
                <a:latin typeface="Courier New"/>
                <a:ea typeface="Courier New"/>
                <a:cs typeface="Courier New"/>
                <a:sym typeface="Courier New"/>
              </a:rPr>
              <a:t>// 3. Log incident to event_logs </a:t>
            </a:r>
          </a:p>
          <a:p>
            <a:pPr algn="l">
              <a:lnSpc>
                <a:spcPts val="2008"/>
              </a:lnSpc>
            </a:pPr>
            <a:r>
              <a:rPr lang="en-US" sz="1673">
                <a:solidFill>
                  <a:srgbClr val="D9E7F1"/>
                </a:solidFill>
                <a:latin typeface="Courier New"/>
                <a:ea typeface="Courier New"/>
                <a:cs typeface="Courier New"/>
                <a:sym typeface="Courier New"/>
              </a:rPr>
              <a:t>db.run(sqlEvent, [data.timestamp, "CRITICAL_TEMP"]); </a:t>
            </a:r>
          </a:p>
          <a:p>
            <a:pPr algn="l">
              <a:lnSpc>
                <a:spcPts val="2008"/>
              </a:lnSpc>
            </a:pPr>
          </a:p>
          <a:p>
            <a:pPr algn="l">
              <a:lnSpc>
                <a:spcPts val="2008"/>
              </a:lnSpc>
            </a:pPr>
            <a:r>
              <a:rPr lang="en-US" sz="1673">
                <a:solidFill>
                  <a:srgbClr val="D9E7F1"/>
                </a:solidFill>
                <a:latin typeface="Courier New"/>
                <a:ea typeface="Courier New"/>
                <a:cs typeface="Courier New"/>
                <a:sym typeface="Courier New"/>
              </a:rPr>
              <a:t>} </a:t>
            </a:r>
          </a:p>
          <a:p>
            <a:pPr algn="l">
              <a:lnSpc>
                <a:spcPts val="2008"/>
              </a:lnSpc>
            </a:pPr>
            <a:r>
              <a:rPr lang="en-US" sz="1673">
                <a:solidFill>
                  <a:srgbClr val="D9E7F1"/>
                </a:solidFill>
                <a:latin typeface="Courier New"/>
                <a:ea typeface="Courier New"/>
                <a:cs typeface="Courier New"/>
                <a:sym typeface="Courier New"/>
              </a:rPr>
              <a:t>});</a:t>
            </a:r>
          </a:p>
        </p:txBody>
      </p:sp>
      <p:grpSp>
        <p:nvGrpSpPr>
          <p:cNvPr name="Group 27" id="27"/>
          <p:cNvGrpSpPr/>
          <p:nvPr/>
        </p:nvGrpSpPr>
        <p:grpSpPr>
          <a:xfrm rot="0">
            <a:off x="10070782" y="3007042"/>
            <a:ext cx="2832735" cy="1392555"/>
            <a:chOff x="0" y="0"/>
            <a:chExt cx="3776980" cy="1856740"/>
          </a:xfrm>
        </p:grpSpPr>
        <p:sp>
          <p:nvSpPr>
            <p:cNvPr name="Freeform 28" id="28"/>
            <p:cNvSpPr/>
            <p:nvPr/>
          </p:nvSpPr>
          <p:spPr>
            <a:xfrm flipH="false" flipV="false" rot="0">
              <a:off x="0" y="0"/>
              <a:ext cx="3776980" cy="1856740"/>
            </a:xfrm>
            <a:custGeom>
              <a:avLst/>
              <a:gdLst/>
              <a:ahLst/>
              <a:cxnLst/>
              <a:rect r="r" b="b" t="t" l="l"/>
              <a:pathLst>
                <a:path h="1856740" w="3776980">
                  <a:moveTo>
                    <a:pt x="0" y="148590"/>
                  </a:moveTo>
                  <a:cubicBezTo>
                    <a:pt x="0" y="66548"/>
                    <a:pt x="66548" y="0"/>
                    <a:pt x="148590" y="0"/>
                  </a:cubicBezTo>
                  <a:lnTo>
                    <a:pt x="3628390" y="0"/>
                  </a:lnTo>
                  <a:cubicBezTo>
                    <a:pt x="3710432" y="0"/>
                    <a:pt x="3776980" y="66548"/>
                    <a:pt x="3776980" y="148590"/>
                  </a:cubicBezTo>
                  <a:lnTo>
                    <a:pt x="3776980" y="1708150"/>
                  </a:lnTo>
                  <a:cubicBezTo>
                    <a:pt x="3776980" y="1790192"/>
                    <a:pt x="3710432" y="1856740"/>
                    <a:pt x="3628390" y="1856740"/>
                  </a:cubicBezTo>
                  <a:lnTo>
                    <a:pt x="148590" y="1856740"/>
                  </a:lnTo>
                  <a:cubicBezTo>
                    <a:pt x="66548" y="1856740"/>
                    <a:pt x="0" y="1790192"/>
                    <a:pt x="0" y="1708150"/>
                  </a:cubicBezTo>
                  <a:close/>
                </a:path>
              </a:pathLst>
            </a:custGeom>
            <a:solidFill>
              <a:srgbClr val="10253B"/>
            </a:solidFill>
            <a:ln w="20955" cap="sq">
              <a:solidFill>
                <a:srgbClr val="46D6F5"/>
              </a:solidFill>
              <a:prstDash val="solid"/>
              <a:miter/>
            </a:ln>
          </p:spPr>
        </p:sp>
      </p:grpSp>
      <p:grpSp>
        <p:nvGrpSpPr>
          <p:cNvPr name="Group 29" id="29"/>
          <p:cNvGrpSpPr/>
          <p:nvPr/>
        </p:nvGrpSpPr>
        <p:grpSpPr>
          <a:xfrm rot="0">
            <a:off x="10245852" y="3209544"/>
            <a:ext cx="2482596" cy="367466"/>
            <a:chOff x="0" y="0"/>
            <a:chExt cx="3310128" cy="489955"/>
          </a:xfrm>
        </p:grpSpPr>
        <p:sp>
          <p:nvSpPr>
            <p:cNvPr name="Freeform 30" id="30"/>
            <p:cNvSpPr/>
            <p:nvPr/>
          </p:nvSpPr>
          <p:spPr>
            <a:xfrm flipH="false" flipV="false" rot="0">
              <a:off x="0" y="0"/>
              <a:ext cx="3310128" cy="489955"/>
            </a:xfrm>
            <a:custGeom>
              <a:avLst/>
              <a:gdLst/>
              <a:ahLst/>
              <a:cxnLst/>
              <a:rect r="r" b="b" t="t" l="l"/>
              <a:pathLst>
                <a:path h="489955" w="3310128">
                  <a:moveTo>
                    <a:pt x="0" y="0"/>
                  </a:moveTo>
                  <a:lnTo>
                    <a:pt x="3310128" y="0"/>
                  </a:lnTo>
                  <a:lnTo>
                    <a:pt x="3310128" y="489955"/>
                  </a:lnTo>
                  <a:lnTo>
                    <a:pt x="0" y="489955"/>
                  </a:lnTo>
                  <a:close/>
                </a:path>
              </a:pathLst>
            </a:custGeom>
            <a:blipFill>
              <a:blip r:embed="rId3">
                <a:alphaModFix amt="0"/>
              </a:blip>
              <a:stretch>
                <a:fillRect l="0" t="-86849" r="0" b="-76431"/>
              </a:stretch>
            </a:blipFill>
          </p:spPr>
        </p:sp>
        <p:sp>
          <p:nvSpPr>
            <p:cNvPr name="TextBox 31" id="31"/>
            <p:cNvSpPr txBox="true"/>
            <p:nvPr/>
          </p:nvSpPr>
          <p:spPr>
            <a:xfrm>
              <a:off x="0" y="0"/>
              <a:ext cx="3310128" cy="489955"/>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MQTT INGESTION</a:t>
              </a:r>
            </a:p>
          </p:txBody>
        </p:sp>
      </p:grpSp>
      <p:grpSp>
        <p:nvGrpSpPr>
          <p:cNvPr name="Group 32" id="32"/>
          <p:cNvGrpSpPr/>
          <p:nvPr/>
        </p:nvGrpSpPr>
        <p:grpSpPr>
          <a:xfrm rot="0">
            <a:off x="10245852" y="3648456"/>
            <a:ext cx="2482596" cy="630936"/>
            <a:chOff x="0" y="0"/>
            <a:chExt cx="3310128" cy="841248"/>
          </a:xfrm>
        </p:grpSpPr>
        <p:sp>
          <p:nvSpPr>
            <p:cNvPr name="Freeform 33" id="33"/>
            <p:cNvSpPr/>
            <p:nvPr/>
          </p:nvSpPr>
          <p:spPr>
            <a:xfrm flipH="false" flipV="false" rot="0">
              <a:off x="0" y="0"/>
              <a:ext cx="3310128" cy="841248"/>
            </a:xfrm>
            <a:custGeom>
              <a:avLst/>
              <a:gdLst/>
              <a:ahLst/>
              <a:cxnLst/>
              <a:rect r="r" b="b" t="t" l="l"/>
              <a:pathLst>
                <a:path h="841248" w="3310128">
                  <a:moveTo>
                    <a:pt x="0" y="0"/>
                  </a:moveTo>
                  <a:lnTo>
                    <a:pt x="3310128" y="0"/>
                  </a:lnTo>
                  <a:lnTo>
                    <a:pt x="3310128" y="841248"/>
                  </a:lnTo>
                  <a:lnTo>
                    <a:pt x="0" y="841248"/>
                  </a:lnTo>
                  <a:close/>
                </a:path>
              </a:pathLst>
            </a:custGeom>
            <a:blipFill>
              <a:blip r:embed="rId3">
                <a:alphaModFix amt="0"/>
              </a:blip>
              <a:stretch>
                <a:fillRect l="0" t="-26669" r="0" b="-26669"/>
              </a:stretch>
            </a:blipFill>
          </p:spPr>
        </p:sp>
        <p:sp>
          <p:nvSpPr>
            <p:cNvPr name="TextBox 34" id="34"/>
            <p:cNvSpPr txBox="true"/>
            <p:nvPr/>
          </p:nvSpPr>
          <p:spPr>
            <a:xfrm>
              <a:off x="0" y="-9525"/>
              <a:ext cx="3310128" cy="85077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Listen to topic via mqtt.js</a:t>
              </a:r>
            </a:p>
          </p:txBody>
        </p:sp>
      </p:grpSp>
      <p:sp>
        <p:nvSpPr>
          <p:cNvPr name="AutoShape 35" id="35"/>
          <p:cNvSpPr/>
          <p:nvPr/>
        </p:nvSpPr>
        <p:spPr>
          <a:xfrm rot="130080">
            <a:off x="13082283" y="3693795"/>
            <a:ext cx="855955" cy="0"/>
          </a:xfrm>
          <a:prstGeom prst="line">
            <a:avLst/>
          </a:prstGeom>
          <a:ln cap="rnd" w="19050">
            <a:solidFill>
              <a:srgbClr val="1D3850"/>
            </a:solidFill>
            <a:prstDash val="solid"/>
            <a:headEnd type="none" len="sm" w="sm"/>
            <a:tailEnd type="triangle" len="med" w="lg"/>
          </a:ln>
        </p:spPr>
      </p:sp>
      <p:grpSp>
        <p:nvGrpSpPr>
          <p:cNvPr name="Group 36" id="36"/>
          <p:cNvGrpSpPr/>
          <p:nvPr/>
        </p:nvGrpSpPr>
        <p:grpSpPr>
          <a:xfrm rot="0">
            <a:off x="13979843" y="3007042"/>
            <a:ext cx="2969895" cy="1392555"/>
            <a:chOff x="0" y="0"/>
            <a:chExt cx="3959860" cy="1856740"/>
          </a:xfrm>
        </p:grpSpPr>
        <p:sp>
          <p:nvSpPr>
            <p:cNvPr name="Freeform 37" id="37"/>
            <p:cNvSpPr/>
            <p:nvPr/>
          </p:nvSpPr>
          <p:spPr>
            <a:xfrm flipH="false" flipV="false" rot="0">
              <a:off x="0" y="0"/>
              <a:ext cx="3959860" cy="1856740"/>
            </a:xfrm>
            <a:custGeom>
              <a:avLst/>
              <a:gdLst/>
              <a:ahLst/>
              <a:cxnLst/>
              <a:rect r="r" b="b" t="t" l="l"/>
              <a:pathLst>
                <a:path h="1856740" w="3959860">
                  <a:moveTo>
                    <a:pt x="0" y="148590"/>
                  </a:moveTo>
                  <a:cubicBezTo>
                    <a:pt x="0" y="66548"/>
                    <a:pt x="66548" y="0"/>
                    <a:pt x="148590" y="0"/>
                  </a:cubicBezTo>
                  <a:lnTo>
                    <a:pt x="3811270" y="0"/>
                  </a:lnTo>
                  <a:cubicBezTo>
                    <a:pt x="3893312" y="0"/>
                    <a:pt x="3959860" y="66548"/>
                    <a:pt x="3959860" y="148590"/>
                  </a:cubicBezTo>
                  <a:lnTo>
                    <a:pt x="3959860" y="1708150"/>
                  </a:lnTo>
                  <a:cubicBezTo>
                    <a:pt x="3959860" y="1790192"/>
                    <a:pt x="3893312" y="1856740"/>
                    <a:pt x="3811270" y="1856740"/>
                  </a:cubicBezTo>
                  <a:lnTo>
                    <a:pt x="148590" y="1856740"/>
                  </a:lnTo>
                  <a:cubicBezTo>
                    <a:pt x="66548" y="1856740"/>
                    <a:pt x="0" y="1790192"/>
                    <a:pt x="0" y="1708150"/>
                  </a:cubicBezTo>
                  <a:close/>
                </a:path>
              </a:pathLst>
            </a:custGeom>
            <a:solidFill>
              <a:srgbClr val="10253B"/>
            </a:solidFill>
            <a:ln w="20955" cap="sq">
              <a:solidFill>
                <a:srgbClr val="68A8FF"/>
              </a:solidFill>
              <a:prstDash val="solid"/>
              <a:miter/>
            </a:ln>
          </p:spPr>
        </p:sp>
      </p:grpSp>
      <p:grpSp>
        <p:nvGrpSpPr>
          <p:cNvPr name="Group 38" id="38"/>
          <p:cNvGrpSpPr/>
          <p:nvPr/>
        </p:nvGrpSpPr>
        <p:grpSpPr>
          <a:xfrm rot="0">
            <a:off x="14154912" y="3209544"/>
            <a:ext cx="2619756" cy="367466"/>
            <a:chOff x="0" y="0"/>
            <a:chExt cx="3493008" cy="489955"/>
          </a:xfrm>
        </p:grpSpPr>
        <p:sp>
          <p:nvSpPr>
            <p:cNvPr name="Freeform 39" id="39"/>
            <p:cNvSpPr/>
            <p:nvPr/>
          </p:nvSpPr>
          <p:spPr>
            <a:xfrm flipH="false" flipV="false" rot="0">
              <a:off x="0" y="0"/>
              <a:ext cx="3493008" cy="489955"/>
            </a:xfrm>
            <a:custGeom>
              <a:avLst/>
              <a:gdLst/>
              <a:ahLst/>
              <a:cxnLst/>
              <a:rect r="r" b="b" t="t" l="l"/>
              <a:pathLst>
                <a:path h="489955" w="3493008">
                  <a:moveTo>
                    <a:pt x="0" y="0"/>
                  </a:moveTo>
                  <a:lnTo>
                    <a:pt x="3493008" y="0"/>
                  </a:lnTo>
                  <a:lnTo>
                    <a:pt x="3493008" y="489955"/>
                  </a:lnTo>
                  <a:lnTo>
                    <a:pt x="0" y="489955"/>
                  </a:lnTo>
                  <a:close/>
                </a:path>
              </a:pathLst>
            </a:custGeom>
            <a:blipFill>
              <a:blip r:embed="rId3">
                <a:alphaModFix amt="0"/>
              </a:blip>
              <a:stretch>
                <a:fillRect l="0" t="-94122" r="0" b="-83704"/>
              </a:stretch>
            </a:blipFill>
          </p:spPr>
        </p:sp>
        <p:sp>
          <p:nvSpPr>
            <p:cNvPr name="TextBox 40" id="40"/>
            <p:cNvSpPr txBox="true"/>
            <p:nvPr/>
          </p:nvSpPr>
          <p:spPr>
            <a:xfrm>
              <a:off x="0" y="0"/>
              <a:ext cx="3493008" cy="489955"/>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PROCESS &amp; VALIDATE</a:t>
              </a:r>
            </a:p>
          </p:txBody>
        </p:sp>
      </p:grpSp>
      <p:grpSp>
        <p:nvGrpSpPr>
          <p:cNvPr name="Group 41" id="41"/>
          <p:cNvGrpSpPr/>
          <p:nvPr/>
        </p:nvGrpSpPr>
        <p:grpSpPr>
          <a:xfrm rot="0">
            <a:off x="14154912" y="3648456"/>
            <a:ext cx="2619756" cy="630936"/>
            <a:chOff x="0" y="0"/>
            <a:chExt cx="3493008" cy="841248"/>
          </a:xfrm>
        </p:grpSpPr>
        <p:sp>
          <p:nvSpPr>
            <p:cNvPr name="Freeform 42" id="42"/>
            <p:cNvSpPr/>
            <p:nvPr/>
          </p:nvSpPr>
          <p:spPr>
            <a:xfrm flipH="false" flipV="false" rot="0">
              <a:off x="0" y="0"/>
              <a:ext cx="3493008" cy="841248"/>
            </a:xfrm>
            <a:custGeom>
              <a:avLst/>
              <a:gdLst/>
              <a:ahLst/>
              <a:cxnLst/>
              <a:rect r="r" b="b" t="t" l="l"/>
              <a:pathLst>
                <a:path h="841248" w="3493008">
                  <a:moveTo>
                    <a:pt x="0" y="0"/>
                  </a:moveTo>
                  <a:lnTo>
                    <a:pt x="3493008" y="0"/>
                  </a:lnTo>
                  <a:lnTo>
                    <a:pt x="3493008" y="841248"/>
                  </a:lnTo>
                  <a:lnTo>
                    <a:pt x="0" y="841248"/>
                  </a:lnTo>
                  <a:close/>
                </a:path>
              </a:pathLst>
            </a:custGeom>
            <a:blipFill>
              <a:blip r:embed="rId3">
                <a:alphaModFix amt="0"/>
              </a:blip>
              <a:stretch>
                <a:fillRect l="0" t="-30905" r="0" b="-30905"/>
              </a:stretch>
            </a:blipFill>
          </p:spPr>
        </p:sp>
        <p:sp>
          <p:nvSpPr>
            <p:cNvPr name="TextBox 43" id="43"/>
            <p:cNvSpPr txBox="true"/>
            <p:nvPr/>
          </p:nvSpPr>
          <p:spPr>
            <a:xfrm>
              <a:off x="0" y="-9525"/>
              <a:ext cx="3493008" cy="85077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JSON parsing &amp; threshold check</a:t>
              </a:r>
            </a:p>
          </p:txBody>
        </p:sp>
      </p:grpSp>
      <p:grpSp>
        <p:nvGrpSpPr>
          <p:cNvPr name="Group 44" id="44"/>
          <p:cNvGrpSpPr/>
          <p:nvPr/>
        </p:nvGrpSpPr>
        <p:grpSpPr>
          <a:xfrm rot="0">
            <a:off x="10070782" y="5037010"/>
            <a:ext cx="2832735" cy="1392555"/>
            <a:chOff x="0" y="0"/>
            <a:chExt cx="3776980" cy="1856740"/>
          </a:xfrm>
        </p:grpSpPr>
        <p:sp>
          <p:nvSpPr>
            <p:cNvPr name="Freeform 45" id="45"/>
            <p:cNvSpPr/>
            <p:nvPr/>
          </p:nvSpPr>
          <p:spPr>
            <a:xfrm flipH="false" flipV="false" rot="0">
              <a:off x="0" y="0"/>
              <a:ext cx="3776980" cy="1856740"/>
            </a:xfrm>
            <a:custGeom>
              <a:avLst/>
              <a:gdLst/>
              <a:ahLst/>
              <a:cxnLst/>
              <a:rect r="r" b="b" t="t" l="l"/>
              <a:pathLst>
                <a:path h="1856740" w="3776980">
                  <a:moveTo>
                    <a:pt x="0" y="148590"/>
                  </a:moveTo>
                  <a:cubicBezTo>
                    <a:pt x="0" y="66548"/>
                    <a:pt x="66548" y="0"/>
                    <a:pt x="148590" y="0"/>
                  </a:cubicBezTo>
                  <a:lnTo>
                    <a:pt x="3628390" y="0"/>
                  </a:lnTo>
                  <a:cubicBezTo>
                    <a:pt x="3710432" y="0"/>
                    <a:pt x="3776980" y="66548"/>
                    <a:pt x="3776980" y="148590"/>
                  </a:cubicBezTo>
                  <a:lnTo>
                    <a:pt x="3776980" y="1708150"/>
                  </a:lnTo>
                  <a:cubicBezTo>
                    <a:pt x="3776980" y="1790192"/>
                    <a:pt x="3710432" y="1856740"/>
                    <a:pt x="3628390" y="1856740"/>
                  </a:cubicBezTo>
                  <a:lnTo>
                    <a:pt x="148590" y="1856740"/>
                  </a:lnTo>
                  <a:cubicBezTo>
                    <a:pt x="66548" y="1856740"/>
                    <a:pt x="0" y="1790192"/>
                    <a:pt x="0" y="1708150"/>
                  </a:cubicBezTo>
                  <a:close/>
                </a:path>
              </a:pathLst>
            </a:custGeom>
            <a:solidFill>
              <a:srgbClr val="10253B"/>
            </a:solidFill>
            <a:ln w="20955" cap="sq">
              <a:solidFill>
                <a:srgbClr val="76E2A1"/>
              </a:solidFill>
              <a:prstDash val="solid"/>
              <a:miter/>
            </a:ln>
          </p:spPr>
        </p:sp>
      </p:grpSp>
      <p:grpSp>
        <p:nvGrpSpPr>
          <p:cNvPr name="Group 46" id="46"/>
          <p:cNvGrpSpPr/>
          <p:nvPr/>
        </p:nvGrpSpPr>
        <p:grpSpPr>
          <a:xfrm rot="0">
            <a:off x="10245852" y="5239512"/>
            <a:ext cx="2482596" cy="367466"/>
            <a:chOff x="0" y="0"/>
            <a:chExt cx="3310128" cy="489955"/>
          </a:xfrm>
        </p:grpSpPr>
        <p:sp>
          <p:nvSpPr>
            <p:cNvPr name="Freeform 47" id="47"/>
            <p:cNvSpPr/>
            <p:nvPr/>
          </p:nvSpPr>
          <p:spPr>
            <a:xfrm flipH="false" flipV="false" rot="0">
              <a:off x="0" y="0"/>
              <a:ext cx="3310128" cy="489955"/>
            </a:xfrm>
            <a:custGeom>
              <a:avLst/>
              <a:gdLst/>
              <a:ahLst/>
              <a:cxnLst/>
              <a:rect r="r" b="b" t="t" l="l"/>
              <a:pathLst>
                <a:path h="489955" w="3310128">
                  <a:moveTo>
                    <a:pt x="0" y="0"/>
                  </a:moveTo>
                  <a:lnTo>
                    <a:pt x="3310128" y="0"/>
                  </a:lnTo>
                  <a:lnTo>
                    <a:pt x="3310128" y="489955"/>
                  </a:lnTo>
                  <a:lnTo>
                    <a:pt x="0" y="489955"/>
                  </a:lnTo>
                  <a:close/>
                </a:path>
              </a:pathLst>
            </a:custGeom>
            <a:blipFill>
              <a:blip r:embed="rId3">
                <a:alphaModFix amt="0"/>
              </a:blip>
              <a:stretch>
                <a:fillRect l="0" t="-86849" r="0" b="-76431"/>
              </a:stretch>
            </a:blipFill>
          </p:spPr>
        </p:sp>
        <p:sp>
          <p:nvSpPr>
            <p:cNvPr name="TextBox 48" id="48"/>
            <p:cNvSpPr txBox="true"/>
            <p:nvPr/>
          </p:nvSpPr>
          <p:spPr>
            <a:xfrm>
              <a:off x="0" y="0"/>
              <a:ext cx="3310128" cy="489955"/>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SQLITE DATABASE</a:t>
              </a:r>
            </a:p>
          </p:txBody>
        </p:sp>
      </p:grpSp>
      <p:grpSp>
        <p:nvGrpSpPr>
          <p:cNvPr name="Group 49" id="49"/>
          <p:cNvGrpSpPr/>
          <p:nvPr/>
        </p:nvGrpSpPr>
        <p:grpSpPr>
          <a:xfrm rot="0">
            <a:off x="10245852" y="5678424"/>
            <a:ext cx="2482596" cy="630936"/>
            <a:chOff x="0" y="0"/>
            <a:chExt cx="3310128" cy="841248"/>
          </a:xfrm>
        </p:grpSpPr>
        <p:sp>
          <p:nvSpPr>
            <p:cNvPr name="Freeform 50" id="50"/>
            <p:cNvSpPr/>
            <p:nvPr/>
          </p:nvSpPr>
          <p:spPr>
            <a:xfrm flipH="false" flipV="false" rot="0">
              <a:off x="0" y="0"/>
              <a:ext cx="3310128" cy="841248"/>
            </a:xfrm>
            <a:custGeom>
              <a:avLst/>
              <a:gdLst/>
              <a:ahLst/>
              <a:cxnLst/>
              <a:rect r="r" b="b" t="t" l="l"/>
              <a:pathLst>
                <a:path h="841248" w="3310128">
                  <a:moveTo>
                    <a:pt x="0" y="0"/>
                  </a:moveTo>
                  <a:lnTo>
                    <a:pt x="3310128" y="0"/>
                  </a:lnTo>
                  <a:lnTo>
                    <a:pt x="3310128" y="841248"/>
                  </a:lnTo>
                  <a:lnTo>
                    <a:pt x="0" y="841248"/>
                  </a:lnTo>
                  <a:close/>
                </a:path>
              </a:pathLst>
            </a:custGeom>
            <a:blipFill>
              <a:blip r:embed="rId3">
                <a:alphaModFix amt="0"/>
              </a:blip>
              <a:stretch>
                <a:fillRect l="0" t="-26669" r="0" b="-26669"/>
              </a:stretch>
            </a:blipFill>
          </p:spPr>
        </p:sp>
        <p:sp>
          <p:nvSpPr>
            <p:cNvPr name="TextBox 51" id="51"/>
            <p:cNvSpPr txBox="true"/>
            <p:nvPr/>
          </p:nvSpPr>
          <p:spPr>
            <a:xfrm>
              <a:off x="0" y="-9525"/>
              <a:ext cx="3310128" cy="85077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telemetry_data &amp; event_logs</a:t>
              </a:r>
            </a:p>
          </p:txBody>
        </p:sp>
      </p:grpSp>
      <p:sp>
        <p:nvSpPr>
          <p:cNvPr name="AutoShape 52" id="52"/>
          <p:cNvSpPr/>
          <p:nvPr/>
        </p:nvSpPr>
        <p:spPr>
          <a:xfrm rot="130080">
            <a:off x="13082283" y="5723763"/>
            <a:ext cx="855955" cy="0"/>
          </a:xfrm>
          <a:prstGeom prst="line">
            <a:avLst/>
          </a:prstGeom>
          <a:ln cap="rnd" w="19050">
            <a:solidFill>
              <a:srgbClr val="1D3850"/>
            </a:solidFill>
            <a:prstDash val="solid"/>
            <a:headEnd type="none" len="sm" w="sm"/>
            <a:tailEnd type="triangle" len="med" w="lg"/>
          </a:ln>
        </p:spPr>
      </p:sp>
      <p:grpSp>
        <p:nvGrpSpPr>
          <p:cNvPr name="Group 53" id="53"/>
          <p:cNvGrpSpPr/>
          <p:nvPr/>
        </p:nvGrpSpPr>
        <p:grpSpPr>
          <a:xfrm rot="0">
            <a:off x="13979843" y="5037010"/>
            <a:ext cx="2969895" cy="1392555"/>
            <a:chOff x="0" y="0"/>
            <a:chExt cx="3959860" cy="1856740"/>
          </a:xfrm>
        </p:grpSpPr>
        <p:sp>
          <p:nvSpPr>
            <p:cNvPr name="Freeform 54" id="54"/>
            <p:cNvSpPr/>
            <p:nvPr/>
          </p:nvSpPr>
          <p:spPr>
            <a:xfrm flipH="false" flipV="false" rot="0">
              <a:off x="0" y="0"/>
              <a:ext cx="3959860" cy="1856740"/>
            </a:xfrm>
            <a:custGeom>
              <a:avLst/>
              <a:gdLst/>
              <a:ahLst/>
              <a:cxnLst/>
              <a:rect r="r" b="b" t="t" l="l"/>
              <a:pathLst>
                <a:path h="1856740" w="3959860">
                  <a:moveTo>
                    <a:pt x="0" y="148590"/>
                  </a:moveTo>
                  <a:cubicBezTo>
                    <a:pt x="0" y="66548"/>
                    <a:pt x="66548" y="0"/>
                    <a:pt x="148590" y="0"/>
                  </a:cubicBezTo>
                  <a:lnTo>
                    <a:pt x="3811270" y="0"/>
                  </a:lnTo>
                  <a:cubicBezTo>
                    <a:pt x="3893312" y="0"/>
                    <a:pt x="3959860" y="66548"/>
                    <a:pt x="3959860" y="148590"/>
                  </a:cubicBezTo>
                  <a:lnTo>
                    <a:pt x="3959860" y="1708150"/>
                  </a:lnTo>
                  <a:cubicBezTo>
                    <a:pt x="3959860" y="1790192"/>
                    <a:pt x="3893312" y="1856740"/>
                    <a:pt x="3811270" y="1856740"/>
                  </a:cubicBezTo>
                  <a:lnTo>
                    <a:pt x="148590" y="1856740"/>
                  </a:lnTo>
                  <a:cubicBezTo>
                    <a:pt x="66548" y="1856740"/>
                    <a:pt x="0" y="1790192"/>
                    <a:pt x="0" y="1708150"/>
                  </a:cubicBezTo>
                  <a:close/>
                </a:path>
              </a:pathLst>
            </a:custGeom>
            <a:solidFill>
              <a:srgbClr val="10253B"/>
            </a:solidFill>
            <a:ln w="20955" cap="sq">
              <a:solidFill>
                <a:srgbClr val="F6C85F"/>
              </a:solidFill>
              <a:prstDash val="solid"/>
              <a:miter/>
            </a:ln>
          </p:spPr>
        </p:sp>
      </p:grpSp>
      <p:grpSp>
        <p:nvGrpSpPr>
          <p:cNvPr name="Group 55" id="55"/>
          <p:cNvGrpSpPr/>
          <p:nvPr/>
        </p:nvGrpSpPr>
        <p:grpSpPr>
          <a:xfrm rot="0">
            <a:off x="14154912" y="5239512"/>
            <a:ext cx="2619756" cy="367466"/>
            <a:chOff x="0" y="0"/>
            <a:chExt cx="3493008" cy="489955"/>
          </a:xfrm>
        </p:grpSpPr>
        <p:sp>
          <p:nvSpPr>
            <p:cNvPr name="Freeform 56" id="56"/>
            <p:cNvSpPr/>
            <p:nvPr/>
          </p:nvSpPr>
          <p:spPr>
            <a:xfrm flipH="false" flipV="false" rot="0">
              <a:off x="0" y="0"/>
              <a:ext cx="3493008" cy="489955"/>
            </a:xfrm>
            <a:custGeom>
              <a:avLst/>
              <a:gdLst/>
              <a:ahLst/>
              <a:cxnLst/>
              <a:rect r="r" b="b" t="t" l="l"/>
              <a:pathLst>
                <a:path h="489955" w="3493008">
                  <a:moveTo>
                    <a:pt x="0" y="0"/>
                  </a:moveTo>
                  <a:lnTo>
                    <a:pt x="3493008" y="0"/>
                  </a:lnTo>
                  <a:lnTo>
                    <a:pt x="3493008" y="489955"/>
                  </a:lnTo>
                  <a:lnTo>
                    <a:pt x="0" y="489955"/>
                  </a:lnTo>
                  <a:close/>
                </a:path>
              </a:pathLst>
            </a:custGeom>
            <a:blipFill>
              <a:blip r:embed="rId3">
                <a:alphaModFix amt="0"/>
              </a:blip>
              <a:stretch>
                <a:fillRect l="0" t="-94122" r="0" b="-83704"/>
              </a:stretch>
            </a:blipFill>
          </p:spPr>
        </p:sp>
        <p:sp>
          <p:nvSpPr>
            <p:cNvPr name="TextBox 57" id="57"/>
            <p:cNvSpPr txBox="true"/>
            <p:nvPr/>
          </p:nvSpPr>
          <p:spPr>
            <a:xfrm>
              <a:off x="0" y="0"/>
              <a:ext cx="3493008" cy="489955"/>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EXPRESS REST API</a:t>
              </a:r>
            </a:p>
          </p:txBody>
        </p:sp>
      </p:grpSp>
      <p:grpSp>
        <p:nvGrpSpPr>
          <p:cNvPr name="Group 58" id="58"/>
          <p:cNvGrpSpPr/>
          <p:nvPr/>
        </p:nvGrpSpPr>
        <p:grpSpPr>
          <a:xfrm rot="0">
            <a:off x="14154912" y="5678424"/>
            <a:ext cx="2619756" cy="630936"/>
            <a:chOff x="0" y="0"/>
            <a:chExt cx="3493008" cy="841248"/>
          </a:xfrm>
        </p:grpSpPr>
        <p:sp>
          <p:nvSpPr>
            <p:cNvPr name="Freeform 59" id="59"/>
            <p:cNvSpPr/>
            <p:nvPr/>
          </p:nvSpPr>
          <p:spPr>
            <a:xfrm flipH="false" flipV="false" rot="0">
              <a:off x="0" y="0"/>
              <a:ext cx="3493008" cy="841248"/>
            </a:xfrm>
            <a:custGeom>
              <a:avLst/>
              <a:gdLst/>
              <a:ahLst/>
              <a:cxnLst/>
              <a:rect r="r" b="b" t="t" l="l"/>
              <a:pathLst>
                <a:path h="841248" w="3493008">
                  <a:moveTo>
                    <a:pt x="0" y="0"/>
                  </a:moveTo>
                  <a:lnTo>
                    <a:pt x="3493008" y="0"/>
                  </a:lnTo>
                  <a:lnTo>
                    <a:pt x="3493008" y="841248"/>
                  </a:lnTo>
                  <a:lnTo>
                    <a:pt x="0" y="841248"/>
                  </a:lnTo>
                  <a:close/>
                </a:path>
              </a:pathLst>
            </a:custGeom>
            <a:blipFill>
              <a:blip r:embed="rId3">
                <a:alphaModFix amt="0"/>
              </a:blip>
              <a:stretch>
                <a:fillRect l="0" t="-30905" r="0" b="-30905"/>
              </a:stretch>
            </a:blipFill>
          </p:spPr>
        </p:sp>
        <p:sp>
          <p:nvSpPr>
            <p:cNvPr name="TextBox 60" id="60"/>
            <p:cNvSpPr txBox="true"/>
            <p:nvPr/>
          </p:nvSpPr>
          <p:spPr>
            <a:xfrm>
              <a:off x="0" y="-9525"/>
              <a:ext cx="3493008" cy="85077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GET /api/history &amp; /api/events</a:t>
              </a:r>
            </a:p>
          </p:txBody>
        </p:sp>
      </p:grpSp>
      <p:grpSp>
        <p:nvGrpSpPr>
          <p:cNvPr name="Group 61" id="61"/>
          <p:cNvGrpSpPr/>
          <p:nvPr/>
        </p:nvGrpSpPr>
        <p:grpSpPr>
          <a:xfrm rot="0">
            <a:off x="10076498" y="6915340"/>
            <a:ext cx="6873240" cy="2837307"/>
            <a:chOff x="0" y="0"/>
            <a:chExt cx="9164320" cy="3783076"/>
          </a:xfrm>
        </p:grpSpPr>
        <p:sp>
          <p:nvSpPr>
            <p:cNvPr name="Freeform 62" id="62"/>
            <p:cNvSpPr/>
            <p:nvPr/>
          </p:nvSpPr>
          <p:spPr>
            <a:xfrm flipH="false" flipV="false" rot="0">
              <a:off x="0" y="0"/>
              <a:ext cx="9164320" cy="3782744"/>
            </a:xfrm>
            <a:custGeom>
              <a:avLst/>
              <a:gdLst/>
              <a:ahLst/>
              <a:cxnLst/>
              <a:rect r="r" b="b" t="t" l="l"/>
              <a:pathLst>
                <a:path h="3782744" w="9164320">
                  <a:moveTo>
                    <a:pt x="0" y="387872"/>
                  </a:moveTo>
                  <a:cubicBezTo>
                    <a:pt x="0" y="173679"/>
                    <a:pt x="66421" y="0"/>
                    <a:pt x="148336" y="0"/>
                  </a:cubicBezTo>
                  <a:lnTo>
                    <a:pt x="9015984" y="0"/>
                  </a:lnTo>
                  <a:cubicBezTo>
                    <a:pt x="9097899" y="0"/>
                    <a:pt x="9164320" y="173679"/>
                    <a:pt x="9164320" y="387872"/>
                  </a:cubicBezTo>
                  <a:lnTo>
                    <a:pt x="9164320" y="3394873"/>
                  </a:lnTo>
                  <a:cubicBezTo>
                    <a:pt x="9164320" y="3609065"/>
                    <a:pt x="9097899" y="3782744"/>
                    <a:pt x="9015984" y="3782744"/>
                  </a:cubicBezTo>
                  <a:lnTo>
                    <a:pt x="148336" y="3782744"/>
                  </a:lnTo>
                  <a:cubicBezTo>
                    <a:pt x="66421" y="3783076"/>
                    <a:pt x="0" y="3609397"/>
                    <a:pt x="0" y="3395204"/>
                  </a:cubicBezTo>
                  <a:close/>
                </a:path>
              </a:pathLst>
            </a:custGeom>
            <a:solidFill>
              <a:srgbClr val="0E1D30"/>
            </a:solidFill>
            <a:ln w="15240" cap="sq">
              <a:solidFill>
                <a:srgbClr val="1D3850"/>
              </a:solidFill>
              <a:prstDash val="solid"/>
              <a:miter/>
            </a:ln>
          </p:spPr>
        </p:sp>
      </p:grpSp>
      <p:grpSp>
        <p:nvGrpSpPr>
          <p:cNvPr name="Group 63" id="63"/>
          <p:cNvGrpSpPr/>
          <p:nvPr/>
        </p:nvGrpSpPr>
        <p:grpSpPr>
          <a:xfrm rot="0">
            <a:off x="10248710" y="6982206"/>
            <a:ext cx="6391656" cy="2363677"/>
            <a:chOff x="0" y="0"/>
            <a:chExt cx="7315200" cy="2705210"/>
          </a:xfrm>
        </p:grpSpPr>
        <p:sp>
          <p:nvSpPr>
            <p:cNvPr name="Freeform 64" id="64"/>
            <p:cNvSpPr/>
            <p:nvPr/>
          </p:nvSpPr>
          <p:spPr>
            <a:xfrm flipH="false" flipV="false" rot="0">
              <a:off x="0" y="0"/>
              <a:ext cx="7315200" cy="2705210"/>
            </a:xfrm>
            <a:custGeom>
              <a:avLst/>
              <a:gdLst/>
              <a:ahLst/>
              <a:cxnLst/>
              <a:rect r="r" b="b" t="t" l="l"/>
              <a:pathLst>
                <a:path h="2705210" w="7315200">
                  <a:moveTo>
                    <a:pt x="0" y="0"/>
                  </a:moveTo>
                  <a:lnTo>
                    <a:pt x="7315200" y="0"/>
                  </a:lnTo>
                  <a:lnTo>
                    <a:pt x="7315200" y="2705210"/>
                  </a:lnTo>
                  <a:lnTo>
                    <a:pt x="0" y="2705210"/>
                  </a:lnTo>
                  <a:close/>
                </a:path>
              </a:pathLst>
            </a:custGeom>
            <a:blipFill>
              <a:blip r:embed="rId3">
                <a:alphaModFix amt="0"/>
              </a:blip>
              <a:stretch>
                <a:fillRect l="0" t="-44239" r="0" b="38859"/>
              </a:stretch>
            </a:blipFill>
          </p:spPr>
        </p:sp>
        <p:sp>
          <p:nvSpPr>
            <p:cNvPr name="TextBox 65" id="65"/>
            <p:cNvSpPr txBox="true"/>
            <p:nvPr/>
          </p:nvSpPr>
          <p:spPr>
            <a:xfrm>
              <a:off x="0" y="0"/>
              <a:ext cx="7315200" cy="2705210"/>
            </a:xfrm>
            <a:prstGeom prst="rect">
              <a:avLst/>
            </a:prstGeom>
          </p:spPr>
          <p:txBody>
            <a:bodyPr anchor="ctr" rtlCol="false" tIns="0" lIns="0" bIns="0" rIns="0"/>
            <a:lstStyle/>
            <a:p>
              <a:pPr algn="ctr">
                <a:lnSpc>
                  <a:spcPts val="3059"/>
                </a:lnSpc>
              </a:pPr>
              <a:r>
                <a:rPr lang="en-US" sz="2549" b="true">
                  <a:solidFill>
                    <a:srgbClr val="9BAFC2"/>
                  </a:solidFill>
                  <a:latin typeface="Aptos Bold"/>
                  <a:ea typeface="Aptos Bold"/>
                  <a:cs typeface="Aptos Bold"/>
                  <a:sym typeface="Aptos Bold"/>
                </a:rPr>
                <a:t>DESIGN BENEFIT</a:t>
              </a:r>
            </a:p>
            <a:p>
              <a:pPr algn="ctr">
                <a:lnSpc>
                  <a:spcPts val="3059"/>
                </a:lnSpc>
              </a:pPr>
            </a:p>
            <a:p>
              <a:pPr algn="l">
                <a:lnSpc>
                  <a:spcPts val="2219"/>
                </a:lnSpc>
              </a:pPr>
            </a:p>
            <a:p>
              <a:pPr algn="l">
                <a:lnSpc>
                  <a:spcPts val="2219"/>
                </a:lnSpc>
              </a:pPr>
              <a:r>
                <a:rPr lang="en-US" sz="1849" b="true">
                  <a:solidFill>
                    <a:srgbClr val="9BAFC2"/>
                  </a:solidFill>
                  <a:latin typeface="Aptos Bold"/>
                  <a:ea typeface="Aptos Bold"/>
                  <a:cs typeface="Aptos Bold"/>
                  <a:sym typeface="Aptos Bold"/>
                </a:rPr>
                <a:t>Decoupling the MQTT data collection flow from the HTTP data retrieval flow, enhancing system security and scalability</a:t>
              </a:r>
            </a:p>
          </p:txBody>
        </p:sp>
      </p:grpSp>
      <p:sp>
        <p:nvSpPr>
          <p:cNvPr name="TextBox 66" id="66"/>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46D6F5"/>
            </a:solidFill>
            <a:ln w="19050" cap="sq">
              <a:solidFill>
                <a:srgbClr val="46D6F5"/>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05</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5 • DATABASE DESIGN</a:t>
              </a:r>
            </a:p>
          </p:txBody>
        </p:sp>
      </p:grpSp>
      <p:grpSp>
        <p:nvGrpSpPr>
          <p:cNvPr name="Group 15" id="15"/>
          <p:cNvGrpSpPr/>
          <p:nvPr/>
        </p:nvGrpSpPr>
        <p:grpSpPr>
          <a:xfrm rot="0">
            <a:off x="617220" y="115519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Embedded SQLite Data Model</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Optimizing query performance by separating time-series data and incident logs</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617220" y="2830998"/>
            <a:ext cx="9688830" cy="5642610"/>
            <a:chOff x="0" y="0"/>
            <a:chExt cx="12918440" cy="7523480"/>
          </a:xfrm>
        </p:grpSpPr>
        <p:sp>
          <p:nvSpPr>
            <p:cNvPr name="Freeform 23" id="23"/>
            <p:cNvSpPr/>
            <p:nvPr/>
          </p:nvSpPr>
          <p:spPr>
            <a:xfrm flipH="false" flipV="false" rot="0">
              <a:off x="0" y="0"/>
              <a:ext cx="12918439" cy="7523480"/>
            </a:xfrm>
            <a:custGeom>
              <a:avLst/>
              <a:gdLst/>
              <a:ahLst/>
              <a:cxnLst/>
              <a:rect r="r" b="b" t="t" l="l"/>
              <a:pathLst>
                <a:path h="7523480" w="12918439">
                  <a:moveTo>
                    <a:pt x="0" y="91821"/>
                  </a:moveTo>
                  <a:cubicBezTo>
                    <a:pt x="0" y="41148"/>
                    <a:pt x="41148" y="0"/>
                    <a:pt x="91821" y="0"/>
                  </a:cubicBezTo>
                  <a:lnTo>
                    <a:pt x="12826619" y="0"/>
                  </a:lnTo>
                  <a:cubicBezTo>
                    <a:pt x="12877292" y="0"/>
                    <a:pt x="12918439" y="41148"/>
                    <a:pt x="12918439" y="91821"/>
                  </a:cubicBezTo>
                  <a:lnTo>
                    <a:pt x="12918439" y="7431659"/>
                  </a:lnTo>
                  <a:cubicBezTo>
                    <a:pt x="12918439" y="7482332"/>
                    <a:pt x="12877292" y="7523480"/>
                    <a:pt x="12826619" y="7523480"/>
                  </a:cubicBezTo>
                  <a:lnTo>
                    <a:pt x="91821" y="7523480"/>
                  </a:lnTo>
                  <a:cubicBezTo>
                    <a:pt x="41148" y="7523480"/>
                    <a:pt x="0" y="7482332"/>
                    <a:pt x="0" y="7431659"/>
                  </a:cubicBezTo>
                  <a:close/>
                </a:path>
              </a:pathLst>
            </a:custGeom>
            <a:solidFill>
              <a:srgbClr val="10253B"/>
            </a:solidFill>
            <a:ln w="19050" cap="sq">
              <a:solidFill>
                <a:srgbClr val="76E2A1"/>
              </a:solidFill>
              <a:prstDash val="solid"/>
              <a:miter/>
            </a:ln>
          </p:spPr>
        </p:sp>
      </p:grpSp>
      <p:grpSp>
        <p:nvGrpSpPr>
          <p:cNvPr name="Group 24" id="24"/>
          <p:cNvGrpSpPr/>
          <p:nvPr/>
        </p:nvGrpSpPr>
        <p:grpSpPr>
          <a:xfrm rot="0">
            <a:off x="1138428" y="3236976"/>
            <a:ext cx="9176004" cy="315468"/>
            <a:chOff x="0" y="0"/>
            <a:chExt cx="12234672" cy="420624"/>
          </a:xfrm>
        </p:grpSpPr>
        <p:sp>
          <p:nvSpPr>
            <p:cNvPr name="Freeform 25" id="25"/>
            <p:cNvSpPr/>
            <p:nvPr/>
          </p:nvSpPr>
          <p:spPr>
            <a:xfrm flipH="false" flipV="false" rot="0">
              <a:off x="0" y="0"/>
              <a:ext cx="12234672" cy="420624"/>
            </a:xfrm>
            <a:custGeom>
              <a:avLst/>
              <a:gdLst/>
              <a:ahLst/>
              <a:cxnLst/>
              <a:rect r="r" b="b" t="t" l="l"/>
              <a:pathLst>
                <a:path h="420624" w="12234672">
                  <a:moveTo>
                    <a:pt x="0" y="0"/>
                  </a:moveTo>
                  <a:lnTo>
                    <a:pt x="12234672" y="0"/>
                  </a:lnTo>
                  <a:lnTo>
                    <a:pt x="12234672" y="420624"/>
                  </a:lnTo>
                  <a:lnTo>
                    <a:pt x="0" y="420624"/>
                  </a:lnTo>
                  <a:close/>
                </a:path>
              </a:pathLst>
            </a:custGeom>
            <a:blipFill>
              <a:blip r:embed="rId3">
                <a:alphaModFix amt="0"/>
              </a:blip>
              <a:stretch>
                <a:fillRect l="0" t="-516760" r="0" b="-516760"/>
              </a:stretch>
            </a:blipFill>
          </p:spPr>
        </p:sp>
        <p:sp>
          <p:nvSpPr>
            <p:cNvPr name="TextBox 26" id="26"/>
            <p:cNvSpPr txBox="true"/>
            <p:nvPr/>
          </p:nvSpPr>
          <p:spPr>
            <a:xfrm>
              <a:off x="0" y="0"/>
              <a:ext cx="12234672" cy="420624"/>
            </a:xfrm>
            <a:prstGeom prst="rect">
              <a:avLst/>
            </a:prstGeom>
          </p:spPr>
          <p:txBody>
            <a:bodyPr anchor="ctr" rtlCol="false" tIns="0" lIns="0" bIns="0" rIns="0"/>
            <a:lstStyle/>
            <a:p>
              <a:pPr algn="l">
                <a:lnSpc>
                  <a:spcPts val="2160"/>
                </a:lnSpc>
              </a:pPr>
              <a:r>
                <a:rPr lang="en-US" sz="1800" b="true">
                  <a:solidFill>
                    <a:srgbClr val="F5F8FC"/>
                  </a:solidFill>
                  <a:latin typeface="Aptos Bold"/>
                  <a:ea typeface="Aptos Bold"/>
                  <a:cs typeface="Aptos Bold"/>
                  <a:sym typeface="Aptos Bold"/>
                </a:rPr>
                <a:t>telemetry_data</a:t>
              </a:r>
            </a:p>
          </p:txBody>
        </p:sp>
      </p:grpSp>
      <p:grpSp>
        <p:nvGrpSpPr>
          <p:cNvPr name="Group 27" id="27"/>
          <p:cNvGrpSpPr/>
          <p:nvPr/>
        </p:nvGrpSpPr>
        <p:grpSpPr>
          <a:xfrm rot="0">
            <a:off x="1138428" y="3799332"/>
            <a:ext cx="9176004" cy="393594"/>
            <a:chOff x="0" y="0"/>
            <a:chExt cx="12234672" cy="524792"/>
          </a:xfrm>
        </p:grpSpPr>
        <p:sp>
          <p:nvSpPr>
            <p:cNvPr name="Freeform 28" id="28"/>
            <p:cNvSpPr/>
            <p:nvPr/>
          </p:nvSpPr>
          <p:spPr>
            <a:xfrm flipH="false" flipV="false" rot="0">
              <a:off x="0" y="0"/>
              <a:ext cx="12234672" cy="524792"/>
            </a:xfrm>
            <a:custGeom>
              <a:avLst/>
              <a:gdLst/>
              <a:ahLst/>
              <a:cxnLst/>
              <a:rect r="r" b="b" t="t" l="l"/>
              <a:pathLst>
                <a:path h="524792" w="12234672">
                  <a:moveTo>
                    <a:pt x="0" y="0"/>
                  </a:moveTo>
                  <a:lnTo>
                    <a:pt x="12234672" y="0"/>
                  </a:lnTo>
                  <a:lnTo>
                    <a:pt x="12234672" y="524792"/>
                  </a:lnTo>
                  <a:lnTo>
                    <a:pt x="0" y="524792"/>
                  </a:lnTo>
                  <a:close/>
                </a:path>
              </a:pathLst>
            </a:custGeom>
            <a:blipFill>
              <a:blip r:embed="rId3">
                <a:alphaModFix amt="0"/>
              </a:blip>
              <a:stretch>
                <a:fillRect l="0" t="-415929" r="0" b="-392594"/>
              </a:stretch>
            </a:blipFill>
          </p:spPr>
        </p:sp>
        <p:sp>
          <p:nvSpPr>
            <p:cNvPr name="TextBox 29" id="29"/>
            <p:cNvSpPr txBox="true"/>
            <p:nvPr/>
          </p:nvSpPr>
          <p:spPr>
            <a:xfrm>
              <a:off x="0" y="0"/>
              <a:ext cx="12234672" cy="524792"/>
            </a:xfrm>
            <a:prstGeom prst="rect">
              <a:avLst/>
            </a:prstGeom>
          </p:spPr>
          <p:txBody>
            <a:bodyPr anchor="ctr" rtlCol="false" tIns="0" lIns="0" bIns="0" rIns="0"/>
            <a:lstStyle/>
            <a:p>
              <a:pPr algn="l">
                <a:lnSpc>
                  <a:spcPts val="1769"/>
                </a:lnSpc>
              </a:pPr>
              <a:r>
                <a:rPr lang="en-US" sz="1474" b="true">
                  <a:solidFill>
                    <a:srgbClr val="76E2A1"/>
                  </a:solidFill>
                  <a:latin typeface="Courier New Bold"/>
                  <a:ea typeface="Courier New Bold"/>
                  <a:cs typeface="Courier New Bold"/>
                  <a:sym typeface="Courier New Bold"/>
                </a:rPr>
                <a:t>Column   |   Type   |   Purpose</a:t>
              </a:r>
            </a:p>
          </p:txBody>
        </p:sp>
      </p:grpSp>
      <p:grpSp>
        <p:nvGrpSpPr>
          <p:cNvPr name="Group 30" id="30"/>
          <p:cNvGrpSpPr/>
          <p:nvPr/>
        </p:nvGrpSpPr>
        <p:grpSpPr>
          <a:xfrm rot="0">
            <a:off x="1138428" y="4210812"/>
            <a:ext cx="9176004" cy="362121"/>
            <a:chOff x="0" y="0"/>
            <a:chExt cx="12234672" cy="482827"/>
          </a:xfrm>
        </p:grpSpPr>
        <p:sp>
          <p:nvSpPr>
            <p:cNvPr name="Freeform 31" id="31"/>
            <p:cNvSpPr/>
            <p:nvPr/>
          </p:nvSpPr>
          <p:spPr>
            <a:xfrm flipH="false" flipV="false" rot="0">
              <a:off x="0" y="0"/>
              <a:ext cx="12234672" cy="482827"/>
            </a:xfrm>
            <a:custGeom>
              <a:avLst/>
              <a:gdLst/>
              <a:ahLst/>
              <a:cxnLst/>
              <a:rect r="r" b="b" t="t" l="l"/>
              <a:pathLst>
                <a:path h="482827" w="12234672">
                  <a:moveTo>
                    <a:pt x="0" y="0"/>
                  </a:moveTo>
                  <a:lnTo>
                    <a:pt x="12234672" y="0"/>
                  </a:lnTo>
                  <a:lnTo>
                    <a:pt x="12234672" y="482827"/>
                  </a:lnTo>
                  <a:lnTo>
                    <a:pt x="0" y="482827"/>
                  </a:lnTo>
                  <a:close/>
                </a:path>
              </a:pathLst>
            </a:custGeom>
            <a:blipFill>
              <a:blip r:embed="rId3">
                <a:alphaModFix amt="0"/>
              </a:blip>
              <a:stretch>
                <a:fillRect l="0" t="-452079" r="0" b="-435408"/>
              </a:stretch>
            </a:blipFill>
          </p:spPr>
        </p:sp>
        <p:sp>
          <p:nvSpPr>
            <p:cNvPr name="TextBox 32" id="32"/>
            <p:cNvSpPr txBox="true"/>
            <p:nvPr/>
          </p:nvSpPr>
          <p:spPr>
            <a:xfrm>
              <a:off x="0" y="-9525"/>
              <a:ext cx="12234672" cy="492352"/>
            </a:xfrm>
            <a:prstGeom prst="rect">
              <a:avLst/>
            </a:prstGeom>
          </p:spPr>
          <p:txBody>
            <a:bodyPr anchor="ctr" rtlCol="false" tIns="0" lIns="0" bIns="0" rIns="0"/>
            <a:lstStyle/>
            <a:p>
              <a:pPr algn="l">
                <a:lnSpc>
                  <a:spcPts val="1643"/>
                </a:lnSpc>
              </a:pPr>
              <a:r>
                <a:rPr lang="en-US" sz="1369">
                  <a:solidFill>
                    <a:srgbClr val="DDE7F0"/>
                  </a:solidFill>
                  <a:latin typeface="Courier New"/>
                  <a:ea typeface="Courier New"/>
                  <a:cs typeface="Courier New"/>
                  <a:sym typeface="Courier New"/>
                </a:rPr>
                <a:t>timestamp   |   INTEGER   |   Standard UNIX Epoch (Key)</a:t>
              </a:r>
            </a:p>
          </p:txBody>
        </p:sp>
      </p:grpSp>
      <p:grpSp>
        <p:nvGrpSpPr>
          <p:cNvPr name="Group 33" id="33"/>
          <p:cNvGrpSpPr/>
          <p:nvPr/>
        </p:nvGrpSpPr>
        <p:grpSpPr>
          <a:xfrm rot="0">
            <a:off x="1138428" y="4718304"/>
            <a:ext cx="9176004" cy="362121"/>
            <a:chOff x="0" y="0"/>
            <a:chExt cx="12234672" cy="482827"/>
          </a:xfrm>
        </p:grpSpPr>
        <p:sp>
          <p:nvSpPr>
            <p:cNvPr name="Freeform 34" id="34"/>
            <p:cNvSpPr/>
            <p:nvPr/>
          </p:nvSpPr>
          <p:spPr>
            <a:xfrm flipH="false" flipV="false" rot="0">
              <a:off x="0" y="0"/>
              <a:ext cx="12234672" cy="482827"/>
            </a:xfrm>
            <a:custGeom>
              <a:avLst/>
              <a:gdLst/>
              <a:ahLst/>
              <a:cxnLst/>
              <a:rect r="r" b="b" t="t" l="l"/>
              <a:pathLst>
                <a:path h="482827" w="12234672">
                  <a:moveTo>
                    <a:pt x="0" y="0"/>
                  </a:moveTo>
                  <a:lnTo>
                    <a:pt x="12234672" y="0"/>
                  </a:lnTo>
                  <a:lnTo>
                    <a:pt x="12234672" y="482827"/>
                  </a:lnTo>
                  <a:lnTo>
                    <a:pt x="0" y="482827"/>
                  </a:lnTo>
                  <a:close/>
                </a:path>
              </a:pathLst>
            </a:custGeom>
            <a:blipFill>
              <a:blip r:embed="rId3">
                <a:alphaModFix amt="0"/>
              </a:blip>
              <a:stretch>
                <a:fillRect l="0" t="-452079" r="0" b="-435408"/>
              </a:stretch>
            </a:blipFill>
          </p:spPr>
        </p:sp>
        <p:sp>
          <p:nvSpPr>
            <p:cNvPr name="TextBox 35" id="35"/>
            <p:cNvSpPr txBox="true"/>
            <p:nvPr/>
          </p:nvSpPr>
          <p:spPr>
            <a:xfrm>
              <a:off x="0" y="-9525"/>
              <a:ext cx="12234672" cy="492352"/>
            </a:xfrm>
            <a:prstGeom prst="rect">
              <a:avLst/>
            </a:prstGeom>
          </p:spPr>
          <p:txBody>
            <a:bodyPr anchor="ctr" rtlCol="false" tIns="0" lIns="0" bIns="0" rIns="0"/>
            <a:lstStyle/>
            <a:p>
              <a:pPr algn="l">
                <a:lnSpc>
                  <a:spcPts val="1643"/>
                </a:lnSpc>
              </a:pPr>
              <a:r>
                <a:rPr lang="en-US" sz="1369">
                  <a:solidFill>
                    <a:srgbClr val="DDE7F0"/>
                  </a:solidFill>
                  <a:latin typeface="Courier New"/>
                  <a:ea typeface="Courier New"/>
                  <a:cs typeface="Courier New"/>
                  <a:sym typeface="Courier New"/>
                </a:rPr>
                <a:t>device_id   |   TEXT   |   Edge device ID</a:t>
              </a:r>
            </a:p>
          </p:txBody>
        </p:sp>
      </p:grpSp>
      <p:grpSp>
        <p:nvGrpSpPr>
          <p:cNvPr name="Group 36" id="36"/>
          <p:cNvGrpSpPr/>
          <p:nvPr/>
        </p:nvGrpSpPr>
        <p:grpSpPr>
          <a:xfrm rot="0">
            <a:off x="1138428" y="5225796"/>
            <a:ext cx="9176004" cy="362121"/>
            <a:chOff x="0" y="0"/>
            <a:chExt cx="12234672" cy="482827"/>
          </a:xfrm>
        </p:grpSpPr>
        <p:sp>
          <p:nvSpPr>
            <p:cNvPr name="Freeform 37" id="37"/>
            <p:cNvSpPr/>
            <p:nvPr/>
          </p:nvSpPr>
          <p:spPr>
            <a:xfrm flipH="false" flipV="false" rot="0">
              <a:off x="0" y="0"/>
              <a:ext cx="12234672" cy="482827"/>
            </a:xfrm>
            <a:custGeom>
              <a:avLst/>
              <a:gdLst/>
              <a:ahLst/>
              <a:cxnLst/>
              <a:rect r="r" b="b" t="t" l="l"/>
              <a:pathLst>
                <a:path h="482827" w="12234672">
                  <a:moveTo>
                    <a:pt x="0" y="0"/>
                  </a:moveTo>
                  <a:lnTo>
                    <a:pt x="12234672" y="0"/>
                  </a:lnTo>
                  <a:lnTo>
                    <a:pt x="12234672" y="482827"/>
                  </a:lnTo>
                  <a:lnTo>
                    <a:pt x="0" y="482827"/>
                  </a:lnTo>
                  <a:close/>
                </a:path>
              </a:pathLst>
            </a:custGeom>
            <a:blipFill>
              <a:blip r:embed="rId3">
                <a:alphaModFix amt="0"/>
              </a:blip>
              <a:stretch>
                <a:fillRect l="0" t="-452079" r="0" b="-435408"/>
              </a:stretch>
            </a:blipFill>
          </p:spPr>
        </p:sp>
        <p:sp>
          <p:nvSpPr>
            <p:cNvPr name="TextBox 38" id="38"/>
            <p:cNvSpPr txBox="true"/>
            <p:nvPr/>
          </p:nvSpPr>
          <p:spPr>
            <a:xfrm>
              <a:off x="0" y="-9525"/>
              <a:ext cx="12234672" cy="492352"/>
            </a:xfrm>
            <a:prstGeom prst="rect">
              <a:avLst/>
            </a:prstGeom>
          </p:spPr>
          <p:txBody>
            <a:bodyPr anchor="ctr" rtlCol="false" tIns="0" lIns="0" bIns="0" rIns="0"/>
            <a:lstStyle/>
            <a:p>
              <a:pPr algn="l">
                <a:lnSpc>
                  <a:spcPts val="1643"/>
                </a:lnSpc>
              </a:pPr>
              <a:r>
                <a:rPr lang="en-US" sz="1369">
                  <a:solidFill>
                    <a:srgbClr val="DDE7F0"/>
                  </a:solidFill>
                  <a:latin typeface="Courier New"/>
                  <a:ea typeface="Courier New"/>
                  <a:cs typeface="Courier New"/>
                  <a:sym typeface="Courier New"/>
                </a:rPr>
                <a:t>temperature   |   REAL   |   Temperature (°C)</a:t>
              </a:r>
            </a:p>
          </p:txBody>
        </p:sp>
      </p:grpSp>
      <p:grpSp>
        <p:nvGrpSpPr>
          <p:cNvPr name="Group 39" id="39"/>
          <p:cNvGrpSpPr/>
          <p:nvPr/>
        </p:nvGrpSpPr>
        <p:grpSpPr>
          <a:xfrm rot="0">
            <a:off x="1138428" y="5733288"/>
            <a:ext cx="9176004" cy="362121"/>
            <a:chOff x="0" y="0"/>
            <a:chExt cx="12234672" cy="482827"/>
          </a:xfrm>
        </p:grpSpPr>
        <p:sp>
          <p:nvSpPr>
            <p:cNvPr name="Freeform 40" id="40"/>
            <p:cNvSpPr/>
            <p:nvPr/>
          </p:nvSpPr>
          <p:spPr>
            <a:xfrm flipH="false" flipV="false" rot="0">
              <a:off x="0" y="0"/>
              <a:ext cx="12234672" cy="482827"/>
            </a:xfrm>
            <a:custGeom>
              <a:avLst/>
              <a:gdLst/>
              <a:ahLst/>
              <a:cxnLst/>
              <a:rect r="r" b="b" t="t" l="l"/>
              <a:pathLst>
                <a:path h="482827" w="12234672">
                  <a:moveTo>
                    <a:pt x="0" y="0"/>
                  </a:moveTo>
                  <a:lnTo>
                    <a:pt x="12234672" y="0"/>
                  </a:lnTo>
                  <a:lnTo>
                    <a:pt x="12234672" y="482827"/>
                  </a:lnTo>
                  <a:lnTo>
                    <a:pt x="0" y="482827"/>
                  </a:lnTo>
                  <a:close/>
                </a:path>
              </a:pathLst>
            </a:custGeom>
            <a:blipFill>
              <a:blip r:embed="rId3">
                <a:alphaModFix amt="0"/>
              </a:blip>
              <a:stretch>
                <a:fillRect l="0" t="-452079" r="0" b="-435408"/>
              </a:stretch>
            </a:blipFill>
          </p:spPr>
        </p:sp>
        <p:sp>
          <p:nvSpPr>
            <p:cNvPr name="TextBox 41" id="41"/>
            <p:cNvSpPr txBox="true"/>
            <p:nvPr/>
          </p:nvSpPr>
          <p:spPr>
            <a:xfrm>
              <a:off x="0" y="-9525"/>
              <a:ext cx="12234672" cy="492352"/>
            </a:xfrm>
            <a:prstGeom prst="rect">
              <a:avLst/>
            </a:prstGeom>
          </p:spPr>
          <p:txBody>
            <a:bodyPr anchor="ctr" rtlCol="false" tIns="0" lIns="0" bIns="0" rIns="0"/>
            <a:lstStyle/>
            <a:p>
              <a:pPr algn="l">
                <a:lnSpc>
                  <a:spcPts val="1643"/>
                </a:lnSpc>
              </a:pPr>
              <a:r>
                <a:rPr lang="en-US" sz="1369">
                  <a:solidFill>
                    <a:srgbClr val="DDE7F0"/>
                  </a:solidFill>
                  <a:latin typeface="Courier New"/>
                  <a:ea typeface="Courier New"/>
                  <a:cs typeface="Courier New"/>
                  <a:sym typeface="Courier New"/>
                </a:rPr>
                <a:t>humidity   |   REAL   |  Relative Humidity %RH</a:t>
              </a:r>
            </a:p>
          </p:txBody>
        </p:sp>
      </p:grpSp>
      <p:grpSp>
        <p:nvGrpSpPr>
          <p:cNvPr name="Group 42" id="42"/>
          <p:cNvGrpSpPr/>
          <p:nvPr/>
        </p:nvGrpSpPr>
        <p:grpSpPr>
          <a:xfrm rot="0">
            <a:off x="1138428" y="6240780"/>
            <a:ext cx="9176004" cy="362121"/>
            <a:chOff x="0" y="0"/>
            <a:chExt cx="12234672" cy="482827"/>
          </a:xfrm>
        </p:grpSpPr>
        <p:sp>
          <p:nvSpPr>
            <p:cNvPr name="Freeform 43" id="43"/>
            <p:cNvSpPr/>
            <p:nvPr/>
          </p:nvSpPr>
          <p:spPr>
            <a:xfrm flipH="false" flipV="false" rot="0">
              <a:off x="0" y="0"/>
              <a:ext cx="12234672" cy="482827"/>
            </a:xfrm>
            <a:custGeom>
              <a:avLst/>
              <a:gdLst/>
              <a:ahLst/>
              <a:cxnLst/>
              <a:rect r="r" b="b" t="t" l="l"/>
              <a:pathLst>
                <a:path h="482827" w="12234672">
                  <a:moveTo>
                    <a:pt x="0" y="0"/>
                  </a:moveTo>
                  <a:lnTo>
                    <a:pt x="12234672" y="0"/>
                  </a:lnTo>
                  <a:lnTo>
                    <a:pt x="12234672" y="482827"/>
                  </a:lnTo>
                  <a:lnTo>
                    <a:pt x="0" y="482827"/>
                  </a:lnTo>
                  <a:close/>
                </a:path>
              </a:pathLst>
            </a:custGeom>
            <a:blipFill>
              <a:blip r:embed="rId3">
                <a:alphaModFix amt="0"/>
              </a:blip>
              <a:stretch>
                <a:fillRect l="0" t="-452079" r="0" b="-435408"/>
              </a:stretch>
            </a:blipFill>
          </p:spPr>
        </p:sp>
        <p:sp>
          <p:nvSpPr>
            <p:cNvPr name="TextBox 44" id="44"/>
            <p:cNvSpPr txBox="true"/>
            <p:nvPr/>
          </p:nvSpPr>
          <p:spPr>
            <a:xfrm>
              <a:off x="0" y="-9525"/>
              <a:ext cx="12234672" cy="492352"/>
            </a:xfrm>
            <a:prstGeom prst="rect">
              <a:avLst/>
            </a:prstGeom>
          </p:spPr>
          <p:txBody>
            <a:bodyPr anchor="ctr" rtlCol="false" tIns="0" lIns="0" bIns="0" rIns="0"/>
            <a:lstStyle/>
            <a:p>
              <a:pPr algn="l">
                <a:lnSpc>
                  <a:spcPts val="1643"/>
                </a:lnSpc>
              </a:pPr>
              <a:r>
                <a:rPr lang="en-US" sz="1369">
                  <a:solidFill>
                    <a:srgbClr val="DDE7F0"/>
                  </a:solidFill>
                  <a:latin typeface="Courier New"/>
                  <a:ea typeface="Courier New"/>
                  <a:cs typeface="Courier New"/>
                  <a:sym typeface="Courier New"/>
                </a:rPr>
                <a:t>door_open   |   BOOLEAN   |   Door state</a:t>
              </a:r>
            </a:p>
          </p:txBody>
        </p:sp>
      </p:grpSp>
      <p:grpSp>
        <p:nvGrpSpPr>
          <p:cNvPr name="Group 45" id="45"/>
          <p:cNvGrpSpPr/>
          <p:nvPr/>
        </p:nvGrpSpPr>
        <p:grpSpPr>
          <a:xfrm rot="0">
            <a:off x="1138428" y="6745776"/>
            <a:ext cx="9176004" cy="364617"/>
            <a:chOff x="0" y="0"/>
            <a:chExt cx="12234672" cy="486156"/>
          </a:xfrm>
        </p:grpSpPr>
        <p:sp>
          <p:nvSpPr>
            <p:cNvPr name="Freeform 46" id="46"/>
            <p:cNvSpPr/>
            <p:nvPr/>
          </p:nvSpPr>
          <p:spPr>
            <a:xfrm flipH="false" flipV="false" rot="0">
              <a:off x="0" y="0"/>
              <a:ext cx="12234672" cy="486156"/>
            </a:xfrm>
            <a:custGeom>
              <a:avLst/>
              <a:gdLst/>
              <a:ahLst/>
              <a:cxnLst/>
              <a:rect r="r" b="b" t="t" l="l"/>
              <a:pathLst>
                <a:path h="486156" w="12234672">
                  <a:moveTo>
                    <a:pt x="0" y="0"/>
                  </a:moveTo>
                  <a:lnTo>
                    <a:pt x="12234672" y="0"/>
                  </a:lnTo>
                  <a:lnTo>
                    <a:pt x="12234672" y="486156"/>
                  </a:lnTo>
                  <a:lnTo>
                    <a:pt x="0" y="486156"/>
                  </a:lnTo>
                  <a:close/>
                </a:path>
              </a:pathLst>
            </a:custGeom>
            <a:blipFill>
              <a:blip r:embed="rId3">
                <a:alphaModFix amt="0"/>
              </a:blip>
              <a:stretch>
                <a:fillRect l="0" t="-448983" r="0" b="-431742"/>
              </a:stretch>
            </a:blipFill>
          </p:spPr>
        </p:sp>
        <p:sp>
          <p:nvSpPr>
            <p:cNvPr name="TextBox 47" id="47"/>
            <p:cNvSpPr txBox="true"/>
            <p:nvPr/>
          </p:nvSpPr>
          <p:spPr>
            <a:xfrm>
              <a:off x="0" y="-9525"/>
              <a:ext cx="12234672" cy="495681"/>
            </a:xfrm>
            <a:prstGeom prst="rect">
              <a:avLst/>
            </a:prstGeom>
          </p:spPr>
          <p:txBody>
            <a:bodyPr anchor="ctr" rtlCol="false" tIns="0" lIns="0" bIns="0" rIns="0"/>
            <a:lstStyle/>
            <a:p>
              <a:pPr algn="l">
                <a:lnSpc>
                  <a:spcPts val="1643"/>
                </a:lnSpc>
              </a:pPr>
              <a:r>
                <a:rPr lang="en-US" sz="1369">
                  <a:solidFill>
                    <a:srgbClr val="DDE7F0"/>
                  </a:solidFill>
                  <a:latin typeface="Courier New"/>
                  <a:ea typeface="Courier New"/>
                  <a:cs typeface="Courier New"/>
                  <a:sym typeface="Courier New"/>
                </a:rPr>
                <a:t>cooling_state   |   BOOLEAN   |  Relay cooling status</a:t>
              </a:r>
            </a:p>
          </p:txBody>
        </p:sp>
      </p:grpSp>
      <p:grpSp>
        <p:nvGrpSpPr>
          <p:cNvPr name="Group 48" id="48"/>
          <p:cNvGrpSpPr/>
          <p:nvPr/>
        </p:nvGrpSpPr>
        <p:grpSpPr>
          <a:xfrm rot="0">
            <a:off x="10894695" y="3007995"/>
            <a:ext cx="6534150" cy="4202430"/>
            <a:chOff x="0" y="0"/>
            <a:chExt cx="8712200" cy="5603240"/>
          </a:xfrm>
        </p:grpSpPr>
        <p:sp>
          <p:nvSpPr>
            <p:cNvPr name="Freeform 49" id="49"/>
            <p:cNvSpPr/>
            <p:nvPr/>
          </p:nvSpPr>
          <p:spPr>
            <a:xfrm flipH="false" flipV="false" rot="0">
              <a:off x="0" y="0"/>
              <a:ext cx="8712200" cy="5603240"/>
            </a:xfrm>
            <a:custGeom>
              <a:avLst/>
              <a:gdLst/>
              <a:ahLst/>
              <a:cxnLst/>
              <a:rect r="r" b="b" t="t" l="l"/>
              <a:pathLst>
                <a:path h="5603240" w="8712200">
                  <a:moveTo>
                    <a:pt x="0" y="91821"/>
                  </a:moveTo>
                  <a:cubicBezTo>
                    <a:pt x="0" y="41148"/>
                    <a:pt x="41148" y="0"/>
                    <a:pt x="91821" y="0"/>
                  </a:cubicBezTo>
                  <a:lnTo>
                    <a:pt x="8620379" y="0"/>
                  </a:lnTo>
                  <a:cubicBezTo>
                    <a:pt x="8671052" y="0"/>
                    <a:pt x="8712200" y="41148"/>
                    <a:pt x="8712200" y="91821"/>
                  </a:cubicBezTo>
                  <a:lnTo>
                    <a:pt x="8712200" y="5511419"/>
                  </a:lnTo>
                  <a:cubicBezTo>
                    <a:pt x="8712200" y="5562092"/>
                    <a:pt x="8671052" y="5603240"/>
                    <a:pt x="8620379" y="5603240"/>
                  </a:cubicBezTo>
                  <a:lnTo>
                    <a:pt x="91821" y="5603240"/>
                  </a:lnTo>
                  <a:cubicBezTo>
                    <a:pt x="41148" y="5603240"/>
                    <a:pt x="0" y="5562092"/>
                    <a:pt x="0" y="5511419"/>
                  </a:cubicBezTo>
                  <a:close/>
                </a:path>
              </a:pathLst>
            </a:custGeom>
            <a:solidFill>
              <a:srgbClr val="10253B"/>
            </a:solidFill>
            <a:ln w="19050" cap="sq">
              <a:solidFill>
                <a:srgbClr val="FF5E78"/>
              </a:solidFill>
              <a:prstDash val="solid"/>
              <a:miter/>
            </a:ln>
          </p:spPr>
        </p:sp>
      </p:grpSp>
      <p:grpSp>
        <p:nvGrpSpPr>
          <p:cNvPr name="Group 50" id="50"/>
          <p:cNvGrpSpPr/>
          <p:nvPr/>
        </p:nvGrpSpPr>
        <p:grpSpPr>
          <a:xfrm rot="0">
            <a:off x="11151108" y="3236976"/>
            <a:ext cx="6021324" cy="315468"/>
            <a:chOff x="0" y="0"/>
            <a:chExt cx="8028432" cy="420624"/>
          </a:xfrm>
        </p:grpSpPr>
        <p:sp>
          <p:nvSpPr>
            <p:cNvPr name="Freeform 51" id="51"/>
            <p:cNvSpPr/>
            <p:nvPr/>
          </p:nvSpPr>
          <p:spPr>
            <a:xfrm flipH="false" flipV="false" rot="0">
              <a:off x="0" y="0"/>
              <a:ext cx="8028432" cy="420624"/>
            </a:xfrm>
            <a:custGeom>
              <a:avLst/>
              <a:gdLst/>
              <a:ahLst/>
              <a:cxnLst/>
              <a:rect r="r" b="b" t="t" l="l"/>
              <a:pathLst>
                <a:path h="420624" w="8028432">
                  <a:moveTo>
                    <a:pt x="0" y="0"/>
                  </a:moveTo>
                  <a:lnTo>
                    <a:pt x="8028432" y="0"/>
                  </a:lnTo>
                  <a:lnTo>
                    <a:pt x="8028432" y="420624"/>
                  </a:lnTo>
                  <a:lnTo>
                    <a:pt x="0" y="420624"/>
                  </a:lnTo>
                  <a:close/>
                </a:path>
              </a:pathLst>
            </a:custGeom>
            <a:blipFill>
              <a:blip r:embed="rId3">
                <a:alphaModFix amt="0"/>
              </a:blip>
              <a:stretch>
                <a:fillRect l="0" t="-321910" r="0" b="-321910"/>
              </a:stretch>
            </a:blipFill>
          </p:spPr>
        </p:sp>
        <p:sp>
          <p:nvSpPr>
            <p:cNvPr name="TextBox 52" id="52"/>
            <p:cNvSpPr txBox="true"/>
            <p:nvPr/>
          </p:nvSpPr>
          <p:spPr>
            <a:xfrm>
              <a:off x="0" y="0"/>
              <a:ext cx="8028432" cy="420624"/>
            </a:xfrm>
            <a:prstGeom prst="rect">
              <a:avLst/>
            </a:prstGeom>
          </p:spPr>
          <p:txBody>
            <a:bodyPr anchor="ctr" rtlCol="false" tIns="0" lIns="0" bIns="0" rIns="0"/>
            <a:lstStyle/>
            <a:p>
              <a:pPr algn="l">
                <a:lnSpc>
                  <a:spcPts val="2160"/>
                </a:lnSpc>
              </a:pPr>
              <a:r>
                <a:rPr lang="en-US" sz="1800" b="true">
                  <a:solidFill>
                    <a:srgbClr val="F5F8FC"/>
                  </a:solidFill>
                  <a:latin typeface="Aptos Bold"/>
                  <a:ea typeface="Aptos Bold"/>
                  <a:cs typeface="Aptos Bold"/>
                  <a:sym typeface="Aptos Bold"/>
                </a:rPr>
                <a:t>event_logs</a:t>
              </a:r>
            </a:p>
          </p:txBody>
        </p:sp>
      </p:grpSp>
      <p:grpSp>
        <p:nvGrpSpPr>
          <p:cNvPr name="Group 53" id="53"/>
          <p:cNvGrpSpPr/>
          <p:nvPr/>
        </p:nvGrpSpPr>
        <p:grpSpPr>
          <a:xfrm rot="0">
            <a:off x="11151108" y="3799332"/>
            <a:ext cx="6021324" cy="393594"/>
            <a:chOff x="0" y="0"/>
            <a:chExt cx="8028432" cy="524792"/>
          </a:xfrm>
        </p:grpSpPr>
        <p:sp>
          <p:nvSpPr>
            <p:cNvPr name="Freeform 54" id="54"/>
            <p:cNvSpPr/>
            <p:nvPr/>
          </p:nvSpPr>
          <p:spPr>
            <a:xfrm flipH="false" flipV="false" rot="0">
              <a:off x="0" y="0"/>
              <a:ext cx="8028432" cy="524792"/>
            </a:xfrm>
            <a:custGeom>
              <a:avLst/>
              <a:gdLst/>
              <a:ahLst/>
              <a:cxnLst/>
              <a:rect r="r" b="b" t="t" l="l"/>
              <a:pathLst>
                <a:path h="524792" w="8028432">
                  <a:moveTo>
                    <a:pt x="0" y="0"/>
                  </a:moveTo>
                  <a:lnTo>
                    <a:pt x="8028432" y="0"/>
                  </a:lnTo>
                  <a:lnTo>
                    <a:pt x="8028432" y="524792"/>
                  </a:lnTo>
                  <a:lnTo>
                    <a:pt x="0" y="524792"/>
                  </a:lnTo>
                  <a:close/>
                </a:path>
              </a:pathLst>
            </a:custGeom>
            <a:blipFill>
              <a:blip r:embed="rId3">
                <a:alphaModFix amt="0"/>
              </a:blip>
              <a:stretch>
                <a:fillRect l="0" t="-259755" r="0" b="-236421"/>
              </a:stretch>
            </a:blipFill>
          </p:spPr>
        </p:sp>
        <p:sp>
          <p:nvSpPr>
            <p:cNvPr name="TextBox 55" id="55"/>
            <p:cNvSpPr txBox="true"/>
            <p:nvPr/>
          </p:nvSpPr>
          <p:spPr>
            <a:xfrm>
              <a:off x="0" y="0"/>
              <a:ext cx="8028432" cy="524792"/>
            </a:xfrm>
            <a:prstGeom prst="rect">
              <a:avLst/>
            </a:prstGeom>
          </p:spPr>
          <p:txBody>
            <a:bodyPr anchor="ctr" rtlCol="false" tIns="0" lIns="0" bIns="0" rIns="0"/>
            <a:lstStyle/>
            <a:p>
              <a:pPr algn="l">
                <a:lnSpc>
                  <a:spcPts val="1769"/>
                </a:lnSpc>
              </a:pPr>
              <a:r>
                <a:rPr lang="en-US" sz="1474" b="true">
                  <a:solidFill>
                    <a:srgbClr val="FF5E78"/>
                  </a:solidFill>
                  <a:latin typeface="Courier New Bold"/>
                  <a:ea typeface="Courier New Bold"/>
                  <a:cs typeface="Courier New Bold"/>
                  <a:sym typeface="Courier New Bold"/>
                </a:rPr>
                <a:t>Column   |   Type   |   Purpose</a:t>
              </a:r>
            </a:p>
          </p:txBody>
        </p:sp>
      </p:grpSp>
      <p:grpSp>
        <p:nvGrpSpPr>
          <p:cNvPr name="Group 56" id="56"/>
          <p:cNvGrpSpPr/>
          <p:nvPr/>
        </p:nvGrpSpPr>
        <p:grpSpPr>
          <a:xfrm rot="0">
            <a:off x="11151108" y="4210812"/>
            <a:ext cx="6021324" cy="362121"/>
            <a:chOff x="0" y="0"/>
            <a:chExt cx="8028432" cy="482827"/>
          </a:xfrm>
        </p:grpSpPr>
        <p:sp>
          <p:nvSpPr>
            <p:cNvPr name="Freeform 57" id="57"/>
            <p:cNvSpPr/>
            <p:nvPr/>
          </p:nvSpPr>
          <p:spPr>
            <a:xfrm flipH="false" flipV="false" rot="0">
              <a:off x="0" y="0"/>
              <a:ext cx="8028432" cy="482827"/>
            </a:xfrm>
            <a:custGeom>
              <a:avLst/>
              <a:gdLst/>
              <a:ahLst/>
              <a:cxnLst/>
              <a:rect r="r" b="b" t="t" l="l"/>
              <a:pathLst>
                <a:path h="482827" w="8028432">
                  <a:moveTo>
                    <a:pt x="0" y="0"/>
                  </a:moveTo>
                  <a:lnTo>
                    <a:pt x="8028432" y="0"/>
                  </a:lnTo>
                  <a:lnTo>
                    <a:pt x="8028432" y="482827"/>
                  </a:lnTo>
                  <a:lnTo>
                    <a:pt x="0" y="482827"/>
                  </a:lnTo>
                  <a:close/>
                </a:path>
              </a:pathLst>
            </a:custGeom>
            <a:blipFill>
              <a:blip r:embed="rId3">
                <a:alphaModFix amt="0"/>
              </a:blip>
              <a:stretch>
                <a:fillRect l="0" t="-282331" r="0" b="-265660"/>
              </a:stretch>
            </a:blipFill>
          </p:spPr>
        </p:sp>
        <p:sp>
          <p:nvSpPr>
            <p:cNvPr name="TextBox 58" id="58"/>
            <p:cNvSpPr txBox="true"/>
            <p:nvPr/>
          </p:nvSpPr>
          <p:spPr>
            <a:xfrm>
              <a:off x="0" y="-9525"/>
              <a:ext cx="8028432" cy="492352"/>
            </a:xfrm>
            <a:prstGeom prst="rect">
              <a:avLst/>
            </a:prstGeom>
          </p:spPr>
          <p:txBody>
            <a:bodyPr anchor="ctr" rtlCol="false" tIns="0" lIns="0" bIns="0" rIns="0"/>
            <a:lstStyle/>
            <a:p>
              <a:pPr algn="l">
                <a:lnSpc>
                  <a:spcPts val="1643"/>
                </a:lnSpc>
              </a:pPr>
              <a:r>
                <a:rPr lang="en-US" sz="1369">
                  <a:solidFill>
                    <a:srgbClr val="DDE7F0"/>
                  </a:solidFill>
                  <a:latin typeface="Courier New"/>
                  <a:ea typeface="Courier New"/>
                  <a:cs typeface="Courier New"/>
                  <a:sym typeface="Courier New"/>
                </a:rPr>
                <a:t>timestamp   |   INTEGER   |   Incident time</a:t>
              </a:r>
            </a:p>
          </p:txBody>
        </p:sp>
      </p:grpSp>
      <p:grpSp>
        <p:nvGrpSpPr>
          <p:cNvPr name="Group 59" id="59"/>
          <p:cNvGrpSpPr/>
          <p:nvPr/>
        </p:nvGrpSpPr>
        <p:grpSpPr>
          <a:xfrm rot="0">
            <a:off x="11151108" y="4718304"/>
            <a:ext cx="6021324" cy="362121"/>
            <a:chOff x="0" y="0"/>
            <a:chExt cx="8028432" cy="482827"/>
          </a:xfrm>
        </p:grpSpPr>
        <p:sp>
          <p:nvSpPr>
            <p:cNvPr name="Freeform 60" id="60"/>
            <p:cNvSpPr/>
            <p:nvPr/>
          </p:nvSpPr>
          <p:spPr>
            <a:xfrm flipH="false" flipV="false" rot="0">
              <a:off x="0" y="0"/>
              <a:ext cx="8028432" cy="482827"/>
            </a:xfrm>
            <a:custGeom>
              <a:avLst/>
              <a:gdLst/>
              <a:ahLst/>
              <a:cxnLst/>
              <a:rect r="r" b="b" t="t" l="l"/>
              <a:pathLst>
                <a:path h="482827" w="8028432">
                  <a:moveTo>
                    <a:pt x="0" y="0"/>
                  </a:moveTo>
                  <a:lnTo>
                    <a:pt x="8028432" y="0"/>
                  </a:lnTo>
                  <a:lnTo>
                    <a:pt x="8028432" y="482827"/>
                  </a:lnTo>
                  <a:lnTo>
                    <a:pt x="0" y="482827"/>
                  </a:lnTo>
                  <a:close/>
                </a:path>
              </a:pathLst>
            </a:custGeom>
            <a:blipFill>
              <a:blip r:embed="rId3">
                <a:alphaModFix amt="0"/>
              </a:blip>
              <a:stretch>
                <a:fillRect l="0" t="-282331" r="0" b="-265660"/>
              </a:stretch>
            </a:blipFill>
          </p:spPr>
        </p:sp>
        <p:sp>
          <p:nvSpPr>
            <p:cNvPr name="TextBox 61" id="61"/>
            <p:cNvSpPr txBox="true"/>
            <p:nvPr/>
          </p:nvSpPr>
          <p:spPr>
            <a:xfrm>
              <a:off x="0" y="-9525"/>
              <a:ext cx="8028432" cy="492352"/>
            </a:xfrm>
            <a:prstGeom prst="rect">
              <a:avLst/>
            </a:prstGeom>
          </p:spPr>
          <p:txBody>
            <a:bodyPr anchor="ctr" rtlCol="false" tIns="0" lIns="0" bIns="0" rIns="0"/>
            <a:lstStyle/>
            <a:p>
              <a:pPr algn="l">
                <a:lnSpc>
                  <a:spcPts val="1643"/>
                </a:lnSpc>
              </a:pPr>
              <a:r>
                <a:rPr lang="en-US" sz="1369">
                  <a:solidFill>
                    <a:srgbClr val="DDE7F0"/>
                  </a:solidFill>
                  <a:latin typeface="Courier New"/>
                  <a:ea typeface="Courier New"/>
                  <a:cs typeface="Courier New"/>
                  <a:sym typeface="Courier New"/>
                </a:rPr>
                <a:t>device_id   |   TEXT   |   Device ID</a:t>
              </a:r>
            </a:p>
          </p:txBody>
        </p:sp>
      </p:grpSp>
      <p:grpSp>
        <p:nvGrpSpPr>
          <p:cNvPr name="Group 62" id="62"/>
          <p:cNvGrpSpPr/>
          <p:nvPr/>
        </p:nvGrpSpPr>
        <p:grpSpPr>
          <a:xfrm rot="0">
            <a:off x="11151108" y="5225796"/>
            <a:ext cx="6021324" cy="362121"/>
            <a:chOff x="0" y="0"/>
            <a:chExt cx="8028432" cy="482827"/>
          </a:xfrm>
        </p:grpSpPr>
        <p:sp>
          <p:nvSpPr>
            <p:cNvPr name="Freeform 63" id="63"/>
            <p:cNvSpPr/>
            <p:nvPr/>
          </p:nvSpPr>
          <p:spPr>
            <a:xfrm flipH="false" flipV="false" rot="0">
              <a:off x="0" y="0"/>
              <a:ext cx="8028432" cy="482827"/>
            </a:xfrm>
            <a:custGeom>
              <a:avLst/>
              <a:gdLst/>
              <a:ahLst/>
              <a:cxnLst/>
              <a:rect r="r" b="b" t="t" l="l"/>
              <a:pathLst>
                <a:path h="482827" w="8028432">
                  <a:moveTo>
                    <a:pt x="0" y="0"/>
                  </a:moveTo>
                  <a:lnTo>
                    <a:pt x="8028432" y="0"/>
                  </a:lnTo>
                  <a:lnTo>
                    <a:pt x="8028432" y="482827"/>
                  </a:lnTo>
                  <a:lnTo>
                    <a:pt x="0" y="482827"/>
                  </a:lnTo>
                  <a:close/>
                </a:path>
              </a:pathLst>
            </a:custGeom>
            <a:blipFill>
              <a:blip r:embed="rId3">
                <a:alphaModFix amt="0"/>
              </a:blip>
              <a:stretch>
                <a:fillRect l="0" t="-282331" r="0" b="-265660"/>
              </a:stretch>
            </a:blipFill>
          </p:spPr>
        </p:sp>
        <p:sp>
          <p:nvSpPr>
            <p:cNvPr name="TextBox 64" id="64"/>
            <p:cNvSpPr txBox="true"/>
            <p:nvPr/>
          </p:nvSpPr>
          <p:spPr>
            <a:xfrm>
              <a:off x="0" y="-9525"/>
              <a:ext cx="8028432" cy="492352"/>
            </a:xfrm>
            <a:prstGeom prst="rect">
              <a:avLst/>
            </a:prstGeom>
          </p:spPr>
          <p:txBody>
            <a:bodyPr anchor="ctr" rtlCol="false" tIns="0" lIns="0" bIns="0" rIns="0"/>
            <a:lstStyle/>
            <a:p>
              <a:pPr algn="l">
                <a:lnSpc>
                  <a:spcPts val="1643"/>
                </a:lnSpc>
              </a:pPr>
              <a:r>
                <a:rPr lang="en-US" sz="1369">
                  <a:solidFill>
                    <a:srgbClr val="DDE7F0"/>
                  </a:solidFill>
                  <a:latin typeface="Courier New"/>
                  <a:ea typeface="Courier New"/>
                  <a:cs typeface="Courier New"/>
                  <a:sym typeface="Courier New"/>
                </a:rPr>
                <a:t>event_type   |   TEXT   |   e.g. CRITICAL_TEMP</a:t>
              </a:r>
            </a:p>
          </p:txBody>
        </p:sp>
      </p:grpSp>
      <p:grpSp>
        <p:nvGrpSpPr>
          <p:cNvPr name="Group 65" id="65"/>
          <p:cNvGrpSpPr/>
          <p:nvPr/>
        </p:nvGrpSpPr>
        <p:grpSpPr>
          <a:xfrm rot="0">
            <a:off x="11151108" y="5733288"/>
            <a:ext cx="6021324" cy="688552"/>
            <a:chOff x="0" y="0"/>
            <a:chExt cx="8028432" cy="918070"/>
          </a:xfrm>
        </p:grpSpPr>
        <p:sp>
          <p:nvSpPr>
            <p:cNvPr name="Freeform 66" id="66"/>
            <p:cNvSpPr/>
            <p:nvPr/>
          </p:nvSpPr>
          <p:spPr>
            <a:xfrm flipH="false" flipV="false" rot="0">
              <a:off x="0" y="0"/>
              <a:ext cx="8028432" cy="918070"/>
            </a:xfrm>
            <a:custGeom>
              <a:avLst/>
              <a:gdLst/>
              <a:ahLst/>
              <a:cxnLst/>
              <a:rect r="r" b="b" t="t" l="l"/>
              <a:pathLst>
                <a:path h="918070" w="8028432">
                  <a:moveTo>
                    <a:pt x="0" y="0"/>
                  </a:moveTo>
                  <a:lnTo>
                    <a:pt x="8028432" y="0"/>
                  </a:lnTo>
                  <a:lnTo>
                    <a:pt x="8028432" y="918070"/>
                  </a:lnTo>
                  <a:lnTo>
                    <a:pt x="0" y="918070"/>
                  </a:lnTo>
                  <a:close/>
                </a:path>
              </a:pathLst>
            </a:custGeom>
            <a:blipFill>
              <a:blip r:embed="rId3">
                <a:alphaModFix amt="0"/>
              </a:blip>
              <a:stretch>
                <a:fillRect l="0" t="-148482" r="0" b="-92306"/>
              </a:stretch>
            </a:blipFill>
          </p:spPr>
        </p:sp>
        <p:sp>
          <p:nvSpPr>
            <p:cNvPr name="TextBox 67" id="67"/>
            <p:cNvSpPr txBox="true"/>
            <p:nvPr/>
          </p:nvSpPr>
          <p:spPr>
            <a:xfrm>
              <a:off x="0" y="-9525"/>
              <a:ext cx="8028432" cy="927595"/>
            </a:xfrm>
            <a:prstGeom prst="rect">
              <a:avLst/>
            </a:prstGeom>
          </p:spPr>
          <p:txBody>
            <a:bodyPr anchor="ctr" rtlCol="false" tIns="0" lIns="0" bIns="0" rIns="0"/>
            <a:lstStyle/>
            <a:p>
              <a:pPr algn="l">
                <a:lnSpc>
                  <a:spcPts val="1643"/>
                </a:lnSpc>
              </a:pPr>
              <a:r>
                <a:rPr lang="en-US" sz="1369">
                  <a:solidFill>
                    <a:srgbClr val="DDE7F0"/>
                  </a:solidFill>
                  <a:latin typeface="Courier New"/>
                  <a:ea typeface="Courier New"/>
                  <a:cs typeface="Courier New"/>
                  <a:sym typeface="Courier New"/>
                </a:rPr>
                <a:t>description   |   TEXT   |   Detailed description</a:t>
              </a:r>
            </a:p>
          </p:txBody>
        </p:sp>
      </p:grpSp>
      <p:grpSp>
        <p:nvGrpSpPr>
          <p:cNvPr name="Group 68" id="68"/>
          <p:cNvGrpSpPr/>
          <p:nvPr/>
        </p:nvGrpSpPr>
        <p:grpSpPr>
          <a:xfrm rot="0">
            <a:off x="1171956" y="8839200"/>
            <a:ext cx="1661160" cy="426720"/>
            <a:chOff x="0" y="0"/>
            <a:chExt cx="2214880" cy="568960"/>
          </a:xfrm>
        </p:grpSpPr>
        <p:sp>
          <p:nvSpPr>
            <p:cNvPr name="Freeform 69" id="69"/>
            <p:cNvSpPr/>
            <p:nvPr/>
          </p:nvSpPr>
          <p:spPr>
            <a:xfrm flipH="false" flipV="false" rot="0">
              <a:off x="0" y="0"/>
              <a:ext cx="2214880" cy="568960"/>
            </a:xfrm>
            <a:custGeom>
              <a:avLst/>
              <a:gdLst/>
              <a:ahLst/>
              <a:cxnLst/>
              <a:rect r="r" b="b" t="t" l="l"/>
              <a:pathLst>
                <a:path h="568960" w="2214880">
                  <a:moveTo>
                    <a:pt x="0" y="113792"/>
                  </a:moveTo>
                  <a:cubicBezTo>
                    <a:pt x="0" y="50927"/>
                    <a:pt x="50927" y="0"/>
                    <a:pt x="113792" y="0"/>
                  </a:cubicBezTo>
                  <a:lnTo>
                    <a:pt x="2101088" y="0"/>
                  </a:lnTo>
                  <a:cubicBezTo>
                    <a:pt x="2163953" y="0"/>
                    <a:pt x="2214880" y="50927"/>
                    <a:pt x="2214880" y="113792"/>
                  </a:cubicBezTo>
                  <a:lnTo>
                    <a:pt x="2214880" y="455168"/>
                  </a:lnTo>
                  <a:cubicBezTo>
                    <a:pt x="2214880" y="518033"/>
                    <a:pt x="2163953" y="568960"/>
                    <a:pt x="2101088" y="568960"/>
                  </a:cubicBezTo>
                  <a:lnTo>
                    <a:pt x="113792" y="568960"/>
                  </a:lnTo>
                  <a:cubicBezTo>
                    <a:pt x="50927" y="568960"/>
                    <a:pt x="0" y="518033"/>
                    <a:pt x="0" y="455168"/>
                  </a:cubicBezTo>
                  <a:close/>
                </a:path>
              </a:pathLst>
            </a:custGeom>
            <a:solidFill>
              <a:srgbClr val="76E2A1">
                <a:alpha val="3137"/>
              </a:srgbClr>
            </a:solidFill>
            <a:ln w="15240" cap="sq">
              <a:solidFill>
                <a:srgbClr val="76E2A1"/>
              </a:solidFill>
              <a:prstDash val="solid"/>
              <a:miter/>
            </a:ln>
          </p:spPr>
        </p:sp>
      </p:grpSp>
      <p:grpSp>
        <p:nvGrpSpPr>
          <p:cNvPr name="Group 70" id="70"/>
          <p:cNvGrpSpPr/>
          <p:nvPr/>
        </p:nvGrpSpPr>
        <p:grpSpPr>
          <a:xfrm rot="0">
            <a:off x="1179576" y="8942832"/>
            <a:ext cx="1645920" cy="178308"/>
            <a:chOff x="0" y="0"/>
            <a:chExt cx="2194560" cy="237744"/>
          </a:xfrm>
        </p:grpSpPr>
        <p:sp>
          <p:nvSpPr>
            <p:cNvPr name="Freeform 71" id="71"/>
            <p:cNvSpPr/>
            <p:nvPr/>
          </p:nvSpPr>
          <p:spPr>
            <a:xfrm flipH="false" flipV="false" rot="0">
              <a:off x="0" y="0"/>
              <a:ext cx="2194560" cy="237744"/>
            </a:xfrm>
            <a:custGeom>
              <a:avLst/>
              <a:gdLst/>
              <a:ahLst/>
              <a:cxnLst/>
              <a:rect r="r" b="b" t="t" l="l"/>
              <a:pathLst>
                <a:path h="237744" w="2194560">
                  <a:moveTo>
                    <a:pt x="0" y="0"/>
                  </a:moveTo>
                  <a:lnTo>
                    <a:pt x="2194560" y="0"/>
                  </a:lnTo>
                  <a:lnTo>
                    <a:pt x="2194560" y="237744"/>
                  </a:lnTo>
                  <a:lnTo>
                    <a:pt x="0" y="237744"/>
                  </a:lnTo>
                  <a:close/>
                </a:path>
              </a:pathLst>
            </a:custGeom>
            <a:blipFill>
              <a:blip r:embed="rId3">
                <a:alphaModFix amt="0"/>
              </a:blip>
              <a:stretch>
                <a:fillRect l="0" t="-129861" r="0" b="-129861"/>
              </a:stretch>
            </a:blipFill>
          </p:spPr>
        </p:sp>
        <p:sp>
          <p:nvSpPr>
            <p:cNvPr name="TextBox 72" id="72"/>
            <p:cNvSpPr txBox="true"/>
            <p:nvPr/>
          </p:nvSpPr>
          <p:spPr>
            <a:xfrm>
              <a:off x="0" y="0"/>
              <a:ext cx="2194560" cy="237744"/>
            </a:xfrm>
            <a:prstGeom prst="rect">
              <a:avLst/>
            </a:prstGeom>
          </p:spPr>
          <p:txBody>
            <a:bodyPr anchor="ctr" rtlCol="false" tIns="0" lIns="0" bIns="0" rIns="0"/>
            <a:lstStyle/>
            <a:p>
              <a:pPr algn="ctr">
                <a:lnSpc>
                  <a:spcPts val="1439"/>
                </a:lnSpc>
              </a:pPr>
              <a:r>
                <a:rPr lang="en-US" sz="1200" b="true">
                  <a:solidFill>
                    <a:srgbClr val="76E2A1"/>
                  </a:solidFill>
                  <a:latin typeface="Aptos Bold"/>
                  <a:ea typeface="Aptos Bold"/>
                  <a:cs typeface="Aptos Bold"/>
                  <a:sym typeface="Aptos Bold"/>
                </a:rPr>
                <a:t>time-series</a:t>
              </a:r>
            </a:p>
          </p:txBody>
        </p:sp>
      </p:grpSp>
      <p:grpSp>
        <p:nvGrpSpPr>
          <p:cNvPr name="Group 73" id="73"/>
          <p:cNvGrpSpPr/>
          <p:nvPr/>
        </p:nvGrpSpPr>
        <p:grpSpPr>
          <a:xfrm rot="0">
            <a:off x="11157204" y="7604760"/>
            <a:ext cx="2685838" cy="426720"/>
            <a:chOff x="0" y="0"/>
            <a:chExt cx="3581117" cy="568960"/>
          </a:xfrm>
        </p:grpSpPr>
        <p:sp>
          <p:nvSpPr>
            <p:cNvPr name="Freeform 74" id="74"/>
            <p:cNvSpPr/>
            <p:nvPr/>
          </p:nvSpPr>
          <p:spPr>
            <a:xfrm flipH="false" flipV="false" rot="0">
              <a:off x="0" y="0"/>
              <a:ext cx="3581117" cy="568960"/>
            </a:xfrm>
            <a:custGeom>
              <a:avLst/>
              <a:gdLst/>
              <a:ahLst/>
              <a:cxnLst/>
              <a:rect r="r" b="b" t="t" l="l"/>
              <a:pathLst>
                <a:path h="568960" w="3581117">
                  <a:moveTo>
                    <a:pt x="0" y="113792"/>
                  </a:moveTo>
                  <a:cubicBezTo>
                    <a:pt x="0" y="50927"/>
                    <a:pt x="89752" y="0"/>
                    <a:pt x="200543" y="0"/>
                  </a:cubicBezTo>
                  <a:lnTo>
                    <a:pt x="3380574" y="0"/>
                  </a:lnTo>
                  <a:cubicBezTo>
                    <a:pt x="3491366" y="0"/>
                    <a:pt x="3581117" y="50927"/>
                    <a:pt x="3581117" y="113792"/>
                  </a:cubicBezTo>
                  <a:lnTo>
                    <a:pt x="3581117" y="455168"/>
                  </a:lnTo>
                  <a:cubicBezTo>
                    <a:pt x="3581117" y="518033"/>
                    <a:pt x="3491366" y="568960"/>
                    <a:pt x="3380574" y="568960"/>
                  </a:cubicBezTo>
                  <a:lnTo>
                    <a:pt x="200543" y="568960"/>
                  </a:lnTo>
                  <a:cubicBezTo>
                    <a:pt x="89752" y="568960"/>
                    <a:pt x="0" y="518033"/>
                    <a:pt x="0" y="455168"/>
                  </a:cubicBezTo>
                  <a:close/>
                </a:path>
              </a:pathLst>
            </a:custGeom>
            <a:solidFill>
              <a:srgbClr val="FF5E78">
                <a:alpha val="3137"/>
              </a:srgbClr>
            </a:solidFill>
            <a:ln w="15240" cap="sq">
              <a:solidFill>
                <a:srgbClr val="FF5E78"/>
              </a:solidFill>
              <a:prstDash val="solid"/>
              <a:miter/>
            </a:ln>
          </p:spPr>
        </p:sp>
      </p:grpSp>
      <p:grpSp>
        <p:nvGrpSpPr>
          <p:cNvPr name="Group 75" id="75"/>
          <p:cNvGrpSpPr/>
          <p:nvPr/>
        </p:nvGrpSpPr>
        <p:grpSpPr>
          <a:xfrm rot="0">
            <a:off x="11164824" y="7629525"/>
            <a:ext cx="2516825" cy="443599"/>
            <a:chOff x="0" y="0"/>
            <a:chExt cx="3355767" cy="591465"/>
          </a:xfrm>
        </p:grpSpPr>
        <p:sp>
          <p:nvSpPr>
            <p:cNvPr name="Freeform 76" id="76"/>
            <p:cNvSpPr/>
            <p:nvPr/>
          </p:nvSpPr>
          <p:spPr>
            <a:xfrm flipH="false" flipV="false" rot="0">
              <a:off x="0" y="0"/>
              <a:ext cx="3355767" cy="591465"/>
            </a:xfrm>
            <a:custGeom>
              <a:avLst/>
              <a:gdLst/>
              <a:ahLst/>
              <a:cxnLst/>
              <a:rect r="r" b="b" t="t" l="l"/>
              <a:pathLst>
                <a:path h="591465" w="3355767">
                  <a:moveTo>
                    <a:pt x="0" y="0"/>
                  </a:moveTo>
                  <a:lnTo>
                    <a:pt x="3355767" y="0"/>
                  </a:lnTo>
                  <a:lnTo>
                    <a:pt x="3355767" y="591465"/>
                  </a:lnTo>
                  <a:lnTo>
                    <a:pt x="0" y="591465"/>
                  </a:lnTo>
                  <a:close/>
                </a:path>
              </a:pathLst>
            </a:custGeom>
            <a:blipFill>
              <a:blip r:embed="rId3">
                <a:alphaModFix amt="0"/>
              </a:blip>
              <a:stretch>
                <a:fillRect l="0" t="-46174" r="40053" b="13629"/>
              </a:stretch>
            </a:blipFill>
          </p:spPr>
        </p:sp>
        <p:sp>
          <p:nvSpPr>
            <p:cNvPr name="TextBox 77" id="77"/>
            <p:cNvSpPr txBox="true"/>
            <p:nvPr/>
          </p:nvSpPr>
          <p:spPr>
            <a:xfrm>
              <a:off x="0" y="0"/>
              <a:ext cx="3355767" cy="591465"/>
            </a:xfrm>
            <a:prstGeom prst="rect">
              <a:avLst/>
            </a:prstGeom>
          </p:spPr>
          <p:txBody>
            <a:bodyPr anchor="ctr" rtlCol="false" tIns="0" lIns="0" bIns="0" rIns="0"/>
            <a:lstStyle/>
            <a:p>
              <a:pPr algn="ctr">
                <a:lnSpc>
                  <a:spcPts val="1439"/>
                </a:lnSpc>
              </a:pPr>
              <a:r>
                <a:rPr lang="en-US" sz="1200" b="true">
                  <a:solidFill>
                    <a:srgbClr val="FF5E78"/>
                  </a:solidFill>
                  <a:latin typeface="Aptos Bold"/>
                  <a:ea typeface="Aptos Bold"/>
                  <a:cs typeface="Aptos Bold"/>
                  <a:sym typeface="Aptos Bold"/>
                </a:rPr>
                <a:t>Compli</a:t>
              </a:r>
              <a:r>
                <a:rPr lang="en-US" sz="1200" b="true">
                  <a:solidFill>
                    <a:srgbClr val="FF5E78"/>
                  </a:solidFill>
                  <a:latin typeface="Aptos Bold"/>
                  <a:ea typeface="Aptos Bold"/>
                  <a:cs typeface="Aptos Bold"/>
                  <a:sym typeface="Aptos Bold"/>
                </a:rPr>
                <a:t>ance Audit Trail</a:t>
              </a:r>
            </a:p>
          </p:txBody>
        </p:sp>
      </p:grpSp>
      <p:sp>
        <p:nvSpPr>
          <p:cNvPr name="TextBox 78" id="78"/>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46D6F5"/>
            </a:solidFill>
            <a:ln w="19050" cap="sq">
              <a:solidFill>
                <a:srgbClr val="46D6F5"/>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05</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5 • DATA INTEGRITY</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Composite Primary Key</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Use timestamp + device_id to protect historical integrity.</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77074" y="3528250"/>
            <a:ext cx="3518535" cy="1639443"/>
            <a:chOff x="0" y="0"/>
            <a:chExt cx="4691380" cy="2185924"/>
          </a:xfrm>
        </p:grpSpPr>
        <p:sp>
          <p:nvSpPr>
            <p:cNvPr name="Freeform 23" id="23"/>
            <p:cNvSpPr/>
            <p:nvPr/>
          </p:nvSpPr>
          <p:spPr>
            <a:xfrm flipH="false" flipV="false" rot="0">
              <a:off x="0" y="0"/>
              <a:ext cx="4691380" cy="2185924"/>
            </a:xfrm>
            <a:custGeom>
              <a:avLst/>
              <a:gdLst/>
              <a:ahLst/>
              <a:cxnLst/>
              <a:rect r="r" b="b" t="t" l="l"/>
              <a:pathLst>
                <a:path h="2185924" w="4691380">
                  <a:moveTo>
                    <a:pt x="0" y="148209"/>
                  </a:moveTo>
                  <a:cubicBezTo>
                    <a:pt x="0" y="66294"/>
                    <a:pt x="66294" y="0"/>
                    <a:pt x="148209" y="0"/>
                  </a:cubicBezTo>
                  <a:lnTo>
                    <a:pt x="4543171" y="0"/>
                  </a:lnTo>
                  <a:cubicBezTo>
                    <a:pt x="4625086" y="0"/>
                    <a:pt x="4691380" y="66294"/>
                    <a:pt x="4691380" y="148209"/>
                  </a:cubicBezTo>
                  <a:lnTo>
                    <a:pt x="4691380" y="2037715"/>
                  </a:lnTo>
                  <a:cubicBezTo>
                    <a:pt x="4691380" y="2119630"/>
                    <a:pt x="4625086" y="2185924"/>
                    <a:pt x="4543171" y="2185924"/>
                  </a:cubicBezTo>
                  <a:lnTo>
                    <a:pt x="148209" y="2185924"/>
                  </a:lnTo>
                  <a:cubicBezTo>
                    <a:pt x="66294" y="2185924"/>
                    <a:pt x="0" y="2119630"/>
                    <a:pt x="0" y="2037715"/>
                  </a:cubicBezTo>
                  <a:close/>
                </a:path>
              </a:pathLst>
            </a:custGeom>
            <a:solidFill>
              <a:srgbClr val="10253B"/>
            </a:solidFill>
            <a:ln w="20955" cap="sq">
              <a:solidFill>
                <a:srgbClr val="F6C85F"/>
              </a:solidFill>
              <a:prstDash val="solid"/>
              <a:miter/>
            </a:ln>
          </p:spPr>
        </p:sp>
      </p:grpSp>
      <p:grpSp>
        <p:nvGrpSpPr>
          <p:cNvPr name="Group 24" id="24"/>
          <p:cNvGrpSpPr/>
          <p:nvPr/>
        </p:nvGrpSpPr>
        <p:grpSpPr>
          <a:xfrm rot="0">
            <a:off x="1152144" y="3730752"/>
            <a:ext cx="3168396" cy="329184"/>
            <a:chOff x="0" y="0"/>
            <a:chExt cx="4224528" cy="438912"/>
          </a:xfrm>
        </p:grpSpPr>
        <p:sp>
          <p:nvSpPr>
            <p:cNvPr name="Freeform 25" id="25"/>
            <p:cNvSpPr/>
            <p:nvPr/>
          </p:nvSpPr>
          <p:spPr>
            <a:xfrm flipH="false" flipV="false" rot="0">
              <a:off x="0" y="0"/>
              <a:ext cx="4224528" cy="438912"/>
            </a:xfrm>
            <a:custGeom>
              <a:avLst/>
              <a:gdLst/>
              <a:ahLst/>
              <a:cxnLst/>
              <a:rect r="r" b="b" t="t" l="l"/>
              <a:pathLst>
                <a:path h="438912" w="4224528">
                  <a:moveTo>
                    <a:pt x="0" y="0"/>
                  </a:moveTo>
                  <a:lnTo>
                    <a:pt x="4224528" y="0"/>
                  </a:lnTo>
                  <a:lnTo>
                    <a:pt x="4224528" y="438912"/>
                  </a:lnTo>
                  <a:lnTo>
                    <a:pt x="0" y="438912"/>
                  </a:lnTo>
                  <a:close/>
                </a:path>
              </a:pathLst>
            </a:custGeom>
            <a:blipFill>
              <a:blip r:embed="rId3">
                <a:alphaModFix amt="0"/>
              </a:blip>
              <a:stretch>
                <a:fillRect l="0" t="-137543" r="0" b="-137543"/>
              </a:stretch>
            </a:blipFill>
          </p:spPr>
        </p:sp>
        <p:sp>
          <p:nvSpPr>
            <p:cNvPr name="TextBox 26" id="26"/>
            <p:cNvSpPr txBox="true"/>
            <p:nvPr/>
          </p:nvSpPr>
          <p:spPr>
            <a:xfrm>
              <a:off x="0" y="0"/>
              <a:ext cx="422452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BACKFILL</a:t>
              </a:r>
            </a:p>
          </p:txBody>
        </p:sp>
      </p:grpSp>
      <p:grpSp>
        <p:nvGrpSpPr>
          <p:cNvPr name="Group 27" id="27"/>
          <p:cNvGrpSpPr/>
          <p:nvPr/>
        </p:nvGrpSpPr>
        <p:grpSpPr>
          <a:xfrm rot="0">
            <a:off x="1152144" y="4169664"/>
            <a:ext cx="3168396" cy="877824"/>
            <a:chOff x="0" y="0"/>
            <a:chExt cx="4224528" cy="1170432"/>
          </a:xfrm>
        </p:grpSpPr>
        <p:sp>
          <p:nvSpPr>
            <p:cNvPr name="Freeform 28" id="28"/>
            <p:cNvSpPr/>
            <p:nvPr/>
          </p:nvSpPr>
          <p:spPr>
            <a:xfrm flipH="false" flipV="false" rot="0">
              <a:off x="0" y="0"/>
              <a:ext cx="4224528" cy="1170432"/>
            </a:xfrm>
            <a:custGeom>
              <a:avLst/>
              <a:gdLst/>
              <a:ahLst/>
              <a:cxnLst/>
              <a:rect r="r" b="b" t="t" l="l"/>
              <a:pathLst>
                <a:path h="1170432" w="4224528">
                  <a:moveTo>
                    <a:pt x="0" y="0"/>
                  </a:moveTo>
                  <a:lnTo>
                    <a:pt x="4224528" y="0"/>
                  </a:lnTo>
                  <a:lnTo>
                    <a:pt x="4224528" y="1170432"/>
                  </a:lnTo>
                  <a:lnTo>
                    <a:pt x="0" y="1170432"/>
                  </a:lnTo>
                  <a:close/>
                </a:path>
              </a:pathLst>
            </a:custGeom>
            <a:blipFill>
              <a:blip r:embed="rId3">
                <a:alphaModFix amt="0"/>
              </a:blip>
              <a:stretch>
                <a:fillRect l="0" t="-20328" r="0" b="-20328"/>
              </a:stretch>
            </a:blipFill>
          </p:spPr>
        </p:sp>
        <p:sp>
          <p:nvSpPr>
            <p:cNvPr name="TextBox 29" id="29"/>
            <p:cNvSpPr txBox="true"/>
            <p:nvPr/>
          </p:nvSpPr>
          <p:spPr>
            <a:xfrm>
              <a:off x="0" y="0"/>
              <a:ext cx="4224528" cy="1170432"/>
            </a:xfrm>
            <a:prstGeom prst="rect">
              <a:avLst/>
            </a:prstGeom>
          </p:spPr>
          <p:txBody>
            <a:bodyPr anchor="ctr" rtlCol="false" tIns="0" lIns="0" bIns="0" rIns="0"/>
            <a:lstStyle/>
            <a:p>
              <a:pPr algn="ctr">
                <a:lnSpc>
                  <a:spcPts val="1769"/>
                </a:lnSpc>
              </a:pPr>
              <a:r>
                <a:rPr lang="en-US" sz="1474">
                  <a:solidFill>
                    <a:srgbClr val="9BAFC2"/>
                  </a:solidFill>
                  <a:latin typeface="Aptos"/>
                  <a:ea typeface="Aptos"/>
                  <a:cs typeface="Aptos"/>
                  <a:sym typeface="Aptos"/>
                </a:rPr>
                <a:t>ESP32 flushes 100 buffered records</a:t>
              </a:r>
            </a:p>
          </p:txBody>
        </p:sp>
      </p:grpSp>
      <p:sp>
        <p:nvSpPr>
          <p:cNvPr name="AutoShape 30" id="30"/>
          <p:cNvSpPr/>
          <p:nvPr/>
        </p:nvSpPr>
        <p:spPr>
          <a:xfrm rot="100500">
            <a:off x="4673479" y="4338447"/>
            <a:ext cx="1173223" cy="0"/>
          </a:xfrm>
          <a:prstGeom prst="line">
            <a:avLst/>
          </a:prstGeom>
          <a:ln cap="rnd" w="19050">
            <a:solidFill>
              <a:srgbClr val="1D3850"/>
            </a:solidFill>
            <a:prstDash val="solid"/>
            <a:headEnd type="none" len="sm" w="sm"/>
            <a:tailEnd type="triangle" len="med" w="lg"/>
          </a:ln>
        </p:spPr>
      </p:sp>
      <p:grpSp>
        <p:nvGrpSpPr>
          <p:cNvPr name="Group 31" id="31"/>
          <p:cNvGrpSpPr/>
          <p:nvPr/>
        </p:nvGrpSpPr>
        <p:grpSpPr>
          <a:xfrm rot="0">
            <a:off x="5887403" y="3528250"/>
            <a:ext cx="3518535" cy="1639443"/>
            <a:chOff x="0" y="0"/>
            <a:chExt cx="4691380" cy="2185924"/>
          </a:xfrm>
        </p:grpSpPr>
        <p:sp>
          <p:nvSpPr>
            <p:cNvPr name="Freeform 32" id="32"/>
            <p:cNvSpPr/>
            <p:nvPr/>
          </p:nvSpPr>
          <p:spPr>
            <a:xfrm flipH="false" flipV="false" rot="0">
              <a:off x="0" y="0"/>
              <a:ext cx="4691380" cy="2185924"/>
            </a:xfrm>
            <a:custGeom>
              <a:avLst/>
              <a:gdLst/>
              <a:ahLst/>
              <a:cxnLst/>
              <a:rect r="r" b="b" t="t" l="l"/>
              <a:pathLst>
                <a:path h="2185924" w="4691380">
                  <a:moveTo>
                    <a:pt x="0" y="148209"/>
                  </a:moveTo>
                  <a:cubicBezTo>
                    <a:pt x="0" y="66294"/>
                    <a:pt x="66294" y="0"/>
                    <a:pt x="148209" y="0"/>
                  </a:cubicBezTo>
                  <a:lnTo>
                    <a:pt x="4543171" y="0"/>
                  </a:lnTo>
                  <a:cubicBezTo>
                    <a:pt x="4625086" y="0"/>
                    <a:pt x="4691380" y="66294"/>
                    <a:pt x="4691380" y="148209"/>
                  </a:cubicBezTo>
                  <a:lnTo>
                    <a:pt x="4691380" y="2037715"/>
                  </a:lnTo>
                  <a:cubicBezTo>
                    <a:pt x="4691380" y="2119630"/>
                    <a:pt x="4625086" y="2185924"/>
                    <a:pt x="4543171" y="2185924"/>
                  </a:cubicBezTo>
                  <a:lnTo>
                    <a:pt x="148209" y="2185924"/>
                  </a:lnTo>
                  <a:cubicBezTo>
                    <a:pt x="66294" y="2185924"/>
                    <a:pt x="0" y="2119630"/>
                    <a:pt x="0" y="2037715"/>
                  </a:cubicBezTo>
                  <a:close/>
                </a:path>
              </a:pathLst>
            </a:custGeom>
            <a:solidFill>
              <a:srgbClr val="10253B"/>
            </a:solidFill>
            <a:ln w="20955" cap="sq">
              <a:solidFill>
                <a:srgbClr val="FF5E78"/>
              </a:solidFill>
              <a:prstDash val="solid"/>
              <a:miter/>
            </a:ln>
          </p:spPr>
        </p:sp>
      </p:grpSp>
      <p:grpSp>
        <p:nvGrpSpPr>
          <p:cNvPr name="Group 33" id="33"/>
          <p:cNvGrpSpPr/>
          <p:nvPr/>
        </p:nvGrpSpPr>
        <p:grpSpPr>
          <a:xfrm rot="0">
            <a:off x="6062472" y="3730752"/>
            <a:ext cx="3168396" cy="329184"/>
            <a:chOff x="0" y="0"/>
            <a:chExt cx="4224528" cy="438912"/>
          </a:xfrm>
        </p:grpSpPr>
        <p:sp>
          <p:nvSpPr>
            <p:cNvPr name="Freeform 34" id="34"/>
            <p:cNvSpPr/>
            <p:nvPr/>
          </p:nvSpPr>
          <p:spPr>
            <a:xfrm flipH="false" flipV="false" rot="0">
              <a:off x="0" y="0"/>
              <a:ext cx="4224528" cy="438912"/>
            </a:xfrm>
            <a:custGeom>
              <a:avLst/>
              <a:gdLst/>
              <a:ahLst/>
              <a:cxnLst/>
              <a:rect r="r" b="b" t="t" l="l"/>
              <a:pathLst>
                <a:path h="438912" w="4224528">
                  <a:moveTo>
                    <a:pt x="0" y="0"/>
                  </a:moveTo>
                  <a:lnTo>
                    <a:pt x="4224528" y="0"/>
                  </a:lnTo>
                  <a:lnTo>
                    <a:pt x="4224528" y="438912"/>
                  </a:lnTo>
                  <a:lnTo>
                    <a:pt x="0" y="438912"/>
                  </a:lnTo>
                  <a:close/>
                </a:path>
              </a:pathLst>
            </a:custGeom>
            <a:blipFill>
              <a:blip r:embed="rId3">
                <a:alphaModFix amt="0"/>
              </a:blip>
              <a:stretch>
                <a:fillRect l="0" t="-137543" r="0" b="-137543"/>
              </a:stretch>
            </a:blipFill>
          </p:spPr>
        </p:sp>
        <p:sp>
          <p:nvSpPr>
            <p:cNvPr name="TextBox 35" id="35"/>
            <p:cNvSpPr txBox="true"/>
            <p:nvPr/>
          </p:nvSpPr>
          <p:spPr>
            <a:xfrm>
              <a:off x="0" y="0"/>
              <a:ext cx="422452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LATENCY</a:t>
              </a:r>
            </a:p>
          </p:txBody>
        </p:sp>
      </p:grpSp>
      <p:grpSp>
        <p:nvGrpSpPr>
          <p:cNvPr name="Group 36" id="36"/>
          <p:cNvGrpSpPr/>
          <p:nvPr/>
        </p:nvGrpSpPr>
        <p:grpSpPr>
          <a:xfrm rot="0">
            <a:off x="5692679" y="4169664"/>
            <a:ext cx="3846799" cy="877824"/>
            <a:chOff x="0" y="0"/>
            <a:chExt cx="5129066" cy="1170432"/>
          </a:xfrm>
        </p:grpSpPr>
        <p:sp>
          <p:nvSpPr>
            <p:cNvPr name="Freeform 37" id="37"/>
            <p:cNvSpPr/>
            <p:nvPr/>
          </p:nvSpPr>
          <p:spPr>
            <a:xfrm flipH="false" flipV="false" rot="0">
              <a:off x="0" y="0"/>
              <a:ext cx="5129066" cy="1170432"/>
            </a:xfrm>
            <a:custGeom>
              <a:avLst/>
              <a:gdLst/>
              <a:ahLst/>
              <a:cxnLst/>
              <a:rect r="r" b="b" t="t" l="l"/>
              <a:pathLst>
                <a:path h="1170432" w="5129066">
                  <a:moveTo>
                    <a:pt x="0" y="0"/>
                  </a:moveTo>
                  <a:lnTo>
                    <a:pt x="5129066" y="0"/>
                  </a:lnTo>
                  <a:lnTo>
                    <a:pt x="5129066" y="1170432"/>
                  </a:lnTo>
                  <a:lnTo>
                    <a:pt x="0" y="1170432"/>
                  </a:lnTo>
                  <a:close/>
                </a:path>
              </a:pathLst>
            </a:custGeom>
            <a:blipFill>
              <a:blip r:embed="rId3">
                <a:alphaModFix amt="0"/>
              </a:blip>
              <a:stretch>
                <a:fillRect l="0" t="-20328" r="17635" b="-20328"/>
              </a:stretch>
            </a:blipFill>
          </p:spPr>
        </p:sp>
        <p:sp>
          <p:nvSpPr>
            <p:cNvPr name="TextBox 38" id="38"/>
            <p:cNvSpPr txBox="true"/>
            <p:nvPr/>
          </p:nvSpPr>
          <p:spPr>
            <a:xfrm>
              <a:off x="0" y="0"/>
              <a:ext cx="5129066" cy="1170432"/>
            </a:xfrm>
            <a:prstGeom prst="rect">
              <a:avLst/>
            </a:prstGeom>
          </p:spPr>
          <p:txBody>
            <a:bodyPr anchor="ctr" rtlCol="false" tIns="0" lIns="0" bIns="0" rIns="0"/>
            <a:lstStyle/>
            <a:p>
              <a:pPr algn="ctr">
                <a:lnSpc>
                  <a:spcPts val="1769"/>
                </a:lnSpc>
              </a:pPr>
              <a:r>
                <a:rPr lang="en-US" sz="1474">
                  <a:solidFill>
                    <a:srgbClr val="9BAFC2"/>
                  </a:solidFill>
                  <a:latin typeface="Aptos"/>
                  <a:ea typeface="Aptos"/>
                  <a:cs typeface="Aptos"/>
                  <a:sym typeface="Aptos"/>
                </a:rPr>
                <a:t>Packet duplication risk during retransmit</a:t>
              </a:r>
            </a:p>
          </p:txBody>
        </p:sp>
      </p:grpSp>
      <p:sp>
        <p:nvSpPr>
          <p:cNvPr name="AutoShape 39" id="39"/>
          <p:cNvSpPr/>
          <p:nvPr/>
        </p:nvSpPr>
        <p:spPr>
          <a:xfrm rot="104160">
            <a:off x="9583798" y="4338447"/>
            <a:ext cx="1132094" cy="0"/>
          </a:xfrm>
          <a:prstGeom prst="line">
            <a:avLst/>
          </a:prstGeom>
          <a:ln cap="rnd" w="19050">
            <a:solidFill>
              <a:srgbClr val="1D3850"/>
            </a:solidFill>
            <a:prstDash val="solid"/>
            <a:headEnd type="none" len="sm" w="sm"/>
            <a:tailEnd type="triangle" len="med" w="lg"/>
          </a:ln>
        </p:spPr>
      </p:sp>
      <p:grpSp>
        <p:nvGrpSpPr>
          <p:cNvPr name="Group 40" id="40"/>
          <p:cNvGrpSpPr/>
          <p:nvPr/>
        </p:nvGrpSpPr>
        <p:grpSpPr>
          <a:xfrm rot="0">
            <a:off x="10770298" y="3528250"/>
            <a:ext cx="3518535" cy="1639443"/>
            <a:chOff x="0" y="0"/>
            <a:chExt cx="4691380" cy="2185924"/>
          </a:xfrm>
        </p:grpSpPr>
        <p:sp>
          <p:nvSpPr>
            <p:cNvPr name="Freeform 41" id="41"/>
            <p:cNvSpPr/>
            <p:nvPr/>
          </p:nvSpPr>
          <p:spPr>
            <a:xfrm flipH="false" flipV="false" rot="0">
              <a:off x="0" y="0"/>
              <a:ext cx="4691380" cy="2185924"/>
            </a:xfrm>
            <a:custGeom>
              <a:avLst/>
              <a:gdLst/>
              <a:ahLst/>
              <a:cxnLst/>
              <a:rect r="r" b="b" t="t" l="l"/>
              <a:pathLst>
                <a:path h="2185924" w="4691380">
                  <a:moveTo>
                    <a:pt x="0" y="148209"/>
                  </a:moveTo>
                  <a:cubicBezTo>
                    <a:pt x="0" y="66294"/>
                    <a:pt x="66294" y="0"/>
                    <a:pt x="148209" y="0"/>
                  </a:cubicBezTo>
                  <a:lnTo>
                    <a:pt x="4543171" y="0"/>
                  </a:lnTo>
                  <a:cubicBezTo>
                    <a:pt x="4625086" y="0"/>
                    <a:pt x="4691380" y="66294"/>
                    <a:pt x="4691380" y="148209"/>
                  </a:cubicBezTo>
                  <a:lnTo>
                    <a:pt x="4691380" y="2037715"/>
                  </a:lnTo>
                  <a:cubicBezTo>
                    <a:pt x="4691380" y="2119630"/>
                    <a:pt x="4625086" y="2185924"/>
                    <a:pt x="4543171" y="2185924"/>
                  </a:cubicBezTo>
                  <a:lnTo>
                    <a:pt x="148209" y="2185924"/>
                  </a:lnTo>
                  <a:cubicBezTo>
                    <a:pt x="66294" y="2185924"/>
                    <a:pt x="0" y="2119630"/>
                    <a:pt x="0" y="2037715"/>
                  </a:cubicBezTo>
                  <a:close/>
                </a:path>
              </a:pathLst>
            </a:custGeom>
            <a:solidFill>
              <a:srgbClr val="10253B"/>
            </a:solidFill>
            <a:ln w="20955" cap="sq">
              <a:solidFill>
                <a:srgbClr val="46D6F5"/>
              </a:solidFill>
              <a:prstDash val="solid"/>
              <a:miter/>
            </a:ln>
          </p:spPr>
        </p:sp>
      </p:grpSp>
      <p:grpSp>
        <p:nvGrpSpPr>
          <p:cNvPr name="Group 42" id="42"/>
          <p:cNvGrpSpPr/>
          <p:nvPr/>
        </p:nvGrpSpPr>
        <p:grpSpPr>
          <a:xfrm rot="0">
            <a:off x="10945368" y="3692470"/>
            <a:ext cx="3168396" cy="367466"/>
            <a:chOff x="0" y="0"/>
            <a:chExt cx="4224528" cy="489955"/>
          </a:xfrm>
        </p:grpSpPr>
        <p:sp>
          <p:nvSpPr>
            <p:cNvPr name="Freeform 43" id="43"/>
            <p:cNvSpPr/>
            <p:nvPr/>
          </p:nvSpPr>
          <p:spPr>
            <a:xfrm flipH="false" flipV="false" rot="0">
              <a:off x="0" y="0"/>
              <a:ext cx="4224528" cy="489955"/>
            </a:xfrm>
            <a:custGeom>
              <a:avLst/>
              <a:gdLst/>
              <a:ahLst/>
              <a:cxnLst/>
              <a:rect r="r" b="b" t="t" l="l"/>
              <a:pathLst>
                <a:path h="489955" w="4224528">
                  <a:moveTo>
                    <a:pt x="0" y="0"/>
                  </a:moveTo>
                  <a:lnTo>
                    <a:pt x="4224528" y="0"/>
                  </a:lnTo>
                  <a:lnTo>
                    <a:pt x="4224528" y="489955"/>
                  </a:lnTo>
                  <a:lnTo>
                    <a:pt x="0" y="489955"/>
                  </a:lnTo>
                  <a:close/>
                </a:path>
              </a:pathLst>
            </a:custGeom>
            <a:blipFill>
              <a:blip r:embed="rId3">
                <a:alphaModFix amt="0"/>
              </a:blip>
              <a:stretch>
                <a:fillRect l="0" t="-123214" r="0" b="-112796"/>
              </a:stretch>
            </a:blipFill>
          </p:spPr>
        </p:sp>
        <p:sp>
          <p:nvSpPr>
            <p:cNvPr name="TextBox 44" id="44"/>
            <p:cNvSpPr txBox="true"/>
            <p:nvPr/>
          </p:nvSpPr>
          <p:spPr>
            <a:xfrm>
              <a:off x="0" y="0"/>
              <a:ext cx="4224528" cy="489955"/>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COMPOSITE KEY CHECK</a:t>
              </a:r>
            </a:p>
          </p:txBody>
        </p:sp>
      </p:grpSp>
      <p:grpSp>
        <p:nvGrpSpPr>
          <p:cNvPr name="Group 45" id="45"/>
          <p:cNvGrpSpPr/>
          <p:nvPr/>
        </p:nvGrpSpPr>
        <p:grpSpPr>
          <a:xfrm rot="0">
            <a:off x="10945368" y="4169664"/>
            <a:ext cx="3168396" cy="877824"/>
            <a:chOff x="0" y="0"/>
            <a:chExt cx="4224528" cy="1170432"/>
          </a:xfrm>
        </p:grpSpPr>
        <p:sp>
          <p:nvSpPr>
            <p:cNvPr name="Freeform 46" id="46"/>
            <p:cNvSpPr/>
            <p:nvPr/>
          </p:nvSpPr>
          <p:spPr>
            <a:xfrm flipH="false" flipV="false" rot="0">
              <a:off x="0" y="0"/>
              <a:ext cx="4224528" cy="1170432"/>
            </a:xfrm>
            <a:custGeom>
              <a:avLst/>
              <a:gdLst/>
              <a:ahLst/>
              <a:cxnLst/>
              <a:rect r="r" b="b" t="t" l="l"/>
              <a:pathLst>
                <a:path h="1170432" w="4224528">
                  <a:moveTo>
                    <a:pt x="0" y="0"/>
                  </a:moveTo>
                  <a:lnTo>
                    <a:pt x="4224528" y="0"/>
                  </a:lnTo>
                  <a:lnTo>
                    <a:pt x="4224528" y="1170432"/>
                  </a:lnTo>
                  <a:lnTo>
                    <a:pt x="0" y="1170432"/>
                  </a:lnTo>
                  <a:close/>
                </a:path>
              </a:pathLst>
            </a:custGeom>
            <a:blipFill>
              <a:blip r:embed="rId3">
                <a:alphaModFix amt="0"/>
              </a:blip>
              <a:stretch>
                <a:fillRect l="0" t="-20328" r="0" b="-20328"/>
              </a:stretch>
            </a:blipFill>
          </p:spPr>
        </p:sp>
        <p:sp>
          <p:nvSpPr>
            <p:cNvPr name="TextBox 47" id="47"/>
            <p:cNvSpPr txBox="true"/>
            <p:nvPr/>
          </p:nvSpPr>
          <p:spPr>
            <a:xfrm>
              <a:off x="0" y="0"/>
              <a:ext cx="4224528" cy="1170432"/>
            </a:xfrm>
            <a:prstGeom prst="rect">
              <a:avLst/>
            </a:prstGeom>
          </p:spPr>
          <p:txBody>
            <a:bodyPr anchor="ctr" rtlCol="false" tIns="0" lIns="0" bIns="0" rIns="0"/>
            <a:lstStyle/>
            <a:p>
              <a:pPr algn="ctr">
                <a:lnSpc>
                  <a:spcPts val="1769"/>
                </a:lnSpc>
              </a:pPr>
              <a:r>
                <a:rPr lang="en-US" sz="1474">
                  <a:solidFill>
                    <a:srgbClr val="9BAFC2"/>
                  </a:solidFill>
                  <a:latin typeface="Aptos"/>
                  <a:ea typeface="Aptos"/>
                  <a:cs typeface="Aptos"/>
                  <a:sym typeface="Aptos"/>
                </a:rPr>
                <a:t>PRIMARY KEY (timestamp, device_id)</a:t>
              </a:r>
            </a:p>
          </p:txBody>
        </p:sp>
      </p:grpSp>
      <p:sp>
        <p:nvSpPr>
          <p:cNvPr name="AutoShape 48" id="48"/>
          <p:cNvSpPr/>
          <p:nvPr/>
        </p:nvSpPr>
        <p:spPr>
          <a:xfrm rot="115320">
            <a:off x="14466665" y="4338447"/>
            <a:ext cx="1022414" cy="0"/>
          </a:xfrm>
          <a:prstGeom prst="line">
            <a:avLst/>
          </a:prstGeom>
          <a:ln cap="rnd" w="19050">
            <a:solidFill>
              <a:srgbClr val="1D3850"/>
            </a:solidFill>
            <a:prstDash val="solid"/>
            <a:headEnd type="none" len="sm" w="sm"/>
            <a:tailEnd type="triangle" len="med" w="lg"/>
          </a:ln>
        </p:spPr>
      </p:sp>
      <p:grpSp>
        <p:nvGrpSpPr>
          <p:cNvPr name="Group 49" id="49"/>
          <p:cNvGrpSpPr/>
          <p:nvPr/>
        </p:nvGrpSpPr>
        <p:grpSpPr>
          <a:xfrm rot="0">
            <a:off x="15543466" y="3528250"/>
            <a:ext cx="2640768" cy="1639443"/>
            <a:chOff x="0" y="0"/>
            <a:chExt cx="3521025" cy="2185924"/>
          </a:xfrm>
        </p:grpSpPr>
        <p:sp>
          <p:nvSpPr>
            <p:cNvPr name="Freeform 50" id="50"/>
            <p:cNvSpPr/>
            <p:nvPr/>
          </p:nvSpPr>
          <p:spPr>
            <a:xfrm flipH="false" flipV="false" rot="0">
              <a:off x="0" y="0"/>
              <a:ext cx="3521025" cy="2185924"/>
            </a:xfrm>
            <a:custGeom>
              <a:avLst/>
              <a:gdLst/>
              <a:ahLst/>
              <a:cxnLst/>
              <a:rect r="r" b="b" t="t" l="l"/>
              <a:pathLst>
                <a:path h="2185924" w="3521025">
                  <a:moveTo>
                    <a:pt x="0" y="148209"/>
                  </a:moveTo>
                  <a:cubicBezTo>
                    <a:pt x="0" y="66294"/>
                    <a:pt x="105027" y="0"/>
                    <a:pt x="234802" y="0"/>
                  </a:cubicBezTo>
                  <a:lnTo>
                    <a:pt x="3286223" y="0"/>
                  </a:lnTo>
                  <a:cubicBezTo>
                    <a:pt x="3415997" y="0"/>
                    <a:pt x="3521025" y="66294"/>
                    <a:pt x="3521025" y="148209"/>
                  </a:cubicBezTo>
                  <a:lnTo>
                    <a:pt x="3521025" y="2037715"/>
                  </a:lnTo>
                  <a:cubicBezTo>
                    <a:pt x="3521025" y="2119630"/>
                    <a:pt x="3415997" y="2185924"/>
                    <a:pt x="3286223" y="2185924"/>
                  </a:cubicBezTo>
                  <a:lnTo>
                    <a:pt x="234802" y="2185924"/>
                  </a:lnTo>
                  <a:cubicBezTo>
                    <a:pt x="105027" y="2185924"/>
                    <a:pt x="0" y="2119630"/>
                    <a:pt x="0" y="2037715"/>
                  </a:cubicBezTo>
                  <a:close/>
                </a:path>
              </a:pathLst>
            </a:custGeom>
            <a:solidFill>
              <a:srgbClr val="10253B"/>
            </a:solidFill>
            <a:ln w="20955" cap="sq">
              <a:solidFill>
                <a:srgbClr val="76E2A1"/>
              </a:solidFill>
              <a:prstDash val="solid"/>
              <a:miter/>
            </a:ln>
          </p:spPr>
        </p:sp>
      </p:grpSp>
      <p:grpSp>
        <p:nvGrpSpPr>
          <p:cNvPr name="Group 51" id="51"/>
          <p:cNvGrpSpPr/>
          <p:nvPr/>
        </p:nvGrpSpPr>
        <p:grpSpPr>
          <a:xfrm rot="0">
            <a:off x="15718536" y="3711611"/>
            <a:ext cx="2239372" cy="367466"/>
            <a:chOff x="0" y="0"/>
            <a:chExt cx="2985829" cy="489955"/>
          </a:xfrm>
        </p:grpSpPr>
        <p:sp>
          <p:nvSpPr>
            <p:cNvPr name="Freeform 52" id="52"/>
            <p:cNvSpPr/>
            <p:nvPr/>
          </p:nvSpPr>
          <p:spPr>
            <a:xfrm flipH="false" flipV="false" rot="0">
              <a:off x="0" y="0"/>
              <a:ext cx="2985829" cy="489955"/>
            </a:xfrm>
            <a:custGeom>
              <a:avLst/>
              <a:gdLst/>
              <a:ahLst/>
              <a:cxnLst/>
              <a:rect r="r" b="b" t="t" l="l"/>
              <a:pathLst>
                <a:path h="489955" w="2985829">
                  <a:moveTo>
                    <a:pt x="0" y="0"/>
                  </a:moveTo>
                  <a:lnTo>
                    <a:pt x="2985829" y="0"/>
                  </a:lnTo>
                  <a:lnTo>
                    <a:pt x="2985829" y="489955"/>
                  </a:lnTo>
                  <a:lnTo>
                    <a:pt x="0" y="489955"/>
                  </a:lnTo>
                  <a:close/>
                </a:path>
              </a:pathLst>
            </a:custGeom>
            <a:blipFill>
              <a:blip r:embed="rId3">
                <a:alphaModFix amt="0"/>
              </a:blip>
              <a:stretch>
                <a:fillRect l="0" t="-25029" r="41200" b="-14611"/>
              </a:stretch>
            </a:blipFill>
          </p:spPr>
        </p:sp>
        <p:sp>
          <p:nvSpPr>
            <p:cNvPr name="TextBox 53" id="53"/>
            <p:cNvSpPr txBox="true"/>
            <p:nvPr/>
          </p:nvSpPr>
          <p:spPr>
            <a:xfrm>
              <a:off x="0" y="0"/>
              <a:ext cx="2985829" cy="489955"/>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SQLITE DATABASE</a:t>
              </a:r>
            </a:p>
          </p:txBody>
        </p:sp>
      </p:grpSp>
      <p:grpSp>
        <p:nvGrpSpPr>
          <p:cNvPr name="Group 54" id="54"/>
          <p:cNvGrpSpPr/>
          <p:nvPr/>
        </p:nvGrpSpPr>
        <p:grpSpPr>
          <a:xfrm rot="0">
            <a:off x="15488791" y="4265676"/>
            <a:ext cx="2833346" cy="877824"/>
            <a:chOff x="0" y="0"/>
            <a:chExt cx="3777795" cy="1170432"/>
          </a:xfrm>
        </p:grpSpPr>
        <p:sp>
          <p:nvSpPr>
            <p:cNvPr name="Freeform 55" id="55"/>
            <p:cNvSpPr/>
            <p:nvPr/>
          </p:nvSpPr>
          <p:spPr>
            <a:xfrm flipH="false" flipV="false" rot="0">
              <a:off x="0" y="0"/>
              <a:ext cx="3777795" cy="1170432"/>
            </a:xfrm>
            <a:custGeom>
              <a:avLst/>
              <a:gdLst/>
              <a:ahLst/>
              <a:cxnLst/>
              <a:rect r="r" b="b" t="t" l="l"/>
              <a:pathLst>
                <a:path h="1170432" w="3777795">
                  <a:moveTo>
                    <a:pt x="0" y="0"/>
                  </a:moveTo>
                  <a:lnTo>
                    <a:pt x="3777795" y="0"/>
                  </a:lnTo>
                  <a:lnTo>
                    <a:pt x="3777795" y="1170432"/>
                  </a:lnTo>
                  <a:lnTo>
                    <a:pt x="0" y="1170432"/>
                  </a:lnTo>
                  <a:close/>
                </a:path>
              </a:pathLst>
            </a:custGeom>
            <a:blipFill>
              <a:blip r:embed="rId3">
                <a:alphaModFix amt="0"/>
              </a:blip>
              <a:stretch>
                <a:fillRect l="-16514" t="0" r="37012" b="0"/>
              </a:stretch>
            </a:blipFill>
          </p:spPr>
        </p:sp>
        <p:sp>
          <p:nvSpPr>
            <p:cNvPr name="TextBox 56" id="56"/>
            <p:cNvSpPr txBox="true"/>
            <p:nvPr/>
          </p:nvSpPr>
          <p:spPr>
            <a:xfrm>
              <a:off x="0" y="-9525"/>
              <a:ext cx="3777795" cy="1179957"/>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Duplicates rejected (SQLITE_CONSTRAINT)</a:t>
              </a:r>
            </a:p>
          </p:txBody>
        </p:sp>
      </p:grpSp>
      <p:grpSp>
        <p:nvGrpSpPr>
          <p:cNvPr name="Group 57" id="57"/>
          <p:cNvGrpSpPr/>
          <p:nvPr/>
        </p:nvGrpSpPr>
        <p:grpSpPr>
          <a:xfrm rot="0">
            <a:off x="1569720" y="6233160"/>
            <a:ext cx="15171420" cy="2087596"/>
            <a:chOff x="0" y="0"/>
            <a:chExt cx="20228560" cy="2783462"/>
          </a:xfrm>
        </p:grpSpPr>
        <p:sp>
          <p:nvSpPr>
            <p:cNvPr name="Freeform 58" id="58"/>
            <p:cNvSpPr/>
            <p:nvPr/>
          </p:nvSpPr>
          <p:spPr>
            <a:xfrm flipH="false" flipV="false" rot="0">
              <a:off x="0" y="0"/>
              <a:ext cx="20228561" cy="2783462"/>
            </a:xfrm>
            <a:custGeom>
              <a:avLst/>
              <a:gdLst/>
              <a:ahLst/>
              <a:cxnLst/>
              <a:rect r="r" b="b" t="t" l="l"/>
              <a:pathLst>
                <a:path h="2783462" w="20228561">
                  <a:moveTo>
                    <a:pt x="0" y="212039"/>
                  </a:moveTo>
                  <a:cubicBezTo>
                    <a:pt x="0" y="94907"/>
                    <a:pt x="66167" y="0"/>
                    <a:pt x="147828" y="0"/>
                  </a:cubicBezTo>
                  <a:lnTo>
                    <a:pt x="20080732" y="0"/>
                  </a:lnTo>
                  <a:cubicBezTo>
                    <a:pt x="20162394" y="0"/>
                    <a:pt x="20228561" y="94907"/>
                    <a:pt x="20228561" y="212039"/>
                  </a:cubicBezTo>
                  <a:lnTo>
                    <a:pt x="20228561" y="2571423"/>
                  </a:lnTo>
                  <a:cubicBezTo>
                    <a:pt x="20228561" y="2688555"/>
                    <a:pt x="20162394" y="2783462"/>
                    <a:pt x="20080732" y="2783462"/>
                  </a:cubicBezTo>
                  <a:lnTo>
                    <a:pt x="147828" y="2783462"/>
                  </a:lnTo>
                  <a:cubicBezTo>
                    <a:pt x="66167" y="2783462"/>
                    <a:pt x="0" y="2688554"/>
                    <a:pt x="0" y="2571423"/>
                  </a:cubicBezTo>
                  <a:close/>
                </a:path>
              </a:pathLst>
            </a:custGeom>
            <a:solidFill>
              <a:srgbClr val="0E1D30"/>
            </a:solidFill>
            <a:ln w="15240" cap="sq">
              <a:solidFill>
                <a:srgbClr val="1D3850"/>
              </a:solidFill>
              <a:prstDash val="solid"/>
              <a:miter/>
            </a:ln>
          </p:spPr>
        </p:sp>
      </p:grpSp>
      <p:grpSp>
        <p:nvGrpSpPr>
          <p:cNvPr name="Group 59" id="59"/>
          <p:cNvGrpSpPr/>
          <p:nvPr/>
        </p:nvGrpSpPr>
        <p:grpSpPr>
          <a:xfrm rot="0">
            <a:off x="2647188" y="6515100"/>
            <a:ext cx="13784580" cy="445770"/>
            <a:chOff x="0" y="0"/>
            <a:chExt cx="18379440" cy="594360"/>
          </a:xfrm>
        </p:grpSpPr>
        <p:sp>
          <p:nvSpPr>
            <p:cNvPr name="Freeform 60" id="60"/>
            <p:cNvSpPr/>
            <p:nvPr/>
          </p:nvSpPr>
          <p:spPr>
            <a:xfrm flipH="false" flipV="false" rot="0">
              <a:off x="0" y="0"/>
              <a:ext cx="18379439" cy="594360"/>
            </a:xfrm>
            <a:custGeom>
              <a:avLst/>
              <a:gdLst/>
              <a:ahLst/>
              <a:cxnLst/>
              <a:rect r="r" b="b" t="t" l="l"/>
              <a:pathLst>
                <a:path h="594360" w="18379439">
                  <a:moveTo>
                    <a:pt x="0" y="0"/>
                  </a:moveTo>
                  <a:lnTo>
                    <a:pt x="18379439" y="0"/>
                  </a:lnTo>
                  <a:lnTo>
                    <a:pt x="18379439" y="594360"/>
                  </a:lnTo>
                  <a:lnTo>
                    <a:pt x="0" y="594360"/>
                  </a:lnTo>
                  <a:close/>
                </a:path>
              </a:pathLst>
            </a:custGeom>
            <a:blipFill>
              <a:blip r:embed="rId3">
                <a:alphaModFix amt="0"/>
              </a:blip>
              <a:stretch>
                <a:fillRect l="0" t="-564075" r="0" b="-540998"/>
              </a:stretch>
            </a:blipFill>
          </p:spPr>
        </p:sp>
        <p:sp>
          <p:nvSpPr>
            <p:cNvPr name="TextBox 61" id="61"/>
            <p:cNvSpPr txBox="true"/>
            <p:nvPr/>
          </p:nvSpPr>
          <p:spPr>
            <a:xfrm>
              <a:off x="0" y="0"/>
              <a:ext cx="18379440" cy="594360"/>
            </a:xfrm>
            <a:prstGeom prst="rect">
              <a:avLst/>
            </a:prstGeom>
          </p:spPr>
          <p:txBody>
            <a:bodyPr anchor="ctr" rtlCol="false" tIns="0" lIns="0" bIns="0" rIns="0"/>
            <a:lstStyle/>
            <a:p>
              <a:pPr algn="ctr">
                <a:lnSpc>
                  <a:spcPts val="1979"/>
                </a:lnSpc>
              </a:pPr>
              <a:r>
                <a:rPr lang="en-US" sz="1649" b="true">
                  <a:solidFill>
                    <a:srgbClr val="9BAFC2"/>
                  </a:solidFill>
                  <a:latin typeface="Aptos Bold"/>
                  <a:ea typeface="Aptos Bold"/>
                  <a:cs typeface="Aptos Bold"/>
                  <a:sym typeface="Aptos Bold"/>
                </a:rPr>
                <a:t>DATA INTEGRITY MECHANISM</a:t>
              </a:r>
            </a:p>
          </p:txBody>
        </p:sp>
      </p:grpSp>
      <p:sp>
        <p:nvSpPr>
          <p:cNvPr name="TextBox 62" id="62"/>
          <p:cNvSpPr txBox="true"/>
          <p:nvPr/>
        </p:nvSpPr>
        <p:spPr>
          <a:xfrm rot="0">
            <a:off x="1879092" y="7091172"/>
            <a:ext cx="14552676" cy="552450"/>
          </a:xfrm>
          <a:prstGeom prst="rect">
            <a:avLst/>
          </a:prstGeom>
        </p:spPr>
        <p:txBody>
          <a:bodyPr anchor="t" rtlCol="false" tIns="0" lIns="0" bIns="0" rIns="0">
            <a:spAutoFit/>
          </a:bodyPr>
          <a:lstStyle/>
          <a:p>
            <a:pPr algn="l">
              <a:lnSpc>
                <a:spcPts val="2249"/>
              </a:lnSpc>
            </a:pPr>
            <a:r>
              <a:rPr lang="en-US" sz="1874">
                <a:solidFill>
                  <a:srgbClr val="F5F8FC"/>
                </a:solidFill>
                <a:latin typeface="Aptos"/>
                <a:ea typeface="Aptos"/>
                <a:cs typeface="Aptos"/>
                <a:sym typeface="Aptos"/>
              </a:rPr>
              <a:t>The RDBMS automatically rejects inserted records with duplicate timestamps from the same device, ensuring a linear and immutable historical timeline during buffer flushes</a:t>
            </a:r>
          </a:p>
        </p:txBody>
      </p:sp>
      <p:sp>
        <p:nvSpPr>
          <p:cNvPr name="TextBox 63" id="63"/>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76E2A1"/>
            </a:solidFill>
            <a:ln w="19050" cap="sq">
              <a:solidFill>
                <a:srgbClr val="76E2A1"/>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06</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6 • APPLICATION LAYER</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Single-Page </a:t>
              </a:r>
              <a:r>
                <a:rPr lang="en-US" sz="3750" b="true">
                  <a:solidFill>
                    <a:srgbClr val="F5F8FC"/>
                  </a:solidFill>
                  <a:latin typeface="Aptos Bold"/>
                  <a:ea typeface="Aptos Bold"/>
                  <a:cs typeface="Aptos Bold"/>
                  <a:sym typeface="Aptos Bold"/>
                </a:rPr>
                <a:t>Web Dashboard</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Real-time visualization, visual alerts, and historical data exploitation</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32688" y="2811780"/>
            <a:ext cx="11146665" cy="6318723"/>
            <a:chOff x="0" y="0"/>
            <a:chExt cx="14904720" cy="8449056"/>
          </a:xfrm>
        </p:grpSpPr>
        <p:sp>
          <p:nvSpPr>
            <p:cNvPr name="Freeform 23" id="23"/>
            <p:cNvSpPr/>
            <p:nvPr/>
          </p:nvSpPr>
          <p:spPr>
            <a:xfrm flipH="false" flipV="false" rot="0">
              <a:off x="0" y="0"/>
              <a:ext cx="14904720" cy="8449056"/>
            </a:xfrm>
            <a:custGeom>
              <a:avLst/>
              <a:gdLst/>
              <a:ahLst/>
              <a:cxnLst/>
              <a:rect r="r" b="b" t="t" l="l"/>
              <a:pathLst>
                <a:path h="8449056" w="14904720">
                  <a:moveTo>
                    <a:pt x="0" y="0"/>
                  </a:moveTo>
                  <a:lnTo>
                    <a:pt x="14904720" y="0"/>
                  </a:lnTo>
                  <a:lnTo>
                    <a:pt x="14904720" y="8449056"/>
                  </a:lnTo>
                  <a:lnTo>
                    <a:pt x="0" y="8449056"/>
                  </a:lnTo>
                  <a:lnTo>
                    <a:pt x="0" y="0"/>
                  </a:lnTo>
                  <a:close/>
                </a:path>
              </a:pathLst>
            </a:custGeom>
            <a:blipFill>
              <a:blip r:embed="rId4"/>
              <a:stretch>
                <a:fillRect l="-4484" t="0" r="-4484" b="0"/>
              </a:stretch>
            </a:blipFill>
          </p:spPr>
        </p:sp>
      </p:grpSp>
      <p:grpSp>
        <p:nvGrpSpPr>
          <p:cNvPr name="Group 24" id="24"/>
          <p:cNvGrpSpPr/>
          <p:nvPr/>
        </p:nvGrpSpPr>
        <p:grpSpPr>
          <a:xfrm rot="0">
            <a:off x="1920240" y="9217152"/>
            <a:ext cx="9052560" cy="342900"/>
            <a:chOff x="0" y="0"/>
            <a:chExt cx="12070080" cy="457200"/>
          </a:xfrm>
        </p:grpSpPr>
        <p:sp>
          <p:nvSpPr>
            <p:cNvPr name="Freeform 25" id="25"/>
            <p:cNvSpPr/>
            <p:nvPr/>
          </p:nvSpPr>
          <p:spPr>
            <a:xfrm flipH="false" flipV="false" rot="0">
              <a:off x="0" y="0"/>
              <a:ext cx="12070080" cy="457200"/>
            </a:xfrm>
            <a:custGeom>
              <a:avLst/>
              <a:gdLst/>
              <a:ahLst/>
              <a:cxnLst/>
              <a:rect r="r" b="b" t="t" l="l"/>
              <a:pathLst>
                <a:path h="457200" w="12070080">
                  <a:moveTo>
                    <a:pt x="0" y="0"/>
                  </a:moveTo>
                  <a:lnTo>
                    <a:pt x="12070080" y="0"/>
                  </a:lnTo>
                  <a:lnTo>
                    <a:pt x="12070080" y="457200"/>
                  </a:lnTo>
                  <a:lnTo>
                    <a:pt x="0" y="457200"/>
                  </a:lnTo>
                  <a:close/>
                </a:path>
              </a:pathLst>
            </a:custGeom>
            <a:blipFill>
              <a:blip r:embed="rId3">
                <a:alphaModFix amt="0"/>
              </a:blip>
              <a:stretch>
                <a:fillRect l="0" t="-464405" r="0" b="-464405"/>
              </a:stretch>
            </a:blipFill>
          </p:spPr>
        </p:sp>
        <p:sp>
          <p:nvSpPr>
            <p:cNvPr name="TextBox 26" id="26"/>
            <p:cNvSpPr txBox="true"/>
            <p:nvPr/>
          </p:nvSpPr>
          <p:spPr>
            <a:xfrm>
              <a:off x="0" y="-9525"/>
              <a:ext cx="12070080" cy="466725"/>
            </a:xfrm>
            <a:prstGeom prst="rect">
              <a:avLst/>
            </a:prstGeom>
          </p:spPr>
          <p:txBody>
            <a:bodyPr anchor="ctr" rtlCol="false" tIns="0" lIns="0" bIns="0" rIns="0"/>
            <a:lstStyle/>
            <a:p>
              <a:pPr algn="ctr">
                <a:lnSpc>
                  <a:spcPts val="1530"/>
                </a:lnSpc>
              </a:pPr>
              <a:r>
                <a:rPr lang="en-US" sz="1275" i="true">
                  <a:solidFill>
                    <a:srgbClr val="9BAFC2"/>
                  </a:solidFill>
                  <a:latin typeface="Aptos Italics"/>
                  <a:ea typeface="Aptos Italics"/>
                  <a:cs typeface="Aptos Italics"/>
                  <a:sym typeface="Aptos Italics"/>
                </a:rPr>
                <a:t>Dashboard overview from the project prototype</a:t>
              </a:r>
            </a:p>
          </p:txBody>
        </p:sp>
      </p:grpSp>
      <p:grpSp>
        <p:nvGrpSpPr>
          <p:cNvPr name="Group 27" id="27"/>
          <p:cNvGrpSpPr/>
          <p:nvPr/>
        </p:nvGrpSpPr>
        <p:grpSpPr>
          <a:xfrm rot="0">
            <a:off x="12473940" y="3009900"/>
            <a:ext cx="4198620" cy="1524000"/>
            <a:chOff x="0" y="0"/>
            <a:chExt cx="5598160" cy="2032000"/>
          </a:xfrm>
        </p:grpSpPr>
        <p:sp>
          <p:nvSpPr>
            <p:cNvPr name="Freeform 28" id="28"/>
            <p:cNvSpPr/>
            <p:nvPr/>
          </p:nvSpPr>
          <p:spPr>
            <a:xfrm flipH="false" flipV="false" rot="0">
              <a:off x="0" y="0"/>
              <a:ext cx="5598160" cy="2032000"/>
            </a:xfrm>
            <a:custGeom>
              <a:avLst/>
              <a:gdLst/>
              <a:ahLst/>
              <a:cxnLst/>
              <a:rect r="r" b="b" t="t" l="l"/>
              <a:pathLst>
                <a:path h="2032000" w="5598160">
                  <a:moveTo>
                    <a:pt x="0" y="147828"/>
                  </a:moveTo>
                  <a:cubicBezTo>
                    <a:pt x="0" y="66167"/>
                    <a:pt x="66167" y="0"/>
                    <a:pt x="147828" y="0"/>
                  </a:cubicBezTo>
                  <a:lnTo>
                    <a:pt x="5450332" y="0"/>
                  </a:lnTo>
                  <a:cubicBezTo>
                    <a:pt x="5531993" y="0"/>
                    <a:pt x="5598160" y="66167"/>
                    <a:pt x="5598160" y="147828"/>
                  </a:cubicBezTo>
                  <a:lnTo>
                    <a:pt x="5598160" y="1884172"/>
                  </a:lnTo>
                  <a:cubicBezTo>
                    <a:pt x="5598160" y="1965833"/>
                    <a:pt x="5531993" y="2032000"/>
                    <a:pt x="5450332" y="2032000"/>
                  </a:cubicBezTo>
                  <a:lnTo>
                    <a:pt x="147828" y="2032000"/>
                  </a:lnTo>
                  <a:cubicBezTo>
                    <a:pt x="66167" y="2032000"/>
                    <a:pt x="0" y="1965833"/>
                    <a:pt x="0" y="1884172"/>
                  </a:cubicBezTo>
                  <a:close/>
                </a:path>
              </a:pathLst>
            </a:custGeom>
            <a:solidFill>
              <a:srgbClr val="0E1D30"/>
            </a:solidFill>
            <a:ln w="15240" cap="sq">
              <a:solidFill>
                <a:srgbClr val="1D3850"/>
              </a:solidFill>
              <a:prstDash val="solid"/>
              <a:miter/>
            </a:ln>
          </p:spPr>
        </p:sp>
      </p:grpSp>
      <p:grpSp>
        <p:nvGrpSpPr>
          <p:cNvPr name="Group 29" id="29"/>
          <p:cNvGrpSpPr/>
          <p:nvPr/>
        </p:nvGrpSpPr>
        <p:grpSpPr>
          <a:xfrm rot="0">
            <a:off x="13551408" y="3291840"/>
            <a:ext cx="2811780" cy="342900"/>
            <a:chOff x="0" y="0"/>
            <a:chExt cx="3749040" cy="457200"/>
          </a:xfrm>
        </p:grpSpPr>
        <p:sp>
          <p:nvSpPr>
            <p:cNvPr name="Freeform 30" id="30"/>
            <p:cNvSpPr/>
            <p:nvPr/>
          </p:nvSpPr>
          <p:spPr>
            <a:xfrm flipH="false" flipV="false" rot="0">
              <a:off x="0" y="0"/>
              <a:ext cx="3749040" cy="457200"/>
            </a:xfrm>
            <a:custGeom>
              <a:avLst/>
              <a:gdLst/>
              <a:ahLst/>
              <a:cxnLst/>
              <a:rect r="r" b="b" t="t" l="l"/>
              <a:pathLst>
                <a:path h="457200" w="3749040">
                  <a:moveTo>
                    <a:pt x="0" y="0"/>
                  </a:moveTo>
                  <a:lnTo>
                    <a:pt x="3749040" y="0"/>
                  </a:lnTo>
                  <a:lnTo>
                    <a:pt x="3749040" y="457200"/>
                  </a:lnTo>
                  <a:lnTo>
                    <a:pt x="0" y="457200"/>
                  </a:lnTo>
                  <a:close/>
                </a:path>
              </a:pathLst>
            </a:custGeom>
            <a:blipFill>
              <a:blip r:embed="rId3">
                <a:alphaModFix amt="0"/>
              </a:blip>
              <a:stretch>
                <a:fillRect l="0" t="-109777" r="0" b="-109777"/>
              </a:stretch>
            </a:blipFill>
          </p:spPr>
        </p:sp>
        <p:sp>
          <p:nvSpPr>
            <p:cNvPr name="TextBox 31" id="31"/>
            <p:cNvSpPr txBox="true"/>
            <p:nvPr/>
          </p:nvSpPr>
          <p:spPr>
            <a:xfrm>
              <a:off x="0" y="-9525"/>
              <a:ext cx="374904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HEADER</a:t>
              </a:r>
            </a:p>
          </p:txBody>
        </p:sp>
      </p:grpSp>
      <p:grpSp>
        <p:nvGrpSpPr>
          <p:cNvPr name="Group 32" id="32"/>
          <p:cNvGrpSpPr/>
          <p:nvPr/>
        </p:nvGrpSpPr>
        <p:grpSpPr>
          <a:xfrm rot="0">
            <a:off x="12473940" y="4792980"/>
            <a:ext cx="4198620" cy="1524000"/>
            <a:chOff x="0" y="0"/>
            <a:chExt cx="5598160" cy="2032000"/>
          </a:xfrm>
        </p:grpSpPr>
        <p:sp>
          <p:nvSpPr>
            <p:cNvPr name="Freeform 33" id="33"/>
            <p:cNvSpPr/>
            <p:nvPr/>
          </p:nvSpPr>
          <p:spPr>
            <a:xfrm flipH="false" flipV="false" rot="0">
              <a:off x="0" y="0"/>
              <a:ext cx="5598160" cy="2032000"/>
            </a:xfrm>
            <a:custGeom>
              <a:avLst/>
              <a:gdLst/>
              <a:ahLst/>
              <a:cxnLst/>
              <a:rect r="r" b="b" t="t" l="l"/>
              <a:pathLst>
                <a:path h="2032000" w="5598160">
                  <a:moveTo>
                    <a:pt x="0" y="147828"/>
                  </a:moveTo>
                  <a:cubicBezTo>
                    <a:pt x="0" y="66167"/>
                    <a:pt x="66167" y="0"/>
                    <a:pt x="147828" y="0"/>
                  </a:cubicBezTo>
                  <a:lnTo>
                    <a:pt x="5450332" y="0"/>
                  </a:lnTo>
                  <a:cubicBezTo>
                    <a:pt x="5531993" y="0"/>
                    <a:pt x="5598160" y="66167"/>
                    <a:pt x="5598160" y="147828"/>
                  </a:cubicBezTo>
                  <a:lnTo>
                    <a:pt x="5598160" y="1884172"/>
                  </a:lnTo>
                  <a:cubicBezTo>
                    <a:pt x="5598160" y="1965833"/>
                    <a:pt x="5531993" y="2032000"/>
                    <a:pt x="5450332" y="2032000"/>
                  </a:cubicBezTo>
                  <a:lnTo>
                    <a:pt x="147828" y="2032000"/>
                  </a:lnTo>
                  <a:cubicBezTo>
                    <a:pt x="66167" y="2032000"/>
                    <a:pt x="0" y="1965833"/>
                    <a:pt x="0" y="1884172"/>
                  </a:cubicBezTo>
                  <a:close/>
                </a:path>
              </a:pathLst>
            </a:custGeom>
            <a:solidFill>
              <a:srgbClr val="0E1D30"/>
            </a:solidFill>
            <a:ln w="15240" cap="sq">
              <a:solidFill>
                <a:srgbClr val="1D3850"/>
              </a:solidFill>
              <a:prstDash val="solid"/>
              <a:miter/>
            </a:ln>
          </p:spPr>
        </p:sp>
      </p:grpSp>
      <p:grpSp>
        <p:nvGrpSpPr>
          <p:cNvPr name="Group 34" id="34"/>
          <p:cNvGrpSpPr/>
          <p:nvPr/>
        </p:nvGrpSpPr>
        <p:grpSpPr>
          <a:xfrm rot="0">
            <a:off x="13551408" y="5074920"/>
            <a:ext cx="2811780" cy="342900"/>
            <a:chOff x="0" y="0"/>
            <a:chExt cx="3749040" cy="457200"/>
          </a:xfrm>
        </p:grpSpPr>
        <p:sp>
          <p:nvSpPr>
            <p:cNvPr name="Freeform 35" id="35"/>
            <p:cNvSpPr/>
            <p:nvPr/>
          </p:nvSpPr>
          <p:spPr>
            <a:xfrm flipH="false" flipV="false" rot="0">
              <a:off x="0" y="0"/>
              <a:ext cx="3749040" cy="457200"/>
            </a:xfrm>
            <a:custGeom>
              <a:avLst/>
              <a:gdLst/>
              <a:ahLst/>
              <a:cxnLst/>
              <a:rect r="r" b="b" t="t" l="l"/>
              <a:pathLst>
                <a:path h="457200" w="3749040">
                  <a:moveTo>
                    <a:pt x="0" y="0"/>
                  </a:moveTo>
                  <a:lnTo>
                    <a:pt x="3749040" y="0"/>
                  </a:lnTo>
                  <a:lnTo>
                    <a:pt x="3749040" y="457200"/>
                  </a:lnTo>
                  <a:lnTo>
                    <a:pt x="0" y="457200"/>
                  </a:lnTo>
                  <a:close/>
                </a:path>
              </a:pathLst>
            </a:custGeom>
            <a:blipFill>
              <a:blip r:embed="rId3">
                <a:alphaModFix amt="0"/>
              </a:blip>
              <a:stretch>
                <a:fillRect l="0" t="-109777" r="0" b="-109777"/>
              </a:stretch>
            </a:blipFill>
          </p:spPr>
        </p:sp>
        <p:sp>
          <p:nvSpPr>
            <p:cNvPr name="TextBox 36" id="36"/>
            <p:cNvSpPr txBox="true"/>
            <p:nvPr/>
          </p:nvSpPr>
          <p:spPr>
            <a:xfrm>
              <a:off x="0" y="-9525"/>
              <a:ext cx="374904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STATUS CARDS</a:t>
              </a:r>
            </a:p>
          </p:txBody>
        </p:sp>
      </p:grpSp>
      <p:grpSp>
        <p:nvGrpSpPr>
          <p:cNvPr name="Group 37" id="37"/>
          <p:cNvGrpSpPr/>
          <p:nvPr/>
        </p:nvGrpSpPr>
        <p:grpSpPr>
          <a:xfrm rot="0">
            <a:off x="12473940" y="6576060"/>
            <a:ext cx="4198620" cy="1524000"/>
            <a:chOff x="0" y="0"/>
            <a:chExt cx="5598160" cy="2032000"/>
          </a:xfrm>
        </p:grpSpPr>
        <p:sp>
          <p:nvSpPr>
            <p:cNvPr name="Freeform 38" id="38"/>
            <p:cNvSpPr/>
            <p:nvPr/>
          </p:nvSpPr>
          <p:spPr>
            <a:xfrm flipH="false" flipV="false" rot="0">
              <a:off x="0" y="0"/>
              <a:ext cx="5598160" cy="2032000"/>
            </a:xfrm>
            <a:custGeom>
              <a:avLst/>
              <a:gdLst/>
              <a:ahLst/>
              <a:cxnLst/>
              <a:rect r="r" b="b" t="t" l="l"/>
              <a:pathLst>
                <a:path h="2032000" w="5598160">
                  <a:moveTo>
                    <a:pt x="0" y="147828"/>
                  </a:moveTo>
                  <a:cubicBezTo>
                    <a:pt x="0" y="66167"/>
                    <a:pt x="66167" y="0"/>
                    <a:pt x="147828" y="0"/>
                  </a:cubicBezTo>
                  <a:lnTo>
                    <a:pt x="5450332" y="0"/>
                  </a:lnTo>
                  <a:cubicBezTo>
                    <a:pt x="5531993" y="0"/>
                    <a:pt x="5598160" y="66167"/>
                    <a:pt x="5598160" y="147828"/>
                  </a:cubicBezTo>
                  <a:lnTo>
                    <a:pt x="5598160" y="1884172"/>
                  </a:lnTo>
                  <a:cubicBezTo>
                    <a:pt x="5598160" y="1965833"/>
                    <a:pt x="5531993" y="2032000"/>
                    <a:pt x="5450332" y="2032000"/>
                  </a:cubicBezTo>
                  <a:lnTo>
                    <a:pt x="147828" y="2032000"/>
                  </a:lnTo>
                  <a:cubicBezTo>
                    <a:pt x="66167" y="2032000"/>
                    <a:pt x="0" y="1965833"/>
                    <a:pt x="0" y="1884172"/>
                  </a:cubicBezTo>
                  <a:close/>
                </a:path>
              </a:pathLst>
            </a:custGeom>
            <a:solidFill>
              <a:srgbClr val="0E1D30"/>
            </a:solidFill>
            <a:ln w="15240" cap="sq">
              <a:solidFill>
                <a:srgbClr val="1D3850"/>
              </a:solidFill>
              <a:prstDash val="solid"/>
              <a:miter/>
            </a:ln>
          </p:spPr>
        </p:sp>
      </p:grpSp>
      <p:grpSp>
        <p:nvGrpSpPr>
          <p:cNvPr name="Group 39" id="39"/>
          <p:cNvGrpSpPr/>
          <p:nvPr/>
        </p:nvGrpSpPr>
        <p:grpSpPr>
          <a:xfrm rot="0">
            <a:off x="13551408" y="6858000"/>
            <a:ext cx="2811780" cy="342900"/>
            <a:chOff x="0" y="0"/>
            <a:chExt cx="3749040" cy="457200"/>
          </a:xfrm>
        </p:grpSpPr>
        <p:sp>
          <p:nvSpPr>
            <p:cNvPr name="Freeform 40" id="40"/>
            <p:cNvSpPr/>
            <p:nvPr/>
          </p:nvSpPr>
          <p:spPr>
            <a:xfrm flipH="false" flipV="false" rot="0">
              <a:off x="0" y="0"/>
              <a:ext cx="3749040" cy="457200"/>
            </a:xfrm>
            <a:custGeom>
              <a:avLst/>
              <a:gdLst/>
              <a:ahLst/>
              <a:cxnLst/>
              <a:rect r="r" b="b" t="t" l="l"/>
              <a:pathLst>
                <a:path h="457200" w="3749040">
                  <a:moveTo>
                    <a:pt x="0" y="0"/>
                  </a:moveTo>
                  <a:lnTo>
                    <a:pt x="3749040" y="0"/>
                  </a:lnTo>
                  <a:lnTo>
                    <a:pt x="3749040" y="457200"/>
                  </a:lnTo>
                  <a:lnTo>
                    <a:pt x="0" y="457200"/>
                  </a:lnTo>
                  <a:close/>
                </a:path>
              </a:pathLst>
            </a:custGeom>
            <a:blipFill>
              <a:blip r:embed="rId3">
                <a:alphaModFix amt="0"/>
              </a:blip>
              <a:stretch>
                <a:fillRect l="0" t="-109777" r="0" b="-109777"/>
              </a:stretch>
            </a:blipFill>
          </p:spPr>
        </p:sp>
        <p:sp>
          <p:nvSpPr>
            <p:cNvPr name="TextBox 41" id="41"/>
            <p:cNvSpPr txBox="true"/>
            <p:nvPr/>
          </p:nvSpPr>
          <p:spPr>
            <a:xfrm>
              <a:off x="0" y="-9525"/>
              <a:ext cx="374904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CHART AREA</a:t>
              </a:r>
            </a:p>
          </p:txBody>
        </p:sp>
      </p:grpSp>
      <p:grpSp>
        <p:nvGrpSpPr>
          <p:cNvPr name="Group 42" id="42"/>
          <p:cNvGrpSpPr/>
          <p:nvPr/>
        </p:nvGrpSpPr>
        <p:grpSpPr>
          <a:xfrm rot="0">
            <a:off x="12473940" y="8359140"/>
            <a:ext cx="4198620" cy="865632"/>
            <a:chOff x="0" y="0"/>
            <a:chExt cx="5598160" cy="1154176"/>
          </a:xfrm>
        </p:grpSpPr>
        <p:sp>
          <p:nvSpPr>
            <p:cNvPr name="Freeform 43" id="43"/>
            <p:cNvSpPr/>
            <p:nvPr/>
          </p:nvSpPr>
          <p:spPr>
            <a:xfrm flipH="false" flipV="false" rot="0">
              <a:off x="0" y="0"/>
              <a:ext cx="5598160" cy="1154176"/>
            </a:xfrm>
            <a:custGeom>
              <a:avLst/>
              <a:gdLst/>
              <a:ahLst/>
              <a:cxnLst/>
              <a:rect r="r" b="b" t="t" l="l"/>
              <a:pathLst>
                <a:path h="1154176" w="5598160">
                  <a:moveTo>
                    <a:pt x="0" y="148971"/>
                  </a:moveTo>
                  <a:cubicBezTo>
                    <a:pt x="0" y="66675"/>
                    <a:pt x="66675" y="0"/>
                    <a:pt x="148971" y="0"/>
                  </a:cubicBezTo>
                  <a:lnTo>
                    <a:pt x="5449189" y="0"/>
                  </a:lnTo>
                  <a:cubicBezTo>
                    <a:pt x="5531485" y="0"/>
                    <a:pt x="5598160" y="66675"/>
                    <a:pt x="5598160" y="148971"/>
                  </a:cubicBezTo>
                  <a:lnTo>
                    <a:pt x="5598160" y="1005205"/>
                  </a:lnTo>
                  <a:cubicBezTo>
                    <a:pt x="5598160" y="1087501"/>
                    <a:pt x="5531485" y="1154176"/>
                    <a:pt x="5449189" y="1154176"/>
                  </a:cubicBezTo>
                  <a:lnTo>
                    <a:pt x="148971" y="1154176"/>
                  </a:lnTo>
                  <a:cubicBezTo>
                    <a:pt x="66675" y="1154176"/>
                    <a:pt x="0" y="1087501"/>
                    <a:pt x="0" y="1005205"/>
                  </a:cubicBezTo>
                  <a:close/>
                </a:path>
              </a:pathLst>
            </a:custGeom>
            <a:solidFill>
              <a:srgbClr val="0E1D30"/>
            </a:solidFill>
            <a:ln w="15240" cap="sq">
              <a:solidFill>
                <a:srgbClr val="1D3850"/>
              </a:solidFill>
              <a:prstDash val="solid"/>
              <a:miter/>
            </a:ln>
          </p:spPr>
        </p:sp>
      </p:grpSp>
      <p:grpSp>
        <p:nvGrpSpPr>
          <p:cNvPr name="Group 44" id="44"/>
          <p:cNvGrpSpPr/>
          <p:nvPr/>
        </p:nvGrpSpPr>
        <p:grpSpPr>
          <a:xfrm rot="0">
            <a:off x="12473940" y="8328660"/>
            <a:ext cx="3342501" cy="458442"/>
            <a:chOff x="0" y="0"/>
            <a:chExt cx="4456668" cy="611256"/>
          </a:xfrm>
        </p:grpSpPr>
        <p:sp>
          <p:nvSpPr>
            <p:cNvPr name="Freeform 45" id="45"/>
            <p:cNvSpPr/>
            <p:nvPr/>
          </p:nvSpPr>
          <p:spPr>
            <a:xfrm flipH="false" flipV="false" rot="0">
              <a:off x="0" y="0"/>
              <a:ext cx="4456668" cy="611256"/>
            </a:xfrm>
            <a:custGeom>
              <a:avLst/>
              <a:gdLst/>
              <a:ahLst/>
              <a:cxnLst/>
              <a:rect r="r" b="b" t="t" l="l"/>
              <a:pathLst>
                <a:path h="611256" w="4456668">
                  <a:moveTo>
                    <a:pt x="0" y="0"/>
                  </a:moveTo>
                  <a:lnTo>
                    <a:pt x="4456668" y="0"/>
                  </a:lnTo>
                  <a:lnTo>
                    <a:pt x="4456668" y="611256"/>
                  </a:lnTo>
                  <a:lnTo>
                    <a:pt x="0" y="611256"/>
                  </a:lnTo>
                  <a:close/>
                </a:path>
              </a:pathLst>
            </a:custGeom>
            <a:blipFill>
              <a:blip r:embed="rId3">
                <a:alphaModFix amt="0"/>
              </a:blip>
              <a:stretch>
                <a:fillRect l="0" t="-82109" r="15877" b="-56906"/>
              </a:stretch>
            </a:blipFill>
          </p:spPr>
        </p:sp>
        <p:sp>
          <p:nvSpPr>
            <p:cNvPr name="TextBox 46" id="46"/>
            <p:cNvSpPr txBox="true"/>
            <p:nvPr/>
          </p:nvSpPr>
          <p:spPr>
            <a:xfrm>
              <a:off x="0" y="-9525"/>
              <a:ext cx="4456668" cy="620781"/>
            </a:xfrm>
            <a:prstGeom prst="rect">
              <a:avLst/>
            </a:prstGeom>
          </p:spPr>
          <p:txBody>
            <a:bodyPr anchor="ctr" rtlCol="false" tIns="0" lIns="0" bIns="0" rIns="0"/>
            <a:lstStyle/>
            <a:p>
              <a:pPr algn="ctr">
                <a:lnSpc>
                  <a:spcPts val="1620"/>
                </a:lnSpc>
              </a:pPr>
              <a:r>
                <a:rPr lang="en-US" sz="1350" b="true">
                  <a:solidFill>
                    <a:srgbClr val="9BAFC2"/>
                  </a:solidFill>
                  <a:latin typeface="Aptos Bold"/>
                  <a:ea typeface="Aptos Bold"/>
                  <a:cs typeface="Aptos Bold"/>
                  <a:sym typeface="Aptos Bold"/>
                </a:rPr>
                <a:t>TECH STACK</a:t>
              </a:r>
            </a:p>
          </p:txBody>
        </p:sp>
      </p:grpSp>
      <p:sp>
        <p:nvSpPr>
          <p:cNvPr name="TextBox 47" id="47"/>
          <p:cNvSpPr txBox="true"/>
          <p:nvPr/>
        </p:nvSpPr>
        <p:spPr>
          <a:xfrm rot="0">
            <a:off x="12783312" y="3858387"/>
            <a:ext cx="3579876" cy="257175"/>
          </a:xfrm>
          <a:prstGeom prst="rect">
            <a:avLst/>
          </a:prstGeom>
        </p:spPr>
        <p:txBody>
          <a:bodyPr anchor="t" rtlCol="false" tIns="0" lIns="0" bIns="0" rIns="0">
            <a:spAutoFit/>
          </a:bodyPr>
          <a:lstStyle/>
          <a:p>
            <a:pPr algn="l">
              <a:lnSpc>
                <a:spcPts val="2009"/>
              </a:lnSpc>
            </a:pPr>
            <a:r>
              <a:rPr lang="en-US" sz="1674">
                <a:solidFill>
                  <a:srgbClr val="F5F8FC"/>
                </a:solidFill>
                <a:latin typeface="Aptos"/>
                <a:ea typeface="Aptos"/>
                <a:cs typeface="Aptos"/>
                <a:sym typeface="Aptos"/>
              </a:rPr>
              <a:t>Device ID &amp; MQTT </a:t>
            </a:r>
            <a:r>
              <a:rPr lang="en-US" sz="1674">
                <a:solidFill>
                  <a:srgbClr val="F5F8FC"/>
                </a:solidFill>
                <a:latin typeface="Aptos"/>
                <a:ea typeface="Aptos"/>
                <a:cs typeface="Aptos"/>
                <a:sym typeface="Aptos"/>
              </a:rPr>
              <a:t>Connection Badge</a:t>
            </a:r>
          </a:p>
        </p:txBody>
      </p:sp>
      <p:sp>
        <p:nvSpPr>
          <p:cNvPr name="TextBox 48" id="48"/>
          <p:cNvSpPr txBox="true"/>
          <p:nvPr/>
        </p:nvSpPr>
        <p:spPr>
          <a:xfrm rot="0">
            <a:off x="12627713" y="5641467"/>
            <a:ext cx="4044847" cy="257175"/>
          </a:xfrm>
          <a:prstGeom prst="rect">
            <a:avLst/>
          </a:prstGeom>
        </p:spPr>
        <p:txBody>
          <a:bodyPr anchor="t" rtlCol="false" tIns="0" lIns="0" bIns="0" rIns="0">
            <a:spAutoFit/>
          </a:bodyPr>
          <a:lstStyle/>
          <a:p>
            <a:pPr algn="l">
              <a:lnSpc>
                <a:spcPts val="2009"/>
              </a:lnSpc>
            </a:pPr>
            <a:r>
              <a:rPr lang="en-US" sz="1674">
                <a:solidFill>
                  <a:srgbClr val="F5F8FC"/>
                </a:solidFill>
                <a:latin typeface="Aptos"/>
                <a:ea typeface="Aptos"/>
                <a:cs typeface="Aptos"/>
                <a:sym typeface="Aptos"/>
              </a:rPr>
              <a:t>Dyna</a:t>
            </a:r>
            <a:r>
              <a:rPr lang="en-US" sz="1674">
                <a:solidFill>
                  <a:srgbClr val="F5F8FC"/>
                </a:solidFill>
                <a:latin typeface="Aptos"/>
                <a:ea typeface="Aptos"/>
                <a:cs typeface="Aptos"/>
                <a:sym typeface="Aptos"/>
              </a:rPr>
              <a:t>mic Cards: Temp, Hum, Door, Relay</a:t>
            </a:r>
          </a:p>
        </p:txBody>
      </p:sp>
      <p:sp>
        <p:nvSpPr>
          <p:cNvPr name="TextBox 49" id="49"/>
          <p:cNvSpPr txBox="true"/>
          <p:nvPr/>
        </p:nvSpPr>
        <p:spPr>
          <a:xfrm rot="0">
            <a:off x="12783312" y="7434072"/>
            <a:ext cx="3579876" cy="23812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Dual Y-Axis Time-Series Line Chart</a:t>
            </a:r>
          </a:p>
        </p:txBody>
      </p:sp>
      <p:sp>
        <p:nvSpPr>
          <p:cNvPr name="TextBox 50" id="50"/>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24</a:t>
            </a:r>
          </a:p>
        </p:txBody>
      </p:sp>
      <p:sp>
        <p:nvSpPr>
          <p:cNvPr name="TextBox 51" id="51"/>
          <p:cNvSpPr txBox="true"/>
          <p:nvPr/>
        </p:nvSpPr>
        <p:spPr>
          <a:xfrm rot="0">
            <a:off x="12550826" y="8825202"/>
            <a:ext cx="4198620" cy="238125"/>
          </a:xfrm>
          <a:prstGeom prst="rect">
            <a:avLst/>
          </a:prstGeom>
        </p:spPr>
        <p:txBody>
          <a:bodyPr anchor="t" rtlCol="false" tIns="0" lIns="0" bIns="0" rIns="0">
            <a:spAutoFit/>
          </a:bodyPr>
          <a:lstStyle/>
          <a:p>
            <a:pPr algn="ctr">
              <a:lnSpc>
                <a:spcPts val="1889"/>
              </a:lnSpc>
              <a:spcBef>
                <a:spcPct val="0"/>
              </a:spcBef>
            </a:pPr>
            <a:r>
              <a:rPr lang="en-US" sz="1575">
                <a:solidFill>
                  <a:srgbClr val="FFFFFF"/>
                </a:solidFill>
                <a:latin typeface="Aptos"/>
                <a:ea typeface="Aptos"/>
                <a:cs typeface="Aptos"/>
                <a:sym typeface="Aptos"/>
              </a:rPr>
              <a:t>Tailwind CSS • Chart.js • MQTT.js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76E2A1"/>
            </a:solidFill>
            <a:ln w="19050" cap="sq">
              <a:solidFill>
                <a:srgbClr val="76E2A1"/>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06</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6 • REAL-TIME ALERTING</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MQTT over WebSockets &amp; Visual Alerts</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Push telemetry into the browser without page reloads.</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49643" y="3528250"/>
            <a:ext cx="2969895" cy="1461135"/>
            <a:chOff x="0" y="0"/>
            <a:chExt cx="3959860" cy="1948180"/>
          </a:xfrm>
        </p:grpSpPr>
        <p:sp>
          <p:nvSpPr>
            <p:cNvPr name="Freeform 23" id="23"/>
            <p:cNvSpPr/>
            <p:nvPr/>
          </p:nvSpPr>
          <p:spPr>
            <a:xfrm flipH="false" flipV="false" rot="0">
              <a:off x="0" y="0"/>
              <a:ext cx="3959860" cy="1948180"/>
            </a:xfrm>
            <a:custGeom>
              <a:avLst/>
              <a:gdLst/>
              <a:ahLst/>
              <a:cxnLst/>
              <a:rect r="r" b="b" t="t" l="l"/>
              <a:pathLst>
                <a:path h="1948180" w="3959860">
                  <a:moveTo>
                    <a:pt x="0" y="148463"/>
                  </a:moveTo>
                  <a:cubicBezTo>
                    <a:pt x="0" y="66421"/>
                    <a:pt x="66421" y="0"/>
                    <a:pt x="148463" y="0"/>
                  </a:cubicBezTo>
                  <a:lnTo>
                    <a:pt x="3811397" y="0"/>
                  </a:lnTo>
                  <a:cubicBezTo>
                    <a:pt x="3893312" y="0"/>
                    <a:pt x="3959860" y="66421"/>
                    <a:pt x="3959860" y="148463"/>
                  </a:cubicBezTo>
                  <a:lnTo>
                    <a:pt x="3959860" y="1799717"/>
                  </a:lnTo>
                  <a:cubicBezTo>
                    <a:pt x="3959860" y="1881632"/>
                    <a:pt x="3893439" y="1948180"/>
                    <a:pt x="3811397" y="1948180"/>
                  </a:cubicBezTo>
                  <a:lnTo>
                    <a:pt x="148463" y="1948180"/>
                  </a:lnTo>
                  <a:cubicBezTo>
                    <a:pt x="66421" y="1948180"/>
                    <a:pt x="0" y="1881759"/>
                    <a:pt x="0" y="1799717"/>
                  </a:cubicBezTo>
                  <a:close/>
                </a:path>
              </a:pathLst>
            </a:custGeom>
            <a:solidFill>
              <a:srgbClr val="10253B"/>
            </a:solidFill>
            <a:ln w="20955" cap="sq">
              <a:solidFill>
                <a:srgbClr val="46D6F5"/>
              </a:solidFill>
              <a:prstDash val="solid"/>
              <a:miter/>
            </a:ln>
          </p:spPr>
        </p:sp>
      </p:grpSp>
      <p:grpSp>
        <p:nvGrpSpPr>
          <p:cNvPr name="Group 24" id="24"/>
          <p:cNvGrpSpPr/>
          <p:nvPr/>
        </p:nvGrpSpPr>
        <p:grpSpPr>
          <a:xfrm rot="0">
            <a:off x="1124712" y="3730752"/>
            <a:ext cx="2619756" cy="329184"/>
            <a:chOff x="0" y="0"/>
            <a:chExt cx="3493008" cy="438912"/>
          </a:xfrm>
        </p:grpSpPr>
        <p:sp>
          <p:nvSpPr>
            <p:cNvPr name="Freeform 25" id="25"/>
            <p:cNvSpPr/>
            <p:nvPr/>
          </p:nvSpPr>
          <p:spPr>
            <a:xfrm flipH="false" flipV="false" rot="0">
              <a:off x="0" y="0"/>
              <a:ext cx="3493008" cy="438912"/>
            </a:xfrm>
            <a:custGeom>
              <a:avLst/>
              <a:gdLst/>
              <a:ahLst/>
              <a:cxnLst/>
              <a:rect r="r" b="b" t="t" l="l"/>
              <a:pathLst>
                <a:path h="438912" w="3493008">
                  <a:moveTo>
                    <a:pt x="0" y="0"/>
                  </a:moveTo>
                  <a:lnTo>
                    <a:pt x="3493008" y="0"/>
                  </a:lnTo>
                  <a:lnTo>
                    <a:pt x="3493008" y="438912"/>
                  </a:lnTo>
                  <a:lnTo>
                    <a:pt x="0" y="438912"/>
                  </a:lnTo>
                  <a:close/>
                </a:path>
              </a:pathLst>
            </a:custGeom>
            <a:blipFill>
              <a:blip r:embed="rId3">
                <a:alphaModFix amt="0"/>
              </a:blip>
              <a:stretch>
                <a:fillRect l="0" t="-105068" r="0" b="-105068"/>
              </a:stretch>
            </a:blipFill>
          </p:spPr>
        </p:sp>
        <p:sp>
          <p:nvSpPr>
            <p:cNvPr name="TextBox 26" id="26"/>
            <p:cNvSpPr txBox="true"/>
            <p:nvPr/>
          </p:nvSpPr>
          <p:spPr>
            <a:xfrm>
              <a:off x="0" y="0"/>
              <a:ext cx="349300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EMQX</a:t>
              </a:r>
            </a:p>
          </p:txBody>
        </p:sp>
      </p:grpSp>
      <p:grpSp>
        <p:nvGrpSpPr>
          <p:cNvPr name="Group 27" id="27"/>
          <p:cNvGrpSpPr/>
          <p:nvPr/>
        </p:nvGrpSpPr>
        <p:grpSpPr>
          <a:xfrm rot="0">
            <a:off x="1124712" y="4169664"/>
            <a:ext cx="2619756" cy="699516"/>
            <a:chOff x="0" y="0"/>
            <a:chExt cx="3493008" cy="932688"/>
          </a:xfrm>
        </p:grpSpPr>
        <p:sp>
          <p:nvSpPr>
            <p:cNvPr name="Freeform 28" id="28"/>
            <p:cNvSpPr/>
            <p:nvPr/>
          </p:nvSpPr>
          <p:spPr>
            <a:xfrm flipH="false" flipV="false" rot="0">
              <a:off x="0" y="0"/>
              <a:ext cx="3493008" cy="932688"/>
            </a:xfrm>
            <a:custGeom>
              <a:avLst/>
              <a:gdLst/>
              <a:ahLst/>
              <a:cxnLst/>
              <a:rect r="r" b="b" t="t" l="l"/>
              <a:pathLst>
                <a:path h="932688" w="3493008">
                  <a:moveTo>
                    <a:pt x="0" y="0"/>
                  </a:moveTo>
                  <a:lnTo>
                    <a:pt x="3493008" y="0"/>
                  </a:lnTo>
                  <a:lnTo>
                    <a:pt x="3493008" y="932688"/>
                  </a:lnTo>
                  <a:lnTo>
                    <a:pt x="0" y="932688"/>
                  </a:lnTo>
                  <a:close/>
                </a:path>
              </a:pathLst>
            </a:custGeom>
            <a:blipFill>
              <a:blip r:embed="rId3">
                <a:alphaModFix amt="0"/>
              </a:blip>
              <a:stretch>
                <a:fillRect l="0" t="-22973" r="0" b="-22973"/>
              </a:stretch>
            </a:blipFill>
          </p:spPr>
        </p:sp>
        <p:sp>
          <p:nvSpPr>
            <p:cNvPr name="TextBox 29" id="29"/>
            <p:cNvSpPr txBox="true"/>
            <p:nvPr/>
          </p:nvSpPr>
          <p:spPr>
            <a:xfrm>
              <a:off x="0" y="-9525"/>
              <a:ext cx="3493008" cy="94221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WebSockets 8083</a:t>
              </a:r>
            </a:p>
          </p:txBody>
        </p:sp>
      </p:grpSp>
      <p:sp>
        <p:nvSpPr>
          <p:cNvPr name="AutoShape 30" id="30"/>
          <p:cNvSpPr/>
          <p:nvPr/>
        </p:nvSpPr>
        <p:spPr>
          <a:xfrm rot="86340">
            <a:off x="4070004" y="4242435"/>
            <a:ext cx="1365171" cy="0"/>
          </a:xfrm>
          <a:prstGeom prst="line">
            <a:avLst/>
          </a:prstGeom>
          <a:ln cap="rnd" w="19050">
            <a:solidFill>
              <a:srgbClr val="1D3850"/>
            </a:solidFill>
            <a:prstDash val="solid"/>
            <a:headEnd type="none" len="sm" w="sm"/>
            <a:tailEnd type="triangle" len="med" w="lg"/>
          </a:ln>
        </p:spPr>
      </p:sp>
      <p:grpSp>
        <p:nvGrpSpPr>
          <p:cNvPr name="Group 31" id="31"/>
          <p:cNvGrpSpPr/>
          <p:nvPr/>
        </p:nvGrpSpPr>
        <p:grpSpPr>
          <a:xfrm rot="0">
            <a:off x="5475922" y="3528250"/>
            <a:ext cx="2969895" cy="1461135"/>
            <a:chOff x="0" y="0"/>
            <a:chExt cx="3959860" cy="1948180"/>
          </a:xfrm>
        </p:grpSpPr>
        <p:sp>
          <p:nvSpPr>
            <p:cNvPr name="Freeform 32" id="32"/>
            <p:cNvSpPr/>
            <p:nvPr/>
          </p:nvSpPr>
          <p:spPr>
            <a:xfrm flipH="false" flipV="false" rot="0">
              <a:off x="0" y="0"/>
              <a:ext cx="3959860" cy="1948180"/>
            </a:xfrm>
            <a:custGeom>
              <a:avLst/>
              <a:gdLst/>
              <a:ahLst/>
              <a:cxnLst/>
              <a:rect r="r" b="b" t="t" l="l"/>
              <a:pathLst>
                <a:path h="1948180" w="3959860">
                  <a:moveTo>
                    <a:pt x="0" y="148463"/>
                  </a:moveTo>
                  <a:cubicBezTo>
                    <a:pt x="0" y="66421"/>
                    <a:pt x="66421" y="0"/>
                    <a:pt x="148463" y="0"/>
                  </a:cubicBezTo>
                  <a:lnTo>
                    <a:pt x="3811397" y="0"/>
                  </a:lnTo>
                  <a:cubicBezTo>
                    <a:pt x="3893312" y="0"/>
                    <a:pt x="3959860" y="66421"/>
                    <a:pt x="3959860" y="148463"/>
                  </a:cubicBezTo>
                  <a:lnTo>
                    <a:pt x="3959860" y="1799717"/>
                  </a:lnTo>
                  <a:cubicBezTo>
                    <a:pt x="3959860" y="1881632"/>
                    <a:pt x="3893439" y="1948180"/>
                    <a:pt x="3811397" y="1948180"/>
                  </a:cubicBezTo>
                  <a:lnTo>
                    <a:pt x="148463" y="1948180"/>
                  </a:lnTo>
                  <a:cubicBezTo>
                    <a:pt x="66421" y="1948180"/>
                    <a:pt x="0" y="1881759"/>
                    <a:pt x="0" y="1799717"/>
                  </a:cubicBezTo>
                  <a:close/>
                </a:path>
              </a:pathLst>
            </a:custGeom>
            <a:solidFill>
              <a:srgbClr val="10253B"/>
            </a:solidFill>
            <a:ln w="20955" cap="sq">
              <a:solidFill>
                <a:srgbClr val="68A8FF"/>
              </a:solidFill>
              <a:prstDash val="solid"/>
              <a:miter/>
            </a:ln>
          </p:spPr>
        </p:sp>
      </p:grpSp>
      <p:grpSp>
        <p:nvGrpSpPr>
          <p:cNvPr name="Group 33" id="33"/>
          <p:cNvGrpSpPr/>
          <p:nvPr/>
        </p:nvGrpSpPr>
        <p:grpSpPr>
          <a:xfrm rot="0">
            <a:off x="5650992" y="3730752"/>
            <a:ext cx="2619756" cy="329184"/>
            <a:chOff x="0" y="0"/>
            <a:chExt cx="3493008" cy="438912"/>
          </a:xfrm>
        </p:grpSpPr>
        <p:sp>
          <p:nvSpPr>
            <p:cNvPr name="Freeform 34" id="34"/>
            <p:cNvSpPr/>
            <p:nvPr/>
          </p:nvSpPr>
          <p:spPr>
            <a:xfrm flipH="false" flipV="false" rot="0">
              <a:off x="0" y="0"/>
              <a:ext cx="3493008" cy="438912"/>
            </a:xfrm>
            <a:custGeom>
              <a:avLst/>
              <a:gdLst/>
              <a:ahLst/>
              <a:cxnLst/>
              <a:rect r="r" b="b" t="t" l="l"/>
              <a:pathLst>
                <a:path h="438912" w="3493008">
                  <a:moveTo>
                    <a:pt x="0" y="0"/>
                  </a:moveTo>
                  <a:lnTo>
                    <a:pt x="3493008" y="0"/>
                  </a:lnTo>
                  <a:lnTo>
                    <a:pt x="3493008" y="438912"/>
                  </a:lnTo>
                  <a:lnTo>
                    <a:pt x="0" y="438912"/>
                  </a:lnTo>
                  <a:close/>
                </a:path>
              </a:pathLst>
            </a:custGeom>
            <a:blipFill>
              <a:blip r:embed="rId3">
                <a:alphaModFix amt="0"/>
              </a:blip>
              <a:stretch>
                <a:fillRect l="0" t="-105068" r="0" b="-105068"/>
              </a:stretch>
            </a:blipFill>
          </p:spPr>
        </p:sp>
        <p:sp>
          <p:nvSpPr>
            <p:cNvPr name="TextBox 35" id="35"/>
            <p:cNvSpPr txBox="true"/>
            <p:nvPr/>
          </p:nvSpPr>
          <p:spPr>
            <a:xfrm>
              <a:off x="0" y="0"/>
              <a:ext cx="349300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MQTT.js</a:t>
              </a:r>
            </a:p>
          </p:txBody>
        </p:sp>
      </p:grpSp>
      <p:grpSp>
        <p:nvGrpSpPr>
          <p:cNvPr name="Group 36" id="36"/>
          <p:cNvGrpSpPr/>
          <p:nvPr/>
        </p:nvGrpSpPr>
        <p:grpSpPr>
          <a:xfrm rot="0">
            <a:off x="5650992" y="4169664"/>
            <a:ext cx="2619756" cy="699516"/>
            <a:chOff x="0" y="0"/>
            <a:chExt cx="3493008" cy="932688"/>
          </a:xfrm>
        </p:grpSpPr>
        <p:sp>
          <p:nvSpPr>
            <p:cNvPr name="Freeform 37" id="37"/>
            <p:cNvSpPr/>
            <p:nvPr/>
          </p:nvSpPr>
          <p:spPr>
            <a:xfrm flipH="false" flipV="false" rot="0">
              <a:off x="0" y="0"/>
              <a:ext cx="3493008" cy="932688"/>
            </a:xfrm>
            <a:custGeom>
              <a:avLst/>
              <a:gdLst/>
              <a:ahLst/>
              <a:cxnLst/>
              <a:rect r="r" b="b" t="t" l="l"/>
              <a:pathLst>
                <a:path h="932688" w="3493008">
                  <a:moveTo>
                    <a:pt x="0" y="0"/>
                  </a:moveTo>
                  <a:lnTo>
                    <a:pt x="3493008" y="0"/>
                  </a:lnTo>
                  <a:lnTo>
                    <a:pt x="3493008" y="932688"/>
                  </a:lnTo>
                  <a:lnTo>
                    <a:pt x="0" y="932688"/>
                  </a:lnTo>
                  <a:close/>
                </a:path>
              </a:pathLst>
            </a:custGeom>
            <a:blipFill>
              <a:blip r:embed="rId3">
                <a:alphaModFix amt="0"/>
              </a:blip>
              <a:stretch>
                <a:fillRect l="0" t="-22973" r="0" b="-22973"/>
              </a:stretch>
            </a:blipFill>
          </p:spPr>
        </p:sp>
        <p:sp>
          <p:nvSpPr>
            <p:cNvPr name="TextBox 38" id="38"/>
            <p:cNvSpPr txBox="true"/>
            <p:nvPr/>
          </p:nvSpPr>
          <p:spPr>
            <a:xfrm>
              <a:off x="0" y="-9525"/>
              <a:ext cx="3493008" cy="94221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browser client</a:t>
              </a:r>
            </a:p>
          </p:txBody>
        </p:sp>
      </p:grpSp>
      <p:sp>
        <p:nvSpPr>
          <p:cNvPr name="AutoShape 39" id="39"/>
          <p:cNvSpPr/>
          <p:nvPr/>
        </p:nvSpPr>
        <p:spPr>
          <a:xfrm rot="90900">
            <a:off x="8596274" y="4242435"/>
            <a:ext cx="1296619" cy="0"/>
          </a:xfrm>
          <a:prstGeom prst="line">
            <a:avLst/>
          </a:prstGeom>
          <a:ln cap="rnd" w="19050">
            <a:solidFill>
              <a:srgbClr val="1D3850"/>
            </a:solidFill>
            <a:prstDash val="solid"/>
            <a:headEnd type="none" len="sm" w="sm"/>
            <a:tailEnd type="triangle" len="med" w="lg"/>
          </a:ln>
        </p:spPr>
      </p:sp>
      <p:grpSp>
        <p:nvGrpSpPr>
          <p:cNvPr name="Group 40" id="40"/>
          <p:cNvGrpSpPr/>
          <p:nvPr/>
        </p:nvGrpSpPr>
        <p:grpSpPr>
          <a:xfrm rot="0">
            <a:off x="9933622" y="3528250"/>
            <a:ext cx="2969895" cy="1461135"/>
            <a:chOff x="0" y="0"/>
            <a:chExt cx="3959860" cy="1948180"/>
          </a:xfrm>
        </p:grpSpPr>
        <p:sp>
          <p:nvSpPr>
            <p:cNvPr name="Freeform 41" id="41"/>
            <p:cNvSpPr/>
            <p:nvPr/>
          </p:nvSpPr>
          <p:spPr>
            <a:xfrm flipH="false" flipV="false" rot="0">
              <a:off x="0" y="0"/>
              <a:ext cx="3959860" cy="1948180"/>
            </a:xfrm>
            <a:custGeom>
              <a:avLst/>
              <a:gdLst/>
              <a:ahLst/>
              <a:cxnLst/>
              <a:rect r="r" b="b" t="t" l="l"/>
              <a:pathLst>
                <a:path h="1948180" w="3959860">
                  <a:moveTo>
                    <a:pt x="0" y="148463"/>
                  </a:moveTo>
                  <a:cubicBezTo>
                    <a:pt x="0" y="66421"/>
                    <a:pt x="66421" y="0"/>
                    <a:pt x="148463" y="0"/>
                  </a:cubicBezTo>
                  <a:lnTo>
                    <a:pt x="3811397" y="0"/>
                  </a:lnTo>
                  <a:cubicBezTo>
                    <a:pt x="3893312" y="0"/>
                    <a:pt x="3959860" y="66421"/>
                    <a:pt x="3959860" y="148463"/>
                  </a:cubicBezTo>
                  <a:lnTo>
                    <a:pt x="3959860" y="1799717"/>
                  </a:lnTo>
                  <a:cubicBezTo>
                    <a:pt x="3959860" y="1881632"/>
                    <a:pt x="3893439" y="1948180"/>
                    <a:pt x="3811397" y="1948180"/>
                  </a:cubicBezTo>
                  <a:lnTo>
                    <a:pt x="148463" y="1948180"/>
                  </a:lnTo>
                  <a:cubicBezTo>
                    <a:pt x="66421" y="1948180"/>
                    <a:pt x="0" y="1881759"/>
                    <a:pt x="0" y="1799717"/>
                  </a:cubicBezTo>
                  <a:close/>
                </a:path>
              </a:pathLst>
            </a:custGeom>
            <a:solidFill>
              <a:srgbClr val="10253B"/>
            </a:solidFill>
            <a:ln w="20955" cap="sq">
              <a:solidFill>
                <a:srgbClr val="76E2A1"/>
              </a:solidFill>
              <a:prstDash val="solid"/>
              <a:miter/>
            </a:ln>
          </p:spPr>
        </p:sp>
      </p:grpSp>
      <p:grpSp>
        <p:nvGrpSpPr>
          <p:cNvPr name="Group 42" id="42"/>
          <p:cNvGrpSpPr/>
          <p:nvPr/>
        </p:nvGrpSpPr>
        <p:grpSpPr>
          <a:xfrm rot="0">
            <a:off x="10108692" y="3730752"/>
            <a:ext cx="2619756" cy="329184"/>
            <a:chOff x="0" y="0"/>
            <a:chExt cx="3493008" cy="438912"/>
          </a:xfrm>
        </p:grpSpPr>
        <p:sp>
          <p:nvSpPr>
            <p:cNvPr name="Freeform 43" id="43"/>
            <p:cNvSpPr/>
            <p:nvPr/>
          </p:nvSpPr>
          <p:spPr>
            <a:xfrm flipH="false" flipV="false" rot="0">
              <a:off x="0" y="0"/>
              <a:ext cx="3493008" cy="438912"/>
            </a:xfrm>
            <a:custGeom>
              <a:avLst/>
              <a:gdLst/>
              <a:ahLst/>
              <a:cxnLst/>
              <a:rect r="r" b="b" t="t" l="l"/>
              <a:pathLst>
                <a:path h="438912" w="3493008">
                  <a:moveTo>
                    <a:pt x="0" y="0"/>
                  </a:moveTo>
                  <a:lnTo>
                    <a:pt x="3493008" y="0"/>
                  </a:lnTo>
                  <a:lnTo>
                    <a:pt x="3493008" y="438912"/>
                  </a:lnTo>
                  <a:lnTo>
                    <a:pt x="0" y="438912"/>
                  </a:lnTo>
                  <a:close/>
                </a:path>
              </a:pathLst>
            </a:custGeom>
            <a:blipFill>
              <a:blip r:embed="rId3">
                <a:alphaModFix amt="0"/>
              </a:blip>
              <a:stretch>
                <a:fillRect l="0" t="-105068" r="0" b="-105068"/>
              </a:stretch>
            </a:blipFill>
          </p:spPr>
        </p:sp>
        <p:sp>
          <p:nvSpPr>
            <p:cNvPr name="TextBox 44" id="44"/>
            <p:cNvSpPr txBox="true"/>
            <p:nvPr/>
          </p:nvSpPr>
          <p:spPr>
            <a:xfrm>
              <a:off x="0" y="0"/>
              <a:ext cx="349300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DASHBOARD</a:t>
              </a:r>
            </a:p>
          </p:txBody>
        </p:sp>
      </p:grpSp>
      <p:grpSp>
        <p:nvGrpSpPr>
          <p:cNvPr name="Group 45" id="45"/>
          <p:cNvGrpSpPr/>
          <p:nvPr/>
        </p:nvGrpSpPr>
        <p:grpSpPr>
          <a:xfrm rot="0">
            <a:off x="10108692" y="4169664"/>
            <a:ext cx="2619756" cy="699516"/>
            <a:chOff x="0" y="0"/>
            <a:chExt cx="3493008" cy="932688"/>
          </a:xfrm>
        </p:grpSpPr>
        <p:sp>
          <p:nvSpPr>
            <p:cNvPr name="Freeform 46" id="46"/>
            <p:cNvSpPr/>
            <p:nvPr/>
          </p:nvSpPr>
          <p:spPr>
            <a:xfrm flipH="false" flipV="false" rot="0">
              <a:off x="0" y="0"/>
              <a:ext cx="3493008" cy="932688"/>
            </a:xfrm>
            <a:custGeom>
              <a:avLst/>
              <a:gdLst/>
              <a:ahLst/>
              <a:cxnLst/>
              <a:rect r="r" b="b" t="t" l="l"/>
              <a:pathLst>
                <a:path h="932688" w="3493008">
                  <a:moveTo>
                    <a:pt x="0" y="0"/>
                  </a:moveTo>
                  <a:lnTo>
                    <a:pt x="3493008" y="0"/>
                  </a:lnTo>
                  <a:lnTo>
                    <a:pt x="3493008" y="932688"/>
                  </a:lnTo>
                  <a:lnTo>
                    <a:pt x="0" y="932688"/>
                  </a:lnTo>
                  <a:close/>
                </a:path>
              </a:pathLst>
            </a:custGeom>
            <a:blipFill>
              <a:blip r:embed="rId3">
                <a:alphaModFix amt="0"/>
              </a:blip>
              <a:stretch>
                <a:fillRect l="0" t="-22973" r="0" b="-22973"/>
              </a:stretch>
            </a:blipFill>
          </p:spPr>
        </p:sp>
        <p:sp>
          <p:nvSpPr>
            <p:cNvPr name="TextBox 47" id="47"/>
            <p:cNvSpPr txBox="true"/>
            <p:nvPr/>
          </p:nvSpPr>
          <p:spPr>
            <a:xfrm>
              <a:off x="0" y="-9525"/>
              <a:ext cx="3493008" cy="94221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Live Cards &amp; Dynamic UI</a:t>
              </a:r>
            </a:p>
          </p:txBody>
        </p:sp>
      </p:grpSp>
      <p:grpSp>
        <p:nvGrpSpPr>
          <p:cNvPr name="Group 48" id="48"/>
          <p:cNvGrpSpPr/>
          <p:nvPr/>
        </p:nvGrpSpPr>
        <p:grpSpPr>
          <a:xfrm rot="0">
            <a:off x="13434060" y="3078480"/>
            <a:ext cx="3238500" cy="2278380"/>
            <a:chOff x="0" y="0"/>
            <a:chExt cx="4318000" cy="3037840"/>
          </a:xfrm>
        </p:grpSpPr>
        <p:sp>
          <p:nvSpPr>
            <p:cNvPr name="Freeform 49" id="49"/>
            <p:cNvSpPr/>
            <p:nvPr/>
          </p:nvSpPr>
          <p:spPr>
            <a:xfrm flipH="false" flipV="false" rot="0">
              <a:off x="0" y="0"/>
              <a:ext cx="4318000" cy="3037840"/>
            </a:xfrm>
            <a:custGeom>
              <a:avLst/>
              <a:gdLst/>
              <a:ahLst/>
              <a:cxnLst/>
              <a:rect r="r" b="b" t="t" l="l"/>
              <a:pathLst>
                <a:path h="3037840" w="4318000">
                  <a:moveTo>
                    <a:pt x="0" y="147320"/>
                  </a:moveTo>
                  <a:cubicBezTo>
                    <a:pt x="0" y="65913"/>
                    <a:pt x="65913" y="0"/>
                    <a:pt x="147320" y="0"/>
                  </a:cubicBezTo>
                  <a:lnTo>
                    <a:pt x="4170680" y="0"/>
                  </a:lnTo>
                  <a:cubicBezTo>
                    <a:pt x="4251960" y="0"/>
                    <a:pt x="4318000" y="65913"/>
                    <a:pt x="4318000" y="147320"/>
                  </a:cubicBezTo>
                  <a:lnTo>
                    <a:pt x="4318000" y="2890520"/>
                  </a:lnTo>
                  <a:cubicBezTo>
                    <a:pt x="4318000" y="2971800"/>
                    <a:pt x="4252087" y="3037840"/>
                    <a:pt x="4170680" y="3037840"/>
                  </a:cubicBezTo>
                  <a:lnTo>
                    <a:pt x="147320" y="3037840"/>
                  </a:lnTo>
                  <a:cubicBezTo>
                    <a:pt x="66040" y="3037840"/>
                    <a:pt x="0" y="2971927"/>
                    <a:pt x="0" y="2890520"/>
                  </a:cubicBezTo>
                  <a:close/>
                </a:path>
              </a:pathLst>
            </a:custGeom>
            <a:solidFill>
              <a:srgbClr val="0E1D30"/>
            </a:solidFill>
            <a:ln w="15240" cap="sq">
              <a:solidFill>
                <a:srgbClr val="1D3850"/>
              </a:solidFill>
              <a:prstDash val="solid"/>
              <a:miter/>
            </a:ln>
          </p:spPr>
        </p:sp>
      </p:grpSp>
      <p:grpSp>
        <p:nvGrpSpPr>
          <p:cNvPr name="Group 50" id="50"/>
          <p:cNvGrpSpPr/>
          <p:nvPr/>
        </p:nvGrpSpPr>
        <p:grpSpPr>
          <a:xfrm rot="0">
            <a:off x="14511528" y="3360420"/>
            <a:ext cx="1851660" cy="342900"/>
            <a:chOff x="0" y="0"/>
            <a:chExt cx="2468880" cy="457200"/>
          </a:xfrm>
        </p:grpSpPr>
        <p:sp>
          <p:nvSpPr>
            <p:cNvPr name="Freeform 51" id="51"/>
            <p:cNvSpPr/>
            <p:nvPr/>
          </p:nvSpPr>
          <p:spPr>
            <a:xfrm flipH="false" flipV="false" rot="0">
              <a:off x="0" y="0"/>
              <a:ext cx="2468880" cy="457200"/>
            </a:xfrm>
            <a:custGeom>
              <a:avLst/>
              <a:gdLst/>
              <a:ahLst/>
              <a:cxnLst/>
              <a:rect r="r" b="b" t="t" l="l"/>
              <a:pathLst>
                <a:path h="457200" w="2468880">
                  <a:moveTo>
                    <a:pt x="0" y="0"/>
                  </a:moveTo>
                  <a:lnTo>
                    <a:pt x="2468880" y="0"/>
                  </a:lnTo>
                  <a:lnTo>
                    <a:pt x="2468880" y="457200"/>
                  </a:lnTo>
                  <a:lnTo>
                    <a:pt x="0" y="457200"/>
                  </a:lnTo>
                  <a:close/>
                </a:path>
              </a:pathLst>
            </a:custGeom>
            <a:blipFill>
              <a:blip r:embed="rId3">
                <a:alphaModFix amt="0"/>
              </a:blip>
              <a:stretch>
                <a:fillRect l="0" t="-55219" r="0" b="-55219"/>
              </a:stretch>
            </a:blipFill>
          </p:spPr>
        </p:sp>
        <p:sp>
          <p:nvSpPr>
            <p:cNvPr name="TextBox 52" id="52"/>
            <p:cNvSpPr txBox="true"/>
            <p:nvPr/>
          </p:nvSpPr>
          <p:spPr>
            <a:xfrm>
              <a:off x="0" y="-9525"/>
              <a:ext cx="246888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LATENCY TARGET</a:t>
              </a:r>
            </a:p>
          </p:txBody>
        </p:sp>
      </p:grpSp>
      <p:grpSp>
        <p:nvGrpSpPr>
          <p:cNvPr name="Group 53" id="53"/>
          <p:cNvGrpSpPr/>
          <p:nvPr/>
        </p:nvGrpSpPr>
        <p:grpSpPr>
          <a:xfrm rot="0">
            <a:off x="13643682" y="3969422"/>
            <a:ext cx="2719506" cy="598006"/>
            <a:chOff x="0" y="0"/>
            <a:chExt cx="3493008" cy="768096"/>
          </a:xfrm>
        </p:grpSpPr>
        <p:sp>
          <p:nvSpPr>
            <p:cNvPr name="Freeform 54" id="54"/>
            <p:cNvSpPr/>
            <p:nvPr/>
          </p:nvSpPr>
          <p:spPr>
            <a:xfrm flipH="false" flipV="false" rot="0">
              <a:off x="0" y="0"/>
              <a:ext cx="3493008" cy="768096"/>
            </a:xfrm>
            <a:custGeom>
              <a:avLst/>
              <a:gdLst/>
              <a:ahLst/>
              <a:cxnLst/>
              <a:rect r="r" b="b" t="t" l="l"/>
              <a:pathLst>
                <a:path h="768096" w="3493008">
                  <a:moveTo>
                    <a:pt x="0" y="0"/>
                  </a:moveTo>
                  <a:lnTo>
                    <a:pt x="3493008" y="0"/>
                  </a:lnTo>
                  <a:lnTo>
                    <a:pt x="3493008" y="768096"/>
                  </a:lnTo>
                  <a:lnTo>
                    <a:pt x="0" y="768096"/>
                  </a:lnTo>
                  <a:close/>
                </a:path>
              </a:pathLst>
            </a:custGeom>
            <a:blipFill>
              <a:blip r:embed="rId3">
                <a:alphaModFix amt="0"/>
              </a:blip>
              <a:stretch>
                <a:fillRect l="0" t="-38610" r="0" b="-38610"/>
              </a:stretch>
            </a:blipFill>
          </p:spPr>
        </p:sp>
        <p:sp>
          <p:nvSpPr>
            <p:cNvPr name="TextBox 55" id="55"/>
            <p:cNvSpPr txBox="true"/>
            <p:nvPr/>
          </p:nvSpPr>
          <p:spPr>
            <a:xfrm>
              <a:off x="0" y="0"/>
              <a:ext cx="3493008" cy="768096"/>
            </a:xfrm>
            <a:prstGeom prst="rect">
              <a:avLst/>
            </a:prstGeom>
          </p:spPr>
          <p:txBody>
            <a:bodyPr anchor="ctr" rtlCol="false" tIns="0" lIns="0" bIns="0" rIns="0"/>
            <a:lstStyle/>
            <a:p>
              <a:pPr algn="ctr">
                <a:lnSpc>
                  <a:spcPts val="3600"/>
                </a:lnSpc>
              </a:pPr>
              <a:r>
                <a:rPr lang="en-US" sz="3000" b="true">
                  <a:solidFill>
                    <a:srgbClr val="F5F8FC"/>
                  </a:solidFill>
                  <a:latin typeface="Aptos Bold"/>
                  <a:ea typeface="Aptos Bold"/>
                  <a:cs typeface="Aptos Bold"/>
                  <a:sym typeface="Aptos Bold"/>
                </a:rPr>
                <a:t>&lt; 50 ms</a:t>
              </a:r>
            </a:p>
          </p:txBody>
        </p:sp>
      </p:grpSp>
      <p:sp>
        <p:nvSpPr>
          <p:cNvPr name="TextBox 56" id="56"/>
          <p:cNvSpPr txBox="true"/>
          <p:nvPr/>
        </p:nvSpPr>
        <p:spPr>
          <a:xfrm rot="0">
            <a:off x="13643682" y="4677388"/>
            <a:ext cx="3028878" cy="494384"/>
          </a:xfrm>
          <a:prstGeom prst="rect">
            <a:avLst/>
          </a:prstGeom>
        </p:spPr>
        <p:txBody>
          <a:bodyPr anchor="t" rtlCol="false" tIns="0" lIns="0" bIns="0" rIns="0">
            <a:spAutoFit/>
          </a:bodyPr>
          <a:lstStyle/>
          <a:p>
            <a:pPr algn="l">
              <a:lnSpc>
                <a:spcPts val="1961"/>
              </a:lnSpc>
            </a:pPr>
            <a:r>
              <a:rPr lang="en-US" sz="1634">
                <a:solidFill>
                  <a:srgbClr val="F5F8FC"/>
                </a:solidFill>
                <a:latin typeface="Aptos"/>
                <a:ea typeface="Aptos"/>
                <a:cs typeface="Aptos"/>
                <a:sym typeface="Aptos"/>
              </a:rPr>
              <a:t>Z</a:t>
            </a:r>
            <a:r>
              <a:rPr lang="en-US" sz="1634">
                <a:solidFill>
                  <a:srgbClr val="F5F8FC"/>
                </a:solidFill>
                <a:latin typeface="Aptos"/>
                <a:ea typeface="Aptos"/>
                <a:cs typeface="Aptos"/>
                <a:sym typeface="Aptos"/>
              </a:rPr>
              <a:t>ero-polling mechanism ensures ultra-low latency push updates</a:t>
            </a:r>
          </a:p>
        </p:txBody>
      </p:sp>
      <p:grpSp>
        <p:nvGrpSpPr>
          <p:cNvPr name="Group 57" id="57"/>
          <p:cNvGrpSpPr/>
          <p:nvPr/>
        </p:nvGrpSpPr>
        <p:grpSpPr>
          <a:xfrm rot="0">
            <a:off x="952500" y="5958840"/>
            <a:ext cx="7147560" cy="1935480"/>
            <a:chOff x="0" y="0"/>
            <a:chExt cx="9530080" cy="2580640"/>
          </a:xfrm>
        </p:grpSpPr>
        <p:sp>
          <p:nvSpPr>
            <p:cNvPr name="Freeform 58" id="58"/>
            <p:cNvSpPr/>
            <p:nvPr/>
          </p:nvSpPr>
          <p:spPr>
            <a:xfrm flipH="false" flipV="false" rot="0">
              <a:off x="0" y="0"/>
              <a:ext cx="9530080" cy="2580640"/>
            </a:xfrm>
            <a:custGeom>
              <a:avLst/>
              <a:gdLst/>
              <a:ahLst/>
              <a:cxnLst/>
              <a:rect r="r" b="b" t="t" l="l"/>
              <a:pathLst>
                <a:path h="2580640" w="9530080">
                  <a:moveTo>
                    <a:pt x="0" y="147447"/>
                  </a:moveTo>
                  <a:cubicBezTo>
                    <a:pt x="0" y="66040"/>
                    <a:pt x="66040" y="0"/>
                    <a:pt x="147447" y="0"/>
                  </a:cubicBezTo>
                  <a:lnTo>
                    <a:pt x="9382633" y="0"/>
                  </a:lnTo>
                  <a:cubicBezTo>
                    <a:pt x="9464039" y="0"/>
                    <a:pt x="9530080" y="66040"/>
                    <a:pt x="9530080" y="147447"/>
                  </a:cubicBezTo>
                  <a:lnTo>
                    <a:pt x="9530080" y="2433193"/>
                  </a:lnTo>
                  <a:cubicBezTo>
                    <a:pt x="9530080" y="2514600"/>
                    <a:pt x="9464039" y="2580640"/>
                    <a:pt x="9382633" y="2580640"/>
                  </a:cubicBezTo>
                  <a:lnTo>
                    <a:pt x="147447" y="2580640"/>
                  </a:lnTo>
                  <a:cubicBezTo>
                    <a:pt x="66040" y="2580640"/>
                    <a:pt x="0" y="2514600"/>
                    <a:pt x="0" y="2433193"/>
                  </a:cubicBezTo>
                  <a:close/>
                </a:path>
              </a:pathLst>
            </a:custGeom>
            <a:solidFill>
              <a:srgbClr val="0E1D30"/>
            </a:solidFill>
            <a:ln w="15240" cap="sq">
              <a:solidFill>
                <a:srgbClr val="1D3850"/>
              </a:solidFill>
              <a:prstDash val="solid"/>
              <a:miter/>
            </a:ln>
          </p:spPr>
        </p:sp>
      </p:grpSp>
      <p:grpSp>
        <p:nvGrpSpPr>
          <p:cNvPr name="Group 59" id="59"/>
          <p:cNvGrpSpPr/>
          <p:nvPr/>
        </p:nvGrpSpPr>
        <p:grpSpPr>
          <a:xfrm rot="0">
            <a:off x="2029968" y="6240780"/>
            <a:ext cx="5760720" cy="342900"/>
            <a:chOff x="0" y="0"/>
            <a:chExt cx="7680960" cy="457200"/>
          </a:xfrm>
        </p:grpSpPr>
        <p:sp>
          <p:nvSpPr>
            <p:cNvPr name="Freeform 60" id="60"/>
            <p:cNvSpPr/>
            <p:nvPr/>
          </p:nvSpPr>
          <p:spPr>
            <a:xfrm flipH="false" flipV="false" rot="0">
              <a:off x="0" y="0"/>
              <a:ext cx="7680960" cy="457200"/>
            </a:xfrm>
            <a:custGeom>
              <a:avLst/>
              <a:gdLst/>
              <a:ahLst/>
              <a:cxnLst/>
              <a:rect r="r" b="b" t="t" l="l"/>
              <a:pathLst>
                <a:path h="457200" w="7680960">
                  <a:moveTo>
                    <a:pt x="0" y="0"/>
                  </a:moveTo>
                  <a:lnTo>
                    <a:pt x="7680960" y="0"/>
                  </a:lnTo>
                  <a:lnTo>
                    <a:pt x="7680960" y="457200"/>
                  </a:lnTo>
                  <a:lnTo>
                    <a:pt x="0" y="457200"/>
                  </a:lnTo>
                  <a:close/>
                </a:path>
              </a:pathLst>
            </a:custGeom>
            <a:blipFill>
              <a:blip r:embed="rId3">
                <a:alphaModFix amt="0"/>
              </a:blip>
              <a:stretch>
                <a:fillRect l="0" t="-277348" r="0" b="-277348"/>
              </a:stretch>
            </a:blipFill>
          </p:spPr>
        </p:sp>
        <p:sp>
          <p:nvSpPr>
            <p:cNvPr name="TextBox 61" id="61"/>
            <p:cNvSpPr txBox="true"/>
            <p:nvPr/>
          </p:nvSpPr>
          <p:spPr>
            <a:xfrm>
              <a:off x="0" y="-9525"/>
              <a:ext cx="768096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ALERT LOGIC</a:t>
              </a:r>
            </a:p>
          </p:txBody>
        </p:sp>
      </p:grpSp>
      <p:sp>
        <p:nvSpPr>
          <p:cNvPr name="TextBox 62" id="62"/>
          <p:cNvSpPr txBox="true"/>
          <p:nvPr/>
        </p:nvSpPr>
        <p:spPr>
          <a:xfrm rot="0">
            <a:off x="1261872" y="6816852"/>
            <a:ext cx="6528816" cy="47625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Incoming JSON → Detect Violation (T ∉ [2.0°C, 8.0°C]) → Switch temperature card to RED + animate-pulse effect</a:t>
            </a:r>
          </a:p>
        </p:txBody>
      </p:sp>
      <p:grpSp>
        <p:nvGrpSpPr>
          <p:cNvPr name="Group 63" id="63"/>
          <p:cNvGrpSpPr/>
          <p:nvPr/>
        </p:nvGrpSpPr>
        <p:grpSpPr>
          <a:xfrm rot="0">
            <a:off x="8496300" y="5958840"/>
            <a:ext cx="8176260" cy="1935480"/>
            <a:chOff x="0" y="0"/>
            <a:chExt cx="10901680" cy="2580640"/>
          </a:xfrm>
        </p:grpSpPr>
        <p:sp>
          <p:nvSpPr>
            <p:cNvPr name="Freeform 64" id="64"/>
            <p:cNvSpPr/>
            <p:nvPr/>
          </p:nvSpPr>
          <p:spPr>
            <a:xfrm flipH="false" flipV="false" rot="0">
              <a:off x="0" y="0"/>
              <a:ext cx="10901680" cy="2580640"/>
            </a:xfrm>
            <a:custGeom>
              <a:avLst/>
              <a:gdLst/>
              <a:ahLst/>
              <a:cxnLst/>
              <a:rect r="r" b="b" t="t" l="l"/>
              <a:pathLst>
                <a:path h="2580640" w="10901680">
                  <a:moveTo>
                    <a:pt x="0" y="147447"/>
                  </a:moveTo>
                  <a:cubicBezTo>
                    <a:pt x="0" y="66040"/>
                    <a:pt x="66040" y="0"/>
                    <a:pt x="147447" y="0"/>
                  </a:cubicBezTo>
                  <a:lnTo>
                    <a:pt x="10754233" y="0"/>
                  </a:lnTo>
                  <a:cubicBezTo>
                    <a:pt x="10835639" y="0"/>
                    <a:pt x="10901680" y="66040"/>
                    <a:pt x="10901680" y="147447"/>
                  </a:cubicBezTo>
                  <a:lnTo>
                    <a:pt x="10901680" y="2433193"/>
                  </a:lnTo>
                  <a:cubicBezTo>
                    <a:pt x="10901680" y="2514600"/>
                    <a:pt x="10835639" y="2580640"/>
                    <a:pt x="10754233" y="2580640"/>
                  </a:cubicBezTo>
                  <a:lnTo>
                    <a:pt x="147447" y="2580640"/>
                  </a:lnTo>
                  <a:cubicBezTo>
                    <a:pt x="66040" y="2580640"/>
                    <a:pt x="0" y="2514600"/>
                    <a:pt x="0" y="2433193"/>
                  </a:cubicBezTo>
                  <a:close/>
                </a:path>
              </a:pathLst>
            </a:custGeom>
            <a:solidFill>
              <a:srgbClr val="0E1D30"/>
            </a:solidFill>
            <a:ln w="15240" cap="sq">
              <a:solidFill>
                <a:srgbClr val="1D3850"/>
              </a:solidFill>
              <a:prstDash val="solid"/>
              <a:miter/>
            </a:ln>
          </p:spPr>
        </p:sp>
      </p:grpSp>
      <p:grpSp>
        <p:nvGrpSpPr>
          <p:cNvPr name="Group 65" id="65"/>
          <p:cNvGrpSpPr/>
          <p:nvPr/>
        </p:nvGrpSpPr>
        <p:grpSpPr>
          <a:xfrm rot="0">
            <a:off x="9573768" y="6240780"/>
            <a:ext cx="6789420" cy="342900"/>
            <a:chOff x="0" y="0"/>
            <a:chExt cx="9052560" cy="457200"/>
          </a:xfrm>
        </p:grpSpPr>
        <p:sp>
          <p:nvSpPr>
            <p:cNvPr name="Freeform 66" id="66"/>
            <p:cNvSpPr/>
            <p:nvPr/>
          </p:nvSpPr>
          <p:spPr>
            <a:xfrm flipH="false" flipV="false" rot="0">
              <a:off x="0" y="0"/>
              <a:ext cx="9052560" cy="457200"/>
            </a:xfrm>
            <a:custGeom>
              <a:avLst/>
              <a:gdLst/>
              <a:ahLst/>
              <a:cxnLst/>
              <a:rect r="r" b="b" t="t" l="l"/>
              <a:pathLst>
                <a:path h="457200" w="9052560">
                  <a:moveTo>
                    <a:pt x="0" y="0"/>
                  </a:moveTo>
                  <a:lnTo>
                    <a:pt x="9052560" y="0"/>
                  </a:lnTo>
                  <a:lnTo>
                    <a:pt x="9052560" y="457200"/>
                  </a:lnTo>
                  <a:lnTo>
                    <a:pt x="0" y="457200"/>
                  </a:lnTo>
                  <a:close/>
                </a:path>
              </a:pathLst>
            </a:custGeom>
            <a:blipFill>
              <a:blip r:embed="rId3">
                <a:alphaModFix amt="0"/>
              </a:blip>
              <a:stretch>
                <a:fillRect l="0" t="-335803" r="0" b="-335803"/>
              </a:stretch>
            </a:blipFill>
          </p:spPr>
        </p:sp>
        <p:sp>
          <p:nvSpPr>
            <p:cNvPr name="TextBox 67" id="67"/>
            <p:cNvSpPr txBox="true"/>
            <p:nvPr/>
          </p:nvSpPr>
          <p:spPr>
            <a:xfrm>
              <a:off x="0" y="-9525"/>
              <a:ext cx="905256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OPERATOR SIGNAL</a:t>
              </a:r>
            </a:p>
          </p:txBody>
        </p:sp>
      </p:grpSp>
      <p:sp>
        <p:nvSpPr>
          <p:cNvPr name="TextBox 68" id="68"/>
          <p:cNvSpPr txBox="true"/>
          <p:nvPr/>
        </p:nvSpPr>
        <p:spPr>
          <a:xfrm rot="0">
            <a:off x="8805672" y="6816852"/>
            <a:ext cx="7557516" cy="476250"/>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Dy</a:t>
            </a:r>
            <a:r>
              <a:rPr lang="en-US" sz="1575">
                <a:solidFill>
                  <a:srgbClr val="F5F8FC"/>
                </a:solidFill>
                <a:latin typeface="Aptos"/>
                <a:ea typeface="Aptos"/>
                <a:cs typeface="Aptos"/>
                <a:sym typeface="Aptos"/>
              </a:rPr>
              <a:t>namic color/state changes instantly attract the operator's visual attention to critical environmental anomalies</a:t>
            </a:r>
          </a:p>
        </p:txBody>
      </p:sp>
      <p:sp>
        <p:nvSpPr>
          <p:cNvPr name="TextBox 69" id="69"/>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76E2A1"/>
            </a:solidFill>
            <a:ln w="19050" cap="sq">
              <a:solidFill>
                <a:srgbClr val="76E2A1"/>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06</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6 • DATA VISUALIZATION</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Dual-Axis Chart &amp; Sliding Window</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Visualizing temperature and humidity correlation while preventing browser memory leaks</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252387" y="2659548"/>
            <a:ext cx="12097223" cy="6921078"/>
            <a:chOff x="0" y="0"/>
            <a:chExt cx="15087600" cy="8631936"/>
          </a:xfrm>
        </p:grpSpPr>
        <p:sp>
          <p:nvSpPr>
            <p:cNvPr name="Freeform 23" id="23" descr="/mnt/data/iot_media/image42.png"/>
            <p:cNvSpPr/>
            <p:nvPr/>
          </p:nvSpPr>
          <p:spPr>
            <a:xfrm flipH="false" flipV="false" rot="0">
              <a:off x="0" y="0"/>
              <a:ext cx="15087600" cy="8631936"/>
            </a:xfrm>
            <a:custGeom>
              <a:avLst/>
              <a:gdLst/>
              <a:ahLst/>
              <a:cxnLst/>
              <a:rect r="r" b="b" t="t" l="l"/>
              <a:pathLst>
                <a:path h="8631936" w="15087600">
                  <a:moveTo>
                    <a:pt x="0" y="0"/>
                  </a:moveTo>
                  <a:lnTo>
                    <a:pt x="15087600" y="0"/>
                  </a:lnTo>
                  <a:lnTo>
                    <a:pt x="15087600" y="8631936"/>
                  </a:lnTo>
                  <a:lnTo>
                    <a:pt x="0" y="8631936"/>
                  </a:lnTo>
                  <a:lnTo>
                    <a:pt x="0" y="0"/>
                  </a:lnTo>
                  <a:close/>
                </a:path>
              </a:pathLst>
            </a:custGeom>
            <a:blipFill>
              <a:blip r:embed="rId4"/>
              <a:stretch>
                <a:fillRect l="-2829" t="0" r="-18401" b="0"/>
              </a:stretch>
            </a:blipFill>
          </p:spPr>
        </p:sp>
      </p:grpSp>
      <p:grpSp>
        <p:nvGrpSpPr>
          <p:cNvPr name="Group 24" id="24"/>
          <p:cNvGrpSpPr/>
          <p:nvPr/>
        </p:nvGrpSpPr>
        <p:grpSpPr>
          <a:xfrm rot="0">
            <a:off x="1363239" y="9580626"/>
            <a:ext cx="9875520" cy="342900"/>
            <a:chOff x="0" y="0"/>
            <a:chExt cx="13167360" cy="457200"/>
          </a:xfrm>
        </p:grpSpPr>
        <p:sp>
          <p:nvSpPr>
            <p:cNvPr name="Freeform 25" id="25"/>
            <p:cNvSpPr/>
            <p:nvPr/>
          </p:nvSpPr>
          <p:spPr>
            <a:xfrm flipH="false" flipV="false" rot="0">
              <a:off x="0" y="0"/>
              <a:ext cx="13167361" cy="457200"/>
            </a:xfrm>
            <a:custGeom>
              <a:avLst/>
              <a:gdLst/>
              <a:ahLst/>
              <a:cxnLst/>
              <a:rect r="r" b="b" t="t" l="l"/>
              <a:pathLst>
                <a:path h="457200" w="13167361">
                  <a:moveTo>
                    <a:pt x="0" y="0"/>
                  </a:moveTo>
                  <a:lnTo>
                    <a:pt x="13167361" y="0"/>
                  </a:lnTo>
                  <a:lnTo>
                    <a:pt x="13167361" y="457200"/>
                  </a:lnTo>
                  <a:lnTo>
                    <a:pt x="0" y="457200"/>
                  </a:lnTo>
                  <a:close/>
                </a:path>
              </a:pathLst>
            </a:custGeom>
            <a:blipFill>
              <a:blip r:embed="rId3">
                <a:alphaModFix amt="0"/>
              </a:blip>
              <a:stretch>
                <a:fillRect l="0" t="-511169" r="0" b="-511169"/>
              </a:stretch>
            </a:blipFill>
          </p:spPr>
        </p:sp>
        <p:sp>
          <p:nvSpPr>
            <p:cNvPr name="TextBox 26" id="26"/>
            <p:cNvSpPr txBox="true"/>
            <p:nvPr/>
          </p:nvSpPr>
          <p:spPr>
            <a:xfrm>
              <a:off x="0" y="-9525"/>
              <a:ext cx="13167360" cy="466725"/>
            </a:xfrm>
            <a:prstGeom prst="rect">
              <a:avLst/>
            </a:prstGeom>
          </p:spPr>
          <p:txBody>
            <a:bodyPr anchor="ctr" rtlCol="false" tIns="0" lIns="0" bIns="0" rIns="0"/>
            <a:lstStyle/>
            <a:p>
              <a:pPr algn="ctr">
                <a:lnSpc>
                  <a:spcPts val="1530"/>
                </a:lnSpc>
              </a:pPr>
              <a:r>
                <a:rPr lang="en-US" sz="1275" i="true">
                  <a:solidFill>
                    <a:srgbClr val="9BAFC2"/>
                  </a:solidFill>
                  <a:latin typeface="Aptos Italics"/>
                  <a:ea typeface="Aptos Italics"/>
                  <a:cs typeface="Aptos Italics"/>
                  <a:sym typeface="Aptos Italics"/>
                </a:rPr>
                <a:t>Real-time monitoring chart with dual independent Y-axes</a:t>
              </a:r>
            </a:p>
          </p:txBody>
        </p:sp>
      </p:grpSp>
      <p:grpSp>
        <p:nvGrpSpPr>
          <p:cNvPr name="Group 27" id="27"/>
          <p:cNvGrpSpPr/>
          <p:nvPr/>
        </p:nvGrpSpPr>
        <p:grpSpPr>
          <a:xfrm rot="0">
            <a:off x="12542520" y="2941320"/>
            <a:ext cx="4130040" cy="1716024"/>
            <a:chOff x="0" y="0"/>
            <a:chExt cx="5506720" cy="2288032"/>
          </a:xfrm>
        </p:grpSpPr>
        <p:sp>
          <p:nvSpPr>
            <p:cNvPr name="Freeform 28" id="28"/>
            <p:cNvSpPr/>
            <p:nvPr/>
          </p:nvSpPr>
          <p:spPr>
            <a:xfrm flipH="false" flipV="false" rot="0">
              <a:off x="0" y="0"/>
              <a:ext cx="5506720" cy="2288032"/>
            </a:xfrm>
            <a:custGeom>
              <a:avLst/>
              <a:gdLst/>
              <a:ahLst/>
              <a:cxnLst/>
              <a:rect r="r" b="b" t="t" l="l"/>
              <a:pathLst>
                <a:path h="2288032" w="5506720">
                  <a:moveTo>
                    <a:pt x="0" y="147574"/>
                  </a:moveTo>
                  <a:cubicBezTo>
                    <a:pt x="0" y="66040"/>
                    <a:pt x="66040" y="0"/>
                    <a:pt x="147574" y="0"/>
                  </a:cubicBezTo>
                  <a:lnTo>
                    <a:pt x="5359146" y="0"/>
                  </a:lnTo>
                  <a:cubicBezTo>
                    <a:pt x="5440680" y="0"/>
                    <a:pt x="5506720" y="66040"/>
                    <a:pt x="5506720" y="147574"/>
                  </a:cubicBezTo>
                  <a:lnTo>
                    <a:pt x="5506720" y="2140458"/>
                  </a:lnTo>
                  <a:cubicBezTo>
                    <a:pt x="5506720" y="2221992"/>
                    <a:pt x="5440680" y="2288032"/>
                    <a:pt x="5359146" y="2288032"/>
                  </a:cubicBezTo>
                  <a:lnTo>
                    <a:pt x="147574" y="2288032"/>
                  </a:lnTo>
                  <a:cubicBezTo>
                    <a:pt x="66040" y="2288032"/>
                    <a:pt x="0" y="2221992"/>
                    <a:pt x="0" y="2140458"/>
                  </a:cubicBezTo>
                  <a:close/>
                </a:path>
              </a:pathLst>
            </a:custGeom>
            <a:solidFill>
              <a:srgbClr val="0E1D30"/>
            </a:solidFill>
            <a:ln w="15240" cap="sq">
              <a:solidFill>
                <a:srgbClr val="1D3850"/>
              </a:solidFill>
              <a:prstDash val="solid"/>
              <a:miter/>
            </a:ln>
          </p:spPr>
        </p:sp>
      </p:grpSp>
      <p:grpSp>
        <p:nvGrpSpPr>
          <p:cNvPr name="Group 29" id="29"/>
          <p:cNvGrpSpPr/>
          <p:nvPr/>
        </p:nvGrpSpPr>
        <p:grpSpPr>
          <a:xfrm rot="0">
            <a:off x="13619988" y="3223260"/>
            <a:ext cx="2743200" cy="342900"/>
            <a:chOff x="0" y="0"/>
            <a:chExt cx="3657600" cy="457200"/>
          </a:xfrm>
        </p:grpSpPr>
        <p:sp>
          <p:nvSpPr>
            <p:cNvPr name="Freeform 30" id="30"/>
            <p:cNvSpPr/>
            <p:nvPr/>
          </p:nvSpPr>
          <p:spPr>
            <a:xfrm flipH="false" flipV="false" rot="0">
              <a:off x="0" y="0"/>
              <a:ext cx="3657600" cy="457200"/>
            </a:xfrm>
            <a:custGeom>
              <a:avLst/>
              <a:gdLst/>
              <a:ahLst/>
              <a:cxnLst/>
              <a:rect r="r" b="b" t="t" l="l"/>
              <a:pathLst>
                <a:path h="457200" w="3657600">
                  <a:moveTo>
                    <a:pt x="0" y="0"/>
                  </a:moveTo>
                  <a:lnTo>
                    <a:pt x="3657600" y="0"/>
                  </a:lnTo>
                  <a:lnTo>
                    <a:pt x="3657600" y="457200"/>
                  </a:lnTo>
                  <a:lnTo>
                    <a:pt x="0" y="457200"/>
                  </a:lnTo>
                  <a:close/>
                </a:path>
              </a:pathLst>
            </a:custGeom>
            <a:blipFill>
              <a:blip r:embed="rId3">
                <a:alphaModFix amt="0"/>
              </a:blip>
              <a:stretch>
                <a:fillRect l="0" t="-105880" r="0" b="-105880"/>
              </a:stretch>
            </a:blipFill>
          </p:spPr>
        </p:sp>
        <p:sp>
          <p:nvSpPr>
            <p:cNvPr name="TextBox 31" id="31"/>
            <p:cNvSpPr txBox="true"/>
            <p:nvPr/>
          </p:nvSpPr>
          <p:spPr>
            <a:xfrm>
              <a:off x="0" y="-9525"/>
              <a:ext cx="365760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LEFT Y-AXIS</a:t>
              </a:r>
            </a:p>
          </p:txBody>
        </p:sp>
      </p:grpSp>
      <p:grpSp>
        <p:nvGrpSpPr>
          <p:cNvPr name="Group 32" id="32"/>
          <p:cNvGrpSpPr/>
          <p:nvPr/>
        </p:nvGrpSpPr>
        <p:grpSpPr>
          <a:xfrm rot="0">
            <a:off x="12851892" y="3854196"/>
            <a:ext cx="3820668" cy="576072"/>
            <a:chOff x="0" y="0"/>
            <a:chExt cx="5094224" cy="768096"/>
          </a:xfrm>
        </p:grpSpPr>
        <p:sp>
          <p:nvSpPr>
            <p:cNvPr name="Freeform 33" id="33"/>
            <p:cNvSpPr/>
            <p:nvPr/>
          </p:nvSpPr>
          <p:spPr>
            <a:xfrm flipH="false" flipV="false" rot="0">
              <a:off x="0" y="0"/>
              <a:ext cx="5094224" cy="768096"/>
            </a:xfrm>
            <a:custGeom>
              <a:avLst/>
              <a:gdLst/>
              <a:ahLst/>
              <a:cxnLst/>
              <a:rect r="r" b="b" t="t" l="l"/>
              <a:pathLst>
                <a:path h="768096" w="5094224">
                  <a:moveTo>
                    <a:pt x="0" y="0"/>
                  </a:moveTo>
                  <a:lnTo>
                    <a:pt x="5094224" y="0"/>
                  </a:lnTo>
                  <a:lnTo>
                    <a:pt x="5094224" y="768096"/>
                  </a:lnTo>
                  <a:lnTo>
                    <a:pt x="0" y="768096"/>
                  </a:lnTo>
                  <a:close/>
                </a:path>
              </a:pathLst>
            </a:custGeom>
            <a:blipFill>
              <a:blip r:embed="rId3">
                <a:alphaModFix amt="0"/>
              </a:blip>
              <a:stretch>
                <a:fillRect l="0" t="-68765" r="8097" b="-68765"/>
              </a:stretch>
            </a:blipFill>
          </p:spPr>
        </p:sp>
        <p:sp>
          <p:nvSpPr>
            <p:cNvPr name="TextBox 34" id="34"/>
            <p:cNvSpPr txBox="true"/>
            <p:nvPr/>
          </p:nvSpPr>
          <p:spPr>
            <a:xfrm>
              <a:off x="0" y="0"/>
              <a:ext cx="5094224" cy="768096"/>
            </a:xfrm>
            <a:prstGeom prst="rect">
              <a:avLst/>
            </a:prstGeom>
          </p:spPr>
          <p:txBody>
            <a:bodyPr anchor="ctr" rtlCol="false" tIns="0" lIns="0" bIns="0" rIns="0"/>
            <a:lstStyle/>
            <a:p>
              <a:pPr algn="l">
                <a:lnSpc>
                  <a:spcPts val="3240"/>
                </a:lnSpc>
              </a:pPr>
              <a:r>
                <a:rPr lang="en-US" sz="2700" b="true">
                  <a:solidFill>
                    <a:srgbClr val="F5F8FC"/>
                  </a:solidFill>
                  <a:latin typeface="Aptos Bold"/>
                  <a:ea typeface="Aptos Bold"/>
                  <a:cs typeface="Aptos Bold"/>
                  <a:sym typeface="Aptos Bold"/>
                </a:rPr>
                <a:t>Temperature    (Unit: °C)</a:t>
              </a:r>
            </a:p>
          </p:txBody>
        </p:sp>
      </p:grpSp>
      <p:grpSp>
        <p:nvGrpSpPr>
          <p:cNvPr name="Group 35" id="35"/>
          <p:cNvGrpSpPr/>
          <p:nvPr/>
        </p:nvGrpSpPr>
        <p:grpSpPr>
          <a:xfrm rot="0">
            <a:off x="12542520" y="4902708"/>
            <a:ext cx="4130040" cy="1716024"/>
            <a:chOff x="0" y="0"/>
            <a:chExt cx="5506720" cy="2288032"/>
          </a:xfrm>
        </p:grpSpPr>
        <p:sp>
          <p:nvSpPr>
            <p:cNvPr name="Freeform 36" id="36"/>
            <p:cNvSpPr/>
            <p:nvPr/>
          </p:nvSpPr>
          <p:spPr>
            <a:xfrm flipH="false" flipV="false" rot="0">
              <a:off x="0" y="0"/>
              <a:ext cx="5506720" cy="2288032"/>
            </a:xfrm>
            <a:custGeom>
              <a:avLst/>
              <a:gdLst/>
              <a:ahLst/>
              <a:cxnLst/>
              <a:rect r="r" b="b" t="t" l="l"/>
              <a:pathLst>
                <a:path h="2288032" w="5506720">
                  <a:moveTo>
                    <a:pt x="0" y="147574"/>
                  </a:moveTo>
                  <a:cubicBezTo>
                    <a:pt x="0" y="66040"/>
                    <a:pt x="66040" y="0"/>
                    <a:pt x="147574" y="0"/>
                  </a:cubicBezTo>
                  <a:lnTo>
                    <a:pt x="5359146" y="0"/>
                  </a:lnTo>
                  <a:cubicBezTo>
                    <a:pt x="5440680" y="0"/>
                    <a:pt x="5506720" y="66040"/>
                    <a:pt x="5506720" y="147574"/>
                  </a:cubicBezTo>
                  <a:lnTo>
                    <a:pt x="5506720" y="2140458"/>
                  </a:lnTo>
                  <a:cubicBezTo>
                    <a:pt x="5506720" y="2221992"/>
                    <a:pt x="5440680" y="2288032"/>
                    <a:pt x="5359146" y="2288032"/>
                  </a:cubicBezTo>
                  <a:lnTo>
                    <a:pt x="147574" y="2288032"/>
                  </a:lnTo>
                  <a:cubicBezTo>
                    <a:pt x="66040" y="2288032"/>
                    <a:pt x="0" y="2221992"/>
                    <a:pt x="0" y="2140458"/>
                  </a:cubicBezTo>
                  <a:close/>
                </a:path>
              </a:pathLst>
            </a:custGeom>
            <a:solidFill>
              <a:srgbClr val="0E1D30"/>
            </a:solidFill>
            <a:ln w="15240" cap="sq">
              <a:solidFill>
                <a:srgbClr val="1D3850"/>
              </a:solidFill>
              <a:prstDash val="solid"/>
              <a:miter/>
            </a:ln>
          </p:spPr>
        </p:sp>
      </p:grpSp>
      <p:grpSp>
        <p:nvGrpSpPr>
          <p:cNvPr name="Group 37" id="37"/>
          <p:cNvGrpSpPr/>
          <p:nvPr/>
        </p:nvGrpSpPr>
        <p:grpSpPr>
          <a:xfrm rot="0">
            <a:off x="13619988" y="5184648"/>
            <a:ext cx="2743200" cy="342900"/>
            <a:chOff x="0" y="0"/>
            <a:chExt cx="3657600" cy="457200"/>
          </a:xfrm>
        </p:grpSpPr>
        <p:sp>
          <p:nvSpPr>
            <p:cNvPr name="Freeform 38" id="38"/>
            <p:cNvSpPr/>
            <p:nvPr/>
          </p:nvSpPr>
          <p:spPr>
            <a:xfrm flipH="false" flipV="false" rot="0">
              <a:off x="0" y="0"/>
              <a:ext cx="3657600" cy="457200"/>
            </a:xfrm>
            <a:custGeom>
              <a:avLst/>
              <a:gdLst/>
              <a:ahLst/>
              <a:cxnLst/>
              <a:rect r="r" b="b" t="t" l="l"/>
              <a:pathLst>
                <a:path h="457200" w="3657600">
                  <a:moveTo>
                    <a:pt x="0" y="0"/>
                  </a:moveTo>
                  <a:lnTo>
                    <a:pt x="3657600" y="0"/>
                  </a:lnTo>
                  <a:lnTo>
                    <a:pt x="3657600" y="457200"/>
                  </a:lnTo>
                  <a:lnTo>
                    <a:pt x="0" y="457200"/>
                  </a:lnTo>
                  <a:close/>
                </a:path>
              </a:pathLst>
            </a:custGeom>
            <a:blipFill>
              <a:blip r:embed="rId3">
                <a:alphaModFix amt="0"/>
              </a:blip>
              <a:stretch>
                <a:fillRect l="0" t="-105880" r="0" b="-105880"/>
              </a:stretch>
            </a:blipFill>
          </p:spPr>
        </p:sp>
        <p:sp>
          <p:nvSpPr>
            <p:cNvPr name="TextBox 39" id="39"/>
            <p:cNvSpPr txBox="true"/>
            <p:nvPr/>
          </p:nvSpPr>
          <p:spPr>
            <a:xfrm>
              <a:off x="0" y="-9525"/>
              <a:ext cx="365760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RIGHT Y-AXIS</a:t>
              </a:r>
            </a:p>
          </p:txBody>
        </p:sp>
      </p:grpSp>
      <p:grpSp>
        <p:nvGrpSpPr>
          <p:cNvPr name="Group 40" id="40"/>
          <p:cNvGrpSpPr/>
          <p:nvPr/>
        </p:nvGrpSpPr>
        <p:grpSpPr>
          <a:xfrm rot="0">
            <a:off x="12851892" y="5815584"/>
            <a:ext cx="3820668" cy="576072"/>
            <a:chOff x="0" y="0"/>
            <a:chExt cx="5094224" cy="768096"/>
          </a:xfrm>
        </p:grpSpPr>
        <p:sp>
          <p:nvSpPr>
            <p:cNvPr name="Freeform 41" id="41"/>
            <p:cNvSpPr/>
            <p:nvPr/>
          </p:nvSpPr>
          <p:spPr>
            <a:xfrm flipH="false" flipV="false" rot="0">
              <a:off x="0" y="0"/>
              <a:ext cx="5094224" cy="768096"/>
            </a:xfrm>
            <a:custGeom>
              <a:avLst/>
              <a:gdLst/>
              <a:ahLst/>
              <a:cxnLst/>
              <a:rect r="r" b="b" t="t" l="l"/>
              <a:pathLst>
                <a:path h="768096" w="5094224">
                  <a:moveTo>
                    <a:pt x="0" y="0"/>
                  </a:moveTo>
                  <a:lnTo>
                    <a:pt x="5094224" y="0"/>
                  </a:lnTo>
                  <a:lnTo>
                    <a:pt x="5094224" y="768096"/>
                  </a:lnTo>
                  <a:lnTo>
                    <a:pt x="0" y="768096"/>
                  </a:lnTo>
                  <a:close/>
                </a:path>
              </a:pathLst>
            </a:custGeom>
            <a:blipFill>
              <a:blip r:embed="rId3">
                <a:alphaModFix amt="0"/>
              </a:blip>
              <a:stretch>
                <a:fillRect l="0" t="-68765" r="8097" b="-68765"/>
              </a:stretch>
            </a:blipFill>
          </p:spPr>
        </p:sp>
        <p:sp>
          <p:nvSpPr>
            <p:cNvPr name="TextBox 42" id="42"/>
            <p:cNvSpPr txBox="true"/>
            <p:nvPr/>
          </p:nvSpPr>
          <p:spPr>
            <a:xfrm>
              <a:off x="0" y="0"/>
              <a:ext cx="5094224" cy="768096"/>
            </a:xfrm>
            <a:prstGeom prst="rect">
              <a:avLst/>
            </a:prstGeom>
          </p:spPr>
          <p:txBody>
            <a:bodyPr anchor="ctr" rtlCol="false" tIns="0" lIns="0" bIns="0" rIns="0"/>
            <a:lstStyle/>
            <a:p>
              <a:pPr algn="l">
                <a:lnSpc>
                  <a:spcPts val="3360"/>
                </a:lnSpc>
              </a:pPr>
              <a:r>
                <a:rPr lang="en-US" sz="2800" b="true">
                  <a:solidFill>
                    <a:srgbClr val="F5F8FC"/>
                  </a:solidFill>
                  <a:latin typeface="Aptos Bold"/>
                  <a:ea typeface="Aptos Bold"/>
                  <a:cs typeface="Aptos Bold"/>
                  <a:sym typeface="Aptos Bold"/>
                </a:rPr>
                <a:t>Humidity      (Unit: %RH)</a:t>
              </a:r>
            </a:p>
          </p:txBody>
        </p:sp>
      </p:grpSp>
      <p:grpSp>
        <p:nvGrpSpPr>
          <p:cNvPr name="Group 43" id="43"/>
          <p:cNvGrpSpPr/>
          <p:nvPr/>
        </p:nvGrpSpPr>
        <p:grpSpPr>
          <a:xfrm rot="0">
            <a:off x="12542520" y="6850380"/>
            <a:ext cx="4130040" cy="1716024"/>
            <a:chOff x="0" y="0"/>
            <a:chExt cx="5506720" cy="2288032"/>
          </a:xfrm>
        </p:grpSpPr>
        <p:sp>
          <p:nvSpPr>
            <p:cNvPr name="Freeform 44" id="44"/>
            <p:cNvSpPr/>
            <p:nvPr/>
          </p:nvSpPr>
          <p:spPr>
            <a:xfrm flipH="false" flipV="false" rot="0">
              <a:off x="0" y="0"/>
              <a:ext cx="5506720" cy="2288032"/>
            </a:xfrm>
            <a:custGeom>
              <a:avLst/>
              <a:gdLst/>
              <a:ahLst/>
              <a:cxnLst/>
              <a:rect r="r" b="b" t="t" l="l"/>
              <a:pathLst>
                <a:path h="2288032" w="5506720">
                  <a:moveTo>
                    <a:pt x="0" y="147574"/>
                  </a:moveTo>
                  <a:cubicBezTo>
                    <a:pt x="0" y="66040"/>
                    <a:pt x="66040" y="0"/>
                    <a:pt x="147574" y="0"/>
                  </a:cubicBezTo>
                  <a:lnTo>
                    <a:pt x="5359146" y="0"/>
                  </a:lnTo>
                  <a:cubicBezTo>
                    <a:pt x="5440680" y="0"/>
                    <a:pt x="5506720" y="66040"/>
                    <a:pt x="5506720" y="147574"/>
                  </a:cubicBezTo>
                  <a:lnTo>
                    <a:pt x="5506720" y="2140458"/>
                  </a:lnTo>
                  <a:cubicBezTo>
                    <a:pt x="5506720" y="2221992"/>
                    <a:pt x="5440680" y="2288032"/>
                    <a:pt x="5359146" y="2288032"/>
                  </a:cubicBezTo>
                  <a:lnTo>
                    <a:pt x="147574" y="2288032"/>
                  </a:lnTo>
                  <a:cubicBezTo>
                    <a:pt x="66040" y="2288032"/>
                    <a:pt x="0" y="2221992"/>
                    <a:pt x="0" y="2140458"/>
                  </a:cubicBezTo>
                  <a:close/>
                </a:path>
              </a:pathLst>
            </a:custGeom>
            <a:solidFill>
              <a:srgbClr val="0E1D30"/>
            </a:solidFill>
            <a:ln w="15240" cap="sq">
              <a:solidFill>
                <a:srgbClr val="1D3850"/>
              </a:solidFill>
              <a:prstDash val="solid"/>
              <a:miter/>
            </a:ln>
          </p:spPr>
        </p:sp>
      </p:grpSp>
      <p:grpSp>
        <p:nvGrpSpPr>
          <p:cNvPr name="Group 45" id="45"/>
          <p:cNvGrpSpPr/>
          <p:nvPr/>
        </p:nvGrpSpPr>
        <p:grpSpPr>
          <a:xfrm rot="0">
            <a:off x="13619988" y="7132320"/>
            <a:ext cx="2743200" cy="342900"/>
            <a:chOff x="0" y="0"/>
            <a:chExt cx="3657600" cy="457200"/>
          </a:xfrm>
        </p:grpSpPr>
        <p:sp>
          <p:nvSpPr>
            <p:cNvPr name="Freeform 46" id="46"/>
            <p:cNvSpPr/>
            <p:nvPr/>
          </p:nvSpPr>
          <p:spPr>
            <a:xfrm flipH="false" flipV="false" rot="0">
              <a:off x="0" y="0"/>
              <a:ext cx="3657600" cy="457200"/>
            </a:xfrm>
            <a:custGeom>
              <a:avLst/>
              <a:gdLst/>
              <a:ahLst/>
              <a:cxnLst/>
              <a:rect r="r" b="b" t="t" l="l"/>
              <a:pathLst>
                <a:path h="457200" w="3657600">
                  <a:moveTo>
                    <a:pt x="0" y="0"/>
                  </a:moveTo>
                  <a:lnTo>
                    <a:pt x="3657600" y="0"/>
                  </a:lnTo>
                  <a:lnTo>
                    <a:pt x="3657600" y="457200"/>
                  </a:lnTo>
                  <a:lnTo>
                    <a:pt x="0" y="457200"/>
                  </a:lnTo>
                  <a:close/>
                </a:path>
              </a:pathLst>
            </a:custGeom>
            <a:blipFill>
              <a:blip r:embed="rId3">
                <a:alphaModFix amt="0"/>
              </a:blip>
              <a:stretch>
                <a:fillRect l="0" t="-105880" r="0" b="-105880"/>
              </a:stretch>
            </a:blipFill>
          </p:spPr>
        </p:sp>
        <p:sp>
          <p:nvSpPr>
            <p:cNvPr name="TextBox 47" id="47"/>
            <p:cNvSpPr txBox="true"/>
            <p:nvPr/>
          </p:nvSpPr>
          <p:spPr>
            <a:xfrm>
              <a:off x="0" y="-9525"/>
              <a:ext cx="365760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SLIDING WINDOW</a:t>
              </a:r>
            </a:p>
          </p:txBody>
        </p:sp>
      </p:grpSp>
      <p:grpSp>
        <p:nvGrpSpPr>
          <p:cNvPr name="Group 48" id="48"/>
          <p:cNvGrpSpPr/>
          <p:nvPr/>
        </p:nvGrpSpPr>
        <p:grpSpPr>
          <a:xfrm rot="0">
            <a:off x="12749377" y="7708392"/>
            <a:ext cx="3923183" cy="576072"/>
            <a:chOff x="0" y="0"/>
            <a:chExt cx="5230911" cy="768096"/>
          </a:xfrm>
        </p:grpSpPr>
        <p:sp>
          <p:nvSpPr>
            <p:cNvPr name="Freeform 49" id="49"/>
            <p:cNvSpPr/>
            <p:nvPr/>
          </p:nvSpPr>
          <p:spPr>
            <a:xfrm flipH="false" flipV="false" rot="0">
              <a:off x="0" y="0"/>
              <a:ext cx="5230911" cy="768096"/>
            </a:xfrm>
            <a:custGeom>
              <a:avLst/>
              <a:gdLst/>
              <a:ahLst/>
              <a:cxnLst/>
              <a:rect r="r" b="b" t="t" l="l"/>
              <a:pathLst>
                <a:path h="768096" w="5230911">
                  <a:moveTo>
                    <a:pt x="0" y="0"/>
                  </a:moveTo>
                  <a:lnTo>
                    <a:pt x="5230911" y="0"/>
                  </a:lnTo>
                  <a:lnTo>
                    <a:pt x="5230911" y="768096"/>
                  </a:lnTo>
                  <a:lnTo>
                    <a:pt x="0" y="768096"/>
                  </a:lnTo>
                  <a:close/>
                </a:path>
              </a:pathLst>
            </a:custGeom>
            <a:blipFill>
              <a:blip r:embed="rId3">
                <a:alphaModFix amt="0"/>
              </a:blip>
              <a:stretch>
                <a:fillRect l="0" t="-68765" r="10498" b="-68765"/>
              </a:stretch>
            </a:blipFill>
          </p:spPr>
        </p:sp>
        <p:sp>
          <p:nvSpPr>
            <p:cNvPr name="TextBox 50" id="50"/>
            <p:cNvSpPr txBox="true"/>
            <p:nvPr/>
          </p:nvSpPr>
          <p:spPr>
            <a:xfrm>
              <a:off x="0" y="0"/>
              <a:ext cx="5230911" cy="768096"/>
            </a:xfrm>
            <a:prstGeom prst="rect">
              <a:avLst/>
            </a:prstGeom>
          </p:spPr>
          <p:txBody>
            <a:bodyPr anchor="ctr" rtlCol="false" tIns="0" lIns="0" bIns="0" rIns="0"/>
            <a:lstStyle/>
            <a:p>
              <a:pPr algn="l">
                <a:lnSpc>
                  <a:spcPts val="3120"/>
                </a:lnSpc>
              </a:pPr>
              <a:r>
                <a:rPr lang="en-US" sz="2600" b="true">
                  <a:solidFill>
                    <a:srgbClr val="F5F8FC"/>
                  </a:solidFill>
                  <a:latin typeface="Aptos Bold"/>
                  <a:ea typeface="Aptos Bold"/>
                  <a:cs typeface="Aptos Bold"/>
                  <a:sym typeface="Aptos Bold"/>
                </a:rPr>
                <a:t>MAX_CHART_POINTS = 20</a:t>
              </a:r>
            </a:p>
          </p:txBody>
        </p:sp>
      </p:grpSp>
      <p:sp>
        <p:nvSpPr>
          <p:cNvPr name="TextBox 51" id="51"/>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26</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76E2A1"/>
            </a:solidFill>
            <a:ln w="19050" cap="sq">
              <a:solidFill>
                <a:srgbClr val="76E2A1"/>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06</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6 • DATA EXPLOITATION</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REST API Retrieval &amp; CSV Export</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Client-side report generation and historical data recovery</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49643" y="3212783"/>
            <a:ext cx="3244215" cy="1392555"/>
            <a:chOff x="0" y="0"/>
            <a:chExt cx="4325620" cy="1856740"/>
          </a:xfrm>
        </p:grpSpPr>
        <p:sp>
          <p:nvSpPr>
            <p:cNvPr name="Freeform 23" id="23"/>
            <p:cNvSpPr/>
            <p:nvPr/>
          </p:nvSpPr>
          <p:spPr>
            <a:xfrm flipH="false" flipV="false" rot="0">
              <a:off x="0" y="0"/>
              <a:ext cx="4325620" cy="1856740"/>
            </a:xfrm>
            <a:custGeom>
              <a:avLst/>
              <a:gdLst/>
              <a:ahLst/>
              <a:cxnLst/>
              <a:rect r="r" b="b" t="t" l="l"/>
              <a:pathLst>
                <a:path h="1856740" w="4325620">
                  <a:moveTo>
                    <a:pt x="0" y="148590"/>
                  </a:moveTo>
                  <a:cubicBezTo>
                    <a:pt x="0" y="66548"/>
                    <a:pt x="66548" y="0"/>
                    <a:pt x="148590" y="0"/>
                  </a:cubicBezTo>
                  <a:lnTo>
                    <a:pt x="4177030" y="0"/>
                  </a:lnTo>
                  <a:cubicBezTo>
                    <a:pt x="4259072" y="0"/>
                    <a:pt x="4325620" y="66548"/>
                    <a:pt x="4325620" y="148590"/>
                  </a:cubicBezTo>
                  <a:lnTo>
                    <a:pt x="4325620" y="1708150"/>
                  </a:lnTo>
                  <a:cubicBezTo>
                    <a:pt x="4325620" y="1790192"/>
                    <a:pt x="4259072" y="1856740"/>
                    <a:pt x="4177030" y="1856740"/>
                  </a:cubicBezTo>
                  <a:lnTo>
                    <a:pt x="148590" y="1856740"/>
                  </a:lnTo>
                  <a:cubicBezTo>
                    <a:pt x="66548" y="1856740"/>
                    <a:pt x="0" y="1790192"/>
                    <a:pt x="0" y="1708150"/>
                  </a:cubicBezTo>
                  <a:close/>
                </a:path>
              </a:pathLst>
            </a:custGeom>
            <a:solidFill>
              <a:srgbClr val="10253B"/>
            </a:solidFill>
            <a:ln w="20955" cap="sq">
              <a:solidFill>
                <a:srgbClr val="68A8FF"/>
              </a:solidFill>
              <a:prstDash val="solid"/>
              <a:miter/>
            </a:ln>
          </p:spPr>
        </p:sp>
      </p:grpSp>
      <p:grpSp>
        <p:nvGrpSpPr>
          <p:cNvPr name="Group 24" id="24"/>
          <p:cNvGrpSpPr/>
          <p:nvPr/>
        </p:nvGrpSpPr>
        <p:grpSpPr>
          <a:xfrm rot="0">
            <a:off x="1124712" y="3415284"/>
            <a:ext cx="2894076" cy="329184"/>
            <a:chOff x="0" y="0"/>
            <a:chExt cx="3858768" cy="438912"/>
          </a:xfrm>
        </p:grpSpPr>
        <p:sp>
          <p:nvSpPr>
            <p:cNvPr name="Freeform 25" id="25"/>
            <p:cNvSpPr/>
            <p:nvPr/>
          </p:nvSpPr>
          <p:spPr>
            <a:xfrm flipH="false" flipV="false" rot="0">
              <a:off x="0" y="0"/>
              <a:ext cx="3858768" cy="438912"/>
            </a:xfrm>
            <a:custGeom>
              <a:avLst/>
              <a:gdLst/>
              <a:ahLst/>
              <a:cxnLst/>
              <a:rect r="r" b="b" t="t" l="l"/>
              <a:pathLst>
                <a:path h="438912" w="3858768">
                  <a:moveTo>
                    <a:pt x="0" y="0"/>
                  </a:moveTo>
                  <a:lnTo>
                    <a:pt x="3858768" y="0"/>
                  </a:lnTo>
                  <a:lnTo>
                    <a:pt x="3858768" y="438912"/>
                  </a:lnTo>
                  <a:lnTo>
                    <a:pt x="0" y="438912"/>
                  </a:lnTo>
                  <a:close/>
                </a:path>
              </a:pathLst>
            </a:custGeom>
            <a:blipFill>
              <a:blip r:embed="rId3">
                <a:alphaModFix amt="0"/>
              </a:blip>
              <a:stretch>
                <a:fillRect l="0" t="-121305" r="0" b="-121305"/>
              </a:stretch>
            </a:blipFill>
          </p:spPr>
        </p:sp>
        <p:sp>
          <p:nvSpPr>
            <p:cNvPr name="TextBox 26" id="26"/>
            <p:cNvSpPr txBox="true"/>
            <p:nvPr/>
          </p:nvSpPr>
          <p:spPr>
            <a:xfrm>
              <a:off x="0" y="0"/>
              <a:ext cx="385876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BUTTON</a:t>
              </a:r>
            </a:p>
          </p:txBody>
        </p:sp>
      </p:grpSp>
      <p:grpSp>
        <p:nvGrpSpPr>
          <p:cNvPr name="Group 27" id="27"/>
          <p:cNvGrpSpPr/>
          <p:nvPr/>
        </p:nvGrpSpPr>
        <p:grpSpPr>
          <a:xfrm rot="0">
            <a:off x="1124712" y="3854196"/>
            <a:ext cx="2894076" cy="630936"/>
            <a:chOff x="0" y="0"/>
            <a:chExt cx="3858768" cy="841248"/>
          </a:xfrm>
        </p:grpSpPr>
        <p:sp>
          <p:nvSpPr>
            <p:cNvPr name="Freeform 28" id="28"/>
            <p:cNvSpPr/>
            <p:nvPr/>
          </p:nvSpPr>
          <p:spPr>
            <a:xfrm flipH="false" flipV="false" rot="0">
              <a:off x="0" y="0"/>
              <a:ext cx="3858768" cy="841248"/>
            </a:xfrm>
            <a:custGeom>
              <a:avLst/>
              <a:gdLst/>
              <a:ahLst/>
              <a:cxnLst/>
              <a:rect r="r" b="b" t="t" l="l"/>
              <a:pathLst>
                <a:path h="841248" w="3858768">
                  <a:moveTo>
                    <a:pt x="0" y="0"/>
                  </a:moveTo>
                  <a:lnTo>
                    <a:pt x="3858768" y="0"/>
                  </a:lnTo>
                  <a:lnTo>
                    <a:pt x="3858768" y="841248"/>
                  </a:lnTo>
                  <a:lnTo>
                    <a:pt x="0" y="841248"/>
                  </a:lnTo>
                  <a:close/>
                </a:path>
              </a:pathLst>
            </a:custGeom>
            <a:blipFill>
              <a:blip r:embed="rId3">
                <a:alphaModFix amt="0"/>
              </a:blip>
              <a:stretch>
                <a:fillRect l="0" t="-39377" r="0" b="-39377"/>
              </a:stretch>
            </a:blipFill>
          </p:spPr>
        </p:sp>
        <p:sp>
          <p:nvSpPr>
            <p:cNvPr name="TextBox 29" id="29"/>
            <p:cNvSpPr txBox="true"/>
            <p:nvPr/>
          </p:nvSpPr>
          <p:spPr>
            <a:xfrm>
              <a:off x="0" y="-9525"/>
              <a:ext cx="3858768" cy="850773"/>
            </a:xfrm>
            <a:prstGeom prst="rect">
              <a:avLst/>
            </a:prstGeom>
          </p:spPr>
          <p:txBody>
            <a:bodyPr anchor="ctr" rtlCol="false" tIns="0" lIns="0" bIns="0" rIns="0"/>
            <a:lstStyle/>
            <a:p>
              <a:pPr algn="ctr">
                <a:lnSpc>
                  <a:spcPts val="1649"/>
                </a:lnSpc>
              </a:pPr>
              <a:r>
                <a:rPr lang="en-US" sz="1374">
                  <a:solidFill>
                    <a:srgbClr val="9BAFC2"/>
                  </a:solidFill>
                  <a:latin typeface="Aptos"/>
                  <a:ea typeface="Aptos"/>
                  <a:cs typeface="Aptos"/>
                  <a:sym typeface="Aptos"/>
                </a:rPr>
                <a:t>Load History API</a:t>
              </a:r>
            </a:p>
          </p:txBody>
        </p:sp>
      </p:grpSp>
      <p:sp>
        <p:nvSpPr>
          <p:cNvPr name="AutoShape 30" id="30"/>
          <p:cNvSpPr/>
          <p:nvPr/>
        </p:nvSpPr>
        <p:spPr>
          <a:xfrm>
            <a:off x="4371978" y="3943356"/>
            <a:ext cx="1062990" cy="0"/>
          </a:xfrm>
          <a:prstGeom prst="line">
            <a:avLst/>
          </a:prstGeom>
          <a:ln cap="rnd" w="38100">
            <a:solidFill>
              <a:srgbClr val="1D3850"/>
            </a:solidFill>
            <a:prstDash val="solid"/>
            <a:headEnd type="none" len="sm" w="sm"/>
            <a:tailEnd type="triangle" len="med" w="lg"/>
          </a:ln>
        </p:spPr>
      </p:sp>
      <p:grpSp>
        <p:nvGrpSpPr>
          <p:cNvPr name="Group 31" id="31"/>
          <p:cNvGrpSpPr/>
          <p:nvPr/>
        </p:nvGrpSpPr>
        <p:grpSpPr>
          <a:xfrm rot="0">
            <a:off x="5544503" y="3212783"/>
            <a:ext cx="3244215" cy="1392555"/>
            <a:chOff x="0" y="0"/>
            <a:chExt cx="4325620" cy="1856740"/>
          </a:xfrm>
        </p:grpSpPr>
        <p:sp>
          <p:nvSpPr>
            <p:cNvPr name="Freeform 32" id="32"/>
            <p:cNvSpPr/>
            <p:nvPr/>
          </p:nvSpPr>
          <p:spPr>
            <a:xfrm flipH="false" flipV="false" rot="0">
              <a:off x="0" y="0"/>
              <a:ext cx="4325620" cy="1856740"/>
            </a:xfrm>
            <a:custGeom>
              <a:avLst/>
              <a:gdLst/>
              <a:ahLst/>
              <a:cxnLst/>
              <a:rect r="r" b="b" t="t" l="l"/>
              <a:pathLst>
                <a:path h="1856740" w="4325620">
                  <a:moveTo>
                    <a:pt x="0" y="148590"/>
                  </a:moveTo>
                  <a:cubicBezTo>
                    <a:pt x="0" y="66548"/>
                    <a:pt x="66548" y="0"/>
                    <a:pt x="148590" y="0"/>
                  </a:cubicBezTo>
                  <a:lnTo>
                    <a:pt x="4177030" y="0"/>
                  </a:lnTo>
                  <a:cubicBezTo>
                    <a:pt x="4259072" y="0"/>
                    <a:pt x="4325620" y="66548"/>
                    <a:pt x="4325620" y="148590"/>
                  </a:cubicBezTo>
                  <a:lnTo>
                    <a:pt x="4325620" y="1708150"/>
                  </a:lnTo>
                  <a:cubicBezTo>
                    <a:pt x="4325620" y="1790192"/>
                    <a:pt x="4259072" y="1856740"/>
                    <a:pt x="4177030" y="1856740"/>
                  </a:cubicBezTo>
                  <a:lnTo>
                    <a:pt x="148590" y="1856740"/>
                  </a:lnTo>
                  <a:cubicBezTo>
                    <a:pt x="66548" y="1856740"/>
                    <a:pt x="0" y="1790192"/>
                    <a:pt x="0" y="1708150"/>
                  </a:cubicBezTo>
                  <a:close/>
                </a:path>
              </a:pathLst>
            </a:custGeom>
            <a:solidFill>
              <a:srgbClr val="10253B"/>
            </a:solidFill>
            <a:ln w="20955" cap="sq">
              <a:solidFill>
                <a:srgbClr val="46D6F5"/>
              </a:solidFill>
              <a:prstDash val="solid"/>
              <a:miter/>
            </a:ln>
          </p:spPr>
        </p:sp>
      </p:grpSp>
      <p:grpSp>
        <p:nvGrpSpPr>
          <p:cNvPr name="Group 33" id="33"/>
          <p:cNvGrpSpPr/>
          <p:nvPr/>
        </p:nvGrpSpPr>
        <p:grpSpPr>
          <a:xfrm rot="0">
            <a:off x="5719572" y="3415284"/>
            <a:ext cx="2894076" cy="329184"/>
            <a:chOff x="0" y="0"/>
            <a:chExt cx="3858768" cy="438912"/>
          </a:xfrm>
        </p:grpSpPr>
        <p:sp>
          <p:nvSpPr>
            <p:cNvPr name="Freeform 34" id="34"/>
            <p:cNvSpPr/>
            <p:nvPr/>
          </p:nvSpPr>
          <p:spPr>
            <a:xfrm flipH="false" flipV="false" rot="0">
              <a:off x="0" y="0"/>
              <a:ext cx="3858768" cy="438912"/>
            </a:xfrm>
            <a:custGeom>
              <a:avLst/>
              <a:gdLst/>
              <a:ahLst/>
              <a:cxnLst/>
              <a:rect r="r" b="b" t="t" l="l"/>
              <a:pathLst>
                <a:path h="438912" w="3858768">
                  <a:moveTo>
                    <a:pt x="0" y="0"/>
                  </a:moveTo>
                  <a:lnTo>
                    <a:pt x="3858768" y="0"/>
                  </a:lnTo>
                  <a:lnTo>
                    <a:pt x="3858768" y="438912"/>
                  </a:lnTo>
                  <a:lnTo>
                    <a:pt x="0" y="438912"/>
                  </a:lnTo>
                  <a:close/>
                </a:path>
              </a:pathLst>
            </a:custGeom>
            <a:blipFill>
              <a:blip r:embed="rId3">
                <a:alphaModFix amt="0"/>
              </a:blip>
              <a:stretch>
                <a:fillRect l="0" t="-121305" r="0" b="-121305"/>
              </a:stretch>
            </a:blipFill>
          </p:spPr>
        </p:sp>
        <p:sp>
          <p:nvSpPr>
            <p:cNvPr name="TextBox 35" id="35"/>
            <p:cNvSpPr txBox="true"/>
            <p:nvPr/>
          </p:nvSpPr>
          <p:spPr>
            <a:xfrm>
              <a:off x="0" y="0"/>
              <a:ext cx="385876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GET /api/history</a:t>
              </a:r>
            </a:p>
          </p:txBody>
        </p:sp>
      </p:grpSp>
      <p:grpSp>
        <p:nvGrpSpPr>
          <p:cNvPr name="Group 36" id="36"/>
          <p:cNvGrpSpPr/>
          <p:nvPr/>
        </p:nvGrpSpPr>
        <p:grpSpPr>
          <a:xfrm rot="0">
            <a:off x="5719572" y="3854196"/>
            <a:ext cx="2894076" cy="630936"/>
            <a:chOff x="0" y="0"/>
            <a:chExt cx="3858768" cy="841248"/>
          </a:xfrm>
        </p:grpSpPr>
        <p:sp>
          <p:nvSpPr>
            <p:cNvPr name="Freeform 37" id="37"/>
            <p:cNvSpPr/>
            <p:nvPr/>
          </p:nvSpPr>
          <p:spPr>
            <a:xfrm flipH="false" flipV="false" rot="0">
              <a:off x="0" y="0"/>
              <a:ext cx="3858768" cy="841248"/>
            </a:xfrm>
            <a:custGeom>
              <a:avLst/>
              <a:gdLst/>
              <a:ahLst/>
              <a:cxnLst/>
              <a:rect r="r" b="b" t="t" l="l"/>
              <a:pathLst>
                <a:path h="841248" w="3858768">
                  <a:moveTo>
                    <a:pt x="0" y="0"/>
                  </a:moveTo>
                  <a:lnTo>
                    <a:pt x="3858768" y="0"/>
                  </a:lnTo>
                  <a:lnTo>
                    <a:pt x="3858768" y="841248"/>
                  </a:lnTo>
                  <a:lnTo>
                    <a:pt x="0" y="841248"/>
                  </a:lnTo>
                  <a:close/>
                </a:path>
              </a:pathLst>
            </a:custGeom>
            <a:blipFill>
              <a:blip r:embed="rId3">
                <a:alphaModFix amt="0"/>
              </a:blip>
              <a:stretch>
                <a:fillRect l="0" t="-39377" r="0" b="-39377"/>
              </a:stretch>
            </a:blipFill>
          </p:spPr>
        </p:sp>
        <p:sp>
          <p:nvSpPr>
            <p:cNvPr name="TextBox 38" id="38"/>
            <p:cNvSpPr txBox="true"/>
            <p:nvPr/>
          </p:nvSpPr>
          <p:spPr>
            <a:xfrm>
              <a:off x="0" y="-9525"/>
              <a:ext cx="3858768" cy="850773"/>
            </a:xfrm>
            <a:prstGeom prst="rect">
              <a:avLst/>
            </a:prstGeom>
          </p:spPr>
          <p:txBody>
            <a:bodyPr anchor="ctr" rtlCol="false" tIns="0" lIns="0" bIns="0" rIns="0"/>
            <a:lstStyle/>
            <a:p>
              <a:pPr algn="ctr">
                <a:lnSpc>
                  <a:spcPts val="1649"/>
                </a:lnSpc>
              </a:pPr>
              <a:r>
                <a:rPr lang="en-US" sz="1374">
                  <a:solidFill>
                    <a:srgbClr val="9BAFC2"/>
                  </a:solidFill>
                  <a:latin typeface="Aptos"/>
                  <a:ea typeface="Aptos"/>
                  <a:cs typeface="Aptos"/>
                  <a:sym typeface="Aptos"/>
                </a:rPr>
                <a:t>Fetch 50 recent records from SQLite</a:t>
              </a:r>
            </a:p>
          </p:txBody>
        </p:sp>
      </p:grpSp>
      <p:sp>
        <p:nvSpPr>
          <p:cNvPr name="AutoShape 39" id="39"/>
          <p:cNvSpPr/>
          <p:nvPr/>
        </p:nvSpPr>
        <p:spPr>
          <a:xfrm>
            <a:off x="8948816" y="3926208"/>
            <a:ext cx="1190744" cy="0"/>
          </a:xfrm>
          <a:prstGeom prst="line">
            <a:avLst/>
          </a:prstGeom>
          <a:ln cap="rnd" w="38100">
            <a:solidFill>
              <a:srgbClr val="1D3850"/>
            </a:solidFill>
            <a:prstDash val="solid"/>
            <a:headEnd type="none" len="sm" w="sm"/>
            <a:tailEnd type="triangle" len="med" w="lg"/>
          </a:ln>
        </p:spPr>
      </p:sp>
      <p:grpSp>
        <p:nvGrpSpPr>
          <p:cNvPr name="Group 40" id="40"/>
          <p:cNvGrpSpPr/>
          <p:nvPr/>
        </p:nvGrpSpPr>
        <p:grpSpPr>
          <a:xfrm rot="0">
            <a:off x="10180510" y="3212783"/>
            <a:ext cx="3244215" cy="1392555"/>
            <a:chOff x="0" y="0"/>
            <a:chExt cx="4325620" cy="1856740"/>
          </a:xfrm>
        </p:grpSpPr>
        <p:sp>
          <p:nvSpPr>
            <p:cNvPr name="Freeform 41" id="41"/>
            <p:cNvSpPr/>
            <p:nvPr/>
          </p:nvSpPr>
          <p:spPr>
            <a:xfrm flipH="false" flipV="false" rot="0">
              <a:off x="0" y="0"/>
              <a:ext cx="4325620" cy="1856740"/>
            </a:xfrm>
            <a:custGeom>
              <a:avLst/>
              <a:gdLst/>
              <a:ahLst/>
              <a:cxnLst/>
              <a:rect r="r" b="b" t="t" l="l"/>
              <a:pathLst>
                <a:path h="1856740" w="4325620">
                  <a:moveTo>
                    <a:pt x="0" y="148590"/>
                  </a:moveTo>
                  <a:cubicBezTo>
                    <a:pt x="0" y="66548"/>
                    <a:pt x="66548" y="0"/>
                    <a:pt x="148590" y="0"/>
                  </a:cubicBezTo>
                  <a:lnTo>
                    <a:pt x="4177030" y="0"/>
                  </a:lnTo>
                  <a:cubicBezTo>
                    <a:pt x="4259072" y="0"/>
                    <a:pt x="4325620" y="66548"/>
                    <a:pt x="4325620" y="148590"/>
                  </a:cubicBezTo>
                  <a:lnTo>
                    <a:pt x="4325620" y="1708150"/>
                  </a:lnTo>
                  <a:cubicBezTo>
                    <a:pt x="4325620" y="1790192"/>
                    <a:pt x="4259072" y="1856740"/>
                    <a:pt x="4177030" y="1856740"/>
                  </a:cubicBezTo>
                  <a:lnTo>
                    <a:pt x="148590" y="1856740"/>
                  </a:lnTo>
                  <a:cubicBezTo>
                    <a:pt x="66548" y="1856740"/>
                    <a:pt x="0" y="1790192"/>
                    <a:pt x="0" y="1708150"/>
                  </a:cubicBezTo>
                  <a:close/>
                </a:path>
              </a:pathLst>
            </a:custGeom>
            <a:solidFill>
              <a:srgbClr val="10253B"/>
            </a:solidFill>
            <a:ln w="20955" cap="sq">
              <a:solidFill>
                <a:srgbClr val="76E2A1"/>
              </a:solidFill>
              <a:prstDash val="solid"/>
              <a:miter/>
            </a:ln>
          </p:spPr>
        </p:sp>
      </p:grpSp>
      <p:grpSp>
        <p:nvGrpSpPr>
          <p:cNvPr name="Group 42" id="42"/>
          <p:cNvGrpSpPr/>
          <p:nvPr/>
        </p:nvGrpSpPr>
        <p:grpSpPr>
          <a:xfrm rot="0">
            <a:off x="10355580" y="3415284"/>
            <a:ext cx="2894076" cy="329184"/>
            <a:chOff x="0" y="0"/>
            <a:chExt cx="3858768" cy="438912"/>
          </a:xfrm>
        </p:grpSpPr>
        <p:sp>
          <p:nvSpPr>
            <p:cNvPr name="Freeform 43" id="43"/>
            <p:cNvSpPr/>
            <p:nvPr/>
          </p:nvSpPr>
          <p:spPr>
            <a:xfrm flipH="false" flipV="false" rot="0">
              <a:off x="0" y="0"/>
              <a:ext cx="3858768" cy="438912"/>
            </a:xfrm>
            <a:custGeom>
              <a:avLst/>
              <a:gdLst/>
              <a:ahLst/>
              <a:cxnLst/>
              <a:rect r="r" b="b" t="t" l="l"/>
              <a:pathLst>
                <a:path h="438912" w="3858768">
                  <a:moveTo>
                    <a:pt x="0" y="0"/>
                  </a:moveTo>
                  <a:lnTo>
                    <a:pt x="3858768" y="0"/>
                  </a:lnTo>
                  <a:lnTo>
                    <a:pt x="3858768" y="438912"/>
                  </a:lnTo>
                  <a:lnTo>
                    <a:pt x="0" y="438912"/>
                  </a:lnTo>
                  <a:close/>
                </a:path>
              </a:pathLst>
            </a:custGeom>
            <a:blipFill>
              <a:blip r:embed="rId3">
                <a:alphaModFix amt="0"/>
              </a:blip>
              <a:stretch>
                <a:fillRect l="0" t="-121305" r="0" b="-121305"/>
              </a:stretch>
            </a:blipFill>
          </p:spPr>
        </p:sp>
        <p:sp>
          <p:nvSpPr>
            <p:cNvPr name="TextBox 44" id="44"/>
            <p:cNvSpPr txBox="true"/>
            <p:nvPr/>
          </p:nvSpPr>
          <p:spPr>
            <a:xfrm>
              <a:off x="0" y="0"/>
              <a:ext cx="385876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CHART</a:t>
              </a:r>
            </a:p>
          </p:txBody>
        </p:sp>
      </p:grpSp>
      <p:grpSp>
        <p:nvGrpSpPr>
          <p:cNvPr name="Group 45" id="45"/>
          <p:cNvGrpSpPr/>
          <p:nvPr/>
        </p:nvGrpSpPr>
        <p:grpSpPr>
          <a:xfrm rot="0">
            <a:off x="10355580" y="3854196"/>
            <a:ext cx="2894076" cy="630936"/>
            <a:chOff x="0" y="0"/>
            <a:chExt cx="3858768" cy="841248"/>
          </a:xfrm>
        </p:grpSpPr>
        <p:sp>
          <p:nvSpPr>
            <p:cNvPr name="Freeform 46" id="46"/>
            <p:cNvSpPr/>
            <p:nvPr/>
          </p:nvSpPr>
          <p:spPr>
            <a:xfrm flipH="false" flipV="false" rot="0">
              <a:off x="0" y="0"/>
              <a:ext cx="3858768" cy="841248"/>
            </a:xfrm>
            <a:custGeom>
              <a:avLst/>
              <a:gdLst/>
              <a:ahLst/>
              <a:cxnLst/>
              <a:rect r="r" b="b" t="t" l="l"/>
              <a:pathLst>
                <a:path h="841248" w="3858768">
                  <a:moveTo>
                    <a:pt x="0" y="0"/>
                  </a:moveTo>
                  <a:lnTo>
                    <a:pt x="3858768" y="0"/>
                  </a:lnTo>
                  <a:lnTo>
                    <a:pt x="3858768" y="841248"/>
                  </a:lnTo>
                  <a:lnTo>
                    <a:pt x="0" y="841248"/>
                  </a:lnTo>
                  <a:close/>
                </a:path>
              </a:pathLst>
            </a:custGeom>
            <a:blipFill>
              <a:blip r:embed="rId3">
                <a:alphaModFix amt="0"/>
              </a:blip>
              <a:stretch>
                <a:fillRect l="0" t="-39377" r="0" b="-39377"/>
              </a:stretch>
            </a:blipFill>
          </p:spPr>
        </p:sp>
        <p:sp>
          <p:nvSpPr>
            <p:cNvPr name="TextBox 47" id="47"/>
            <p:cNvSpPr txBox="true"/>
            <p:nvPr/>
          </p:nvSpPr>
          <p:spPr>
            <a:xfrm>
              <a:off x="0" y="-9525"/>
              <a:ext cx="3858768" cy="850773"/>
            </a:xfrm>
            <a:prstGeom prst="rect">
              <a:avLst/>
            </a:prstGeom>
          </p:spPr>
          <p:txBody>
            <a:bodyPr anchor="ctr" rtlCol="false" tIns="0" lIns="0" bIns="0" rIns="0"/>
            <a:lstStyle/>
            <a:p>
              <a:pPr algn="ctr">
                <a:lnSpc>
                  <a:spcPts val="1649"/>
                </a:lnSpc>
              </a:pPr>
              <a:r>
                <a:rPr lang="en-US" sz="1374">
                  <a:solidFill>
                    <a:srgbClr val="9BAFC2"/>
                  </a:solidFill>
                  <a:latin typeface="Aptos"/>
                  <a:ea typeface="Aptos"/>
                  <a:cs typeface="Aptos"/>
                  <a:sym typeface="Aptos"/>
                </a:rPr>
                <a:t>Backfill &amp; redraw canvas</a:t>
              </a:r>
            </a:p>
          </p:txBody>
        </p:sp>
      </p:grpSp>
      <p:grpSp>
        <p:nvGrpSpPr>
          <p:cNvPr name="Group 48" id="48"/>
          <p:cNvGrpSpPr/>
          <p:nvPr/>
        </p:nvGrpSpPr>
        <p:grpSpPr>
          <a:xfrm rot="0">
            <a:off x="949643" y="5681662"/>
            <a:ext cx="3244215" cy="1392555"/>
            <a:chOff x="0" y="0"/>
            <a:chExt cx="4325620" cy="1856740"/>
          </a:xfrm>
        </p:grpSpPr>
        <p:sp>
          <p:nvSpPr>
            <p:cNvPr name="Freeform 49" id="49"/>
            <p:cNvSpPr/>
            <p:nvPr/>
          </p:nvSpPr>
          <p:spPr>
            <a:xfrm flipH="false" flipV="false" rot="0">
              <a:off x="0" y="0"/>
              <a:ext cx="4325620" cy="1856740"/>
            </a:xfrm>
            <a:custGeom>
              <a:avLst/>
              <a:gdLst/>
              <a:ahLst/>
              <a:cxnLst/>
              <a:rect r="r" b="b" t="t" l="l"/>
              <a:pathLst>
                <a:path h="1856740" w="4325620">
                  <a:moveTo>
                    <a:pt x="0" y="148590"/>
                  </a:moveTo>
                  <a:cubicBezTo>
                    <a:pt x="0" y="66548"/>
                    <a:pt x="66548" y="0"/>
                    <a:pt x="148590" y="0"/>
                  </a:cubicBezTo>
                  <a:lnTo>
                    <a:pt x="4177030" y="0"/>
                  </a:lnTo>
                  <a:cubicBezTo>
                    <a:pt x="4259072" y="0"/>
                    <a:pt x="4325620" y="66548"/>
                    <a:pt x="4325620" y="148590"/>
                  </a:cubicBezTo>
                  <a:lnTo>
                    <a:pt x="4325620" y="1708150"/>
                  </a:lnTo>
                  <a:cubicBezTo>
                    <a:pt x="4325620" y="1790192"/>
                    <a:pt x="4259072" y="1856740"/>
                    <a:pt x="4177030" y="1856740"/>
                  </a:cubicBezTo>
                  <a:lnTo>
                    <a:pt x="148590" y="1856740"/>
                  </a:lnTo>
                  <a:cubicBezTo>
                    <a:pt x="66548" y="1856740"/>
                    <a:pt x="0" y="1790192"/>
                    <a:pt x="0" y="1708150"/>
                  </a:cubicBezTo>
                  <a:close/>
                </a:path>
              </a:pathLst>
            </a:custGeom>
            <a:solidFill>
              <a:srgbClr val="10253B"/>
            </a:solidFill>
            <a:ln w="20955" cap="sq">
              <a:solidFill>
                <a:srgbClr val="F6C85F"/>
              </a:solidFill>
              <a:prstDash val="solid"/>
              <a:miter/>
            </a:ln>
          </p:spPr>
        </p:sp>
      </p:grpSp>
      <p:grpSp>
        <p:nvGrpSpPr>
          <p:cNvPr name="Group 50" id="50"/>
          <p:cNvGrpSpPr/>
          <p:nvPr/>
        </p:nvGrpSpPr>
        <p:grpSpPr>
          <a:xfrm rot="0">
            <a:off x="1124712" y="5884164"/>
            <a:ext cx="2894076" cy="329184"/>
            <a:chOff x="0" y="0"/>
            <a:chExt cx="3858768" cy="438912"/>
          </a:xfrm>
        </p:grpSpPr>
        <p:sp>
          <p:nvSpPr>
            <p:cNvPr name="Freeform 51" id="51"/>
            <p:cNvSpPr/>
            <p:nvPr/>
          </p:nvSpPr>
          <p:spPr>
            <a:xfrm flipH="false" flipV="false" rot="0">
              <a:off x="0" y="0"/>
              <a:ext cx="3858768" cy="438912"/>
            </a:xfrm>
            <a:custGeom>
              <a:avLst/>
              <a:gdLst/>
              <a:ahLst/>
              <a:cxnLst/>
              <a:rect r="r" b="b" t="t" l="l"/>
              <a:pathLst>
                <a:path h="438912" w="3858768">
                  <a:moveTo>
                    <a:pt x="0" y="0"/>
                  </a:moveTo>
                  <a:lnTo>
                    <a:pt x="3858768" y="0"/>
                  </a:lnTo>
                  <a:lnTo>
                    <a:pt x="3858768" y="438912"/>
                  </a:lnTo>
                  <a:lnTo>
                    <a:pt x="0" y="438912"/>
                  </a:lnTo>
                  <a:close/>
                </a:path>
              </a:pathLst>
            </a:custGeom>
            <a:blipFill>
              <a:blip r:embed="rId3">
                <a:alphaModFix amt="0"/>
              </a:blip>
              <a:stretch>
                <a:fillRect l="0" t="-121305" r="0" b="-121305"/>
              </a:stretch>
            </a:blipFill>
          </p:spPr>
        </p:sp>
        <p:sp>
          <p:nvSpPr>
            <p:cNvPr name="TextBox 52" id="52"/>
            <p:cNvSpPr txBox="true"/>
            <p:nvPr/>
          </p:nvSpPr>
          <p:spPr>
            <a:xfrm>
              <a:off x="0" y="0"/>
              <a:ext cx="385876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DATA ARRAY</a:t>
              </a:r>
            </a:p>
          </p:txBody>
        </p:sp>
      </p:grpSp>
      <p:grpSp>
        <p:nvGrpSpPr>
          <p:cNvPr name="Group 53" id="53"/>
          <p:cNvGrpSpPr/>
          <p:nvPr/>
        </p:nvGrpSpPr>
        <p:grpSpPr>
          <a:xfrm rot="0">
            <a:off x="1124712" y="6323076"/>
            <a:ext cx="2894076" cy="630936"/>
            <a:chOff x="0" y="0"/>
            <a:chExt cx="3858768" cy="841248"/>
          </a:xfrm>
        </p:grpSpPr>
        <p:sp>
          <p:nvSpPr>
            <p:cNvPr name="Freeform 54" id="54"/>
            <p:cNvSpPr/>
            <p:nvPr/>
          </p:nvSpPr>
          <p:spPr>
            <a:xfrm flipH="false" flipV="false" rot="0">
              <a:off x="0" y="0"/>
              <a:ext cx="3858768" cy="841248"/>
            </a:xfrm>
            <a:custGeom>
              <a:avLst/>
              <a:gdLst/>
              <a:ahLst/>
              <a:cxnLst/>
              <a:rect r="r" b="b" t="t" l="l"/>
              <a:pathLst>
                <a:path h="841248" w="3858768">
                  <a:moveTo>
                    <a:pt x="0" y="0"/>
                  </a:moveTo>
                  <a:lnTo>
                    <a:pt x="3858768" y="0"/>
                  </a:lnTo>
                  <a:lnTo>
                    <a:pt x="3858768" y="841248"/>
                  </a:lnTo>
                  <a:lnTo>
                    <a:pt x="0" y="841248"/>
                  </a:lnTo>
                  <a:close/>
                </a:path>
              </a:pathLst>
            </a:custGeom>
            <a:blipFill>
              <a:blip r:embed="rId3">
                <a:alphaModFix amt="0"/>
              </a:blip>
              <a:stretch>
                <a:fillRect l="0" t="-39377" r="0" b="-39377"/>
              </a:stretch>
            </a:blipFill>
          </p:spPr>
        </p:sp>
        <p:sp>
          <p:nvSpPr>
            <p:cNvPr name="TextBox 55" id="55"/>
            <p:cNvSpPr txBox="true"/>
            <p:nvPr/>
          </p:nvSpPr>
          <p:spPr>
            <a:xfrm>
              <a:off x="0" y="-9525"/>
              <a:ext cx="3858768" cy="850773"/>
            </a:xfrm>
            <a:prstGeom prst="rect">
              <a:avLst/>
            </a:prstGeom>
          </p:spPr>
          <p:txBody>
            <a:bodyPr anchor="ctr" rtlCol="false" tIns="0" lIns="0" bIns="0" rIns="0"/>
            <a:lstStyle/>
            <a:p>
              <a:pPr algn="ctr">
                <a:lnSpc>
                  <a:spcPts val="1649"/>
                </a:lnSpc>
              </a:pPr>
              <a:r>
                <a:rPr lang="en-US" sz="1374">
                  <a:solidFill>
                    <a:srgbClr val="9BAFC2"/>
                  </a:solidFill>
                  <a:latin typeface="Aptos"/>
                  <a:ea typeface="Aptos"/>
                  <a:cs typeface="Aptos"/>
                  <a:sym typeface="Aptos"/>
                </a:rPr>
                <a:t>Extract current labels, temps, hums</a:t>
              </a:r>
            </a:p>
          </p:txBody>
        </p:sp>
      </p:grpSp>
      <p:sp>
        <p:nvSpPr>
          <p:cNvPr name="AutoShape 56" id="56"/>
          <p:cNvSpPr/>
          <p:nvPr/>
        </p:nvSpPr>
        <p:spPr>
          <a:xfrm>
            <a:off x="4371978" y="6395088"/>
            <a:ext cx="1131574" cy="0"/>
          </a:xfrm>
          <a:prstGeom prst="line">
            <a:avLst/>
          </a:prstGeom>
          <a:ln cap="rnd" w="38100">
            <a:solidFill>
              <a:srgbClr val="1D3850"/>
            </a:solidFill>
            <a:prstDash val="solid"/>
            <a:headEnd type="none" len="sm" w="sm"/>
            <a:tailEnd type="triangle" len="med" w="lg"/>
          </a:ln>
        </p:spPr>
      </p:sp>
      <p:grpSp>
        <p:nvGrpSpPr>
          <p:cNvPr name="Group 57" id="57"/>
          <p:cNvGrpSpPr/>
          <p:nvPr/>
        </p:nvGrpSpPr>
        <p:grpSpPr>
          <a:xfrm rot="0">
            <a:off x="5544503" y="5681662"/>
            <a:ext cx="3244215" cy="1392555"/>
            <a:chOff x="0" y="0"/>
            <a:chExt cx="4325620" cy="1856740"/>
          </a:xfrm>
        </p:grpSpPr>
        <p:sp>
          <p:nvSpPr>
            <p:cNvPr name="Freeform 58" id="58"/>
            <p:cNvSpPr/>
            <p:nvPr/>
          </p:nvSpPr>
          <p:spPr>
            <a:xfrm flipH="false" flipV="false" rot="0">
              <a:off x="0" y="0"/>
              <a:ext cx="4325620" cy="1856740"/>
            </a:xfrm>
            <a:custGeom>
              <a:avLst/>
              <a:gdLst/>
              <a:ahLst/>
              <a:cxnLst/>
              <a:rect r="r" b="b" t="t" l="l"/>
              <a:pathLst>
                <a:path h="1856740" w="4325620">
                  <a:moveTo>
                    <a:pt x="0" y="148590"/>
                  </a:moveTo>
                  <a:cubicBezTo>
                    <a:pt x="0" y="66548"/>
                    <a:pt x="66548" y="0"/>
                    <a:pt x="148590" y="0"/>
                  </a:cubicBezTo>
                  <a:lnTo>
                    <a:pt x="4177030" y="0"/>
                  </a:lnTo>
                  <a:cubicBezTo>
                    <a:pt x="4259072" y="0"/>
                    <a:pt x="4325620" y="66548"/>
                    <a:pt x="4325620" y="148590"/>
                  </a:cubicBezTo>
                  <a:lnTo>
                    <a:pt x="4325620" y="1708150"/>
                  </a:lnTo>
                  <a:cubicBezTo>
                    <a:pt x="4325620" y="1790192"/>
                    <a:pt x="4259072" y="1856740"/>
                    <a:pt x="4177030" y="1856740"/>
                  </a:cubicBezTo>
                  <a:lnTo>
                    <a:pt x="148590" y="1856740"/>
                  </a:lnTo>
                  <a:cubicBezTo>
                    <a:pt x="66548" y="1856740"/>
                    <a:pt x="0" y="1790192"/>
                    <a:pt x="0" y="1708150"/>
                  </a:cubicBezTo>
                  <a:close/>
                </a:path>
              </a:pathLst>
            </a:custGeom>
            <a:solidFill>
              <a:srgbClr val="10253B"/>
            </a:solidFill>
            <a:ln w="20955" cap="sq">
              <a:solidFill>
                <a:srgbClr val="46D6F5"/>
              </a:solidFill>
              <a:prstDash val="solid"/>
              <a:miter/>
            </a:ln>
          </p:spPr>
        </p:sp>
      </p:grpSp>
      <p:grpSp>
        <p:nvGrpSpPr>
          <p:cNvPr name="Group 59" id="59"/>
          <p:cNvGrpSpPr/>
          <p:nvPr/>
        </p:nvGrpSpPr>
        <p:grpSpPr>
          <a:xfrm rot="0">
            <a:off x="5719572" y="5884164"/>
            <a:ext cx="2894076" cy="329184"/>
            <a:chOff x="0" y="0"/>
            <a:chExt cx="3858768" cy="438912"/>
          </a:xfrm>
        </p:grpSpPr>
        <p:sp>
          <p:nvSpPr>
            <p:cNvPr name="Freeform 60" id="60"/>
            <p:cNvSpPr/>
            <p:nvPr/>
          </p:nvSpPr>
          <p:spPr>
            <a:xfrm flipH="false" flipV="false" rot="0">
              <a:off x="0" y="0"/>
              <a:ext cx="3858768" cy="438912"/>
            </a:xfrm>
            <a:custGeom>
              <a:avLst/>
              <a:gdLst/>
              <a:ahLst/>
              <a:cxnLst/>
              <a:rect r="r" b="b" t="t" l="l"/>
              <a:pathLst>
                <a:path h="438912" w="3858768">
                  <a:moveTo>
                    <a:pt x="0" y="0"/>
                  </a:moveTo>
                  <a:lnTo>
                    <a:pt x="3858768" y="0"/>
                  </a:lnTo>
                  <a:lnTo>
                    <a:pt x="3858768" y="438912"/>
                  </a:lnTo>
                  <a:lnTo>
                    <a:pt x="0" y="438912"/>
                  </a:lnTo>
                  <a:close/>
                </a:path>
              </a:pathLst>
            </a:custGeom>
            <a:blipFill>
              <a:blip r:embed="rId3">
                <a:alphaModFix amt="0"/>
              </a:blip>
              <a:stretch>
                <a:fillRect l="0" t="-121305" r="0" b="-121305"/>
              </a:stretch>
            </a:blipFill>
          </p:spPr>
        </p:sp>
        <p:sp>
          <p:nvSpPr>
            <p:cNvPr name="TextBox 61" id="61"/>
            <p:cNvSpPr txBox="true"/>
            <p:nvPr/>
          </p:nvSpPr>
          <p:spPr>
            <a:xfrm>
              <a:off x="0" y="0"/>
              <a:ext cx="385876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exportCSV()</a:t>
              </a:r>
            </a:p>
          </p:txBody>
        </p:sp>
      </p:grpSp>
      <p:grpSp>
        <p:nvGrpSpPr>
          <p:cNvPr name="Group 62" id="62"/>
          <p:cNvGrpSpPr/>
          <p:nvPr/>
        </p:nvGrpSpPr>
        <p:grpSpPr>
          <a:xfrm rot="0">
            <a:off x="5719572" y="6323076"/>
            <a:ext cx="2894076" cy="630936"/>
            <a:chOff x="0" y="0"/>
            <a:chExt cx="3858768" cy="841248"/>
          </a:xfrm>
        </p:grpSpPr>
        <p:sp>
          <p:nvSpPr>
            <p:cNvPr name="Freeform 63" id="63"/>
            <p:cNvSpPr/>
            <p:nvPr/>
          </p:nvSpPr>
          <p:spPr>
            <a:xfrm flipH="false" flipV="false" rot="0">
              <a:off x="0" y="0"/>
              <a:ext cx="3858768" cy="841248"/>
            </a:xfrm>
            <a:custGeom>
              <a:avLst/>
              <a:gdLst/>
              <a:ahLst/>
              <a:cxnLst/>
              <a:rect r="r" b="b" t="t" l="l"/>
              <a:pathLst>
                <a:path h="841248" w="3858768">
                  <a:moveTo>
                    <a:pt x="0" y="0"/>
                  </a:moveTo>
                  <a:lnTo>
                    <a:pt x="3858768" y="0"/>
                  </a:lnTo>
                  <a:lnTo>
                    <a:pt x="3858768" y="841248"/>
                  </a:lnTo>
                  <a:lnTo>
                    <a:pt x="0" y="841248"/>
                  </a:lnTo>
                  <a:close/>
                </a:path>
              </a:pathLst>
            </a:custGeom>
            <a:blipFill>
              <a:blip r:embed="rId3">
                <a:alphaModFix amt="0"/>
              </a:blip>
              <a:stretch>
                <a:fillRect l="0" t="-39377" r="0" b="-39377"/>
              </a:stretch>
            </a:blipFill>
          </p:spPr>
        </p:sp>
        <p:sp>
          <p:nvSpPr>
            <p:cNvPr name="TextBox 64" id="64"/>
            <p:cNvSpPr txBox="true"/>
            <p:nvPr/>
          </p:nvSpPr>
          <p:spPr>
            <a:xfrm>
              <a:off x="0" y="-9525"/>
              <a:ext cx="3858768" cy="850773"/>
            </a:xfrm>
            <a:prstGeom prst="rect">
              <a:avLst/>
            </a:prstGeom>
          </p:spPr>
          <p:txBody>
            <a:bodyPr anchor="ctr" rtlCol="false" tIns="0" lIns="0" bIns="0" rIns="0"/>
            <a:lstStyle/>
            <a:p>
              <a:pPr algn="ctr">
                <a:lnSpc>
                  <a:spcPts val="1649"/>
                </a:lnSpc>
              </a:pPr>
              <a:r>
                <a:rPr lang="en-US" sz="1374">
                  <a:solidFill>
                    <a:srgbClr val="9BAFC2"/>
                  </a:solidFill>
                  <a:latin typeface="Aptos"/>
                  <a:ea typeface="Aptos"/>
                  <a:cs typeface="Aptos"/>
                  <a:sym typeface="Aptos"/>
                </a:rPr>
                <a:t>∑ (label + temp + hum)</a:t>
              </a:r>
            </a:p>
          </p:txBody>
        </p:sp>
      </p:grpSp>
      <p:sp>
        <p:nvSpPr>
          <p:cNvPr name="AutoShape 65" id="65"/>
          <p:cNvSpPr/>
          <p:nvPr/>
        </p:nvSpPr>
        <p:spPr>
          <a:xfrm flipV="true">
            <a:off x="8948816" y="6395088"/>
            <a:ext cx="1190744" cy="0"/>
          </a:xfrm>
          <a:prstGeom prst="line">
            <a:avLst/>
          </a:prstGeom>
          <a:ln cap="rnd" w="38100">
            <a:solidFill>
              <a:srgbClr val="1D3850"/>
            </a:solidFill>
            <a:prstDash val="solid"/>
            <a:headEnd type="none" len="sm" w="sm"/>
            <a:tailEnd type="triangle" len="med" w="lg"/>
          </a:ln>
        </p:spPr>
      </p:sp>
      <p:grpSp>
        <p:nvGrpSpPr>
          <p:cNvPr name="Group 66" id="66"/>
          <p:cNvGrpSpPr/>
          <p:nvPr/>
        </p:nvGrpSpPr>
        <p:grpSpPr>
          <a:xfrm rot="0">
            <a:off x="10180510" y="5681662"/>
            <a:ext cx="3244215" cy="1392555"/>
            <a:chOff x="0" y="0"/>
            <a:chExt cx="4325620" cy="1856740"/>
          </a:xfrm>
        </p:grpSpPr>
        <p:sp>
          <p:nvSpPr>
            <p:cNvPr name="Freeform 67" id="67"/>
            <p:cNvSpPr/>
            <p:nvPr/>
          </p:nvSpPr>
          <p:spPr>
            <a:xfrm flipH="false" flipV="false" rot="0">
              <a:off x="0" y="0"/>
              <a:ext cx="4325620" cy="1856740"/>
            </a:xfrm>
            <a:custGeom>
              <a:avLst/>
              <a:gdLst/>
              <a:ahLst/>
              <a:cxnLst/>
              <a:rect r="r" b="b" t="t" l="l"/>
              <a:pathLst>
                <a:path h="1856740" w="4325620">
                  <a:moveTo>
                    <a:pt x="0" y="148590"/>
                  </a:moveTo>
                  <a:cubicBezTo>
                    <a:pt x="0" y="66548"/>
                    <a:pt x="66548" y="0"/>
                    <a:pt x="148590" y="0"/>
                  </a:cubicBezTo>
                  <a:lnTo>
                    <a:pt x="4177030" y="0"/>
                  </a:lnTo>
                  <a:cubicBezTo>
                    <a:pt x="4259072" y="0"/>
                    <a:pt x="4325620" y="66548"/>
                    <a:pt x="4325620" y="148590"/>
                  </a:cubicBezTo>
                  <a:lnTo>
                    <a:pt x="4325620" y="1708150"/>
                  </a:lnTo>
                  <a:cubicBezTo>
                    <a:pt x="4325620" y="1790192"/>
                    <a:pt x="4259072" y="1856740"/>
                    <a:pt x="4177030" y="1856740"/>
                  </a:cubicBezTo>
                  <a:lnTo>
                    <a:pt x="148590" y="1856740"/>
                  </a:lnTo>
                  <a:cubicBezTo>
                    <a:pt x="66548" y="1856740"/>
                    <a:pt x="0" y="1790192"/>
                    <a:pt x="0" y="1708150"/>
                  </a:cubicBezTo>
                  <a:close/>
                </a:path>
              </a:pathLst>
            </a:custGeom>
            <a:solidFill>
              <a:srgbClr val="10253B"/>
            </a:solidFill>
            <a:ln w="20955" cap="sq">
              <a:solidFill>
                <a:srgbClr val="76E2A1"/>
              </a:solidFill>
              <a:prstDash val="solid"/>
              <a:miter/>
            </a:ln>
          </p:spPr>
        </p:sp>
      </p:grpSp>
      <p:grpSp>
        <p:nvGrpSpPr>
          <p:cNvPr name="Group 68" id="68"/>
          <p:cNvGrpSpPr/>
          <p:nvPr/>
        </p:nvGrpSpPr>
        <p:grpSpPr>
          <a:xfrm rot="0">
            <a:off x="10355580" y="5884164"/>
            <a:ext cx="2894076" cy="329184"/>
            <a:chOff x="0" y="0"/>
            <a:chExt cx="3858768" cy="438912"/>
          </a:xfrm>
        </p:grpSpPr>
        <p:sp>
          <p:nvSpPr>
            <p:cNvPr name="Freeform 69" id="69"/>
            <p:cNvSpPr/>
            <p:nvPr/>
          </p:nvSpPr>
          <p:spPr>
            <a:xfrm flipH="false" flipV="false" rot="0">
              <a:off x="0" y="0"/>
              <a:ext cx="3858768" cy="438912"/>
            </a:xfrm>
            <a:custGeom>
              <a:avLst/>
              <a:gdLst/>
              <a:ahLst/>
              <a:cxnLst/>
              <a:rect r="r" b="b" t="t" l="l"/>
              <a:pathLst>
                <a:path h="438912" w="3858768">
                  <a:moveTo>
                    <a:pt x="0" y="0"/>
                  </a:moveTo>
                  <a:lnTo>
                    <a:pt x="3858768" y="0"/>
                  </a:lnTo>
                  <a:lnTo>
                    <a:pt x="3858768" y="438912"/>
                  </a:lnTo>
                  <a:lnTo>
                    <a:pt x="0" y="438912"/>
                  </a:lnTo>
                  <a:close/>
                </a:path>
              </a:pathLst>
            </a:custGeom>
            <a:blipFill>
              <a:blip r:embed="rId3">
                <a:alphaModFix amt="0"/>
              </a:blip>
              <a:stretch>
                <a:fillRect l="0" t="-121305" r="0" b="-121305"/>
              </a:stretch>
            </a:blipFill>
          </p:spPr>
        </p:sp>
        <p:sp>
          <p:nvSpPr>
            <p:cNvPr name="TextBox 70" id="70"/>
            <p:cNvSpPr txBox="true"/>
            <p:nvPr/>
          </p:nvSpPr>
          <p:spPr>
            <a:xfrm>
              <a:off x="0" y="0"/>
              <a:ext cx="385876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LOCAL FILE</a:t>
              </a:r>
            </a:p>
          </p:txBody>
        </p:sp>
      </p:grpSp>
      <p:grpSp>
        <p:nvGrpSpPr>
          <p:cNvPr name="Group 71" id="71"/>
          <p:cNvGrpSpPr/>
          <p:nvPr/>
        </p:nvGrpSpPr>
        <p:grpSpPr>
          <a:xfrm rot="0">
            <a:off x="10355580" y="6323076"/>
            <a:ext cx="2894076" cy="630936"/>
            <a:chOff x="0" y="0"/>
            <a:chExt cx="3858768" cy="841248"/>
          </a:xfrm>
        </p:grpSpPr>
        <p:sp>
          <p:nvSpPr>
            <p:cNvPr name="Freeform 72" id="72"/>
            <p:cNvSpPr/>
            <p:nvPr/>
          </p:nvSpPr>
          <p:spPr>
            <a:xfrm flipH="false" flipV="false" rot="0">
              <a:off x="0" y="0"/>
              <a:ext cx="3858768" cy="841248"/>
            </a:xfrm>
            <a:custGeom>
              <a:avLst/>
              <a:gdLst/>
              <a:ahLst/>
              <a:cxnLst/>
              <a:rect r="r" b="b" t="t" l="l"/>
              <a:pathLst>
                <a:path h="841248" w="3858768">
                  <a:moveTo>
                    <a:pt x="0" y="0"/>
                  </a:moveTo>
                  <a:lnTo>
                    <a:pt x="3858768" y="0"/>
                  </a:lnTo>
                  <a:lnTo>
                    <a:pt x="3858768" y="841248"/>
                  </a:lnTo>
                  <a:lnTo>
                    <a:pt x="0" y="841248"/>
                  </a:lnTo>
                  <a:close/>
                </a:path>
              </a:pathLst>
            </a:custGeom>
            <a:blipFill>
              <a:blip r:embed="rId3">
                <a:alphaModFix amt="0"/>
              </a:blip>
              <a:stretch>
                <a:fillRect l="0" t="-39377" r="0" b="-39377"/>
              </a:stretch>
            </a:blipFill>
          </p:spPr>
        </p:sp>
        <p:sp>
          <p:nvSpPr>
            <p:cNvPr name="TextBox 73" id="73"/>
            <p:cNvSpPr txBox="true"/>
            <p:nvPr/>
          </p:nvSpPr>
          <p:spPr>
            <a:xfrm>
              <a:off x="0" y="-9525"/>
              <a:ext cx="3858768" cy="850773"/>
            </a:xfrm>
            <a:prstGeom prst="rect">
              <a:avLst/>
            </a:prstGeom>
          </p:spPr>
          <p:txBody>
            <a:bodyPr anchor="ctr" rtlCol="false" tIns="0" lIns="0" bIns="0" rIns="0"/>
            <a:lstStyle/>
            <a:p>
              <a:pPr algn="ctr">
                <a:lnSpc>
                  <a:spcPts val="1649"/>
                </a:lnSpc>
              </a:pPr>
              <a:r>
                <a:rPr lang="en-US" sz="1374">
                  <a:solidFill>
                    <a:srgbClr val="9BAFC2"/>
                  </a:solidFill>
                  <a:latin typeface="Aptos"/>
                  <a:ea typeface="Aptos"/>
                  <a:cs typeface="Aptos"/>
                  <a:sym typeface="Aptos"/>
                </a:rPr>
                <a:t>.csv format</a:t>
              </a:r>
            </a:p>
          </p:txBody>
        </p:sp>
      </p:grpSp>
      <p:grpSp>
        <p:nvGrpSpPr>
          <p:cNvPr name="Group 74" id="74"/>
          <p:cNvGrpSpPr/>
          <p:nvPr/>
        </p:nvGrpSpPr>
        <p:grpSpPr>
          <a:xfrm rot="0">
            <a:off x="13914120" y="3215640"/>
            <a:ext cx="3101340" cy="3855720"/>
            <a:chOff x="0" y="0"/>
            <a:chExt cx="4135120" cy="5140960"/>
          </a:xfrm>
        </p:grpSpPr>
        <p:sp>
          <p:nvSpPr>
            <p:cNvPr name="Freeform 75" id="75"/>
            <p:cNvSpPr/>
            <p:nvPr/>
          </p:nvSpPr>
          <p:spPr>
            <a:xfrm flipH="false" flipV="false" rot="0">
              <a:off x="0" y="0"/>
              <a:ext cx="4135120" cy="5140960"/>
            </a:xfrm>
            <a:custGeom>
              <a:avLst/>
              <a:gdLst/>
              <a:ahLst/>
              <a:cxnLst/>
              <a:rect r="r" b="b" t="t" l="l"/>
              <a:pathLst>
                <a:path h="5140960" w="4135120">
                  <a:moveTo>
                    <a:pt x="0" y="147066"/>
                  </a:moveTo>
                  <a:cubicBezTo>
                    <a:pt x="0" y="65786"/>
                    <a:pt x="65786" y="0"/>
                    <a:pt x="147066" y="0"/>
                  </a:cubicBezTo>
                  <a:lnTo>
                    <a:pt x="3988054" y="0"/>
                  </a:lnTo>
                  <a:cubicBezTo>
                    <a:pt x="4069207" y="0"/>
                    <a:pt x="4135120" y="65786"/>
                    <a:pt x="4135120" y="147066"/>
                  </a:cubicBezTo>
                  <a:lnTo>
                    <a:pt x="4135120" y="4993894"/>
                  </a:lnTo>
                  <a:cubicBezTo>
                    <a:pt x="4135120" y="5075047"/>
                    <a:pt x="4069334" y="5140960"/>
                    <a:pt x="3988054" y="5140960"/>
                  </a:cubicBezTo>
                  <a:lnTo>
                    <a:pt x="147066" y="5140960"/>
                  </a:lnTo>
                  <a:cubicBezTo>
                    <a:pt x="65786" y="5140960"/>
                    <a:pt x="0" y="5075174"/>
                    <a:pt x="0" y="4993894"/>
                  </a:cubicBezTo>
                  <a:close/>
                </a:path>
              </a:pathLst>
            </a:custGeom>
            <a:solidFill>
              <a:srgbClr val="0E1D30"/>
            </a:solidFill>
            <a:ln w="15240" cap="sq">
              <a:solidFill>
                <a:srgbClr val="1D3850"/>
              </a:solidFill>
              <a:prstDash val="solid"/>
              <a:miter/>
            </a:ln>
          </p:spPr>
        </p:sp>
      </p:grpSp>
      <p:grpSp>
        <p:nvGrpSpPr>
          <p:cNvPr name="Group 76" id="76"/>
          <p:cNvGrpSpPr/>
          <p:nvPr/>
        </p:nvGrpSpPr>
        <p:grpSpPr>
          <a:xfrm rot="0">
            <a:off x="14991588" y="3497580"/>
            <a:ext cx="1714500" cy="342900"/>
            <a:chOff x="0" y="0"/>
            <a:chExt cx="2286000" cy="457200"/>
          </a:xfrm>
        </p:grpSpPr>
        <p:sp>
          <p:nvSpPr>
            <p:cNvPr name="Freeform 77" id="77"/>
            <p:cNvSpPr/>
            <p:nvPr/>
          </p:nvSpPr>
          <p:spPr>
            <a:xfrm flipH="false" flipV="false" rot="0">
              <a:off x="0" y="0"/>
              <a:ext cx="2286000" cy="457200"/>
            </a:xfrm>
            <a:custGeom>
              <a:avLst/>
              <a:gdLst/>
              <a:ahLst/>
              <a:cxnLst/>
              <a:rect r="r" b="b" t="t" l="l"/>
              <a:pathLst>
                <a:path h="457200" w="2286000">
                  <a:moveTo>
                    <a:pt x="0" y="0"/>
                  </a:moveTo>
                  <a:lnTo>
                    <a:pt x="2286000" y="0"/>
                  </a:lnTo>
                  <a:lnTo>
                    <a:pt x="2286000" y="457200"/>
                  </a:lnTo>
                  <a:lnTo>
                    <a:pt x="0" y="457200"/>
                  </a:lnTo>
                  <a:close/>
                </a:path>
              </a:pathLst>
            </a:custGeom>
            <a:blipFill>
              <a:blip r:embed="rId3">
                <a:alphaModFix amt="0"/>
              </a:blip>
              <a:stretch>
                <a:fillRect l="0" t="-47425" r="0" b="-47425"/>
              </a:stretch>
            </a:blipFill>
          </p:spPr>
        </p:sp>
        <p:sp>
          <p:nvSpPr>
            <p:cNvPr name="TextBox 78" id="78"/>
            <p:cNvSpPr txBox="true"/>
            <p:nvPr/>
          </p:nvSpPr>
          <p:spPr>
            <a:xfrm>
              <a:off x="0" y="-9525"/>
              <a:ext cx="228600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WHY CLIENT-SIDE?</a:t>
              </a:r>
            </a:p>
          </p:txBody>
        </p:sp>
      </p:grpSp>
      <p:sp>
        <p:nvSpPr>
          <p:cNvPr name="TextBox 79" id="79"/>
          <p:cNvSpPr txBox="true"/>
          <p:nvPr/>
        </p:nvSpPr>
        <p:spPr>
          <a:xfrm rot="0">
            <a:off x="14223492" y="4035392"/>
            <a:ext cx="2482596" cy="1743075"/>
          </a:xfrm>
          <a:prstGeom prst="rect">
            <a:avLst/>
          </a:prstGeom>
        </p:spPr>
        <p:txBody>
          <a:bodyPr anchor="t" rtlCol="false" tIns="0" lIns="0" bIns="0" rIns="0">
            <a:spAutoFit/>
          </a:bodyPr>
          <a:lstStyle/>
          <a:p>
            <a:pPr algn="l">
              <a:lnSpc>
                <a:spcPts val="2009"/>
              </a:lnSpc>
            </a:pPr>
            <a:r>
              <a:rPr lang="en-US" sz="1674">
                <a:solidFill>
                  <a:srgbClr val="F5F8FC"/>
                </a:solidFill>
                <a:latin typeface="Aptos"/>
                <a:ea typeface="Aptos"/>
                <a:cs typeface="Aptos"/>
                <a:sym typeface="Aptos"/>
              </a:rPr>
              <a:t>Da</a:t>
            </a:r>
            <a:r>
              <a:rPr lang="en-US" sz="1674">
                <a:solidFill>
                  <a:srgbClr val="F5F8FC"/>
                </a:solidFill>
                <a:latin typeface="Aptos"/>
                <a:ea typeface="Aptos"/>
                <a:cs typeface="Aptos"/>
                <a:sym typeface="Aptos"/>
              </a:rPr>
              <a:t>ta URI Scheme packaging happens entirely in the browser's RAM. No extra backend storage or CPU step is needed, enabling instant file downloads.</a:t>
            </a:r>
          </a:p>
        </p:txBody>
      </p:sp>
      <p:sp>
        <p:nvSpPr>
          <p:cNvPr name="TextBox 80" id="80"/>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27</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FF5E78"/>
            </a:solidFill>
            <a:ln w="19050" cap="sq">
              <a:solidFill>
                <a:srgbClr val="FF5E78"/>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07</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7 • EXPERIMENTS</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Scenario 1: Standard Operation &amp; Actuator Control</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Validating environmental sensing stability and non-blocking mechanical response</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480668" y="2811780"/>
            <a:ext cx="13231127" cy="6162675"/>
            <a:chOff x="0" y="0"/>
            <a:chExt cx="18454048" cy="8595360"/>
          </a:xfrm>
        </p:grpSpPr>
        <p:sp>
          <p:nvSpPr>
            <p:cNvPr name="Freeform 23" id="23" descr="/mnt/data/iot_media/image42.png"/>
            <p:cNvSpPr/>
            <p:nvPr/>
          </p:nvSpPr>
          <p:spPr>
            <a:xfrm flipH="false" flipV="false" rot="0">
              <a:off x="0" y="0"/>
              <a:ext cx="18454049" cy="8595360"/>
            </a:xfrm>
            <a:custGeom>
              <a:avLst/>
              <a:gdLst/>
              <a:ahLst/>
              <a:cxnLst/>
              <a:rect r="r" b="b" t="t" l="l"/>
              <a:pathLst>
                <a:path h="8595360" w="18454049">
                  <a:moveTo>
                    <a:pt x="0" y="0"/>
                  </a:moveTo>
                  <a:lnTo>
                    <a:pt x="18454049" y="0"/>
                  </a:lnTo>
                  <a:lnTo>
                    <a:pt x="18454049" y="8595360"/>
                  </a:lnTo>
                  <a:lnTo>
                    <a:pt x="0" y="8595360"/>
                  </a:lnTo>
                  <a:lnTo>
                    <a:pt x="0" y="0"/>
                  </a:lnTo>
                  <a:close/>
                </a:path>
              </a:pathLst>
            </a:custGeom>
            <a:blipFill>
              <a:blip r:embed="rId4"/>
              <a:stretch>
                <a:fillRect l="0" t="0" r="0" b="-1321"/>
              </a:stretch>
            </a:blipFill>
          </p:spPr>
        </p:sp>
      </p:grpSp>
      <p:grpSp>
        <p:nvGrpSpPr>
          <p:cNvPr name="Group 24" id="24"/>
          <p:cNvGrpSpPr/>
          <p:nvPr/>
        </p:nvGrpSpPr>
        <p:grpSpPr>
          <a:xfrm rot="0">
            <a:off x="1303020" y="9326880"/>
            <a:ext cx="9944100" cy="342900"/>
            <a:chOff x="0" y="0"/>
            <a:chExt cx="13258800" cy="457200"/>
          </a:xfrm>
        </p:grpSpPr>
        <p:sp>
          <p:nvSpPr>
            <p:cNvPr name="Freeform 25" id="25"/>
            <p:cNvSpPr/>
            <p:nvPr/>
          </p:nvSpPr>
          <p:spPr>
            <a:xfrm flipH="false" flipV="false" rot="0">
              <a:off x="0" y="0"/>
              <a:ext cx="13258800" cy="457200"/>
            </a:xfrm>
            <a:custGeom>
              <a:avLst/>
              <a:gdLst/>
              <a:ahLst/>
              <a:cxnLst/>
              <a:rect r="r" b="b" t="t" l="l"/>
              <a:pathLst>
                <a:path h="457200" w="13258800">
                  <a:moveTo>
                    <a:pt x="0" y="0"/>
                  </a:moveTo>
                  <a:lnTo>
                    <a:pt x="13258800" y="0"/>
                  </a:lnTo>
                  <a:lnTo>
                    <a:pt x="13258800" y="457200"/>
                  </a:lnTo>
                  <a:lnTo>
                    <a:pt x="0" y="457200"/>
                  </a:lnTo>
                  <a:close/>
                </a:path>
              </a:pathLst>
            </a:custGeom>
            <a:blipFill>
              <a:blip r:embed="rId3">
                <a:alphaModFix amt="0"/>
              </a:blip>
              <a:stretch>
                <a:fillRect l="0" t="-515066" r="0" b="-515066"/>
              </a:stretch>
            </a:blipFill>
          </p:spPr>
        </p:sp>
        <p:sp>
          <p:nvSpPr>
            <p:cNvPr name="TextBox 26" id="26"/>
            <p:cNvSpPr txBox="true"/>
            <p:nvPr/>
          </p:nvSpPr>
          <p:spPr>
            <a:xfrm>
              <a:off x="0" y="-9525"/>
              <a:ext cx="13258800" cy="466725"/>
            </a:xfrm>
            <a:prstGeom prst="rect">
              <a:avLst/>
            </a:prstGeom>
          </p:spPr>
          <p:txBody>
            <a:bodyPr anchor="ctr" rtlCol="false" tIns="0" lIns="0" bIns="0" rIns="0"/>
            <a:lstStyle/>
            <a:p>
              <a:pPr algn="ctr">
                <a:lnSpc>
                  <a:spcPts val="1530"/>
                </a:lnSpc>
              </a:pPr>
              <a:r>
                <a:rPr lang="en-US" sz="1275" i="true">
                  <a:solidFill>
                    <a:srgbClr val="9BAFC2"/>
                  </a:solidFill>
                  <a:latin typeface="Aptos Italics"/>
                  <a:ea typeface="Aptos Italics"/>
                  <a:cs typeface="Aptos Italics"/>
                  <a:sym typeface="Aptos Italics"/>
                </a:rPr>
                <a:t>Dashboard reflects safe baseline and Warning UI for Door OPEN event</a:t>
              </a:r>
            </a:p>
          </p:txBody>
        </p:sp>
      </p:grpSp>
      <p:grpSp>
        <p:nvGrpSpPr>
          <p:cNvPr name="Group 27" id="27"/>
          <p:cNvGrpSpPr/>
          <p:nvPr/>
        </p:nvGrpSpPr>
        <p:grpSpPr>
          <a:xfrm rot="0">
            <a:off x="14048668" y="2630973"/>
            <a:ext cx="3816449" cy="1619590"/>
            <a:chOff x="0" y="0"/>
            <a:chExt cx="5133020" cy="2178304"/>
          </a:xfrm>
        </p:grpSpPr>
        <p:sp>
          <p:nvSpPr>
            <p:cNvPr name="Freeform 28" id="28"/>
            <p:cNvSpPr/>
            <p:nvPr/>
          </p:nvSpPr>
          <p:spPr>
            <a:xfrm flipH="false" flipV="false" rot="0">
              <a:off x="0" y="0"/>
              <a:ext cx="5133020" cy="2178304"/>
            </a:xfrm>
            <a:custGeom>
              <a:avLst/>
              <a:gdLst/>
              <a:ahLst/>
              <a:cxnLst/>
              <a:rect r="r" b="b" t="t" l="l"/>
              <a:pathLst>
                <a:path h="2178304" w="5133020">
                  <a:moveTo>
                    <a:pt x="0" y="147701"/>
                  </a:moveTo>
                  <a:cubicBezTo>
                    <a:pt x="0" y="66167"/>
                    <a:pt x="55254" y="0"/>
                    <a:pt x="123341" y="0"/>
                  </a:cubicBezTo>
                  <a:lnTo>
                    <a:pt x="5009679" y="0"/>
                  </a:lnTo>
                  <a:cubicBezTo>
                    <a:pt x="5077766" y="0"/>
                    <a:pt x="5133020" y="66167"/>
                    <a:pt x="5133020" y="147701"/>
                  </a:cubicBezTo>
                  <a:lnTo>
                    <a:pt x="5133020" y="2030603"/>
                  </a:lnTo>
                  <a:cubicBezTo>
                    <a:pt x="5133020" y="2112137"/>
                    <a:pt x="5077766" y="2178304"/>
                    <a:pt x="5009679" y="2178304"/>
                  </a:cubicBezTo>
                  <a:lnTo>
                    <a:pt x="123341" y="2178304"/>
                  </a:lnTo>
                  <a:cubicBezTo>
                    <a:pt x="55254" y="2178304"/>
                    <a:pt x="0" y="2112137"/>
                    <a:pt x="0" y="2030603"/>
                  </a:cubicBezTo>
                  <a:close/>
                </a:path>
              </a:pathLst>
            </a:custGeom>
            <a:solidFill>
              <a:srgbClr val="0E1D30"/>
            </a:solidFill>
            <a:ln w="15240" cap="sq">
              <a:solidFill>
                <a:srgbClr val="1D3850"/>
              </a:solidFill>
              <a:prstDash val="solid"/>
              <a:miter/>
            </a:ln>
          </p:spPr>
        </p:sp>
      </p:grpSp>
      <p:grpSp>
        <p:nvGrpSpPr>
          <p:cNvPr name="Group 29" id="29"/>
          <p:cNvGrpSpPr/>
          <p:nvPr/>
        </p:nvGrpSpPr>
        <p:grpSpPr>
          <a:xfrm rot="0">
            <a:off x="15261474" y="2990681"/>
            <a:ext cx="2860308" cy="339933"/>
            <a:chOff x="0" y="0"/>
            <a:chExt cx="3847037" cy="457200"/>
          </a:xfrm>
        </p:grpSpPr>
        <p:sp>
          <p:nvSpPr>
            <p:cNvPr name="Freeform 30" id="30"/>
            <p:cNvSpPr/>
            <p:nvPr/>
          </p:nvSpPr>
          <p:spPr>
            <a:xfrm flipH="false" flipV="false" rot="0">
              <a:off x="0" y="0"/>
              <a:ext cx="3847036" cy="457200"/>
            </a:xfrm>
            <a:custGeom>
              <a:avLst/>
              <a:gdLst/>
              <a:ahLst/>
              <a:cxnLst/>
              <a:rect r="r" b="b" t="t" l="l"/>
              <a:pathLst>
                <a:path h="457200" w="3847036">
                  <a:moveTo>
                    <a:pt x="0" y="0"/>
                  </a:moveTo>
                  <a:lnTo>
                    <a:pt x="3847036" y="0"/>
                  </a:lnTo>
                  <a:lnTo>
                    <a:pt x="3847036" y="457200"/>
                  </a:lnTo>
                  <a:lnTo>
                    <a:pt x="0" y="457200"/>
                  </a:lnTo>
                  <a:close/>
                </a:path>
              </a:pathLst>
            </a:custGeom>
            <a:blipFill>
              <a:blip r:embed="rId3">
                <a:alphaModFix amt="0"/>
              </a:blip>
              <a:stretch>
                <a:fillRect l="0" t="-133159" r="-11714" b="-133159"/>
              </a:stretch>
            </a:blipFill>
          </p:spPr>
        </p:sp>
        <p:sp>
          <p:nvSpPr>
            <p:cNvPr name="TextBox 31" id="31"/>
            <p:cNvSpPr txBox="true"/>
            <p:nvPr/>
          </p:nvSpPr>
          <p:spPr>
            <a:xfrm>
              <a:off x="0" y="-9525"/>
              <a:ext cx="3847037"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ENVIRONMENT</a:t>
              </a:r>
            </a:p>
          </p:txBody>
        </p:sp>
      </p:grpSp>
      <p:grpSp>
        <p:nvGrpSpPr>
          <p:cNvPr name="Group 32" id="32"/>
          <p:cNvGrpSpPr/>
          <p:nvPr/>
        </p:nvGrpSpPr>
        <p:grpSpPr>
          <a:xfrm rot="0">
            <a:off x="15161920" y="3404225"/>
            <a:ext cx="1777340" cy="571087"/>
            <a:chOff x="0" y="0"/>
            <a:chExt cx="2390474" cy="768096"/>
          </a:xfrm>
        </p:grpSpPr>
        <p:sp>
          <p:nvSpPr>
            <p:cNvPr name="Freeform 33" id="33"/>
            <p:cNvSpPr/>
            <p:nvPr/>
          </p:nvSpPr>
          <p:spPr>
            <a:xfrm flipH="false" flipV="false" rot="0">
              <a:off x="0" y="0"/>
              <a:ext cx="2390474" cy="768096"/>
            </a:xfrm>
            <a:custGeom>
              <a:avLst/>
              <a:gdLst/>
              <a:ahLst/>
              <a:cxnLst/>
              <a:rect r="r" b="b" t="t" l="l"/>
              <a:pathLst>
                <a:path h="768096" w="2390474">
                  <a:moveTo>
                    <a:pt x="0" y="0"/>
                  </a:moveTo>
                  <a:lnTo>
                    <a:pt x="2390474" y="0"/>
                  </a:lnTo>
                  <a:lnTo>
                    <a:pt x="2390474" y="768096"/>
                  </a:lnTo>
                  <a:lnTo>
                    <a:pt x="0" y="768096"/>
                  </a:lnTo>
                  <a:close/>
                </a:path>
              </a:pathLst>
            </a:custGeom>
            <a:blipFill>
              <a:blip r:embed="rId3">
                <a:alphaModFix amt="0"/>
              </a:blip>
              <a:stretch>
                <a:fillRect l="0" t="-85003" r="-122625" b="-85003"/>
              </a:stretch>
            </a:blipFill>
          </p:spPr>
        </p:sp>
        <p:sp>
          <p:nvSpPr>
            <p:cNvPr name="TextBox 34" id="34"/>
            <p:cNvSpPr txBox="true"/>
            <p:nvPr/>
          </p:nvSpPr>
          <p:spPr>
            <a:xfrm>
              <a:off x="0" y="0"/>
              <a:ext cx="2390474"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~5.0°C</a:t>
              </a:r>
            </a:p>
          </p:txBody>
        </p:sp>
      </p:grpSp>
      <p:grpSp>
        <p:nvGrpSpPr>
          <p:cNvPr name="Group 35" id="35"/>
          <p:cNvGrpSpPr/>
          <p:nvPr/>
        </p:nvGrpSpPr>
        <p:grpSpPr>
          <a:xfrm rot="0">
            <a:off x="14048668" y="4575387"/>
            <a:ext cx="3816449" cy="1619590"/>
            <a:chOff x="0" y="0"/>
            <a:chExt cx="5133020" cy="2178304"/>
          </a:xfrm>
        </p:grpSpPr>
        <p:sp>
          <p:nvSpPr>
            <p:cNvPr name="Freeform 36" id="36"/>
            <p:cNvSpPr/>
            <p:nvPr/>
          </p:nvSpPr>
          <p:spPr>
            <a:xfrm flipH="false" flipV="false" rot="0">
              <a:off x="0" y="0"/>
              <a:ext cx="5133020" cy="2178304"/>
            </a:xfrm>
            <a:custGeom>
              <a:avLst/>
              <a:gdLst/>
              <a:ahLst/>
              <a:cxnLst/>
              <a:rect r="r" b="b" t="t" l="l"/>
              <a:pathLst>
                <a:path h="2178304" w="5133020">
                  <a:moveTo>
                    <a:pt x="0" y="147701"/>
                  </a:moveTo>
                  <a:cubicBezTo>
                    <a:pt x="0" y="66167"/>
                    <a:pt x="55254" y="0"/>
                    <a:pt x="123341" y="0"/>
                  </a:cubicBezTo>
                  <a:lnTo>
                    <a:pt x="5009679" y="0"/>
                  </a:lnTo>
                  <a:cubicBezTo>
                    <a:pt x="5077766" y="0"/>
                    <a:pt x="5133020" y="66167"/>
                    <a:pt x="5133020" y="147701"/>
                  </a:cubicBezTo>
                  <a:lnTo>
                    <a:pt x="5133020" y="2030603"/>
                  </a:lnTo>
                  <a:cubicBezTo>
                    <a:pt x="5133020" y="2112137"/>
                    <a:pt x="5077766" y="2178304"/>
                    <a:pt x="5009679" y="2178304"/>
                  </a:cubicBezTo>
                  <a:lnTo>
                    <a:pt x="123341" y="2178304"/>
                  </a:lnTo>
                  <a:cubicBezTo>
                    <a:pt x="55254" y="2178304"/>
                    <a:pt x="0" y="2112137"/>
                    <a:pt x="0" y="2030603"/>
                  </a:cubicBezTo>
                  <a:close/>
                </a:path>
              </a:pathLst>
            </a:custGeom>
            <a:solidFill>
              <a:srgbClr val="0E1D30"/>
            </a:solidFill>
            <a:ln w="15240" cap="sq">
              <a:solidFill>
                <a:srgbClr val="1D3850"/>
              </a:solidFill>
              <a:prstDash val="solid"/>
              <a:miter/>
            </a:ln>
          </p:spPr>
        </p:sp>
      </p:grpSp>
      <p:grpSp>
        <p:nvGrpSpPr>
          <p:cNvPr name="Group 37" id="37"/>
          <p:cNvGrpSpPr/>
          <p:nvPr/>
        </p:nvGrpSpPr>
        <p:grpSpPr>
          <a:xfrm rot="0">
            <a:off x="15161920" y="4894991"/>
            <a:ext cx="2860308" cy="339933"/>
            <a:chOff x="0" y="0"/>
            <a:chExt cx="3847037" cy="457200"/>
          </a:xfrm>
        </p:grpSpPr>
        <p:sp>
          <p:nvSpPr>
            <p:cNvPr name="Freeform 38" id="38"/>
            <p:cNvSpPr/>
            <p:nvPr/>
          </p:nvSpPr>
          <p:spPr>
            <a:xfrm flipH="false" flipV="false" rot="0">
              <a:off x="0" y="0"/>
              <a:ext cx="3847036" cy="457200"/>
            </a:xfrm>
            <a:custGeom>
              <a:avLst/>
              <a:gdLst/>
              <a:ahLst/>
              <a:cxnLst/>
              <a:rect r="r" b="b" t="t" l="l"/>
              <a:pathLst>
                <a:path h="457200" w="3847036">
                  <a:moveTo>
                    <a:pt x="0" y="0"/>
                  </a:moveTo>
                  <a:lnTo>
                    <a:pt x="3847036" y="0"/>
                  </a:lnTo>
                  <a:lnTo>
                    <a:pt x="3847036" y="457200"/>
                  </a:lnTo>
                  <a:lnTo>
                    <a:pt x="0" y="457200"/>
                  </a:lnTo>
                  <a:close/>
                </a:path>
              </a:pathLst>
            </a:custGeom>
            <a:blipFill>
              <a:blip r:embed="rId3">
                <a:alphaModFix amt="0"/>
              </a:blip>
              <a:stretch>
                <a:fillRect l="0" t="-133159" r="-11714" b="-133159"/>
              </a:stretch>
            </a:blipFill>
          </p:spPr>
        </p:sp>
        <p:sp>
          <p:nvSpPr>
            <p:cNvPr name="TextBox 39" id="39"/>
            <p:cNvSpPr txBox="true"/>
            <p:nvPr/>
          </p:nvSpPr>
          <p:spPr>
            <a:xfrm>
              <a:off x="0" y="-9525"/>
              <a:ext cx="3847037"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MECHANISM</a:t>
              </a:r>
            </a:p>
          </p:txBody>
        </p:sp>
      </p:grpSp>
      <p:grpSp>
        <p:nvGrpSpPr>
          <p:cNvPr name="Group 40" id="40"/>
          <p:cNvGrpSpPr/>
          <p:nvPr/>
        </p:nvGrpSpPr>
        <p:grpSpPr>
          <a:xfrm rot="0">
            <a:off x="15488343" y="5299595"/>
            <a:ext cx="3541913" cy="571087"/>
            <a:chOff x="0" y="0"/>
            <a:chExt cx="4763777" cy="768096"/>
          </a:xfrm>
        </p:grpSpPr>
        <p:sp>
          <p:nvSpPr>
            <p:cNvPr name="Freeform 41" id="41"/>
            <p:cNvSpPr/>
            <p:nvPr/>
          </p:nvSpPr>
          <p:spPr>
            <a:xfrm flipH="false" flipV="false" rot="0">
              <a:off x="0" y="0"/>
              <a:ext cx="4763777" cy="768096"/>
            </a:xfrm>
            <a:custGeom>
              <a:avLst/>
              <a:gdLst/>
              <a:ahLst/>
              <a:cxnLst/>
              <a:rect r="r" b="b" t="t" l="l"/>
              <a:pathLst>
                <a:path h="768096" w="4763777">
                  <a:moveTo>
                    <a:pt x="0" y="0"/>
                  </a:moveTo>
                  <a:lnTo>
                    <a:pt x="4763777" y="0"/>
                  </a:lnTo>
                  <a:lnTo>
                    <a:pt x="4763777" y="768096"/>
                  </a:lnTo>
                  <a:lnTo>
                    <a:pt x="0" y="768096"/>
                  </a:lnTo>
                  <a:close/>
                </a:path>
              </a:pathLst>
            </a:custGeom>
            <a:blipFill>
              <a:blip r:embed="rId3">
                <a:alphaModFix amt="0"/>
              </a:blip>
              <a:stretch>
                <a:fillRect l="0" t="-85003" r="-11714" b="-85003"/>
              </a:stretch>
            </a:blipFill>
          </p:spPr>
        </p:sp>
        <p:sp>
          <p:nvSpPr>
            <p:cNvPr name="TextBox 42" id="42"/>
            <p:cNvSpPr txBox="true"/>
            <p:nvPr/>
          </p:nvSpPr>
          <p:spPr>
            <a:xfrm>
              <a:off x="0" y="0"/>
              <a:ext cx="4763777"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90°</a:t>
              </a:r>
            </a:p>
          </p:txBody>
        </p:sp>
      </p:grpSp>
      <p:grpSp>
        <p:nvGrpSpPr>
          <p:cNvPr name="Group 43" id="43"/>
          <p:cNvGrpSpPr/>
          <p:nvPr/>
        </p:nvGrpSpPr>
        <p:grpSpPr>
          <a:xfrm rot="0">
            <a:off x="14048668" y="6519801"/>
            <a:ext cx="3816449" cy="1619590"/>
            <a:chOff x="0" y="0"/>
            <a:chExt cx="5133020" cy="2178304"/>
          </a:xfrm>
        </p:grpSpPr>
        <p:sp>
          <p:nvSpPr>
            <p:cNvPr name="Freeform 44" id="44"/>
            <p:cNvSpPr/>
            <p:nvPr/>
          </p:nvSpPr>
          <p:spPr>
            <a:xfrm flipH="false" flipV="false" rot="0">
              <a:off x="0" y="0"/>
              <a:ext cx="5133020" cy="2178304"/>
            </a:xfrm>
            <a:custGeom>
              <a:avLst/>
              <a:gdLst/>
              <a:ahLst/>
              <a:cxnLst/>
              <a:rect r="r" b="b" t="t" l="l"/>
              <a:pathLst>
                <a:path h="2178304" w="5133020">
                  <a:moveTo>
                    <a:pt x="0" y="147701"/>
                  </a:moveTo>
                  <a:cubicBezTo>
                    <a:pt x="0" y="66167"/>
                    <a:pt x="55254" y="0"/>
                    <a:pt x="123341" y="0"/>
                  </a:cubicBezTo>
                  <a:lnTo>
                    <a:pt x="5009679" y="0"/>
                  </a:lnTo>
                  <a:cubicBezTo>
                    <a:pt x="5077766" y="0"/>
                    <a:pt x="5133020" y="66167"/>
                    <a:pt x="5133020" y="147701"/>
                  </a:cubicBezTo>
                  <a:lnTo>
                    <a:pt x="5133020" y="2030603"/>
                  </a:lnTo>
                  <a:cubicBezTo>
                    <a:pt x="5133020" y="2112137"/>
                    <a:pt x="5077766" y="2178304"/>
                    <a:pt x="5009679" y="2178304"/>
                  </a:cubicBezTo>
                  <a:lnTo>
                    <a:pt x="123341" y="2178304"/>
                  </a:lnTo>
                  <a:cubicBezTo>
                    <a:pt x="55254" y="2178304"/>
                    <a:pt x="0" y="2112137"/>
                    <a:pt x="0" y="2030603"/>
                  </a:cubicBezTo>
                  <a:close/>
                </a:path>
              </a:pathLst>
            </a:custGeom>
            <a:solidFill>
              <a:srgbClr val="0E1D30"/>
            </a:solidFill>
            <a:ln w="15240" cap="sq">
              <a:solidFill>
                <a:srgbClr val="1D3850"/>
              </a:solidFill>
              <a:prstDash val="solid"/>
              <a:miter/>
            </a:ln>
          </p:spPr>
        </p:sp>
      </p:grpSp>
      <p:grpSp>
        <p:nvGrpSpPr>
          <p:cNvPr name="Group 45" id="45"/>
          <p:cNvGrpSpPr/>
          <p:nvPr/>
        </p:nvGrpSpPr>
        <p:grpSpPr>
          <a:xfrm rot="0">
            <a:off x="15161920" y="6904076"/>
            <a:ext cx="2860308" cy="339933"/>
            <a:chOff x="0" y="0"/>
            <a:chExt cx="3847037" cy="457200"/>
          </a:xfrm>
        </p:grpSpPr>
        <p:sp>
          <p:nvSpPr>
            <p:cNvPr name="Freeform 46" id="46"/>
            <p:cNvSpPr/>
            <p:nvPr/>
          </p:nvSpPr>
          <p:spPr>
            <a:xfrm flipH="false" flipV="false" rot="0">
              <a:off x="0" y="0"/>
              <a:ext cx="3847036" cy="457200"/>
            </a:xfrm>
            <a:custGeom>
              <a:avLst/>
              <a:gdLst/>
              <a:ahLst/>
              <a:cxnLst/>
              <a:rect r="r" b="b" t="t" l="l"/>
              <a:pathLst>
                <a:path h="457200" w="3847036">
                  <a:moveTo>
                    <a:pt x="0" y="0"/>
                  </a:moveTo>
                  <a:lnTo>
                    <a:pt x="3847036" y="0"/>
                  </a:lnTo>
                  <a:lnTo>
                    <a:pt x="3847036" y="457200"/>
                  </a:lnTo>
                  <a:lnTo>
                    <a:pt x="0" y="457200"/>
                  </a:lnTo>
                  <a:close/>
                </a:path>
              </a:pathLst>
            </a:custGeom>
            <a:blipFill>
              <a:blip r:embed="rId3">
                <a:alphaModFix amt="0"/>
              </a:blip>
              <a:stretch>
                <a:fillRect l="0" t="-133159" r="-11714" b="-133159"/>
              </a:stretch>
            </a:blipFill>
          </p:spPr>
        </p:sp>
        <p:sp>
          <p:nvSpPr>
            <p:cNvPr name="TextBox 47" id="47"/>
            <p:cNvSpPr txBox="true"/>
            <p:nvPr/>
          </p:nvSpPr>
          <p:spPr>
            <a:xfrm>
              <a:off x="0" y="-9525"/>
              <a:ext cx="3847037"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WEB RESPONSE</a:t>
              </a:r>
            </a:p>
          </p:txBody>
        </p:sp>
      </p:grpSp>
      <p:grpSp>
        <p:nvGrpSpPr>
          <p:cNvPr name="Group 48" id="48"/>
          <p:cNvGrpSpPr/>
          <p:nvPr/>
        </p:nvGrpSpPr>
        <p:grpSpPr>
          <a:xfrm rot="0">
            <a:off x="15161920" y="7244009"/>
            <a:ext cx="3541913" cy="571087"/>
            <a:chOff x="0" y="0"/>
            <a:chExt cx="4763777" cy="768096"/>
          </a:xfrm>
        </p:grpSpPr>
        <p:sp>
          <p:nvSpPr>
            <p:cNvPr name="Freeform 49" id="49"/>
            <p:cNvSpPr/>
            <p:nvPr/>
          </p:nvSpPr>
          <p:spPr>
            <a:xfrm flipH="false" flipV="false" rot="0">
              <a:off x="0" y="0"/>
              <a:ext cx="4763777" cy="768096"/>
            </a:xfrm>
            <a:custGeom>
              <a:avLst/>
              <a:gdLst/>
              <a:ahLst/>
              <a:cxnLst/>
              <a:rect r="r" b="b" t="t" l="l"/>
              <a:pathLst>
                <a:path h="768096" w="4763777">
                  <a:moveTo>
                    <a:pt x="0" y="0"/>
                  </a:moveTo>
                  <a:lnTo>
                    <a:pt x="4763777" y="0"/>
                  </a:lnTo>
                  <a:lnTo>
                    <a:pt x="4763777" y="768096"/>
                  </a:lnTo>
                  <a:lnTo>
                    <a:pt x="0" y="768096"/>
                  </a:lnTo>
                  <a:close/>
                </a:path>
              </a:pathLst>
            </a:custGeom>
            <a:blipFill>
              <a:blip r:embed="rId3">
                <a:alphaModFix amt="0"/>
              </a:blip>
              <a:stretch>
                <a:fillRect l="0" t="-85003" r="-11714" b="-85003"/>
              </a:stretch>
            </a:blipFill>
          </p:spPr>
        </p:sp>
        <p:sp>
          <p:nvSpPr>
            <p:cNvPr name="TextBox 50" id="50"/>
            <p:cNvSpPr txBox="true"/>
            <p:nvPr/>
          </p:nvSpPr>
          <p:spPr>
            <a:xfrm>
              <a:off x="0" y="0"/>
              <a:ext cx="4763777"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OPEN</a:t>
              </a:r>
            </a:p>
          </p:txBody>
        </p:sp>
      </p:grpSp>
      <p:sp>
        <p:nvSpPr>
          <p:cNvPr name="TextBox 51" id="51"/>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28</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FF5E78"/>
            </a:solidFill>
            <a:ln w="19050" cap="sq">
              <a:solidFill>
                <a:srgbClr val="FF5E78"/>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07</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7 • EXPERIMENTS</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Scenario 2 — temperature violation</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A deliberate over-temperature event tests the complete chain.</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617220" y="2869098"/>
            <a:ext cx="13370052" cy="5977145"/>
            <a:chOff x="0" y="0"/>
            <a:chExt cx="23494532" cy="10503342"/>
          </a:xfrm>
        </p:grpSpPr>
        <p:sp>
          <p:nvSpPr>
            <p:cNvPr name="Freeform 23" id="23" descr="/mnt/data/iot_media/image43.png"/>
            <p:cNvSpPr/>
            <p:nvPr/>
          </p:nvSpPr>
          <p:spPr>
            <a:xfrm flipH="false" flipV="false" rot="0">
              <a:off x="0" y="0"/>
              <a:ext cx="23494533" cy="10503342"/>
            </a:xfrm>
            <a:custGeom>
              <a:avLst/>
              <a:gdLst/>
              <a:ahLst/>
              <a:cxnLst/>
              <a:rect r="r" b="b" t="t" l="l"/>
              <a:pathLst>
                <a:path h="10503342" w="23494533">
                  <a:moveTo>
                    <a:pt x="0" y="0"/>
                  </a:moveTo>
                  <a:lnTo>
                    <a:pt x="23494533" y="0"/>
                  </a:lnTo>
                  <a:lnTo>
                    <a:pt x="23494533" y="10503342"/>
                  </a:lnTo>
                  <a:lnTo>
                    <a:pt x="0" y="10503342"/>
                  </a:lnTo>
                  <a:lnTo>
                    <a:pt x="0" y="0"/>
                  </a:lnTo>
                  <a:close/>
                </a:path>
              </a:pathLst>
            </a:custGeom>
            <a:blipFill>
              <a:blip r:embed="rId4"/>
              <a:stretch>
                <a:fillRect l="-45" t="0" r="0" b="-6164"/>
              </a:stretch>
            </a:blipFill>
          </p:spPr>
        </p:sp>
      </p:grpSp>
      <p:grpSp>
        <p:nvGrpSpPr>
          <p:cNvPr name="Group 24" id="24"/>
          <p:cNvGrpSpPr/>
          <p:nvPr/>
        </p:nvGrpSpPr>
        <p:grpSpPr>
          <a:xfrm rot="0">
            <a:off x="1234440" y="9326880"/>
            <a:ext cx="10149840" cy="342900"/>
            <a:chOff x="0" y="0"/>
            <a:chExt cx="13533120" cy="457200"/>
          </a:xfrm>
        </p:grpSpPr>
        <p:sp>
          <p:nvSpPr>
            <p:cNvPr name="Freeform 25" id="25"/>
            <p:cNvSpPr/>
            <p:nvPr/>
          </p:nvSpPr>
          <p:spPr>
            <a:xfrm flipH="false" flipV="false" rot="0">
              <a:off x="0" y="0"/>
              <a:ext cx="13533120" cy="457200"/>
            </a:xfrm>
            <a:custGeom>
              <a:avLst/>
              <a:gdLst/>
              <a:ahLst/>
              <a:cxnLst/>
              <a:rect r="r" b="b" t="t" l="l"/>
              <a:pathLst>
                <a:path h="457200" w="13533120">
                  <a:moveTo>
                    <a:pt x="0" y="0"/>
                  </a:moveTo>
                  <a:lnTo>
                    <a:pt x="13533120" y="0"/>
                  </a:lnTo>
                  <a:lnTo>
                    <a:pt x="13533120" y="457200"/>
                  </a:lnTo>
                  <a:lnTo>
                    <a:pt x="0" y="457200"/>
                  </a:lnTo>
                  <a:close/>
                </a:path>
              </a:pathLst>
            </a:custGeom>
            <a:blipFill>
              <a:blip r:embed="rId3">
                <a:alphaModFix amt="0"/>
              </a:blip>
              <a:stretch>
                <a:fillRect l="0" t="-526757" r="0" b="-526757"/>
              </a:stretch>
            </a:blipFill>
          </p:spPr>
        </p:sp>
        <p:sp>
          <p:nvSpPr>
            <p:cNvPr name="TextBox 26" id="26"/>
            <p:cNvSpPr txBox="true"/>
            <p:nvPr/>
          </p:nvSpPr>
          <p:spPr>
            <a:xfrm>
              <a:off x="0" y="-9525"/>
              <a:ext cx="13533120" cy="466725"/>
            </a:xfrm>
            <a:prstGeom prst="rect">
              <a:avLst/>
            </a:prstGeom>
          </p:spPr>
          <p:txBody>
            <a:bodyPr anchor="ctr" rtlCol="false" tIns="0" lIns="0" bIns="0" rIns="0"/>
            <a:lstStyle/>
            <a:p>
              <a:pPr algn="ctr">
                <a:lnSpc>
                  <a:spcPts val="1530"/>
                </a:lnSpc>
              </a:pPr>
              <a:r>
                <a:rPr lang="en-US" sz="1275" i="true">
                  <a:solidFill>
                    <a:srgbClr val="9BAFC2"/>
                  </a:solidFill>
                  <a:latin typeface="Aptos Italics"/>
                  <a:ea typeface="Aptos Italics"/>
                  <a:cs typeface="Aptos Italics"/>
                  <a:sym typeface="Aptos Italics"/>
                </a:rPr>
                <a:t>Violation state: temperature card turns red and cooling activates</a:t>
              </a:r>
            </a:p>
          </p:txBody>
        </p:sp>
      </p:grpSp>
      <p:grpSp>
        <p:nvGrpSpPr>
          <p:cNvPr name="Group 27" id="27"/>
          <p:cNvGrpSpPr/>
          <p:nvPr/>
        </p:nvGrpSpPr>
        <p:grpSpPr>
          <a:xfrm rot="0">
            <a:off x="14215540" y="2667078"/>
            <a:ext cx="3679143" cy="1453382"/>
            <a:chOff x="0" y="0"/>
            <a:chExt cx="5514238" cy="2178304"/>
          </a:xfrm>
        </p:grpSpPr>
        <p:sp>
          <p:nvSpPr>
            <p:cNvPr name="Freeform 28" id="28"/>
            <p:cNvSpPr/>
            <p:nvPr/>
          </p:nvSpPr>
          <p:spPr>
            <a:xfrm flipH="false" flipV="false" rot="0">
              <a:off x="0" y="0"/>
              <a:ext cx="5514238" cy="2178304"/>
            </a:xfrm>
            <a:custGeom>
              <a:avLst/>
              <a:gdLst/>
              <a:ahLst/>
              <a:cxnLst/>
              <a:rect r="r" b="b" t="t" l="l"/>
              <a:pathLst>
                <a:path h="2178304" w="5514238">
                  <a:moveTo>
                    <a:pt x="0" y="147701"/>
                  </a:moveTo>
                  <a:cubicBezTo>
                    <a:pt x="0" y="66167"/>
                    <a:pt x="59358" y="0"/>
                    <a:pt x="132501" y="0"/>
                  </a:cubicBezTo>
                  <a:lnTo>
                    <a:pt x="5381737" y="0"/>
                  </a:lnTo>
                  <a:cubicBezTo>
                    <a:pt x="5454881" y="0"/>
                    <a:pt x="5514238" y="66167"/>
                    <a:pt x="5514238" y="147701"/>
                  </a:cubicBezTo>
                  <a:lnTo>
                    <a:pt x="5514238" y="2030603"/>
                  </a:lnTo>
                  <a:cubicBezTo>
                    <a:pt x="5514238" y="2112137"/>
                    <a:pt x="5454881" y="2178304"/>
                    <a:pt x="5381737" y="2178304"/>
                  </a:cubicBezTo>
                  <a:lnTo>
                    <a:pt x="132501" y="2178304"/>
                  </a:lnTo>
                  <a:cubicBezTo>
                    <a:pt x="59358" y="2178304"/>
                    <a:pt x="0" y="2112137"/>
                    <a:pt x="0" y="2030603"/>
                  </a:cubicBezTo>
                  <a:close/>
                </a:path>
              </a:pathLst>
            </a:custGeom>
            <a:solidFill>
              <a:srgbClr val="0E1D30"/>
            </a:solidFill>
            <a:ln w="15240" cap="sq">
              <a:solidFill>
                <a:srgbClr val="1D3850"/>
              </a:solidFill>
              <a:prstDash val="solid"/>
              <a:miter/>
            </a:ln>
          </p:spPr>
        </p:sp>
      </p:grpSp>
      <p:grpSp>
        <p:nvGrpSpPr>
          <p:cNvPr name="Group 29" id="29"/>
          <p:cNvGrpSpPr/>
          <p:nvPr/>
        </p:nvGrpSpPr>
        <p:grpSpPr>
          <a:xfrm rot="0">
            <a:off x="15493481" y="3043069"/>
            <a:ext cx="1223233" cy="342900"/>
            <a:chOff x="0" y="0"/>
            <a:chExt cx="1630978" cy="457200"/>
          </a:xfrm>
        </p:grpSpPr>
        <p:sp>
          <p:nvSpPr>
            <p:cNvPr name="Freeform 30" id="30"/>
            <p:cNvSpPr/>
            <p:nvPr/>
          </p:nvSpPr>
          <p:spPr>
            <a:xfrm flipH="false" flipV="false" rot="0">
              <a:off x="0" y="0"/>
              <a:ext cx="1630978" cy="457200"/>
            </a:xfrm>
            <a:custGeom>
              <a:avLst/>
              <a:gdLst/>
              <a:ahLst/>
              <a:cxnLst/>
              <a:rect r="r" b="b" t="t" l="l"/>
              <a:pathLst>
                <a:path h="457200" w="1630978">
                  <a:moveTo>
                    <a:pt x="0" y="0"/>
                  </a:moveTo>
                  <a:lnTo>
                    <a:pt x="1630978" y="0"/>
                  </a:lnTo>
                  <a:lnTo>
                    <a:pt x="1630978" y="457200"/>
                  </a:lnTo>
                  <a:lnTo>
                    <a:pt x="0" y="457200"/>
                  </a:lnTo>
                  <a:close/>
                </a:path>
              </a:pathLst>
            </a:custGeom>
            <a:blipFill>
              <a:blip r:embed="rId3">
                <a:alphaModFix amt="0"/>
              </a:blip>
              <a:stretch>
                <a:fillRect l="0" t="-133159" r="-163503" b="-133159"/>
              </a:stretch>
            </a:blipFill>
          </p:spPr>
        </p:sp>
        <p:sp>
          <p:nvSpPr>
            <p:cNvPr name="TextBox 31" id="31"/>
            <p:cNvSpPr txBox="true"/>
            <p:nvPr/>
          </p:nvSpPr>
          <p:spPr>
            <a:xfrm>
              <a:off x="0" y="-9525"/>
              <a:ext cx="1630978"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TRIGGER</a:t>
              </a:r>
            </a:p>
          </p:txBody>
        </p:sp>
      </p:grpSp>
      <p:grpSp>
        <p:nvGrpSpPr>
          <p:cNvPr name="Group 32" id="32"/>
          <p:cNvGrpSpPr/>
          <p:nvPr/>
        </p:nvGrpSpPr>
        <p:grpSpPr>
          <a:xfrm rot="0">
            <a:off x="15269449" y="3451120"/>
            <a:ext cx="1848119" cy="576072"/>
            <a:chOff x="0" y="0"/>
            <a:chExt cx="2464158" cy="768096"/>
          </a:xfrm>
        </p:grpSpPr>
        <p:sp>
          <p:nvSpPr>
            <p:cNvPr name="Freeform 33" id="33"/>
            <p:cNvSpPr/>
            <p:nvPr/>
          </p:nvSpPr>
          <p:spPr>
            <a:xfrm flipH="false" flipV="false" rot="0">
              <a:off x="0" y="0"/>
              <a:ext cx="2464159" cy="768096"/>
            </a:xfrm>
            <a:custGeom>
              <a:avLst/>
              <a:gdLst/>
              <a:ahLst/>
              <a:cxnLst/>
              <a:rect r="r" b="b" t="t" l="l"/>
              <a:pathLst>
                <a:path h="768096" w="2464159">
                  <a:moveTo>
                    <a:pt x="0" y="0"/>
                  </a:moveTo>
                  <a:lnTo>
                    <a:pt x="2464159" y="0"/>
                  </a:lnTo>
                  <a:lnTo>
                    <a:pt x="2464159" y="768096"/>
                  </a:lnTo>
                  <a:lnTo>
                    <a:pt x="0" y="768096"/>
                  </a:lnTo>
                  <a:close/>
                </a:path>
              </a:pathLst>
            </a:custGeom>
            <a:blipFill>
              <a:blip r:embed="rId3">
                <a:alphaModFix amt="0"/>
              </a:blip>
              <a:stretch>
                <a:fillRect l="0" t="-85003" r="-115968" b="-85003"/>
              </a:stretch>
            </a:blipFill>
          </p:spPr>
        </p:sp>
        <p:sp>
          <p:nvSpPr>
            <p:cNvPr name="TextBox 34" id="34"/>
            <p:cNvSpPr txBox="true"/>
            <p:nvPr/>
          </p:nvSpPr>
          <p:spPr>
            <a:xfrm>
              <a:off x="0" y="0"/>
              <a:ext cx="246415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&gt; 8.0°C</a:t>
              </a:r>
            </a:p>
          </p:txBody>
        </p:sp>
      </p:grpSp>
      <p:grpSp>
        <p:nvGrpSpPr>
          <p:cNvPr name="Group 35" id="35"/>
          <p:cNvGrpSpPr/>
          <p:nvPr/>
        </p:nvGrpSpPr>
        <p:grpSpPr>
          <a:xfrm rot="0">
            <a:off x="14215540" y="4644334"/>
            <a:ext cx="3679143" cy="1453382"/>
            <a:chOff x="0" y="0"/>
            <a:chExt cx="5514238" cy="2178304"/>
          </a:xfrm>
        </p:grpSpPr>
        <p:sp>
          <p:nvSpPr>
            <p:cNvPr name="Freeform 36" id="36"/>
            <p:cNvSpPr/>
            <p:nvPr/>
          </p:nvSpPr>
          <p:spPr>
            <a:xfrm flipH="false" flipV="false" rot="0">
              <a:off x="0" y="0"/>
              <a:ext cx="5514238" cy="2178304"/>
            </a:xfrm>
            <a:custGeom>
              <a:avLst/>
              <a:gdLst/>
              <a:ahLst/>
              <a:cxnLst/>
              <a:rect r="r" b="b" t="t" l="l"/>
              <a:pathLst>
                <a:path h="2178304" w="5514238">
                  <a:moveTo>
                    <a:pt x="0" y="147701"/>
                  </a:moveTo>
                  <a:cubicBezTo>
                    <a:pt x="0" y="66167"/>
                    <a:pt x="59358" y="0"/>
                    <a:pt x="132501" y="0"/>
                  </a:cubicBezTo>
                  <a:lnTo>
                    <a:pt x="5381737" y="0"/>
                  </a:lnTo>
                  <a:cubicBezTo>
                    <a:pt x="5454881" y="0"/>
                    <a:pt x="5514238" y="66167"/>
                    <a:pt x="5514238" y="147701"/>
                  </a:cubicBezTo>
                  <a:lnTo>
                    <a:pt x="5514238" y="2030603"/>
                  </a:lnTo>
                  <a:cubicBezTo>
                    <a:pt x="5514238" y="2112137"/>
                    <a:pt x="5454881" y="2178304"/>
                    <a:pt x="5381737" y="2178304"/>
                  </a:cubicBezTo>
                  <a:lnTo>
                    <a:pt x="132501" y="2178304"/>
                  </a:lnTo>
                  <a:cubicBezTo>
                    <a:pt x="59358" y="2178304"/>
                    <a:pt x="0" y="2112137"/>
                    <a:pt x="0" y="2030603"/>
                  </a:cubicBezTo>
                  <a:close/>
                </a:path>
              </a:pathLst>
            </a:custGeom>
            <a:solidFill>
              <a:srgbClr val="0E1D30"/>
            </a:solidFill>
            <a:ln w="15240" cap="sq">
              <a:solidFill>
                <a:srgbClr val="1D3850"/>
              </a:solidFill>
              <a:prstDash val="solid"/>
              <a:miter/>
            </a:ln>
          </p:spPr>
        </p:sp>
      </p:grpSp>
      <p:grpSp>
        <p:nvGrpSpPr>
          <p:cNvPr name="Group 37" id="37"/>
          <p:cNvGrpSpPr/>
          <p:nvPr/>
        </p:nvGrpSpPr>
        <p:grpSpPr>
          <a:xfrm rot="0">
            <a:off x="15390440" y="4972050"/>
            <a:ext cx="1954721" cy="342900"/>
            <a:chOff x="0" y="0"/>
            <a:chExt cx="2606294" cy="457200"/>
          </a:xfrm>
        </p:grpSpPr>
        <p:sp>
          <p:nvSpPr>
            <p:cNvPr name="Freeform 38" id="38"/>
            <p:cNvSpPr/>
            <p:nvPr/>
          </p:nvSpPr>
          <p:spPr>
            <a:xfrm flipH="false" flipV="false" rot="0">
              <a:off x="0" y="0"/>
              <a:ext cx="2606294" cy="457200"/>
            </a:xfrm>
            <a:custGeom>
              <a:avLst/>
              <a:gdLst/>
              <a:ahLst/>
              <a:cxnLst/>
              <a:rect r="r" b="b" t="t" l="l"/>
              <a:pathLst>
                <a:path h="457200" w="2606294">
                  <a:moveTo>
                    <a:pt x="0" y="0"/>
                  </a:moveTo>
                  <a:lnTo>
                    <a:pt x="2606294" y="0"/>
                  </a:lnTo>
                  <a:lnTo>
                    <a:pt x="2606294" y="457200"/>
                  </a:lnTo>
                  <a:lnTo>
                    <a:pt x="0" y="457200"/>
                  </a:lnTo>
                  <a:close/>
                </a:path>
              </a:pathLst>
            </a:custGeom>
            <a:blipFill>
              <a:blip r:embed="rId3">
                <a:alphaModFix amt="0"/>
              </a:blip>
              <a:stretch>
                <a:fillRect l="0" t="-133159" r="-64896" b="-133159"/>
              </a:stretch>
            </a:blipFill>
          </p:spPr>
        </p:sp>
        <p:sp>
          <p:nvSpPr>
            <p:cNvPr name="TextBox 39" id="39"/>
            <p:cNvSpPr txBox="true"/>
            <p:nvPr/>
          </p:nvSpPr>
          <p:spPr>
            <a:xfrm>
              <a:off x="0" y="-9525"/>
              <a:ext cx="2606294"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EDGE ACTION</a:t>
              </a:r>
            </a:p>
          </p:txBody>
        </p:sp>
      </p:grpSp>
      <p:grpSp>
        <p:nvGrpSpPr>
          <p:cNvPr name="Group 40" id="40"/>
          <p:cNvGrpSpPr/>
          <p:nvPr/>
        </p:nvGrpSpPr>
        <p:grpSpPr>
          <a:xfrm rot="0">
            <a:off x="15157537" y="5281599"/>
            <a:ext cx="2420526" cy="576072"/>
            <a:chOff x="0" y="0"/>
            <a:chExt cx="3227368" cy="768096"/>
          </a:xfrm>
        </p:grpSpPr>
        <p:sp>
          <p:nvSpPr>
            <p:cNvPr name="Freeform 41" id="41"/>
            <p:cNvSpPr/>
            <p:nvPr/>
          </p:nvSpPr>
          <p:spPr>
            <a:xfrm flipH="false" flipV="false" rot="0">
              <a:off x="0" y="0"/>
              <a:ext cx="3227369" cy="768096"/>
            </a:xfrm>
            <a:custGeom>
              <a:avLst/>
              <a:gdLst/>
              <a:ahLst/>
              <a:cxnLst/>
              <a:rect r="r" b="b" t="t" l="l"/>
              <a:pathLst>
                <a:path h="768096" w="3227369">
                  <a:moveTo>
                    <a:pt x="0" y="0"/>
                  </a:moveTo>
                  <a:lnTo>
                    <a:pt x="3227369" y="0"/>
                  </a:lnTo>
                  <a:lnTo>
                    <a:pt x="3227369" y="768096"/>
                  </a:lnTo>
                  <a:lnTo>
                    <a:pt x="0" y="768096"/>
                  </a:lnTo>
                  <a:close/>
                </a:path>
              </a:pathLst>
            </a:custGeom>
            <a:blipFill>
              <a:blip r:embed="rId3">
                <a:alphaModFix amt="0"/>
              </a:blip>
              <a:stretch>
                <a:fillRect l="0" t="-85003" r="-64896" b="-85003"/>
              </a:stretch>
            </a:blipFill>
          </p:spPr>
        </p:sp>
        <p:sp>
          <p:nvSpPr>
            <p:cNvPr name="TextBox 42" id="42"/>
            <p:cNvSpPr txBox="true"/>
            <p:nvPr/>
          </p:nvSpPr>
          <p:spPr>
            <a:xfrm>
              <a:off x="0" y="0"/>
              <a:ext cx="3227368"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Relay ON</a:t>
              </a:r>
            </a:p>
          </p:txBody>
        </p:sp>
      </p:grpSp>
      <p:grpSp>
        <p:nvGrpSpPr>
          <p:cNvPr name="Group 43" id="43"/>
          <p:cNvGrpSpPr/>
          <p:nvPr/>
        </p:nvGrpSpPr>
        <p:grpSpPr>
          <a:xfrm rot="0">
            <a:off x="14215540" y="6621591"/>
            <a:ext cx="3679143" cy="1453382"/>
            <a:chOff x="0" y="0"/>
            <a:chExt cx="5514238" cy="2178304"/>
          </a:xfrm>
        </p:grpSpPr>
        <p:sp>
          <p:nvSpPr>
            <p:cNvPr name="Freeform 44" id="44"/>
            <p:cNvSpPr/>
            <p:nvPr/>
          </p:nvSpPr>
          <p:spPr>
            <a:xfrm flipH="false" flipV="false" rot="0">
              <a:off x="0" y="0"/>
              <a:ext cx="5514238" cy="2178304"/>
            </a:xfrm>
            <a:custGeom>
              <a:avLst/>
              <a:gdLst/>
              <a:ahLst/>
              <a:cxnLst/>
              <a:rect r="r" b="b" t="t" l="l"/>
              <a:pathLst>
                <a:path h="2178304" w="5514238">
                  <a:moveTo>
                    <a:pt x="0" y="147701"/>
                  </a:moveTo>
                  <a:cubicBezTo>
                    <a:pt x="0" y="66167"/>
                    <a:pt x="59358" y="0"/>
                    <a:pt x="132501" y="0"/>
                  </a:cubicBezTo>
                  <a:lnTo>
                    <a:pt x="5381737" y="0"/>
                  </a:lnTo>
                  <a:cubicBezTo>
                    <a:pt x="5454881" y="0"/>
                    <a:pt x="5514238" y="66167"/>
                    <a:pt x="5514238" y="147701"/>
                  </a:cubicBezTo>
                  <a:lnTo>
                    <a:pt x="5514238" y="2030603"/>
                  </a:lnTo>
                  <a:cubicBezTo>
                    <a:pt x="5514238" y="2112137"/>
                    <a:pt x="5454881" y="2178304"/>
                    <a:pt x="5381737" y="2178304"/>
                  </a:cubicBezTo>
                  <a:lnTo>
                    <a:pt x="132501" y="2178304"/>
                  </a:lnTo>
                  <a:cubicBezTo>
                    <a:pt x="59358" y="2178304"/>
                    <a:pt x="0" y="2112137"/>
                    <a:pt x="0" y="2030603"/>
                  </a:cubicBezTo>
                  <a:close/>
                </a:path>
              </a:pathLst>
            </a:custGeom>
            <a:solidFill>
              <a:srgbClr val="0E1D30"/>
            </a:solidFill>
            <a:ln w="15240" cap="sq">
              <a:solidFill>
                <a:srgbClr val="1D3850"/>
              </a:solidFill>
              <a:prstDash val="solid"/>
              <a:miter/>
            </a:ln>
          </p:spPr>
        </p:sp>
      </p:grpSp>
      <p:grpSp>
        <p:nvGrpSpPr>
          <p:cNvPr name="Group 45" id="45"/>
          <p:cNvGrpSpPr/>
          <p:nvPr/>
        </p:nvGrpSpPr>
        <p:grpSpPr>
          <a:xfrm rot="0">
            <a:off x="15493481" y="6954966"/>
            <a:ext cx="2891557" cy="342900"/>
            <a:chOff x="0" y="0"/>
            <a:chExt cx="3855410" cy="457200"/>
          </a:xfrm>
        </p:grpSpPr>
        <p:sp>
          <p:nvSpPr>
            <p:cNvPr name="Freeform 46" id="46"/>
            <p:cNvSpPr/>
            <p:nvPr/>
          </p:nvSpPr>
          <p:spPr>
            <a:xfrm flipH="false" flipV="false" rot="0">
              <a:off x="0" y="0"/>
              <a:ext cx="3855410" cy="457200"/>
            </a:xfrm>
            <a:custGeom>
              <a:avLst/>
              <a:gdLst/>
              <a:ahLst/>
              <a:cxnLst/>
              <a:rect r="r" b="b" t="t" l="l"/>
              <a:pathLst>
                <a:path h="457200" w="3855410">
                  <a:moveTo>
                    <a:pt x="0" y="0"/>
                  </a:moveTo>
                  <a:lnTo>
                    <a:pt x="3855410" y="0"/>
                  </a:lnTo>
                  <a:lnTo>
                    <a:pt x="3855410" y="457200"/>
                  </a:lnTo>
                  <a:lnTo>
                    <a:pt x="0" y="457200"/>
                  </a:lnTo>
                  <a:close/>
                </a:path>
              </a:pathLst>
            </a:custGeom>
            <a:blipFill>
              <a:blip r:embed="rId3">
                <a:alphaModFix amt="0"/>
              </a:blip>
              <a:stretch>
                <a:fillRect l="0" t="-133159" r="-11471" b="-133159"/>
              </a:stretch>
            </a:blipFill>
          </p:spPr>
        </p:sp>
        <p:sp>
          <p:nvSpPr>
            <p:cNvPr name="TextBox 47" id="47"/>
            <p:cNvSpPr txBox="true"/>
            <p:nvPr/>
          </p:nvSpPr>
          <p:spPr>
            <a:xfrm>
              <a:off x="0" y="-9525"/>
              <a:ext cx="3855410"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BACKEND</a:t>
              </a:r>
            </a:p>
          </p:txBody>
        </p:sp>
      </p:grpSp>
      <p:grpSp>
        <p:nvGrpSpPr>
          <p:cNvPr name="Group 48" id="48"/>
          <p:cNvGrpSpPr/>
          <p:nvPr/>
        </p:nvGrpSpPr>
        <p:grpSpPr>
          <a:xfrm rot="0">
            <a:off x="14577496" y="7335966"/>
            <a:ext cx="3580609" cy="576072"/>
            <a:chOff x="0" y="0"/>
            <a:chExt cx="4774146" cy="768096"/>
          </a:xfrm>
        </p:grpSpPr>
        <p:sp>
          <p:nvSpPr>
            <p:cNvPr name="Freeform 49" id="49"/>
            <p:cNvSpPr/>
            <p:nvPr/>
          </p:nvSpPr>
          <p:spPr>
            <a:xfrm flipH="false" flipV="false" rot="0">
              <a:off x="0" y="0"/>
              <a:ext cx="4774146" cy="768096"/>
            </a:xfrm>
            <a:custGeom>
              <a:avLst/>
              <a:gdLst/>
              <a:ahLst/>
              <a:cxnLst/>
              <a:rect r="r" b="b" t="t" l="l"/>
              <a:pathLst>
                <a:path h="768096" w="4774146">
                  <a:moveTo>
                    <a:pt x="0" y="0"/>
                  </a:moveTo>
                  <a:lnTo>
                    <a:pt x="4774146" y="0"/>
                  </a:lnTo>
                  <a:lnTo>
                    <a:pt x="4774146" y="768096"/>
                  </a:lnTo>
                  <a:lnTo>
                    <a:pt x="0" y="768096"/>
                  </a:lnTo>
                  <a:close/>
                </a:path>
              </a:pathLst>
            </a:custGeom>
            <a:blipFill>
              <a:blip r:embed="rId3">
                <a:alphaModFix amt="0"/>
              </a:blip>
              <a:stretch>
                <a:fillRect l="0" t="-85003" r="-11471" b="-85003"/>
              </a:stretch>
            </a:blipFill>
          </p:spPr>
        </p:sp>
        <p:sp>
          <p:nvSpPr>
            <p:cNvPr name="TextBox 50" id="50"/>
            <p:cNvSpPr txBox="true"/>
            <p:nvPr/>
          </p:nvSpPr>
          <p:spPr>
            <a:xfrm>
              <a:off x="0" y="0"/>
              <a:ext cx="4774146"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CRITICAL_TEMP</a:t>
              </a:r>
            </a:p>
          </p:txBody>
        </p:sp>
      </p:grpSp>
      <p:sp>
        <p:nvSpPr>
          <p:cNvPr name="TextBox 51" id="51"/>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29</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FF5E78"/>
            </a:solidFill>
            <a:ln w="19050" cap="sq">
              <a:solidFill>
                <a:srgbClr val="FF5E78"/>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07</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7 • EXPERIMENTS</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Scenario 3A — network loss</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The system changes transmission mode, not sensing mode.</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52500" y="2845308"/>
            <a:ext cx="3787140" cy="426720"/>
            <a:chOff x="0" y="0"/>
            <a:chExt cx="5049520" cy="568960"/>
          </a:xfrm>
        </p:grpSpPr>
        <p:sp>
          <p:nvSpPr>
            <p:cNvPr name="Freeform 23" id="23"/>
            <p:cNvSpPr/>
            <p:nvPr/>
          </p:nvSpPr>
          <p:spPr>
            <a:xfrm flipH="false" flipV="false" rot="0">
              <a:off x="0" y="0"/>
              <a:ext cx="5049520" cy="568960"/>
            </a:xfrm>
            <a:custGeom>
              <a:avLst/>
              <a:gdLst/>
              <a:ahLst/>
              <a:cxnLst/>
              <a:rect r="r" b="b" t="t" l="l"/>
              <a:pathLst>
                <a:path h="568960" w="5049520">
                  <a:moveTo>
                    <a:pt x="0" y="113792"/>
                  </a:moveTo>
                  <a:cubicBezTo>
                    <a:pt x="0" y="50927"/>
                    <a:pt x="50927" y="0"/>
                    <a:pt x="113792" y="0"/>
                  </a:cubicBezTo>
                  <a:lnTo>
                    <a:pt x="4935728" y="0"/>
                  </a:lnTo>
                  <a:cubicBezTo>
                    <a:pt x="4998593" y="0"/>
                    <a:pt x="5049520" y="50927"/>
                    <a:pt x="5049520" y="113792"/>
                  </a:cubicBezTo>
                  <a:lnTo>
                    <a:pt x="5049520" y="455168"/>
                  </a:lnTo>
                  <a:cubicBezTo>
                    <a:pt x="5049520" y="518033"/>
                    <a:pt x="4998593" y="568960"/>
                    <a:pt x="4935728" y="568960"/>
                  </a:cubicBezTo>
                  <a:lnTo>
                    <a:pt x="113792" y="568960"/>
                  </a:lnTo>
                  <a:cubicBezTo>
                    <a:pt x="50927" y="568960"/>
                    <a:pt x="0" y="518033"/>
                    <a:pt x="0" y="455168"/>
                  </a:cubicBezTo>
                  <a:close/>
                </a:path>
              </a:pathLst>
            </a:custGeom>
            <a:solidFill>
              <a:srgbClr val="FF5E78">
                <a:alpha val="3137"/>
              </a:srgbClr>
            </a:solidFill>
            <a:ln w="15240" cap="sq">
              <a:solidFill>
                <a:srgbClr val="FF5E78"/>
              </a:solidFill>
              <a:prstDash val="solid"/>
              <a:miter/>
            </a:ln>
          </p:spPr>
        </p:sp>
      </p:grpSp>
      <p:grpSp>
        <p:nvGrpSpPr>
          <p:cNvPr name="Group 24" id="24"/>
          <p:cNvGrpSpPr/>
          <p:nvPr/>
        </p:nvGrpSpPr>
        <p:grpSpPr>
          <a:xfrm rot="0">
            <a:off x="960120" y="2948940"/>
            <a:ext cx="3771900" cy="178308"/>
            <a:chOff x="0" y="0"/>
            <a:chExt cx="5029200" cy="237744"/>
          </a:xfrm>
        </p:grpSpPr>
        <p:sp>
          <p:nvSpPr>
            <p:cNvPr name="Freeform 25" id="25"/>
            <p:cNvSpPr/>
            <p:nvPr/>
          </p:nvSpPr>
          <p:spPr>
            <a:xfrm flipH="false" flipV="false" rot="0">
              <a:off x="0" y="0"/>
              <a:ext cx="5029200" cy="237744"/>
            </a:xfrm>
            <a:custGeom>
              <a:avLst/>
              <a:gdLst/>
              <a:ahLst/>
              <a:cxnLst/>
              <a:rect r="r" b="b" t="t" l="l"/>
              <a:pathLst>
                <a:path h="237744" w="5029200">
                  <a:moveTo>
                    <a:pt x="0" y="0"/>
                  </a:moveTo>
                  <a:lnTo>
                    <a:pt x="5029200" y="0"/>
                  </a:lnTo>
                  <a:lnTo>
                    <a:pt x="5029200" y="237744"/>
                  </a:lnTo>
                  <a:lnTo>
                    <a:pt x="0" y="237744"/>
                  </a:lnTo>
                  <a:close/>
                </a:path>
              </a:pathLst>
            </a:custGeom>
            <a:blipFill>
              <a:blip r:embed="rId3">
                <a:alphaModFix amt="0"/>
              </a:blip>
              <a:stretch>
                <a:fillRect l="0" t="-362183" r="0" b="-362183"/>
              </a:stretch>
            </a:blipFill>
          </p:spPr>
        </p:sp>
        <p:sp>
          <p:nvSpPr>
            <p:cNvPr name="TextBox 26" id="26"/>
            <p:cNvSpPr txBox="true"/>
            <p:nvPr/>
          </p:nvSpPr>
          <p:spPr>
            <a:xfrm>
              <a:off x="0" y="0"/>
              <a:ext cx="5029200" cy="237744"/>
            </a:xfrm>
            <a:prstGeom prst="rect">
              <a:avLst/>
            </a:prstGeom>
          </p:spPr>
          <p:txBody>
            <a:bodyPr anchor="ctr" rtlCol="false" tIns="0" lIns="0" bIns="0" rIns="0"/>
            <a:lstStyle/>
            <a:p>
              <a:pPr algn="ctr">
                <a:lnSpc>
                  <a:spcPts val="1439"/>
                </a:lnSpc>
              </a:pPr>
              <a:r>
                <a:rPr lang="en-US" sz="1200" b="true">
                  <a:solidFill>
                    <a:srgbClr val="FF5E78"/>
                  </a:solidFill>
                  <a:latin typeface="Aptos Bold"/>
                  <a:ea typeface="Aptos Bold"/>
                  <a:cs typeface="Aptos Bold"/>
                  <a:sym typeface="Aptos Bold"/>
                </a:rPr>
                <a:t>HOTSPOT DISCONNECTED FOR 30 s</a:t>
              </a:r>
            </a:p>
          </p:txBody>
        </p:sp>
      </p:grpSp>
      <p:grpSp>
        <p:nvGrpSpPr>
          <p:cNvPr name="Group 27" id="27"/>
          <p:cNvGrpSpPr/>
          <p:nvPr/>
        </p:nvGrpSpPr>
        <p:grpSpPr>
          <a:xfrm rot="0">
            <a:off x="977074" y="3720274"/>
            <a:ext cx="3175635" cy="1557147"/>
            <a:chOff x="0" y="0"/>
            <a:chExt cx="4234180" cy="2076196"/>
          </a:xfrm>
        </p:grpSpPr>
        <p:sp>
          <p:nvSpPr>
            <p:cNvPr name="Freeform 28" id="28"/>
            <p:cNvSpPr/>
            <p:nvPr/>
          </p:nvSpPr>
          <p:spPr>
            <a:xfrm flipH="false" flipV="false" rot="0">
              <a:off x="0" y="0"/>
              <a:ext cx="4234180" cy="2076196"/>
            </a:xfrm>
            <a:custGeom>
              <a:avLst/>
              <a:gdLst/>
              <a:ahLst/>
              <a:cxnLst/>
              <a:rect r="r" b="b" t="t" l="l"/>
              <a:pathLst>
                <a:path h="2076196" w="4234180">
                  <a:moveTo>
                    <a:pt x="0" y="148336"/>
                  </a:moveTo>
                  <a:cubicBezTo>
                    <a:pt x="0" y="66421"/>
                    <a:pt x="66421" y="0"/>
                    <a:pt x="148336" y="0"/>
                  </a:cubicBezTo>
                  <a:lnTo>
                    <a:pt x="4085844" y="0"/>
                  </a:lnTo>
                  <a:cubicBezTo>
                    <a:pt x="4167759" y="0"/>
                    <a:pt x="4234180" y="66421"/>
                    <a:pt x="4234180" y="148336"/>
                  </a:cubicBezTo>
                  <a:lnTo>
                    <a:pt x="4234180" y="1927860"/>
                  </a:lnTo>
                  <a:cubicBezTo>
                    <a:pt x="4234180" y="2009775"/>
                    <a:pt x="4167759" y="2076196"/>
                    <a:pt x="4085844" y="2076196"/>
                  </a:cubicBezTo>
                  <a:lnTo>
                    <a:pt x="148336" y="2076196"/>
                  </a:lnTo>
                  <a:cubicBezTo>
                    <a:pt x="66421" y="2076196"/>
                    <a:pt x="0" y="2009775"/>
                    <a:pt x="0" y="1927860"/>
                  </a:cubicBezTo>
                  <a:close/>
                </a:path>
              </a:pathLst>
            </a:custGeom>
            <a:solidFill>
              <a:srgbClr val="10253B"/>
            </a:solidFill>
            <a:ln w="20955" cap="sq">
              <a:solidFill>
                <a:srgbClr val="46D6F5"/>
              </a:solidFill>
              <a:prstDash val="solid"/>
              <a:miter/>
            </a:ln>
          </p:spPr>
        </p:sp>
      </p:grpSp>
      <p:grpSp>
        <p:nvGrpSpPr>
          <p:cNvPr name="Group 29" id="29"/>
          <p:cNvGrpSpPr/>
          <p:nvPr/>
        </p:nvGrpSpPr>
        <p:grpSpPr>
          <a:xfrm rot="0">
            <a:off x="1152144" y="3922776"/>
            <a:ext cx="2825496" cy="329184"/>
            <a:chOff x="0" y="0"/>
            <a:chExt cx="3767328" cy="438912"/>
          </a:xfrm>
        </p:grpSpPr>
        <p:sp>
          <p:nvSpPr>
            <p:cNvPr name="Freeform 30" id="30"/>
            <p:cNvSpPr/>
            <p:nvPr/>
          </p:nvSpPr>
          <p:spPr>
            <a:xfrm flipH="false" flipV="false" rot="0">
              <a:off x="0" y="0"/>
              <a:ext cx="3767328" cy="438912"/>
            </a:xfrm>
            <a:custGeom>
              <a:avLst/>
              <a:gdLst/>
              <a:ahLst/>
              <a:cxnLst/>
              <a:rect r="r" b="b" t="t" l="l"/>
              <a:pathLst>
                <a:path h="438912" w="3767328">
                  <a:moveTo>
                    <a:pt x="0" y="0"/>
                  </a:moveTo>
                  <a:lnTo>
                    <a:pt x="3767328" y="0"/>
                  </a:lnTo>
                  <a:lnTo>
                    <a:pt x="3767328" y="438912"/>
                  </a:lnTo>
                  <a:lnTo>
                    <a:pt x="0" y="438912"/>
                  </a:lnTo>
                  <a:close/>
                </a:path>
              </a:pathLst>
            </a:custGeom>
            <a:blipFill>
              <a:blip r:embed="rId3">
                <a:alphaModFix amt="0"/>
              </a:blip>
              <a:stretch>
                <a:fillRect l="0" t="-117246" r="0" b="-117246"/>
              </a:stretch>
            </a:blipFill>
          </p:spPr>
        </p:sp>
        <p:sp>
          <p:nvSpPr>
            <p:cNvPr name="TextBox 31" id="31"/>
            <p:cNvSpPr txBox="true"/>
            <p:nvPr/>
          </p:nvSpPr>
          <p:spPr>
            <a:xfrm>
              <a:off x="0" y="0"/>
              <a:ext cx="376732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ESP32</a:t>
              </a:r>
            </a:p>
          </p:txBody>
        </p:sp>
      </p:grpSp>
      <p:grpSp>
        <p:nvGrpSpPr>
          <p:cNvPr name="Group 32" id="32"/>
          <p:cNvGrpSpPr/>
          <p:nvPr/>
        </p:nvGrpSpPr>
        <p:grpSpPr>
          <a:xfrm rot="0">
            <a:off x="1152144" y="4361688"/>
            <a:ext cx="2825496" cy="795528"/>
            <a:chOff x="0" y="0"/>
            <a:chExt cx="3767328" cy="1060704"/>
          </a:xfrm>
        </p:grpSpPr>
        <p:sp>
          <p:nvSpPr>
            <p:cNvPr name="Freeform 33" id="33"/>
            <p:cNvSpPr/>
            <p:nvPr/>
          </p:nvSpPr>
          <p:spPr>
            <a:xfrm flipH="false" flipV="false" rot="0">
              <a:off x="0" y="0"/>
              <a:ext cx="3767328" cy="1060704"/>
            </a:xfrm>
            <a:custGeom>
              <a:avLst/>
              <a:gdLst/>
              <a:ahLst/>
              <a:cxnLst/>
              <a:rect r="r" b="b" t="t" l="l"/>
              <a:pathLst>
                <a:path h="1060704" w="3767328">
                  <a:moveTo>
                    <a:pt x="0" y="0"/>
                  </a:moveTo>
                  <a:lnTo>
                    <a:pt x="3767328" y="0"/>
                  </a:lnTo>
                  <a:lnTo>
                    <a:pt x="3767328" y="1060704"/>
                  </a:lnTo>
                  <a:lnTo>
                    <a:pt x="0" y="1060704"/>
                  </a:lnTo>
                  <a:close/>
                </a:path>
              </a:pathLst>
            </a:custGeom>
            <a:blipFill>
              <a:blip r:embed="rId3">
                <a:alphaModFix amt="0"/>
              </a:blip>
              <a:stretch>
                <a:fillRect l="0" t="-19205" r="0" b="-19205"/>
              </a:stretch>
            </a:blipFill>
          </p:spPr>
        </p:sp>
        <p:sp>
          <p:nvSpPr>
            <p:cNvPr name="TextBox 34" id="34"/>
            <p:cNvSpPr txBox="true"/>
            <p:nvPr/>
          </p:nvSpPr>
          <p:spPr>
            <a:xfrm>
              <a:off x="0" y="-9525"/>
              <a:ext cx="3767328" cy="1070229"/>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sampling continues</a:t>
              </a:r>
            </a:p>
          </p:txBody>
        </p:sp>
      </p:grpSp>
      <p:sp>
        <p:nvSpPr>
          <p:cNvPr name="AutoShape 35" id="35"/>
          <p:cNvSpPr/>
          <p:nvPr/>
        </p:nvSpPr>
        <p:spPr>
          <a:xfrm>
            <a:off x="4273010" y="4535038"/>
            <a:ext cx="1274636" cy="3564"/>
          </a:xfrm>
          <a:prstGeom prst="line">
            <a:avLst/>
          </a:prstGeom>
          <a:ln cap="rnd" w="38100">
            <a:solidFill>
              <a:srgbClr val="1D3850"/>
            </a:solidFill>
            <a:prstDash val="solid"/>
            <a:headEnd type="none" len="sm" w="sm"/>
            <a:tailEnd type="triangle" len="med" w="lg"/>
          </a:ln>
        </p:spPr>
      </p:sp>
      <p:grpSp>
        <p:nvGrpSpPr>
          <p:cNvPr name="Group 36" id="36"/>
          <p:cNvGrpSpPr/>
          <p:nvPr/>
        </p:nvGrpSpPr>
        <p:grpSpPr>
          <a:xfrm rot="0">
            <a:off x="5667946" y="3720274"/>
            <a:ext cx="3175635" cy="1557147"/>
            <a:chOff x="0" y="0"/>
            <a:chExt cx="4234180" cy="2076196"/>
          </a:xfrm>
        </p:grpSpPr>
        <p:sp>
          <p:nvSpPr>
            <p:cNvPr name="Freeform 37" id="37"/>
            <p:cNvSpPr/>
            <p:nvPr/>
          </p:nvSpPr>
          <p:spPr>
            <a:xfrm flipH="false" flipV="false" rot="0">
              <a:off x="0" y="0"/>
              <a:ext cx="4234180" cy="2076196"/>
            </a:xfrm>
            <a:custGeom>
              <a:avLst/>
              <a:gdLst/>
              <a:ahLst/>
              <a:cxnLst/>
              <a:rect r="r" b="b" t="t" l="l"/>
              <a:pathLst>
                <a:path h="2076196" w="4234180">
                  <a:moveTo>
                    <a:pt x="0" y="148336"/>
                  </a:moveTo>
                  <a:cubicBezTo>
                    <a:pt x="0" y="66421"/>
                    <a:pt x="66421" y="0"/>
                    <a:pt x="148336" y="0"/>
                  </a:cubicBezTo>
                  <a:lnTo>
                    <a:pt x="4085844" y="0"/>
                  </a:lnTo>
                  <a:cubicBezTo>
                    <a:pt x="4167759" y="0"/>
                    <a:pt x="4234180" y="66421"/>
                    <a:pt x="4234180" y="148336"/>
                  </a:cubicBezTo>
                  <a:lnTo>
                    <a:pt x="4234180" y="1927860"/>
                  </a:lnTo>
                  <a:cubicBezTo>
                    <a:pt x="4234180" y="2009775"/>
                    <a:pt x="4167759" y="2076196"/>
                    <a:pt x="4085844" y="2076196"/>
                  </a:cubicBezTo>
                  <a:lnTo>
                    <a:pt x="148336" y="2076196"/>
                  </a:lnTo>
                  <a:cubicBezTo>
                    <a:pt x="66421" y="2076196"/>
                    <a:pt x="0" y="2009775"/>
                    <a:pt x="0" y="1927860"/>
                  </a:cubicBezTo>
                  <a:close/>
                </a:path>
              </a:pathLst>
            </a:custGeom>
            <a:solidFill>
              <a:srgbClr val="10253B"/>
            </a:solidFill>
            <a:ln w="20955" cap="sq">
              <a:solidFill>
                <a:srgbClr val="FF5E78"/>
              </a:solidFill>
              <a:prstDash val="solid"/>
              <a:miter/>
            </a:ln>
          </p:spPr>
        </p:sp>
      </p:grpSp>
      <p:grpSp>
        <p:nvGrpSpPr>
          <p:cNvPr name="Group 38" id="38"/>
          <p:cNvGrpSpPr/>
          <p:nvPr/>
        </p:nvGrpSpPr>
        <p:grpSpPr>
          <a:xfrm rot="0">
            <a:off x="5843016" y="3922776"/>
            <a:ext cx="2825496" cy="329184"/>
            <a:chOff x="0" y="0"/>
            <a:chExt cx="3767328" cy="438912"/>
          </a:xfrm>
        </p:grpSpPr>
        <p:sp>
          <p:nvSpPr>
            <p:cNvPr name="Freeform 39" id="39"/>
            <p:cNvSpPr/>
            <p:nvPr/>
          </p:nvSpPr>
          <p:spPr>
            <a:xfrm flipH="false" flipV="false" rot="0">
              <a:off x="0" y="0"/>
              <a:ext cx="3767328" cy="438912"/>
            </a:xfrm>
            <a:custGeom>
              <a:avLst/>
              <a:gdLst/>
              <a:ahLst/>
              <a:cxnLst/>
              <a:rect r="r" b="b" t="t" l="l"/>
              <a:pathLst>
                <a:path h="438912" w="3767328">
                  <a:moveTo>
                    <a:pt x="0" y="0"/>
                  </a:moveTo>
                  <a:lnTo>
                    <a:pt x="3767328" y="0"/>
                  </a:lnTo>
                  <a:lnTo>
                    <a:pt x="3767328" y="438912"/>
                  </a:lnTo>
                  <a:lnTo>
                    <a:pt x="0" y="438912"/>
                  </a:lnTo>
                  <a:close/>
                </a:path>
              </a:pathLst>
            </a:custGeom>
            <a:blipFill>
              <a:blip r:embed="rId3">
                <a:alphaModFix amt="0"/>
              </a:blip>
              <a:stretch>
                <a:fillRect l="0" t="-117246" r="0" b="-117246"/>
              </a:stretch>
            </a:blipFill>
          </p:spPr>
        </p:sp>
        <p:sp>
          <p:nvSpPr>
            <p:cNvPr name="TextBox 40" id="40"/>
            <p:cNvSpPr txBox="true"/>
            <p:nvPr/>
          </p:nvSpPr>
          <p:spPr>
            <a:xfrm>
              <a:off x="0" y="0"/>
              <a:ext cx="376732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OFFLINE</a:t>
              </a:r>
            </a:p>
          </p:txBody>
        </p:sp>
      </p:grpSp>
      <p:grpSp>
        <p:nvGrpSpPr>
          <p:cNvPr name="Group 41" id="41"/>
          <p:cNvGrpSpPr/>
          <p:nvPr/>
        </p:nvGrpSpPr>
        <p:grpSpPr>
          <a:xfrm rot="0">
            <a:off x="5843016" y="4361688"/>
            <a:ext cx="2825496" cy="795528"/>
            <a:chOff x="0" y="0"/>
            <a:chExt cx="3767328" cy="1060704"/>
          </a:xfrm>
        </p:grpSpPr>
        <p:sp>
          <p:nvSpPr>
            <p:cNvPr name="Freeform 42" id="42"/>
            <p:cNvSpPr/>
            <p:nvPr/>
          </p:nvSpPr>
          <p:spPr>
            <a:xfrm flipH="false" flipV="false" rot="0">
              <a:off x="0" y="0"/>
              <a:ext cx="3767328" cy="1060704"/>
            </a:xfrm>
            <a:custGeom>
              <a:avLst/>
              <a:gdLst/>
              <a:ahLst/>
              <a:cxnLst/>
              <a:rect r="r" b="b" t="t" l="l"/>
              <a:pathLst>
                <a:path h="1060704" w="3767328">
                  <a:moveTo>
                    <a:pt x="0" y="0"/>
                  </a:moveTo>
                  <a:lnTo>
                    <a:pt x="3767328" y="0"/>
                  </a:lnTo>
                  <a:lnTo>
                    <a:pt x="3767328" y="1060704"/>
                  </a:lnTo>
                  <a:lnTo>
                    <a:pt x="0" y="1060704"/>
                  </a:lnTo>
                  <a:close/>
                </a:path>
              </a:pathLst>
            </a:custGeom>
            <a:blipFill>
              <a:blip r:embed="rId3">
                <a:alphaModFix amt="0"/>
              </a:blip>
              <a:stretch>
                <a:fillRect l="0" t="-19205" r="0" b="-19205"/>
              </a:stretch>
            </a:blipFill>
          </p:spPr>
        </p:sp>
        <p:sp>
          <p:nvSpPr>
            <p:cNvPr name="TextBox 43" id="43"/>
            <p:cNvSpPr txBox="true"/>
            <p:nvPr/>
          </p:nvSpPr>
          <p:spPr>
            <a:xfrm>
              <a:off x="0" y="-9525"/>
              <a:ext cx="3767328" cy="1070229"/>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MQTT connection lost</a:t>
              </a:r>
            </a:p>
          </p:txBody>
        </p:sp>
      </p:grpSp>
      <p:sp>
        <p:nvSpPr>
          <p:cNvPr name="AutoShape 44" id="44"/>
          <p:cNvSpPr/>
          <p:nvPr/>
        </p:nvSpPr>
        <p:spPr>
          <a:xfrm>
            <a:off x="9035413" y="4481708"/>
            <a:ext cx="1176428" cy="0"/>
          </a:xfrm>
          <a:prstGeom prst="line">
            <a:avLst/>
          </a:prstGeom>
          <a:ln cap="rnd" w="38100">
            <a:solidFill>
              <a:srgbClr val="1D3850"/>
            </a:solidFill>
            <a:prstDash val="solid"/>
            <a:headEnd type="none" len="sm" w="sm"/>
            <a:tailEnd type="triangle" len="med" w="lg"/>
          </a:ln>
        </p:spPr>
      </p:sp>
      <p:grpSp>
        <p:nvGrpSpPr>
          <p:cNvPr name="Group 45" id="45"/>
          <p:cNvGrpSpPr/>
          <p:nvPr/>
        </p:nvGrpSpPr>
        <p:grpSpPr>
          <a:xfrm rot="0">
            <a:off x="10386250" y="3720274"/>
            <a:ext cx="3175635" cy="1557147"/>
            <a:chOff x="0" y="0"/>
            <a:chExt cx="4234180" cy="2076196"/>
          </a:xfrm>
        </p:grpSpPr>
        <p:sp>
          <p:nvSpPr>
            <p:cNvPr name="Freeform 46" id="46"/>
            <p:cNvSpPr/>
            <p:nvPr/>
          </p:nvSpPr>
          <p:spPr>
            <a:xfrm flipH="false" flipV="false" rot="0">
              <a:off x="0" y="0"/>
              <a:ext cx="4234180" cy="2076196"/>
            </a:xfrm>
            <a:custGeom>
              <a:avLst/>
              <a:gdLst/>
              <a:ahLst/>
              <a:cxnLst/>
              <a:rect r="r" b="b" t="t" l="l"/>
              <a:pathLst>
                <a:path h="2076196" w="4234180">
                  <a:moveTo>
                    <a:pt x="0" y="148336"/>
                  </a:moveTo>
                  <a:cubicBezTo>
                    <a:pt x="0" y="66421"/>
                    <a:pt x="66421" y="0"/>
                    <a:pt x="148336" y="0"/>
                  </a:cubicBezTo>
                  <a:lnTo>
                    <a:pt x="4085844" y="0"/>
                  </a:lnTo>
                  <a:cubicBezTo>
                    <a:pt x="4167759" y="0"/>
                    <a:pt x="4234180" y="66421"/>
                    <a:pt x="4234180" y="148336"/>
                  </a:cubicBezTo>
                  <a:lnTo>
                    <a:pt x="4234180" y="1927860"/>
                  </a:lnTo>
                  <a:cubicBezTo>
                    <a:pt x="4234180" y="2009775"/>
                    <a:pt x="4167759" y="2076196"/>
                    <a:pt x="4085844" y="2076196"/>
                  </a:cubicBezTo>
                  <a:lnTo>
                    <a:pt x="148336" y="2076196"/>
                  </a:lnTo>
                  <a:cubicBezTo>
                    <a:pt x="66421" y="2076196"/>
                    <a:pt x="0" y="2009775"/>
                    <a:pt x="0" y="1927860"/>
                  </a:cubicBezTo>
                  <a:close/>
                </a:path>
              </a:pathLst>
            </a:custGeom>
            <a:solidFill>
              <a:srgbClr val="10253B"/>
            </a:solidFill>
            <a:ln w="20955" cap="sq">
              <a:solidFill>
                <a:srgbClr val="F6C85F"/>
              </a:solidFill>
              <a:prstDash val="solid"/>
              <a:miter/>
            </a:ln>
          </p:spPr>
        </p:sp>
      </p:grpSp>
      <p:grpSp>
        <p:nvGrpSpPr>
          <p:cNvPr name="Group 47" id="47"/>
          <p:cNvGrpSpPr/>
          <p:nvPr/>
        </p:nvGrpSpPr>
        <p:grpSpPr>
          <a:xfrm rot="0">
            <a:off x="10561320" y="3922776"/>
            <a:ext cx="2825496" cy="329184"/>
            <a:chOff x="0" y="0"/>
            <a:chExt cx="3767328" cy="438912"/>
          </a:xfrm>
        </p:grpSpPr>
        <p:sp>
          <p:nvSpPr>
            <p:cNvPr name="Freeform 48" id="48"/>
            <p:cNvSpPr/>
            <p:nvPr/>
          </p:nvSpPr>
          <p:spPr>
            <a:xfrm flipH="false" flipV="false" rot="0">
              <a:off x="0" y="0"/>
              <a:ext cx="3767328" cy="438912"/>
            </a:xfrm>
            <a:custGeom>
              <a:avLst/>
              <a:gdLst/>
              <a:ahLst/>
              <a:cxnLst/>
              <a:rect r="r" b="b" t="t" l="l"/>
              <a:pathLst>
                <a:path h="438912" w="3767328">
                  <a:moveTo>
                    <a:pt x="0" y="0"/>
                  </a:moveTo>
                  <a:lnTo>
                    <a:pt x="3767328" y="0"/>
                  </a:lnTo>
                  <a:lnTo>
                    <a:pt x="3767328" y="438912"/>
                  </a:lnTo>
                  <a:lnTo>
                    <a:pt x="0" y="438912"/>
                  </a:lnTo>
                  <a:close/>
                </a:path>
              </a:pathLst>
            </a:custGeom>
            <a:blipFill>
              <a:blip r:embed="rId3">
                <a:alphaModFix amt="0"/>
              </a:blip>
              <a:stretch>
                <a:fillRect l="0" t="-117246" r="0" b="-117246"/>
              </a:stretch>
            </a:blipFill>
          </p:spPr>
        </p:sp>
        <p:sp>
          <p:nvSpPr>
            <p:cNvPr name="TextBox 49" id="49"/>
            <p:cNvSpPr txBox="true"/>
            <p:nvPr/>
          </p:nvSpPr>
          <p:spPr>
            <a:xfrm>
              <a:off x="0" y="0"/>
              <a:ext cx="376732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RING BUFFER</a:t>
              </a:r>
            </a:p>
          </p:txBody>
        </p:sp>
      </p:grpSp>
      <p:grpSp>
        <p:nvGrpSpPr>
          <p:cNvPr name="Group 50" id="50"/>
          <p:cNvGrpSpPr/>
          <p:nvPr/>
        </p:nvGrpSpPr>
        <p:grpSpPr>
          <a:xfrm rot="0">
            <a:off x="10561320" y="4361688"/>
            <a:ext cx="2825496" cy="795528"/>
            <a:chOff x="0" y="0"/>
            <a:chExt cx="3767328" cy="1060704"/>
          </a:xfrm>
        </p:grpSpPr>
        <p:sp>
          <p:nvSpPr>
            <p:cNvPr name="Freeform 51" id="51"/>
            <p:cNvSpPr/>
            <p:nvPr/>
          </p:nvSpPr>
          <p:spPr>
            <a:xfrm flipH="false" flipV="false" rot="0">
              <a:off x="0" y="0"/>
              <a:ext cx="3767328" cy="1060704"/>
            </a:xfrm>
            <a:custGeom>
              <a:avLst/>
              <a:gdLst/>
              <a:ahLst/>
              <a:cxnLst/>
              <a:rect r="r" b="b" t="t" l="l"/>
              <a:pathLst>
                <a:path h="1060704" w="3767328">
                  <a:moveTo>
                    <a:pt x="0" y="0"/>
                  </a:moveTo>
                  <a:lnTo>
                    <a:pt x="3767328" y="0"/>
                  </a:lnTo>
                  <a:lnTo>
                    <a:pt x="3767328" y="1060704"/>
                  </a:lnTo>
                  <a:lnTo>
                    <a:pt x="0" y="1060704"/>
                  </a:lnTo>
                  <a:close/>
                </a:path>
              </a:pathLst>
            </a:custGeom>
            <a:blipFill>
              <a:blip r:embed="rId3">
                <a:alphaModFix amt="0"/>
              </a:blip>
              <a:stretch>
                <a:fillRect l="0" t="-19205" r="0" b="-19205"/>
              </a:stretch>
            </a:blipFill>
          </p:spPr>
        </p:sp>
        <p:sp>
          <p:nvSpPr>
            <p:cNvPr name="TextBox 52" id="52"/>
            <p:cNvSpPr txBox="true"/>
            <p:nvPr/>
          </p:nvSpPr>
          <p:spPr>
            <a:xfrm>
              <a:off x="0" y="-9525"/>
              <a:ext cx="3767328" cy="1070229"/>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push records</a:t>
              </a:r>
            </a:p>
          </p:txBody>
        </p:sp>
      </p:grpSp>
      <p:sp>
        <p:nvSpPr>
          <p:cNvPr name="AutoShape 53" id="53"/>
          <p:cNvSpPr/>
          <p:nvPr/>
        </p:nvSpPr>
        <p:spPr>
          <a:xfrm>
            <a:off x="13753717" y="4481708"/>
            <a:ext cx="1152466" cy="0"/>
          </a:xfrm>
          <a:prstGeom prst="line">
            <a:avLst/>
          </a:prstGeom>
          <a:ln cap="rnd" w="38100">
            <a:solidFill>
              <a:srgbClr val="1D3850"/>
            </a:solidFill>
            <a:prstDash val="solid"/>
            <a:headEnd type="none" len="sm" w="sm"/>
            <a:tailEnd type="triangle" len="med" w="lg"/>
          </a:ln>
        </p:spPr>
      </p:sp>
      <p:grpSp>
        <p:nvGrpSpPr>
          <p:cNvPr name="Group 54" id="54"/>
          <p:cNvGrpSpPr/>
          <p:nvPr/>
        </p:nvGrpSpPr>
        <p:grpSpPr>
          <a:xfrm rot="0">
            <a:off x="15104554" y="3720274"/>
            <a:ext cx="1872615" cy="1557147"/>
            <a:chOff x="0" y="0"/>
            <a:chExt cx="2496820" cy="2076196"/>
          </a:xfrm>
        </p:grpSpPr>
        <p:sp>
          <p:nvSpPr>
            <p:cNvPr name="Freeform 55" id="55"/>
            <p:cNvSpPr/>
            <p:nvPr/>
          </p:nvSpPr>
          <p:spPr>
            <a:xfrm flipH="false" flipV="false" rot="0">
              <a:off x="0" y="0"/>
              <a:ext cx="2496820" cy="2076196"/>
            </a:xfrm>
            <a:custGeom>
              <a:avLst/>
              <a:gdLst/>
              <a:ahLst/>
              <a:cxnLst/>
              <a:rect r="r" b="b" t="t" l="l"/>
              <a:pathLst>
                <a:path h="2076196" w="2496820">
                  <a:moveTo>
                    <a:pt x="0" y="148336"/>
                  </a:moveTo>
                  <a:cubicBezTo>
                    <a:pt x="0" y="66421"/>
                    <a:pt x="66421" y="0"/>
                    <a:pt x="148336" y="0"/>
                  </a:cubicBezTo>
                  <a:lnTo>
                    <a:pt x="2348484" y="0"/>
                  </a:lnTo>
                  <a:cubicBezTo>
                    <a:pt x="2430399" y="0"/>
                    <a:pt x="2496820" y="66421"/>
                    <a:pt x="2496820" y="148336"/>
                  </a:cubicBezTo>
                  <a:lnTo>
                    <a:pt x="2496820" y="1927860"/>
                  </a:lnTo>
                  <a:cubicBezTo>
                    <a:pt x="2496820" y="2009775"/>
                    <a:pt x="2430399" y="2076196"/>
                    <a:pt x="2348484" y="2076196"/>
                  </a:cubicBezTo>
                  <a:lnTo>
                    <a:pt x="148336" y="2076196"/>
                  </a:lnTo>
                  <a:cubicBezTo>
                    <a:pt x="66421" y="2076196"/>
                    <a:pt x="0" y="2009775"/>
                    <a:pt x="0" y="1927860"/>
                  </a:cubicBezTo>
                  <a:close/>
                </a:path>
              </a:pathLst>
            </a:custGeom>
            <a:solidFill>
              <a:srgbClr val="10253B"/>
            </a:solidFill>
            <a:ln w="20955" cap="sq">
              <a:solidFill>
                <a:srgbClr val="76E2A1"/>
              </a:solidFill>
              <a:prstDash val="solid"/>
              <a:miter/>
            </a:ln>
          </p:spPr>
        </p:sp>
      </p:grpSp>
      <p:grpSp>
        <p:nvGrpSpPr>
          <p:cNvPr name="Group 56" id="56"/>
          <p:cNvGrpSpPr/>
          <p:nvPr/>
        </p:nvGrpSpPr>
        <p:grpSpPr>
          <a:xfrm rot="0">
            <a:off x="15279624" y="3922776"/>
            <a:ext cx="1522476" cy="329184"/>
            <a:chOff x="0" y="0"/>
            <a:chExt cx="2029968" cy="438912"/>
          </a:xfrm>
        </p:grpSpPr>
        <p:sp>
          <p:nvSpPr>
            <p:cNvPr name="Freeform 57" id="57"/>
            <p:cNvSpPr/>
            <p:nvPr/>
          </p:nvSpPr>
          <p:spPr>
            <a:xfrm flipH="false" flipV="false" rot="0">
              <a:off x="0" y="0"/>
              <a:ext cx="2029968" cy="438912"/>
            </a:xfrm>
            <a:custGeom>
              <a:avLst/>
              <a:gdLst/>
              <a:ahLst/>
              <a:cxnLst/>
              <a:rect r="r" b="b" t="t" l="l"/>
              <a:pathLst>
                <a:path h="438912" w="2029968">
                  <a:moveTo>
                    <a:pt x="0" y="0"/>
                  </a:moveTo>
                  <a:lnTo>
                    <a:pt x="2029968" y="0"/>
                  </a:lnTo>
                  <a:lnTo>
                    <a:pt x="2029968" y="438912"/>
                  </a:lnTo>
                  <a:lnTo>
                    <a:pt x="0" y="438912"/>
                  </a:lnTo>
                  <a:close/>
                </a:path>
              </a:pathLst>
            </a:custGeom>
            <a:blipFill>
              <a:blip r:embed="rId3">
                <a:alphaModFix amt="0"/>
              </a:blip>
              <a:stretch>
                <a:fillRect l="0" t="-40118" r="0" b="-40118"/>
              </a:stretch>
            </a:blipFill>
          </p:spPr>
        </p:sp>
        <p:sp>
          <p:nvSpPr>
            <p:cNvPr name="TextBox 58" id="58"/>
            <p:cNvSpPr txBox="true"/>
            <p:nvPr/>
          </p:nvSpPr>
          <p:spPr>
            <a:xfrm>
              <a:off x="0" y="0"/>
              <a:ext cx="202996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RAM</a:t>
              </a:r>
            </a:p>
          </p:txBody>
        </p:sp>
      </p:grpSp>
      <p:grpSp>
        <p:nvGrpSpPr>
          <p:cNvPr name="Group 59" id="59"/>
          <p:cNvGrpSpPr/>
          <p:nvPr/>
        </p:nvGrpSpPr>
        <p:grpSpPr>
          <a:xfrm rot="0">
            <a:off x="15279624" y="4361688"/>
            <a:ext cx="1522476" cy="795528"/>
            <a:chOff x="0" y="0"/>
            <a:chExt cx="2029968" cy="1060704"/>
          </a:xfrm>
        </p:grpSpPr>
        <p:sp>
          <p:nvSpPr>
            <p:cNvPr name="Freeform 60" id="60"/>
            <p:cNvSpPr/>
            <p:nvPr/>
          </p:nvSpPr>
          <p:spPr>
            <a:xfrm flipH="false" flipV="false" rot="0">
              <a:off x="0" y="0"/>
              <a:ext cx="2029968" cy="1060704"/>
            </a:xfrm>
            <a:custGeom>
              <a:avLst/>
              <a:gdLst/>
              <a:ahLst/>
              <a:cxnLst/>
              <a:rect r="r" b="b" t="t" l="l"/>
              <a:pathLst>
                <a:path h="1060704" w="2029968">
                  <a:moveTo>
                    <a:pt x="0" y="0"/>
                  </a:moveTo>
                  <a:lnTo>
                    <a:pt x="2029968" y="0"/>
                  </a:lnTo>
                  <a:lnTo>
                    <a:pt x="2029968" y="1060704"/>
                  </a:lnTo>
                  <a:lnTo>
                    <a:pt x="0" y="1060704"/>
                  </a:lnTo>
                  <a:close/>
                </a:path>
              </a:pathLst>
            </a:custGeom>
            <a:blipFill>
              <a:blip r:embed="rId3">
                <a:alphaModFix amt="0"/>
              </a:blip>
              <a:stretch>
                <a:fillRect l="-17041" t="0" r="-17041" b="0"/>
              </a:stretch>
            </a:blipFill>
          </p:spPr>
        </p:sp>
        <p:sp>
          <p:nvSpPr>
            <p:cNvPr name="TextBox 61" id="61"/>
            <p:cNvSpPr txBox="true"/>
            <p:nvPr/>
          </p:nvSpPr>
          <p:spPr>
            <a:xfrm>
              <a:off x="0" y="-9525"/>
              <a:ext cx="2029968" cy="1070229"/>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100 records</a:t>
              </a:r>
            </a:p>
          </p:txBody>
        </p:sp>
      </p:grpSp>
      <p:grpSp>
        <p:nvGrpSpPr>
          <p:cNvPr name="Group 62" id="62"/>
          <p:cNvGrpSpPr/>
          <p:nvPr/>
        </p:nvGrpSpPr>
        <p:grpSpPr>
          <a:xfrm rot="0">
            <a:off x="979932" y="6192012"/>
            <a:ext cx="7216140" cy="1770888"/>
            <a:chOff x="0" y="0"/>
            <a:chExt cx="9621520" cy="2361184"/>
          </a:xfrm>
        </p:grpSpPr>
        <p:sp>
          <p:nvSpPr>
            <p:cNvPr name="Freeform 63" id="63"/>
            <p:cNvSpPr/>
            <p:nvPr/>
          </p:nvSpPr>
          <p:spPr>
            <a:xfrm flipH="false" flipV="false" rot="0">
              <a:off x="0" y="0"/>
              <a:ext cx="9621520" cy="2361184"/>
            </a:xfrm>
            <a:custGeom>
              <a:avLst/>
              <a:gdLst/>
              <a:ahLst/>
              <a:cxnLst/>
              <a:rect r="r" b="b" t="t" l="l"/>
              <a:pathLst>
                <a:path h="2361184" w="9621520">
                  <a:moveTo>
                    <a:pt x="0" y="147574"/>
                  </a:moveTo>
                  <a:cubicBezTo>
                    <a:pt x="0" y="66040"/>
                    <a:pt x="66040" y="0"/>
                    <a:pt x="147574" y="0"/>
                  </a:cubicBezTo>
                  <a:lnTo>
                    <a:pt x="9473946" y="0"/>
                  </a:lnTo>
                  <a:cubicBezTo>
                    <a:pt x="9555480" y="0"/>
                    <a:pt x="9621520" y="66040"/>
                    <a:pt x="9621520" y="147574"/>
                  </a:cubicBezTo>
                  <a:lnTo>
                    <a:pt x="9621520" y="2213610"/>
                  </a:lnTo>
                  <a:cubicBezTo>
                    <a:pt x="9621520" y="2295144"/>
                    <a:pt x="9555480" y="2361184"/>
                    <a:pt x="9473946" y="2361184"/>
                  </a:cubicBezTo>
                  <a:lnTo>
                    <a:pt x="147574" y="2361184"/>
                  </a:lnTo>
                  <a:cubicBezTo>
                    <a:pt x="66040" y="2361184"/>
                    <a:pt x="0" y="2295144"/>
                    <a:pt x="0" y="2213610"/>
                  </a:cubicBezTo>
                  <a:close/>
                </a:path>
              </a:pathLst>
            </a:custGeom>
            <a:solidFill>
              <a:srgbClr val="0E1D30"/>
            </a:solidFill>
            <a:ln w="15240" cap="sq">
              <a:solidFill>
                <a:srgbClr val="1D3850"/>
              </a:solidFill>
              <a:prstDash val="solid"/>
              <a:miter/>
            </a:ln>
          </p:spPr>
        </p:sp>
      </p:grpSp>
      <p:grpSp>
        <p:nvGrpSpPr>
          <p:cNvPr name="Group 64" id="64"/>
          <p:cNvGrpSpPr/>
          <p:nvPr/>
        </p:nvGrpSpPr>
        <p:grpSpPr>
          <a:xfrm rot="0">
            <a:off x="3977640" y="6473952"/>
            <a:ext cx="762000" cy="344713"/>
            <a:chOff x="0" y="0"/>
            <a:chExt cx="1016000" cy="459618"/>
          </a:xfrm>
        </p:grpSpPr>
        <p:sp>
          <p:nvSpPr>
            <p:cNvPr name="Freeform 65" id="65"/>
            <p:cNvSpPr/>
            <p:nvPr/>
          </p:nvSpPr>
          <p:spPr>
            <a:xfrm flipH="false" flipV="false" rot="0">
              <a:off x="0" y="0"/>
              <a:ext cx="1016000" cy="459618"/>
            </a:xfrm>
            <a:custGeom>
              <a:avLst/>
              <a:gdLst/>
              <a:ahLst/>
              <a:cxnLst/>
              <a:rect r="r" b="b" t="t" l="l"/>
              <a:pathLst>
                <a:path h="459618" w="1016000">
                  <a:moveTo>
                    <a:pt x="0" y="0"/>
                  </a:moveTo>
                  <a:lnTo>
                    <a:pt x="1016000" y="0"/>
                  </a:lnTo>
                  <a:lnTo>
                    <a:pt x="1016000" y="459618"/>
                  </a:lnTo>
                  <a:lnTo>
                    <a:pt x="0" y="459618"/>
                  </a:lnTo>
                  <a:close/>
                </a:path>
              </a:pathLst>
            </a:custGeom>
            <a:blipFill>
              <a:blip r:embed="rId3">
                <a:alphaModFix amt="0"/>
              </a:blip>
              <a:stretch>
                <a:fillRect l="0" t="-279766" r="-665000" b="-279240"/>
              </a:stretch>
            </a:blipFill>
          </p:spPr>
        </p:sp>
        <p:sp>
          <p:nvSpPr>
            <p:cNvPr name="TextBox 66" id="66"/>
            <p:cNvSpPr txBox="true"/>
            <p:nvPr/>
          </p:nvSpPr>
          <p:spPr>
            <a:xfrm>
              <a:off x="0" y="0"/>
              <a:ext cx="1016000" cy="459618"/>
            </a:xfrm>
            <a:prstGeom prst="rect">
              <a:avLst/>
            </a:prstGeom>
          </p:spPr>
          <p:txBody>
            <a:bodyPr anchor="ctr" rtlCol="false" tIns="0" lIns="0" bIns="0" rIns="0"/>
            <a:lstStyle/>
            <a:p>
              <a:pPr algn="l">
                <a:lnSpc>
                  <a:spcPts val="2219"/>
                </a:lnSpc>
              </a:pPr>
              <a:r>
                <a:rPr lang="en-US" sz="1849" b="true">
                  <a:solidFill>
                    <a:srgbClr val="9BAFC2"/>
                  </a:solidFill>
                  <a:latin typeface="Aptos Bold"/>
                  <a:ea typeface="Aptos Bold"/>
                  <a:cs typeface="Aptos Bold"/>
                  <a:sym typeface="Aptos Bold"/>
                </a:rPr>
                <a:t>WEB</a:t>
              </a:r>
            </a:p>
          </p:txBody>
        </p:sp>
      </p:grpSp>
      <p:sp>
        <p:nvSpPr>
          <p:cNvPr name="TextBox 67" id="67"/>
          <p:cNvSpPr txBox="true"/>
          <p:nvPr/>
        </p:nvSpPr>
        <p:spPr>
          <a:xfrm rot="0">
            <a:off x="1289304" y="7050024"/>
            <a:ext cx="6597396" cy="658368"/>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Connection badge → OFFLINE; live chart stops receiving new points.</a:t>
            </a:r>
          </a:p>
        </p:txBody>
      </p:sp>
      <p:grpSp>
        <p:nvGrpSpPr>
          <p:cNvPr name="Group 68" id="68"/>
          <p:cNvGrpSpPr/>
          <p:nvPr/>
        </p:nvGrpSpPr>
        <p:grpSpPr>
          <a:xfrm rot="0">
            <a:off x="8702040" y="6192012"/>
            <a:ext cx="8217408" cy="1770888"/>
            <a:chOff x="0" y="0"/>
            <a:chExt cx="10956544" cy="2361184"/>
          </a:xfrm>
        </p:grpSpPr>
        <p:sp>
          <p:nvSpPr>
            <p:cNvPr name="Freeform 69" id="69"/>
            <p:cNvSpPr/>
            <p:nvPr/>
          </p:nvSpPr>
          <p:spPr>
            <a:xfrm flipH="false" flipV="false" rot="0">
              <a:off x="0" y="0"/>
              <a:ext cx="10956544" cy="2361184"/>
            </a:xfrm>
            <a:custGeom>
              <a:avLst/>
              <a:gdLst/>
              <a:ahLst/>
              <a:cxnLst/>
              <a:rect r="r" b="b" t="t" l="l"/>
              <a:pathLst>
                <a:path h="2361184" w="10956544">
                  <a:moveTo>
                    <a:pt x="0" y="147574"/>
                  </a:moveTo>
                  <a:cubicBezTo>
                    <a:pt x="0" y="66040"/>
                    <a:pt x="66040" y="0"/>
                    <a:pt x="147574" y="0"/>
                  </a:cubicBezTo>
                  <a:lnTo>
                    <a:pt x="10808970" y="0"/>
                  </a:lnTo>
                  <a:cubicBezTo>
                    <a:pt x="10890503" y="0"/>
                    <a:pt x="10956544" y="66040"/>
                    <a:pt x="10956544" y="147574"/>
                  </a:cubicBezTo>
                  <a:lnTo>
                    <a:pt x="10956544" y="2213610"/>
                  </a:lnTo>
                  <a:cubicBezTo>
                    <a:pt x="10956544" y="2295144"/>
                    <a:pt x="10890503" y="2361184"/>
                    <a:pt x="10808970" y="2361184"/>
                  </a:cubicBezTo>
                  <a:lnTo>
                    <a:pt x="147574" y="2361184"/>
                  </a:lnTo>
                  <a:cubicBezTo>
                    <a:pt x="66040" y="2361184"/>
                    <a:pt x="0" y="2295144"/>
                    <a:pt x="0" y="2213610"/>
                  </a:cubicBezTo>
                  <a:close/>
                </a:path>
              </a:pathLst>
            </a:custGeom>
            <a:solidFill>
              <a:srgbClr val="0E1D30"/>
            </a:solidFill>
            <a:ln w="15240" cap="sq">
              <a:solidFill>
                <a:srgbClr val="1D3850"/>
              </a:solidFill>
              <a:prstDash val="solid"/>
              <a:miter/>
            </a:ln>
          </p:spPr>
        </p:sp>
      </p:grpSp>
      <p:grpSp>
        <p:nvGrpSpPr>
          <p:cNvPr name="Group 70" id="70"/>
          <p:cNvGrpSpPr/>
          <p:nvPr/>
        </p:nvGrpSpPr>
        <p:grpSpPr>
          <a:xfrm rot="0">
            <a:off x="12130540" y="6473952"/>
            <a:ext cx="1330579" cy="387459"/>
            <a:chOff x="0" y="0"/>
            <a:chExt cx="1774105" cy="516613"/>
          </a:xfrm>
        </p:grpSpPr>
        <p:sp>
          <p:nvSpPr>
            <p:cNvPr name="Freeform 71" id="71"/>
            <p:cNvSpPr/>
            <p:nvPr/>
          </p:nvSpPr>
          <p:spPr>
            <a:xfrm flipH="false" flipV="false" rot="0">
              <a:off x="0" y="0"/>
              <a:ext cx="1774105" cy="516613"/>
            </a:xfrm>
            <a:custGeom>
              <a:avLst/>
              <a:gdLst/>
              <a:ahLst/>
              <a:cxnLst/>
              <a:rect r="r" b="b" t="t" l="l"/>
              <a:pathLst>
                <a:path h="516613" w="1774105">
                  <a:moveTo>
                    <a:pt x="0" y="0"/>
                  </a:moveTo>
                  <a:lnTo>
                    <a:pt x="1774105" y="0"/>
                  </a:lnTo>
                  <a:lnTo>
                    <a:pt x="1774105" y="516613"/>
                  </a:lnTo>
                  <a:lnTo>
                    <a:pt x="0" y="516613"/>
                  </a:lnTo>
                  <a:close/>
                </a:path>
              </a:pathLst>
            </a:custGeom>
            <a:blipFill>
              <a:blip r:embed="rId3">
                <a:alphaModFix amt="0"/>
              </a:blip>
              <a:stretch>
                <a:fillRect l="0" t="-299254" r="-413353" b="-287753"/>
              </a:stretch>
            </a:blipFill>
          </p:spPr>
        </p:sp>
        <p:sp>
          <p:nvSpPr>
            <p:cNvPr name="TextBox 72" id="72"/>
            <p:cNvSpPr txBox="true"/>
            <p:nvPr/>
          </p:nvSpPr>
          <p:spPr>
            <a:xfrm>
              <a:off x="0" y="0"/>
              <a:ext cx="1774105" cy="516613"/>
            </a:xfrm>
            <a:prstGeom prst="rect">
              <a:avLst/>
            </a:prstGeom>
          </p:spPr>
          <p:txBody>
            <a:bodyPr anchor="ctr" rtlCol="false" tIns="0" lIns="0" bIns="0" rIns="0"/>
            <a:lstStyle/>
            <a:p>
              <a:pPr algn="l">
                <a:lnSpc>
                  <a:spcPts val="2219"/>
                </a:lnSpc>
              </a:pPr>
              <a:r>
                <a:rPr lang="en-US" sz="1849" b="true">
                  <a:solidFill>
                    <a:srgbClr val="9BAFC2"/>
                  </a:solidFill>
                  <a:latin typeface="Aptos Bold"/>
                  <a:ea typeface="Aptos Bold"/>
                  <a:cs typeface="Aptos Bold"/>
                  <a:sym typeface="Aptos Bold"/>
                </a:rPr>
                <a:t>EDGE</a:t>
              </a:r>
            </a:p>
          </p:txBody>
        </p:sp>
      </p:grpSp>
      <p:sp>
        <p:nvSpPr>
          <p:cNvPr name="TextBox 73" id="73"/>
          <p:cNvSpPr txBox="true"/>
          <p:nvPr/>
        </p:nvSpPr>
        <p:spPr>
          <a:xfrm rot="0">
            <a:off x="9011412" y="7050024"/>
            <a:ext cx="7598664" cy="658368"/>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No freeze. Sensors keep sampling and timestamps are attached before buffering.</a:t>
            </a:r>
          </a:p>
        </p:txBody>
      </p:sp>
      <p:sp>
        <p:nvSpPr>
          <p:cNvPr name="TextBox 74" id="74"/>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30</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FF5E78"/>
            </a:solidFill>
            <a:ln w="19050" cap="sq">
              <a:solidFill>
                <a:srgbClr val="FF5E78"/>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07</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7 • EXPERIMENTS</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Scenario 3B — recovery &amp; backfill</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Reconnection restores the missing segment on the original time axis.</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881062" y="3487103"/>
            <a:ext cx="2969895" cy="1461135"/>
            <a:chOff x="0" y="0"/>
            <a:chExt cx="3959860" cy="1948180"/>
          </a:xfrm>
        </p:grpSpPr>
        <p:sp>
          <p:nvSpPr>
            <p:cNvPr name="Freeform 23" id="23"/>
            <p:cNvSpPr/>
            <p:nvPr/>
          </p:nvSpPr>
          <p:spPr>
            <a:xfrm flipH="false" flipV="false" rot="0">
              <a:off x="0" y="0"/>
              <a:ext cx="3959860" cy="1948180"/>
            </a:xfrm>
            <a:custGeom>
              <a:avLst/>
              <a:gdLst/>
              <a:ahLst/>
              <a:cxnLst/>
              <a:rect r="r" b="b" t="t" l="l"/>
              <a:pathLst>
                <a:path h="1948180" w="3959860">
                  <a:moveTo>
                    <a:pt x="0" y="148463"/>
                  </a:moveTo>
                  <a:cubicBezTo>
                    <a:pt x="0" y="66421"/>
                    <a:pt x="66421" y="0"/>
                    <a:pt x="148463" y="0"/>
                  </a:cubicBezTo>
                  <a:lnTo>
                    <a:pt x="3811397" y="0"/>
                  </a:lnTo>
                  <a:cubicBezTo>
                    <a:pt x="3893312" y="0"/>
                    <a:pt x="3959860" y="66421"/>
                    <a:pt x="3959860" y="148463"/>
                  </a:cubicBezTo>
                  <a:lnTo>
                    <a:pt x="3959860" y="1799717"/>
                  </a:lnTo>
                  <a:cubicBezTo>
                    <a:pt x="3959860" y="1881632"/>
                    <a:pt x="3893439" y="1948180"/>
                    <a:pt x="3811397" y="1948180"/>
                  </a:cubicBezTo>
                  <a:lnTo>
                    <a:pt x="148463" y="1948180"/>
                  </a:lnTo>
                  <a:cubicBezTo>
                    <a:pt x="66421" y="1948180"/>
                    <a:pt x="0" y="1881759"/>
                    <a:pt x="0" y="1799717"/>
                  </a:cubicBezTo>
                  <a:close/>
                </a:path>
              </a:pathLst>
            </a:custGeom>
            <a:solidFill>
              <a:srgbClr val="10253B"/>
            </a:solidFill>
            <a:ln w="20955" cap="sq">
              <a:solidFill>
                <a:srgbClr val="76E2A1"/>
              </a:solidFill>
              <a:prstDash val="solid"/>
              <a:miter/>
            </a:ln>
          </p:spPr>
        </p:sp>
      </p:grpSp>
      <p:grpSp>
        <p:nvGrpSpPr>
          <p:cNvPr name="Group 24" id="24"/>
          <p:cNvGrpSpPr/>
          <p:nvPr/>
        </p:nvGrpSpPr>
        <p:grpSpPr>
          <a:xfrm rot="0">
            <a:off x="1056132" y="3689604"/>
            <a:ext cx="2619756" cy="329184"/>
            <a:chOff x="0" y="0"/>
            <a:chExt cx="3493008" cy="438912"/>
          </a:xfrm>
        </p:grpSpPr>
        <p:sp>
          <p:nvSpPr>
            <p:cNvPr name="Freeform 25" id="25"/>
            <p:cNvSpPr/>
            <p:nvPr/>
          </p:nvSpPr>
          <p:spPr>
            <a:xfrm flipH="false" flipV="false" rot="0">
              <a:off x="0" y="0"/>
              <a:ext cx="3493008" cy="438912"/>
            </a:xfrm>
            <a:custGeom>
              <a:avLst/>
              <a:gdLst/>
              <a:ahLst/>
              <a:cxnLst/>
              <a:rect r="r" b="b" t="t" l="l"/>
              <a:pathLst>
                <a:path h="438912" w="3493008">
                  <a:moveTo>
                    <a:pt x="0" y="0"/>
                  </a:moveTo>
                  <a:lnTo>
                    <a:pt x="3493008" y="0"/>
                  </a:lnTo>
                  <a:lnTo>
                    <a:pt x="3493008" y="438912"/>
                  </a:lnTo>
                  <a:lnTo>
                    <a:pt x="0" y="438912"/>
                  </a:lnTo>
                  <a:close/>
                </a:path>
              </a:pathLst>
            </a:custGeom>
            <a:blipFill>
              <a:blip r:embed="rId3">
                <a:alphaModFix amt="0"/>
              </a:blip>
              <a:stretch>
                <a:fillRect l="0" t="-105068" r="0" b="-105068"/>
              </a:stretch>
            </a:blipFill>
          </p:spPr>
        </p:sp>
        <p:sp>
          <p:nvSpPr>
            <p:cNvPr name="TextBox 26" id="26"/>
            <p:cNvSpPr txBox="true"/>
            <p:nvPr/>
          </p:nvSpPr>
          <p:spPr>
            <a:xfrm>
              <a:off x="0" y="0"/>
              <a:ext cx="349300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WI-FI RESTORED</a:t>
              </a:r>
            </a:p>
          </p:txBody>
        </p:sp>
      </p:grpSp>
      <p:grpSp>
        <p:nvGrpSpPr>
          <p:cNvPr name="Group 27" id="27"/>
          <p:cNvGrpSpPr/>
          <p:nvPr/>
        </p:nvGrpSpPr>
        <p:grpSpPr>
          <a:xfrm rot="0">
            <a:off x="1056132" y="4128516"/>
            <a:ext cx="2619756" cy="699516"/>
            <a:chOff x="0" y="0"/>
            <a:chExt cx="3493008" cy="932688"/>
          </a:xfrm>
        </p:grpSpPr>
        <p:sp>
          <p:nvSpPr>
            <p:cNvPr name="Freeform 28" id="28"/>
            <p:cNvSpPr/>
            <p:nvPr/>
          </p:nvSpPr>
          <p:spPr>
            <a:xfrm flipH="false" flipV="false" rot="0">
              <a:off x="0" y="0"/>
              <a:ext cx="3493008" cy="932688"/>
            </a:xfrm>
            <a:custGeom>
              <a:avLst/>
              <a:gdLst/>
              <a:ahLst/>
              <a:cxnLst/>
              <a:rect r="r" b="b" t="t" l="l"/>
              <a:pathLst>
                <a:path h="932688" w="3493008">
                  <a:moveTo>
                    <a:pt x="0" y="0"/>
                  </a:moveTo>
                  <a:lnTo>
                    <a:pt x="3493008" y="0"/>
                  </a:lnTo>
                  <a:lnTo>
                    <a:pt x="3493008" y="932688"/>
                  </a:lnTo>
                  <a:lnTo>
                    <a:pt x="0" y="932688"/>
                  </a:lnTo>
                  <a:close/>
                </a:path>
              </a:pathLst>
            </a:custGeom>
            <a:blipFill>
              <a:blip r:embed="rId3">
                <a:alphaModFix amt="0"/>
              </a:blip>
              <a:stretch>
                <a:fillRect l="0" t="-22973" r="0" b="-22973"/>
              </a:stretch>
            </a:blipFill>
          </p:spPr>
        </p:sp>
        <p:sp>
          <p:nvSpPr>
            <p:cNvPr name="TextBox 29" id="29"/>
            <p:cNvSpPr txBox="true"/>
            <p:nvPr/>
          </p:nvSpPr>
          <p:spPr>
            <a:xfrm>
              <a:off x="0" y="-9525"/>
              <a:ext cx="3493008" cy="94221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MQTT reconnect</a:t>
              </a:r>
            </a:p>
          </p:txBody>
        </p:sp>
      </p:grpSp>
      <p:sp>
        <p:nvSpPr>
          <p:cNvPr name="AutoShape 30" id="30"/>
          <p:cNvSpPr/>
          <p:nvPr/>
        </p:nvSpPr>
        <p:spPr>
          <a:xfrm>
            <a:off x="3991977" y="4241672"/>
            <a:ext cx="1127514" cy="0"/>
          </a:xfrm>
          <a:prstGeom prst="line">
            <a:avLst/>
          </a:prstGeom>
          <a:ln cap="rnd" w="38100">
            <a:solidFill>
              <a:srgbClr val="1D3850"/>
            </a:solidFill>
            <a:prstDash val="solid"/>
            <a:headEnd type="none" len="sm" w="sm"/>
            <a:tailEnd type="triangle" len="med" w="lg"/>
          </a:ln>
        </p:spPr>
      </p:sp>
      <p:grpSp>
        <p:nvGrpSpPr>
          <p:cNvPr name="Group 31" id="31"/>
          <p:cNvGrpSpPr/>
          <p:nvPr/>
        </p:nvGrpSpPr>
        <p:grpSpPr>
          <a:xfrm rot="0">
            <a:off x="5174170" y="3487103"/>
            <a:ext cx="2969895" cy="1461135"/>
            <a:chOff x="0" y="0"/>
            <a:chExt cx="3959860" cy="1948180"/>
          </a:xfrm>
        </p:grpSpPr>
        <p:sp>
          <p:nvSpPr>
            <p:cNvPr name="Freeform 32" id="32"/>
            <p:cNvSpPr/>
            <p:nvPr/>
          </p:nvSpPr>
          <p:spPr>
            <a:xfrm flipH="false" flipV="false" rot="0">
              <a:off x="0" y="0"/>
              <a:ext cx="3959860" cy="1948180"/>
            </a:xfrm>
            <a:custGeom>
              <a:avLst/>
              <a:gdLst/>
              <a:ahLst/>
              <a:cxnLst/>
              <a:rect r="r" b="b" t="t" l="l"/>
              <a:pathLst>
                <a:path h="1948180" w="3959860">
                  <a:moveTo>
                    <a:pt x="0" y="148463"/>
                  </a:moveTo>
                  <a:cubicBezTo>
                    <a:pt x="0" y="66421"/>
                    <a:pt x="66421" y="0"/>
                    <a:pt x="148463" y="0"/>
                  </a:cubicBezTo>
                  <a:lnTo>
                    <a:pt x="3811397" y="0"/>
                  </a:lnTo>
                  <a:cubicBezTo>
                    <a:pt x="3893312" y="0"/>
                    <a:pt x="3959860" y="66421"/>
                    <a:pt x="3959860" y="148463"/>
                  </a:cubicBezTo>
                  <a:lnTo>
                    <a:pt x="3959860" y="1799717"/>
                  </a:lnTo>
                  <a:cubicBezTo>
                    <a:pt x="3959860" y="1881632"/>
                    <a:pt x="3893439" y="1948180"/>
                    <a:pt x="3811397" y="1948180"/>
                  </a:cubicBezTo>
                  <a:lnTo>
                    <a:pt x="148463" y="1948180"/>
                  </a:lnTo>
                  <a:cubicBezTo>
                    <a:pt x="66421" y="1948180"/>
                    <a:pt x="0" y="1881759"/>
                    <a:pt x="0" y="1799717"/>
                  </a:cubicBezTo>
                  <a:close/>
                </a:path>
              </a:pathLst>
            </a:custGeom>
            <a:solidFill>
              <a:srgbClr val="10253B"/>
            </a:solidFill>
            <a:ln w="20955" cap="sq">
              <a:solidFill>
                <a:srgbClr val="F6C85F"/>
              </a:solidFill>
              <a:prstDash val="solid"/>
              <a:miter/>
            </a:ln>
          </p:spPr>
        </p:sp>
      </p:grpSp>
      <p:grpSp>
        <p:nvGrpSpPr>
          <p:cNvPr name="Group 33" id="33"/>
          <p:cNvGrpSpPr/>
          <p:nvPr/>
        </p:nvGrpSpPr>
        <p:grpSpPr>
          <a:xfrm rot="0">
            <a:off x="5349240" y="3689604"/>
            <a:ext cx="2619756" cy="329184"/>
            <a:chOff x="0" y="0"/>
            <a:chExt cx="3493008" cy="438912"/>
          </a:xfrm>
        </p:grpSpPr>
        <p:sp>
          <p:nvSpPr>
            <p:cNvPr name="Freeform 34" id="34"/>
            <p:cNvSpPr/>
            <p:nvPr/>
          </p:nvSpPr>
          <p:spPr>
            <a:xfrm flipH="false" flipV="false" rot="0">
              <a:off x="0" y="0"/>
              <a:ext cx="3493008" cy="438912"/>
            </a:xfrm>
            <a:custGeom>
              <a:avLst/>
              <a:gdLst/>
              <a:ahLst/>
              <a:cxnLst/>
              <a:rect r="r" b="b" t="t" l="l"/>
              <a:pathLst>
                <a:path h="438912" w="3493008">
                  <a:moveTo>
                    <a:pt x="0" y="0"/>
                  </a:moveTo>
                  <a:lnTo>
                    <a:pt x="3493008" y="0"/>
                  </a:lnTo>
                  <a:lnTo>
                    <a:pt x="3493008" y="438912"/>
                  </a:lnTo>
                  <a:lnTo>
                    <a:pt x="0" y="438912"/>
                  </a:lnTo>
                  <a:close/>
                </a:path>
              </a:pathLst>
            </a:custGeom>
            <a:blipFill>
              <a:blip r:embed="rId3">
                <a:alphaModFix amt="0"/>
              </a:blip>
              <a:stretch>
                <a:fillRect l="0" t="-105068" r="0" b="-105068"/>
              </a:stretch>
            </a:blipFill>
          </p:spPr>
        </p:sp>
        <p:sp>
          <p:nvSpPr>
            <p:cNvPr name="TextBox 35" id="35"/>
            <p:cNvSpPr txBox="true"/>
            <p:nvPr/>
          </p:nvSpPr>
          <p:spPr>
            <a:xfrm>
              <a:off x="0" y="0"/>
              <a:ext cx="349300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buffer_pop()</a:t>
              </a:r>
            </a:p>
          </p:txBody>
        </p:sp>
      </p:grpSp>
      <p:grpSp>
        <p:nvGrpSpPr>
          <p:cNvPr name="Group 36" id="36"/>
          <p:cNvGrpSpPr/>
          <p:nvPr/>
        </p:nvGrpSpPr>
        <p:grpSpPr>
          <a:xfrm rot="0">
            <a:off x="5349240" y="4128516"/>
            <a:ext cx="2619756" cy="699516"/>
            <a:chOff x="0" y="0"/>
            <a:chExt cx="3493008" cy="932688"/>
          </a:xfrm>
        </p:grpSpPr>
        <p:sp>
          <p:nvSpPr>
            <p:cNvPr name="Freeform 37" id="37"/>
            <p:cNvSpPr/>
            <p:nvPr/>
          </p:nvSpPr>
          <p:spPr>
            <a:xfrm flipH="false" flipV="false" rot="0">
              <a:off x="0" y="0"/>
              <a:ext cx="3493008" cy="932688"/>
            </a:xfrm>
            <a:custGeom>
              <a:avLst/>
              <a:gdLst/>
              <a:ahLst/>
              <a:cxnLst/>
              <a:rect r="r" b="b" t="t" l="l"/>
              <a:pathLst>
                <a:path h="932688" w="3493008">
                  <a:moveTo>
                    <a:pt x="0" y="0"/>
                  </a:moveTo>
                  <a:lnTo>
                    <a:pt x="3493008" y="0"/>
                  </a:lnTo>
                  <a:lnTo>
                    <a:pt x="3493008" y="932688"/>
                  </a:lnTo>
                  <a:lnTo>
                    <a:pt x="0" y="932688"/>
                  </a:lnTo>
                  <a:close/>
                </a:path>
              </a:pathLst>
            </a:custGeom>
            <a:blipFill>
              <a:blip r:embed="rId3">
                <a:alphaModFix amt="0"/>
              </a:blip>
              <a:stretch>
                <a:fillRect l="0" t="-22973" r="0" b="-22973"/>
              </a:stretch>
            </a:blipFill>
          </p:spPr>
        </p:sp>
        <p:sp>
          <p:nvSpPr>
            <p:cNvPr name="TextBox 38" id="38"/>
            <p:cNvSpPr txBox="true"/>
            <p:nvPr/>
          </p:nvSpPr>
          <p:spPr>
            <a:xfrm>
              <a:off x="0" y="-9525"/>
              <a:ext cx="3493008" cy="94221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flush history</a:t>
              </a:r>
            </a:p>
          </p:txBody>
        </p:sp>
      </p:grpSp>
      <p:sp>
        <p:nvSpPr>
          <p:cNvPr name="AutoShape 39" id="39"/>
          <p:cNvSpPr/>
          <p:nvPr/>
        </p:nvSpPr>
        <p:spPr>
          <a:xfrm>
            <a:off x="8291322" y="4241672"/>
            <a:ext cx="1121277" cy="0"/>
          </a:xfrm>
          <a:prstGeom prst="line">
            <a:avLst/>
          </a:prstGeom>
          <a:ln cap="rnd" w="38100">
            <a:solidFill>
              <a:srgbClr val="1D3850"/>
            </a:solidFill>
            <a:prstDash val="solid"/>
            <a:headEnd type="none" len="sm" w="sm"/>
            <a:tailEnd type="triangle" len="med" w="lg"/>
          </a:ln>
        </p:spPr>
      </p:sp>
      <p:grpSp>
        <p:nvGrpSpPr>
          <p:cNvPr name="Group 40" id="40"/>
          <p:cNvGrpSpPr/>
          <p:nvPr/>
        </p:nvGrpSpPr>
        <p:grpSpPr>
          <a:xfrm rot="0">
            <a:off x="9480994" y="3487103"/>
            <a:ext cx="2969895" cy="1461135"/>
            <a:chOff x="0" y="0"/>
            <a:chExt cx="3959860" cy="1948180"/>
          </a:xfrm>
        </p:grpSpPr>
        <p:sp>
          <p:nvSpPr>
            <p:cNvPr name="Freeform 41" id="41"/>
            <p:cNvSpPr/>
            <p:nvPr/>
          </p:nvSpPr>
          <p:spPr>
            <a:xfrm flipH="false" flipV="false" rot="0">
              <a:off x="0" y="0"/>
              <a:ext cx="3959860" cy="1948180"/>
            </a:xfrm>
            <a:custGeom>
              <a:avLst/>
              <a:gdLst/>
              <a:ahLst/>
              <a:cxnLst/>
              <a:rect r="r" b="b" t="t" l="l"/>
              <a:pathLst>
                <a:path h="1948180" w="3959860">
                  <a:moveTo>
                    <a:pt x="0" y="148463"/>
                  </a:moveTo>
                  <a:cubicBezTo>
                    <a:pt x="0" y="66421"/>
                    <a:pt x="66421" y="0"/>
                    <a:pt x="148463" y="0"/>
                  </a:cubicBezTo>
                  <a:lnTo>
                    <a:pt x="3811397" y="0"/>
                  </a:lnTo>
                  <a:cubicBezTo>
                    <a:pt x="3893312" y="0"/>
                    <a:pt x="3959860" y="66421"/>
                    <a:pt x="3959860" y="148463"/>
                  </a:cubicBezTo>
                  <a:lnTo>
                    <a:pt x="3959860" y="1799717"/>
                  </a:lnTo>
                  <a:cubicBezTo>
                    <a:pt x="3959860" y="1881632"/>
                    <a:pt x="3893439" y="1948180"/>
                    <a:pt x="3811397" y="1948180"/>
                  </a:cubicBezTo>
                  <a:lnTo>
                    <a:pt x="148463" y="1948180"/>
                  </a:lnTo>
                  <a:cubicBezTo>
                    <a:pt x="66421" y="1948180"/>
                    <a:pt x="0" y="1881759"/>
                    <a:pt x="0" y="1799717"/>
                  </a:cubicBezTo>
                  <a:close/>
                </a:path>
              </a:pathLst>
            </a:custGeom>
            <a:solidFill>
              <a:srgbClr val="10253B"/>
            </a:solidFill>
            <a:ln w="20955" cap="sq">
              <a:solidFill>
                <a:srgbClr val="46D6F5"/>
              </a:solidFill>
              <a:prstDash val="solid"/>
              <a:miter/>
            </a:ln>
          </p:spPr>
        </p:sp>
      </p:grpSp>
      <p:grpSp>
        <p:nvGrpSpPr>
          <p:cNvPr name="Group 42" id="42"/>
          <p:cNvGrpSpPr/>
          <p:nvPr/>
        </p:nvGrpSpPr>
        <p:grpSpPr>
          <a:xfrm rot="0">
            <a:off x="9656064" y="3689604"/>
            <a:ext cx="2619756" cy="329184"/>
            <a:chOff x="0" y="0"/>
            <a:chExt cx="3493008" cy="438912"/>
          </a:xfrm>
        </p:grpSpPr>
        <p:sp>
          <p:nvSpPr>
            <p:cNvPr name="Freeform 43" id="43"/>
            <p:cNvSpPr/>
            <p:nvPr/>
          </p:nvSpPr>
          <p:spPr>
            <a:xfrm flipH="false" flipV="false" rot="0">
              <a:off x="0" y="0"/>
              <a:ext cx="3493008" cy="438912"/>
            </a:xfrm>
            <a:custGeom>
              <a:avLst/>
              <a:gdLst/>
              <a:ahLst/>
              <a:cxnLst/>
              <a:rect r="r" b="b" t="t" l="l"/>
              <a:pathLst>
                <a:path h="438912" w="3493008">
                  <a:moveTo>
                    <a:pt x="0" y="0"/>
                  </a:moveTo>
                  <a:lnTo>
                    <a:pt x="3493008" y="0"/>
                  </a:lnTo>
                  <a:lnTo>
                    <a:pt x="3493008" y="438912"/>
                  </a:lnTo>
                  <a:lnTo>
                    <a:pt x="0" y="438912"/>
                  </a:lnTo>
                  <a:close/>
                </a:path>
              </a:pathLst>
            </a:custGeom>
            <a:blipFill>
              <a:blip r:embed="rId3">
                <a:alphaModFix amt="0"/>
              </a:blip>
              <a:stretch>
                <a:fillRect l="0" t="-105068" r="0" b="-105068"/>
              </a:stretch>
            </a:blipFill>
          </p:spPr>
        </p:sp>
        <p:sp>
          <p:nvSpPr>
            <p:cNvPr name="TextBox 44" id="44"/>
            <p:cNvSpPr txBox="true"/>
            <p:nvPr/>
          </p:nvSpPr>
          <p:spPr>
            <a:xfrm>
              <a:off x="0" y="0"/>
              <a:ext cx="349300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BROKER</a:t>
              </a:r>
            </a:p>
          </p:txBody>
        </p:sp>
      </p:grpSp>
      <p:grpSp>
        <p:nvGrpSpPr>
          <p:cNvPr name="Group 45" id="45"/>
          <p:cNvGrpSpPr/>
          <p:nvPr/>
        </p:nvGrpSpPr>
        <p:grpSpPr>
          <a:xfrm rot="0">
            <a:off x="9656064" y="4128516"/>
            <a:ext cx="2619756" cy="699516"/>
            <a:chOff x="0" y="0"/>
            <a:chExt cx="3493008" cy="932688"/>
          </a:xfrm>
        </p:grpSpPr>
        <p:sp>
          <p:nvSpPr>
            <p:cNvPr name="Freeform 46" id="46"/>
            <p:cNvSpPr/>
            <p:nvPr/>
          </p:nvSpPr>
          <p:spPr>
            <a:xfrm flipH="false" flipV="false" rot="0">
              <a:off x="0" y="0"/>
              <a:ext cx="3493008" cy="932688"/>
            </a:xfrm>
            <a:custGeom>
              <a:avLst/>
              <a:gdLst/>
              <a:ahLst/>
              <a:cxnLst/>
              <a:rect r="r" b="b" t="t" l="l"/>
              <a:pathLst>
                <a:path h="932688" w="3493008">
                  <a:moveTo>
                    <a:pt x="0" y="0"/>
                  </a:moveTo>
                  <a:lnTo>
                    <a:pt x="3493008" y="0"/>
                  </a:lnTo>
                  <a:lnTo>
                    <a:pt x="3493008" y="932688"/>
                  </a:lnTo>
                  <a:lnTo>
                    <a:pt x="0" y="932688"/>
                  </a:lnTo>
                  <a:close/>
                </a:path>
              </a:pathLst>
            </a:custGeom>
            <a:blipFill>
              <a:blip r:embed="rId3">
                <a:alphaModFix amt="0"/>
              </a:blip>
              <a:stretch>
                <a:fillRect l="0" t="-22973" r="0" b="-22973"/>
              </a:stretch>
            </a:blipFill>
          </p:spPr>
        </p:sp>
        <p:sp>
          <p:nvSpPr>
            <p:cNvPr name="TextBox 47" id="47"/>
            <p:cNvSpPr txBox="true"/>
            <p:nvPr/>
          </p:nvSpPr>
          <p:spPr>
            <a:xfrm>
              <a:off x="0" y="-9525"/>
              <a:ext cx="3493008" cy="94221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re-publish</a:t>
              </a:r>
            </a:p>
          </p:txBody>
        </p:sp>
      </p:grpSp>
      <p:sp>
        <p:nvSpPr>
          <p:cNvPr name="AutoShape 48" id="48"/>
          <p:cNvSpPr/>
          <p:nvPr/>
        </p:nvSpPr>
        <p:spPr>
          <a:xfrm>
            <a:off x="12622569" y="4241672"/>
            <a:ext cx="1096854" cy="0"/>
          </a:xfrm>
          <a:prstGeom prst="line">
            <a:avLst/>
          </a:prstGeom>
          <a:ln cap="rnd" w="38100">
            <a:solidFill>
              <a:srgbClr val="1D3850"/>
            </a:solidFill>
            <a:prstDash val="solid"/>
            <a:headEnd type="none" len="sm" w="sm"/>
            <a:tailEnd type="triangle" len="med" w="lg"/>
          </a:ln>
        </p:spPr>
      </p:sp>
      <p:grpSp>
        <p:nvGrpSpPr>
          <p:cNvPr name="Group 49" id="49"/>
          <p:cNvGrpSpPr/>
          <p:nvPr/>
        </p:nvGrpSpPr>
        <p:grpSpPr>
          <a:xfrm rot="0">
            <a:off x="13787818" y="3487103"/>
            <a:ext cx="3107055" cy="1461135"/>
            <a:chOff x="0" y="0"/>
            <a:chExt cx="4142740" cy="1948180"/>
          </a:xfrm>
        </p:grpSpPr>
        <p:sp>
          <p:nvSpPr>
            <p:cNvPr name="Freeform 50" id="50"/>
            <p:cNvSpPr/>
            <p:nvPr/>
          </p:nvSpPr>
          <p:spPr>
            <a:xfrm flipH="false" flipV="false" rot="0">
              <a:off x="0" y="0"/>
              <a:ext cx="4142740" cy="1948180"/>
            </a:xfrm>
            <a:custGeom>
              <a:avLst/>
              <a:gdLst/>
              <a:ahLst/>
              <a:cxnLst/>
              <a:rect r="r" b="b" t="t" l="l"/>
              <a:pathLst>
                <a:path h="1948180" w="4142740">
                  <a:moveTo>
                    <a:pt x="0" y="148463"/>
                  </a:moveTo>
                  <a:cubicBezTo>
                    <a:pt x="0" y="66421"/>
                    <a:pt x="66421" y="0"/>
                    <a:pt x="148463" y="0"/>
                  </a:cubicBezTo>
                  <a:lnTo>
                    <a:pt x="3994277" y="0"/>
                  </a:lnTo>
                  <a:cubicBezTo>
                    <a:pt x="4076192" y="0"/>
                    <a:pt x="4142740" y="66421"/>
                    <a:pt x="4142740" y="148463"/>
                  </a:cubicBezTo>
                  <a:lnTo>
                    <a:pt x="4142740" y="1799717"/>
                  </a:lnTo>
                  <a:cubicBezTo>
                    <a:pt x="4142740" y="1881632"/>
                    <a:pt x="4076319" y="1948180"/>
                    <a:pt x="3994277" y="1948180"/>
                  </a:cubicBezTo>
                  <a:lnTo>
                    <a:pt x="148463" y="1948180"/>
                  </a:lnTo>
                  <a:cubicBezTo>
                    <a:pt x="66421" y="1948180"/>
                    <a:pt x="0" y="1881759"/>
                    <a:pt x="0" y="1799717"/>
                  </a:cubicBezTo>
                  <a:close/>
                </a:path>
              </a:pathLst>
            </a:custGeom>
            <a:solidFill>
              <a:srgbClr val="10253B"/>
            </a:solidFill>
            <a:ln w="20955" cap="sq">
              <a:solidFill>
                <a:srgbClr val="68A8FF"/>
              </a:solidFill>
              <a:prstDash val="solid"/>
              <a:miter/>
            </a:ln>
          </p:spPr>
        </p:sp>
      </p:grpSp>
      <p:grpSp>
        <p:nvGrpSpPr>
          <p:cNvPr name="Group 51" id="51"/>
          <p:cNvGrpSpPr/>
          <p:nvPr/>
        </p:nvGrpSpPr>
        <p:grpSpPr>
          <a:xfrm rot="0">
            <a:off x="13962888" y="3689604"/>
            <a:ext cx="2756916" cy="329184"/>
            <a:chOff x="0" y="0"/>
            <a:chExt cx="3675888" cy="438912"/>
          </a:xfrm>
        </p:grpSpPr>
        <p:sp>
          <p:nvSpPr>
            <p:cNvPr name="Freeform 52" id="52"/>
            <p:cNvSpPr/>
            <p:nvPr/>
          </p:nvSpPr>
          <p:spPr>
            <a:xfrm flipH="false" flipV="false" rot="0">
              <a:off x="0" y="0"/>
              <a:ext cx="3675888" cy="438912"/>
            </a:xfrm>
            <a:custGeom>
              <a:avLst/>
              <a:gdLst/>
              <a:ahLst/>
              <a:cxnLst/>
              <a:rect r="r" b="b" t="t" l="l"/>
              <a:pathLst>
                <a:path h="438912" w="3675888">
                  <a:moveTo>
                    <a:pt x="0" y="0"/>
                  </a:moveTo>
                  <a:lnTo>
                    <a:pt x="3675888" y="0"/>
                  </a:lnTo>
                  <a:lnTo>
                    <a:pt x="3675888" y="438912"/>
                  </a:lnTo>
                  <a:lnTo>
                    <a:pt x="0" y="438912"/>
                  </a:lnTo>
                  <a:close/>
                </a:path>
              </a:pathLst>
            </a:custGeom>
            <a:blipFill>
              <a:blip r:embed="rId3">
                <a:alphaModFix amt="0"/>
              </a:blip>
              <a:stretch>
                <a:fillRect l="0" t="-113187" r="0" b="-113187"/>
              </a:stretch>
            </a:blipFill>
          </p:spPr>
        </p:sp>
        <p:sp>
          <p:nvSpPr>
            <p:cNvPr name="TextBox 53" id="53"/>
            <p:cNvSpPr txBox="true"/>
            <p:nvPr/>
          </p:nvSpPr>
          <p:spPr>
            <a:xfrm>
              <a:off x="0" y="0"/>
              <a:ext cx="3675888" cy="438912"/>
            </a:xfrm>
            <a:prstGeom prst="rect">
              <a:avLst/>
            </a:prstGeom>
          </p:spPr>
          <p:txBody>
            <a:bodyPr anchor="ctr" rtlCol="false" tIns="0" lIns="0" bIns="0" rIns="0"/>
            <a:lstStyle/>
            <a:p>
              <a:pPr algn="ctr">
                <a:lnSpc>
                  <a:spcPts val="2340"/>
                </a:lnSpc>
              </a:pPr>
              <a:r>
                <a:rPr lang="en-US" sz="1950" b="true">
                  <a:solidFill>
                    <a:srgbClr val="F5F8FC"/>
                  </a:solidFill>
                  <a:latin typeface="Aptos Bold"/>
                  <a:ea typeface="Aptos Bold"/>
                  <a:cs typeface="Aptos Bold"/>
                  <a:sym typeface="Aptos Bold"/>
                </a:rPr>
                <a:t>HISTORY API</a:t>
              </a:r>
            </a:p>
          </p:txBody>
        </p:sp>
      </p:grpSp>
      <p:grpSp>
        <p:nvGrpSpPr>
          <p:cNvPr name="Group 54" id="54"/>
          <p:cNvGrpSpPr/>
          <p:nvPr/>
        </p:nvGrpSpPr>
        <p:grpSpPr>
          <a:xfrm rot="0">
            <a:off x="13962888" y="4128516"/>
            <a:ext cx="2756916" cy="699516"/>
            <a:chOff x="0" y="0"/>
            <a:chExt cx="3675888" cy="932688"/>
          </a:xfrm>
        </p:grpSpPr>
        <p:sp>
          <p:nvSpPr>
            <p:cNvPr name="Freeform 55" id="55"/>
            <p:cNvSpPr/>
            <p:nvPr/>
          </p:nvSpPr>
          <p:spPr>
            <a:xfrm flipH="false" flipV="false" rot="0">
              <a:off x="0" y="0"/>
              <a:ext cx="3675888" cy="932688"/>
            </a:xfrm>
            <a:custGeom>
              <a:avLst/>
              <a:gdLst/>
              <a:ahLst/>
              <a:cxnLst/>
              <a:rect r="r" b="b" t="t" l="l"/>
              <a:pathLst>
                <a:path h="932688" w="3675888">
                  <a:moveTo>
                    <a:pt x="0" y="0"/>
                  </a:moveTo>
                  <a:lnTo>
                    <a:pt x="3675888" y="0"/>
                  </a:lnTo>
                  <a:lnTo>
                    <a:pt x="3675888" y="932688"/>
                  </a:lnTo>
                  <a:lnTo>
                    <a:pt x="0" y="932688"/>
                  </a:lnTo>
                  <a:close/>
                </a:path>
              </a:pathLst>
            </a:custGeom>
            <a:blipFill>
              <a:blip r:embed="rId3">
                <a:alphaModFix amt="0"/>
              </a:blip>
              <a:stretch>
                <a:fillRect l="0" t="-26793" r="0" b="-26793"/>
              </a:stretch>
            </a:blipFill>
          </p:spPr>
        </p:sp>
        <p:sp>
          <p:nvSpPr>
            <p:cNvPr name="TextBox 56" id="56"/>
            <p:cNvSpPr txBox="true"/>
            <p:nvPr/>
          </p:nvSpPr>
          <p:spPr>
            <a:xfrm>
              <a:off x="0" y="-9525"/>
              <a:ext cx="3675888" cy="942213"/>
            </a:xfrm>
            <a:prstGeom prst="rect">
              <a:avLst/>
            </a:prstGeom>
          </p:spPr>
          <p:txBody>
            <a:bodyPr anchor="ctr" rtlCol="false" tIns="0" lIns="0" bIns="0" rIns="0"/>
            <a:lstStyle/>
            <a:p>
              <a:pPr algn="ctr">
                <a:lnSpc>
                  <a:spcPts val="1530"/>
                </a:lnSpc>
              </a:pPr>
              <a:r>
                <a:rPr lang="en-US" sz="1275">
                  <a:solidFill>
                    <a:srgbClr val="9BAFC2"/>
                  </a:solidFill>
                  <a:latin typeface="Aptos"/>
                  <a:ea typeface="Aptos"/>
                  <a:cs typeface="Aptos"/>
                  <a:sym typeface="Aptos"/>
                </a:rPr>
                <a:t>chart backfill</a:t>
              </a:r>
            </a:p>
          </p:txBody>
        </p:sp>
      </p:grpSp>
      <p:sp>
        <p:nvSpPr>
          <p:cNvPr name="AutoShape 57" id="57"/>
          <p:cNvSpPr/>
          <p:nvPr/>
        </p:nvSpPr>
        <p:spPr>
          <a:xfrm>
            <a:off x="1540384" y="5661695"/>
            <a:ext cx="14695167" cy="18979"/>
          </a:xfrm>
          <a:prstGeom prst="line">
            <a:avLst/>
          </a:prstGeom>
          <a:ln cap="rnd" w="9525">
            <a:solidFill>
              <a:srgbClr val="1D3850"/>
            </a:solidFill>
            <a:prstDash val="solid"/>
            <a:headEnd type="none" len="sm" w="sm"/>
            <a:tailEnd type="none" len="sm" w="sm"/>
          </a:ln>
        </p:spPr>
      </p:sp>
      <p:sp>
        <p:nvSpPr>
          <p:cNvPr name="AutoShape 58" id="58"/>
          <p:cNvSpPr/>
          <p:nvPr/>
        </p:nvSpPr>
        <p:spPr>
          <a:xfrm>
            <a:off x="6659118" y="6865013"/>
            <a:ext cx="1632204" cy="0"/>
          </a:xfrm>
          <a:prstGeom prst="line">
            <a:avLst/>
          </a:prstGeom>
          <a:ln cap="rnd" w="19050">
            <a:solidFill>
              <a:srgbClr val="46D6F5"/>
            </a:solidFill>
            <a:prstDash val="solid"/>
            <a:headEnd type="none" len="sm" w="sm"/>
            <a:tailEnd type="triangle" len="med" w="lg"/>
          </a:ln>
        </p:spPr>
      </p:sp>
      <p:grpSp>
        <p:nvGrpSpPr>
          <p:cNvPr name="Group 59" id="59"/>
          <p:cNvGrpSpPr/>
          <p:nvPr/>
        </p:nvGrpSpPr>
        <p:grpSpPr>
          <a:xfrm rot="0">
            <a:off x="4268343" y="6647462"/>
            <a:ext cx="2072640" cy="426720"/>
            <a:chOff x="0" y="0"/>
            <a:chExt cx="2763520" cy="568960"/>
          </a:xfrm>
        </p:grpSpPr>
        <p:sp>
          <p:nvSpPr>
            <p:cNvPr name="Freeform 60" id="60"/>
            <p:cNvSpPr/>
            <p:nvPr/>
          </p:nvSpPr>
          <p:spPr>
            <a:xfrm flipH="false" flipV="false" rot="0">
              <a:off x="0" y="0"/>
              <a:ext cx="2763520" cy="568960"/>
            </a:xfrm>
            <a:custGeom>
              <a:avLst/>
              <a:gdLst/>
              <a:ahLst/>
              <a:cxnLst/>
              <a:rect r="r" b="b" t="t" l="l"/>
              <a:pathLst>
                <a:path h="568960" w="2763520">
                  <a:moveTo>
                    <a:pt x="0" y="113792"/>
                  </a:moveTo>
                  <a:cubicBezTo>
                    <a:pt x="0" y="50927"/>
                    <a:pt x="50927" y="0"/>
                    <a:pt x="113792" y="0"/>
                  </a:cubicBezTo>
                  <a:lnTo>
                    <a:pt x="2649728" y="0"/>
                  </a:lnTo>
                  <a:cubicBezTo>
                    <a:pt x="2712593" y="0"/>
                    <a:pt x="2763520" y="50927"/>
                    <a:pt x="2763520" y="113792"/>
                  </a:cubicBezTo>
                  <a:lnTo>
                    <a:pt x="2763520" y="455168"/>
                  </a:lnTo>
                  <a:cubicBezTo>
                    <a:pt x="2763520" y="518033"/>
                    <a:pt x="2712593" y="568960"/>
                    <a:pt x="2649728" y="568960"/>
                  </a:cubicBezTo>
                  <a:lnTo>
                    <a:pt x="113792" y="568960"/>
                  </a:lnTo>
                  <a:cubicBezTo>
                    <a:pt x="50927" y="568960"/>
                    <a:pt x="0" y="518033"/>
                    <a:pt x="0" y="455168"/>
                  </a:cubicBezTo>
                  <a:close/>
                </a:path>
              </a:pathLst>
            </a:custGeom>
            <a:solidFill>
              <a:srgbClr val="F6C85F">
                <a:alpha val="3137"/>
              </a:srgbClr>
            </a:solidFill>
            <a:ln w="15240" cap="sq">
              <a:solidFill>
                <a:srgbClr val="F6C85F"/>
              </a:solidFill>
              <a:prstDash val="solid"/>
              <a:miter/>
            </a:ln>
          </p:spPr>
        </p:sp>
      </p:grpSp>
      <p:grpSp>
        <p:nvGrpSpPr>
          <p:cNvPr name="Group 61" id="61"/>
          <p:cNvGrpSpPr/>
          <p:nvPr/>
        </p:nvGrpSpPr>
        <p:grpSpPr>
          <a:xfrm rot="0">
            <a:off x="4275963" y="6751094"/>
            <a:ext cx="2057400" cy="225400"/>
            <a:chOff x="0" y="0"/>
            <a:chExt cx="2743200" cy="300534"/>
          </a:xfrm>
        </p:grpSpPr>
        <p:sp>
          <p:nvSpPr>
            <p:cNvPr name="Freeform 62" id="62"/>
            <p:cNvSpPr/>
            <p:nvPr/>
          </p:nvSpPr>
          <p:spPr>
            <a:xfrm flipH="false" flipV="false" rot="0">
              <a:off x="0" y="0"/>
              <a:ext cx="2743200" cy="300534"/>
            </a:xfrm>
            <a:custGeom>
              <a:avLst/>
              <a:gdLst/>
              <a:ahLst/>
              <a:cxnLst/>
              <a:rect r="r" b="b" t="t" l="l"/>
              <a:pathLst>
                <a:path h="300534" w="2743200">
                  <a:moveTo>
                    <a:pt x="0" y="0"/>
                  </a:moveTo>
                  <a:lnTo>
                    <a:pt x="2743200" y="0"/>
                  </a:lnTo>
                  <a:lnTo>
                    <a:pt x="2743200" y="300534"/>
                  </a:lnTo>
                  <a:lnTo>
                    <a:pt x="0" y="300534"/>
                  </a:lnTo>
                  <a:close/>
                </a:path>
              </a:pathLst>
            </a:custGeom>
            <a:blipFill>
              <a:blip r:embed="rId3">
                <a:alphaModFix amt="0"/>
              </a:blip>
              <a:stretch>
                <a:fillRect l="0" t="-138301" r="0" b="-117408"/>
              </a:stretch>
            </a:blipFill>
          </p:spPr>
        </p:sp>
        <p:sp>
          <p:nvSpPr>
            <p:cNvPr name="TextBox 63" id="63"/>
            <p:cNvSpPr txBox="true"/>
            <p:nvPr/>
          </p:nvSpPr>
          <p:spPr>
            <a:xfrm>
              <a:off x="0" y="0"/>
              <a:ext cx="2743200" cy="300534"/>
            </a:xfrm>
            <a:prstGeom prst="rect">
              <a:avLst/>
            </a:prstGeom>
          </p:spPr>
          <p:txBody>
            <a:bodyPr anchor="ctr" rtlCol="false" tIns="0" lIns="0" bIns="0" rIns="0"/>
            <a:lstStyle/>
            <a:p>
              <a:pPr algn="ctr">
                <a:lnSpc>
                  <a:spcPts val="1439"/>
                </a:lnSpc>
              </a:pPr>
              <a:r>
                <a:rPr lang="en-US" sz="1200" b="true">
                  <a:solidFill>
                    <a:srgbClr val="F6C85F"/>
                  </a:solidFill>
                  <a:latin typeface="Aptos Bold"/>
                  <a:ea typeface="Aptos Bold"/>
                  <a:cs typeface="Aptos Bold"/>
                  <a:sym typeface="Aptos Bold"/>
                </a:rPr>
                <a:t>Load History</a:t>
              </a:r>
              <a:r>
                <a:rPr lang="en-US" sz="1200" b="true">
                  <a:solidFill>
                    <a:srgbClr val="F6C85F"/>
                  </a:solidFill>
                  <a:latin typeface="Aptos Bold"/>
                  <a:ea typeface="Aptos Bold"/>
                  <a:cs typeface="Aptos Bold"/>
                  <a:sym typeface="Aptos Bold"/>
                </a:rPr>
                <a:t> API</a:t>
              </a:r>
            </a:p>
          </p:txBody>
        </p:sp>
      </p:grpSp>
      <p:grpSp>
        <p:nvGrpSpPr>
          <p:cNvPr name="Group 64" id="64"/>
          <p:cNvGrpSpPr/>
          <p:nvPr/>
        </p:nvGrpSpPr>
        <p:grpSpPr>
          <a:xfrm rot="0">
            <a:off x="8566785" y="6672227"/>
            <a:ext cx="2827020" cy="426720"/>
            <a:chOff x="0" y="0"/>
            <a:chExt cx="3769360" cy="568960"/>
          </a:xfrm>
        </p:grpSpPr>
        <p:sp>
          <p:nvSpPr>
            <p:cNvPr name="Freeform 65" id="65"/>
            <p:cNvSpPr/>
            <p:nvPr/>
          </p:nvSpPr>
          <p:spPr>
            <a:xfrm flipH="false" flipV="false" rot="0">
              <a:off x="0" y="0"/>
              <a:ext cx="3769360" cy="568960"/>
            </a:xfrm>
            <a:custGeom>
              <a:avLst/>
              <a:gdLst/>
              <a:ahLst/>
              <a:cxnLst/>
              <a:rect r="r" b="b" t="t" l="l"/>
              <a:pathLst>
                <a:path h="568960" w="3769360">
                  <a:moveTo>
                    <a:pt x="0" y="113792"/>
                  </a:moveTo>
                  <a:cubicBezTo>
                    <a:pt x="0" y="50927"/>
                    <a:pt x="50927" y="0"/>
                    <a:pt x="113792" y="0"/>
                  </a:cubicBezTo>
                  <a:lnTo>
                    <a:pt x="3655568" y="0"/>
                  </a:lnTo>
                  <a:cubicBezTo>
                    <a:pt x="3718433" y="0"/>
                    <a:pt x="3769360" y="50927"/>
                    <a:pt x="3769360" y="113792"/>
                  </a:cubicBezTo>
                  <a:lnTo>
                    <a:pt x="3769360" y="455168"/>
                  </a:lnTo>
                  <a:cubicBezTo>
                    <a:pt x="3769360" y="518033"/>
                    <a:pt x="3718433" y="568960"/>
                    <a:pt x="3655568" y="568960"/>
                  </a:cubicBezTo>
                  <a:lnTo>
                    <a:pt x="113792" y="568960"/>
                  </a:lnTo>
                  <a:cubicBezTo>
                    <a:pt x="50927" y="568960"/>
                    <a:pt x="0" y="518033"/>
                    <a:pt x="0" y="455168"/>
                  </a:cubicBezTo>
                  <a:close/>
                </a:path>
              </a:pathLst>
            </a:custGeom>
            <a:solidFill>
              <a:srgbClr val="76E2A1">
                <a:alpha val="3137"/>
              </a:srgbClr>
            </a:solidFill>
            <a:ln w="15240" cap="sq">
              <a:solidFill>
                <a:srgbClr val="76E2A1"/>
              </a:solidFill>
              <a:prstDash val="solid"/>
              <a:miter/>
            </a:ln>
          </p:spPr>
        </p:sp>
      </p:grpSp>
      <p:grpSp>
        <p:nvGrpSpPr>
          <p:cNvPr name="Group 66" id="66"/>
          <p:cNvGrpSpPr/>
          <p:nvPr/>
        </p:nvGrpSpPr>
        <p:grpSpPr>
          <a:xfrm rot="0">
            <a:off x="8574405" y="6775859"/>
            <a:ext cx="2811780" cy="178308"/>
            <a:chOff x="0" y="0"/>
            <a:chExt cx="3749040" cy="237744"/>
          </a:xfrm>
        </p:grpSpPr>
        <p:sp>
          <p:nvSpPr>
            <p:cNvPr name="Freeform 67" id="67"/>
            <p:cNvSpPr/>
            <p:nvPr/>
          </p:nvSpPr>
          <p:spPr>
            <a:xfrm flipH="false" flipV="false" rot="0">
              <a:off x="0" y="0"/>
              <a:ext cx="3749040" cy="237744"/>
            </a:xfrm>
            <a:custGeom>
              <a:avLst/>
              <a:gdLst/>
              <a:ahLst/>
              <a:cxnLst/>
              <a:rect r="r" b="b" t="t" l="l"/>
              <a:pathLst>
                <a:path h="237744" w="3749040">
                  <a:moveTo>
                    <a:pt x="0" y="0"/>
                  </a:moveTo>
                  <a:lnTo>
                    <a:pt x="3749040" y="0"/>
                  </a:lnTo>
                  <a:lnTo>
                    <a:pt x="3749040" y="237744"/>
                  </a:lnTo>
                  <a:lnTo>
                    <a:pt x="0" y="237744"/>
                  </a:lnTo>
                  <a:close/>
                </a:path>
              </a:pathLst>
            </a:custGeom>
            <a:blipFill>
              <a:blip r:embed="rId3">
                <a:alphaModFix amt="0"/>
              </a:blip>
              <a:stretch>
                <a:fillRect l="0" t="-257264" r="0" b="-257264"/>
              </a:stretch>
            </a:blipFill>
          </p:spPr>
        </p:sp>
        <p:sp>
          <p:nvSpPr>
            <p:cNvPr name="TextBox 68" id="68"/>
            <p:cNvSpPr txBox="true"/>
            <p:nvPr/>
          </p:nvSpPr>
          <p:spPr>
            <a:xfrm>
              <a:off x="0" y="0"/>
              <a:ext cx="3749040" cy="237744"/>
            </a:xfrm>
            <a:prstGeom prst="rect">
              <a:avLst/>
            </a:prstGeom>
          </p:spPr>
          <p:txBody>
            <a:bodyPr anchor="ctr" rtlCol="false" tIns="0" lIns="0" bIns="0" rIns="0"/>
            <a:lstStyle/>
            <a:p>
              <a:pPr algn="ctr">
                <a:lnSpc>
                  <a:spcPts val="1439"/>
                </a:lnSpc>
              </a:pPr>
              <a:r>
                <a:rPr lang="en-US" sz="1200" b="true">
                  <a:solidFill>
                    <a:srgbClr val="76E2A1"/>
                  </a:solidFill>
                  <a:latin typeface="Aptos Bold"/>
                  <a:ea typeface="Aptos Bold"/>
                  <a:cs typeface="Aptos Bold"/>
                  <a:sym typeface="Aptos Bold"/>
                </a:rPr>
                <a:t>100% HISTORY BACKFILL</a:t>
              </a:r>
            </a:p>
          </p:txBody>
        </p:sp>
      </p:grpSp>
      <p:sp>
        <p:nvSpPr>
          <p:cNvPr name="TextBox 69" id="69"/>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31</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68A8FF"/>
            </a:solidFill>
            <a:ln w="19050" cap="sq">
              <a:solidFill>
                <a:srgbClr val="68A8FF"/>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08</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595"/>
                </a:lnSpc>
              </a:pPr>
              <a:r>
                <a:rPr lang="en-US" b="true" sz="1329" spc="178">
                  <a:solidFill>
                    <a:srgbClr val="9BAFC2"/>
                  </a:solidFill>
                  <a:latin typeface="Aptos Bold"/>
                  <a:ea typeface="Aptos Bold"/>
                  <a:cs typeface="Aptos Bold"/>
                  <a:sym typeface="Aptos Bold"/>
                </a:rPr>
                <a:t>CHAPTER 8 • CONCLUSION</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Project conclusion</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The prototype closes the loop from sensing to action and audit.</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52500" y="2982468"/>
            <a:ext cx="7860792" cy="2182368"/>
            <a:chOff x="0" y="0"/>
            <a:chExt cx="10481056" cy="2909824"/>
          </a:xfrm>
        </p:grpSpPr>
        <p:sp>
          <p:nvSpPr>
            <p:cNvPr name="Freeform 23" id="23"/>
            <p:cNvSpPr/>
            <p:nvPr/>
          </p:nvSpPr>
          <p:spPr>
            <a:xfrm flipH="false" flipV="false" rot="0">
              <a:off x="0" y="0"/>
              <a:ext cx="10481056" cy="2909824"/>
            </a:xfrm>
            <a:custGeom>
              <a:avLst/>
              <a:gdLst/>
              <a:ahLst/>
              <a:cxnLst/>
              <a:rect r="r" b="b" t="t" l="l"/>
              <a:pathLst>
                <a:path h="2909824" w="10481056">
                  <a:moveTo>
                    <a:pt x="0" y="147320"/>
                  </a:moveTo>
                  <a:cubicBezTo>
                    <a:pt x="0" y="65913"/>
                    <a:pt x="65913" y="0"/>
                    <a:pt x="147320" y="0"/>
                  </a:cubicBezTo>
                  <a:lnTo>
                    <a:pt x="10333736" y="0"/>
                  </a:lnTo>
                  <a:cubicBezTo>
                    <a:pt x="10415143" y="0"/>
                    <a:pt x="10481056" y="65913"/>
                    <a:pt x="10481056" y="147320"/>
                  </a:cubicBezTo>
                  <a:lnTo>
                    <a:pt x="10481056" y="2762504"/>
                  </a:lnTo>
                  <a:cubicBezTo>
                    <a:pt x="10481056" y="2843911"/>
                    <a:pt x="10415143" y="2909824"/>
                    <a:pt x="10333736" y="2909824"/>
                  </a:cubicBezTo>
                  <a:lnTo>
                    <a:pt x="147320" y="2909824"/>
                  </a:lnTo>
                  <a:cubicBezTo>
                    <a:pt x="65913" y="2909824"/>
                    <a:pt x="0" y="2843911"/>
                    <a:pt x="0" y="2762504"/>
                  </a:cubicBezTo>
                  <a:close/>
                </a:path>
              </a:pathLst>
            </a:custGeom>
            <a:solidFill>
              <a:srgbClr val="0E1D30"/>
            </a:solidFill>
            <a:ln w="15240" cap="sq">
              <a:solidFill>
                <a:srgbClr val="1D3850"/>
              </a:solidFill>
              <a:prstDash val="solid"/>
              <a:miter/>
            </a:ln>
          </p:spPr>
        </p:sp>
      </p:grpSp>
      <p:grpSp>
        <p:nvGrpSpPr>
          <p:cNvPr name="Group 24" id="24"/>
          <p:cNvGrpSpPr/>
          <p:nvPr/>
        </p:nvGrpSpPr>
        <p:grpSpPr>
          <a:xfrm rot="0">
            <a:off x="2029968" y="3264408"/>
            <a:ext cx="6473952" cy="342900"/>
            <a:chOff x="0" y="0"/>
            <a:chExt cx="8631936" cy="457200"/>
          </a:xfrm>
        </p:grpSpPr>
        <p:sp>
          <p:nvSpPr>
            <p:cNvPr name="Freeform 25" id="25"/>
            <p:cNvSpPr/>
            <p:nvPr/>
          </p:nvSpPr>
          <p:spPr>
            <a:xfrm flipH="false" flipV="false" rot="0">
              <a:off x="0" y="0"/>
              <a:ext cx="8631936" cy="457200"/>
            </a:xfrm>
            <a:custGeom>
              <a:avLst/>
              <a:gdLst/>
              <a:ahLst/>
              <a:cxnLst/>
              <a:rect r="r" b="b" t="t" l="l"/>
              <a:pathLst>
                <a:path h="457200" w="8631936">
                  <a:moveTo>
                    <a:pt x="0" y="0"/>
                  </a:moveTo>
                  <a:lnTo>
                    <a:pt x="8631936" y="0"/>
                  </a:lnTo>
                  <a:lnTo>
                    <a:pt x="8631936" y="457200"/>
                  </a:lnTo>
                  <a:lnTo>
                    <a:pt x="0" y="457200"/>
                  </a:lnTo>
                  <a:close/>
                </a:path>
              </a:pathLst>
            </a:custGeom>
            <a:blipFill>
              <a:blip r:embed="rId3">
                <a:alphaModFix amt="0"/>
              </a:blip>
              <a:stretch>
                <a:fillRect l="0" t="-317877" r="0" b="-317877"/>
              </a:stretch>
            </a:blipFill>
          </p:spPr>
        </p:sp>
        <p:sp>
          <p:nvSpPr>
            <p:cNvPr name="TextBox 26" id="26"/>
            <p:cNvSpPr txBox="true"/>
            <p:nvPr/>
          </p:nvSpPr>
          <p:spPr>
            <a:xfrm>
              <a:off x="0" y="-9525"/>
              <a:ext cx="8631936"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EDGE</a:t>
              </a:r>
            </a:p>
          </p:txBody>
        </p:sp>
      </p:grpSp>
      <p:grpSp>
        <p:nvGrpSpPr>
          <p:cNvPr name="Group 27" id="27"/>
          <p:cNvGrpSpPr/>
          <p:nvPr/>
        </p:nvGrpSpPr>
        <p:grpSpPr>
          <a:xfrm rot="0">
            <a:off x="1261872" y="3895344"/>
            <a:ext cx="7242048" cy="576072"/>
            <a:chOff x="0" y="0"/>
            <a:chExt cx="9656064" cy="768096"/>
          </a:xfrm>
        </p:grpSpPr>
        <p:sp>
          <p:nvSpPr>
            <p:cNvPr name="Freeform 28" id="28"/>
            <p:cNvSpPr/>
            <p:nvPr/>
          </p:nvSpPr>
          <p:spPr>
            <a:xfrm flipH="false" flipV="false" rot="0">
              <a:off x="0" y="0"/>
              <a:ext cx="9656064" cy="768096"/>
            </a:xfrm>
            <a:custGeom>
              <a:avLst/>
              <a:gdLst/>
              <a:ahLst/>
              <a:cxnLst/>
              <a:rect r="r" b="b" t="t" l="l"/>
              <a:pathLst>
                <a:path h="768096" w="9656064">
                  <a:moveTo>
                    <a:pt x="0" y="0"/>
                  </a:moveTo>
                  <a:lnTo>
                    <a:pt x="9656064" y="0"/>
                  </a:lnTo>
                  <a:lnTo>
                    <a:pt x="9656064" y="768096"/>
                  </a:lnTo>
                  <a:lnTo>
                    <a:pt x="0" y="768096"/>
                  </a:lnTo>
                  <a:close/>
                </a:path>
              </a:pathLst>
            </a:custGeom>
            <a:blipFill>
              <a:blip r:embed="rId3">
                <a:alphaModFix amt="0"/>
              </a:blip>
              <a:stretch>
                <a:fillRect l="0" t="-194954" r="0" b="-194954"/>
              </a:stretch>
            </a:blipFill>
          </p:spPr>
        </p:sp>
        <p:sp>
          <p:nvSpPr>
            <p:cNvPr name="TextBox 29" id="29"/>
            <p:cNvSpPr txBox="true"/>
            <p:nvPr/>
          </p:nvSpPr>
          <p:spPr>
            <a:xfrm>
              <a:off x="0" y="0"/>
              <a:ext cx="9656064"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EMA + Thermal FSM</a:t>
              </a:r>
            </a:p>
          </p:txBody>
        </p:sp>
      </p:grpSp>
      <p:sp>
        <p:nvSpPr>
          <p:cNvPr name="TextBox 30" id="30"/>
          <p:cNvSpPr txBox="true"/>
          <p:nvPr/>
        </p:nvSpPr>
        <p:spPr>
          <a:xfrm rot="0">
            <a:off x="1261872" y="4608576"/>
            <a:ext cx="7242048" cy="315468"/>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Smart local decision-making</a:t>
            </a:r>
          </a:p>
        </p:txBody>
      </p:sp>
      <p:grpSp>
        <p:nvGrpSpPr>
          <p:cNvPr name="Group 31" id="31"/>
          <p:cNvGrpSpPr/>
          <p:nvPr/>
        </p:nvGrpSpPr>
        <p:grpSpPr>
          <a:xfrm rot="0">
            <a:off x="9319260" y="2982468"/>
            <a:ext cx="7860792" cy="2182368"/>
            <a:chOff x="0" y="0"/>
            <a:chExt cx="10481056" cy="2909824"/>
          </a:xfrm>
        </p:grpSpPr>
        <p:sp>
          <p:nvSpPr>
            <p:cNvPr name="Freeform 32" id="32"/>
            <p:cNvSpPr/>
            <p:nvPr/>
          </p:nvSpPr>
          <p:spPr>
            <a:xfrm flipH="false" flipV="false" rot="0">
              <a:off x="0" y="0"/>
              <a:ext cx="10481056" cy="2909824"/>
            </a:xfrm>
            <a:custGeom>
              <a:avLst/>
              <a:gdLst/>
              <a:ahLst/>
              <a:cxnLst/>
              <a:rect r="r" b="b" t="t" l="l"/>
              <a:pathLst>
                <a:path h="2909824" w="10481056">
                  <a:moveTo>
                    <a:pt x="0" y="147320"/>
                  </a:moveTo>
                  <a:cubicBezTo>
                    <a:pt x="0" y="65913"/>
                    <a:pt x="65913" y="0"/>
                    <a:pt x="147320" y="0"/>
                  </a:cubicBezTo>
                  <a:lnTo>
                    <a:pt x="10333736" y="0"/>
                  </a:lnTo>
                  <a:cubicBezTo>
                    <a:pt x="10415143" y="0"/>
                    <a:pt x="10481056" y="65913"/>
                    <a:pt x="10481056" y="147320"/>
                  </a:cubicBezTo>
                  <a:lnTo>
                    <a:pt x="10481056" y="2762504"/>
                  </a:lnTo>
                  <a:cubicBezTo>
                    <a:pt x="10481056" y="2843911"/>
                    <a:pt x="10415143" y="2909824"/>
                    <a:pt x="10333736" y="2909824"/>
                  </a:cubicBezTo>
                  <a:lnTo>
                    <a:pt x="147320" y="2909824"/>
                  </a:lnTo>
                  <a:cubicBezTo>
                    <a:pt x="65913" y="2909824"/>
                    <a:pt x="0" y="2843911"/>
                    <a:pt x="0" y="2762504"/>
                  </a:cubicBezTo>
                  <a:close/>
                </a:path>
              </a:pathLst>
            </a:custGeom>
            <a:solidFill>
              <a:srgbClr val="0E1D30"/>
            </a:solidFill>
            <a:ln w="15240" cap="sq">
              <a:solidFill>
                <a:srgbClr val="1D3850"/>
              </a:solidFill>
              <a:prstDash val="solid"/>
              <a:miter/>
            </a:ln>
          </p:spPr>
        </p:sp>
      </p:grpSp>
      <p:grpSp>
        <p:nvGrpSpPr>
          <p:cNvPr name="Group 33" id="33"/>
          <p:cNvGrpSpPr/>
          <p:nvPr/>
        </p:nvGrpSpPr>
        <p:grpSpPr>
          <a:xfrm rot="0">
            <a:off x="10396728" y="3264408"/>
            <a:ext cx="6908292" cy="365905"/>
            <a:chOff x="0" y="0"/>
            <a:chExt cx="8631936" cy="457200"/>
          </a:xfrm>
        </p:grpSpPr>
        <p:sp>
          <p:nvSpPr>
            <p:cNvPr name="Freeform 34" id="34"/>
            <p:cNvSpPr/>
            <p:nvPr/>
          </p:nvSpPr>
          <p:spPr>
            <a:xfrm flipH="false" flipV="false" rot="0">
              <a:off x="0" y="0"/>
              <a:ext cx="8631936" cy="457200"/>
            </a:xfrm>
            <a:custGeom>
              <a:avLst/>
              <a:gdLst/>
              <a:ahLst/>
              <a:cxnLst/>
              <a:rect r="r" b="b" t="t" l="l"/>
              <a:pathLst>
                <a:path h="457200" w="8631936">
                  <a:moveTo>
                    <a:pt x="0" y="0"/>
                  </a:moveTo>
                  <a:lnTo>
                    <a:pt x="8631936" y="0"/>
                  </a:lnTo>
                  <a:lnTo>
                    <a:pt x="8631936" y="457200"/>
                  </a:lnTo>
                  <a:lnTo>
                    <a:pt x="0" y="457200"/>
                  </a:lnTo>
                  <a:close/>
                </a:path>
              </a:pathLst>
            </a:custGeom>
            <a:blipFill>
              <a:blip r:embed="rId3">
                <a:alphaModFix amt="0"/>
              </a:blip>
              <a:stretch>
                <a:fillRect l="0" t="-317877" r="0" b="-317877"/>
              </a:stretch>
            </a:blipFill>
          </p:spPr>
        </p:sp>
        <p:sp>
          <p:nvSpPr>
            <p:cNvPr name="TextBox 35" id="35"/>
            <p:cNvSpPr txBox="true"/>
            <p:nvPr/>
          </p:nvSpPr>
          <p:spPr>
            <a:xfrm>
              <a:off x="0" y="-9525"/>
              <a:ext cx="8631936"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D</a:t>
              </a:r>
              <a:r>
                <a:rPr lang="en-US" sz="1350" b="true">
                  <a:solidFill>
                    <a:srgbClr val="9BAFC2"/>
                  </a:solidFill>
                  <a:latin typeface="Aptos Bold"/>
                  <a:ea typeface="Aptos Bold"/>
                  <a:cs typeface="Aptos Bold"/>
                  <a:sym typeface="Aptos Bold"/>
                </a:rPr>
                <a:t>ATA INTEGRITY</a:t>
              </a:r>
            </a:p>
          </p:txBody>
        </p:sp>
      </p:grpSp>
      <p:grpSp>
        <p:nvGrpSpPr>
          <p:cNvPr name="Group 36" id="36"/>
          <p:cNvGrpSpPr/>
          <p:nvPr/>
        </p:nvGrpSpPr>
        <p:grpSpPr>
          <a:xfrm rot="0">
            <a:off x="9628632" y="3895344"/>
            <a:ext cx="7242048" cy="576072"/>
            <a:chOff x="0" y="0"/>
            <a:chExt cx="9656064" cy="768096"/>
          </a:xfrm>
        </p:grpSpPr>
        <p:sp>
          <p:nvSpPr>
            <p:cNvPr name="Freeform 37" id="37"/>
            <p:cNvSpPr/>
            <p:nvPr/>
          </p:nvSpPr>
          <p:spPr>
            <a:xfrm flipH="false" flipV="false" rot="0">
              <a:off x="0" y="0"/>
              <a:ext cx="9656064" cy="768096"/>
            </a:xfrm>
            <a:custGeom>
              <a:avLst/>
              <a:gdLst/>
              <a:ahLst/>
              <a:cxnLst/>
              <a:rect r="r" b="b" t="t" l="l"/>
              <a:pathLst>
                <a:path h="768096" w="9656064">
                  <a:moveTo>
                    <a:pt x="0" y="0"/>
                  </a:moveTo>
                  <a:lnTo>
                    <a:pt x="9656064" y="0"/>
                  </a:lnTo>
                  <a:lnTo>
                    <a:pt x="9656064" y="768096"/>
                  </a:lnTo>
                  <a:lnTo>
                    <a:pt x="0" y="768096"/>
                  </a:lnTo>
                  <a:close/>
                </a:path>
              </a:pathLst>
            </a:custGeom>
            <a:blipFill>
              <a:blip r:embed="rId3">
                <a:alphaModFix amt="0"/>
              </a:blip>
              <a:stretch>
                <a:fillRect l="0" t="-194954" r="0" b="-194954"/>
              </a:stretch>
            </a:blipFill>
          </p:spPr>
        </p:sp>
        <p:sp>
          <p:nvSpPr>
            <p:cNvPr name="TextBox 38" id="38"/>
            <p:cNvSpPr txBox="true"/>
            <p:nvPr/>
          </p:nvSpPr>
          <p:spPr>
            <a:xfrm>
              <a:off x="0" y="0"/>
              <a:ext cx="9656064"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Ring Buffer + Composite Key</a:t>
              </a:r>
            </a:p>
          </p:txBody>
        </p:sp>
      </p:grpSp>
      <p:sp>
        <p:nvSpPr>
          <p:cNvPr name="TextBox 39" id="39"/>
          <p:cNvSpPr txBox="true"/>
          <p:nvPr/>
        </p:nvSpPr>
        <p:spPr>
          <a:xfrm rot="0">
            <a:off x="9628632" y="4608576"/>
            <a:ext cx="7242048" cy="315468"/>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No gaps during short outages</a:t>
            </a:r>
          </a:p>
        </p:txBody>
      </p:sp>
      <p:grpSp>
        <p:nvGrpSpPr>
          <p:cNvPr name="Group 40" id="40"/>
          <p:cNvGrpSpPr/>
          <p:nvPr/>
        </p:nvGrpSpPr>
        <p:grpSpPr>
          <a:xfrm rot="0">
            <a:off x="952500" y="5615940"/>
            <a:ext cx="7860792" cy="2182368"/>
            <a:chOff x="0" y="0"/>
            <a:chExt cx="10481056" cy="2909824"/>
          </a:xfrm>
        </p:grpSpPr>
        <p:sp>
          <p:nvSpPr>
            <p:cNvPr name="Freeform 41" id="41"/>
            <p:cNvSpPr/>
            <p:nvPr/>
          </p:nvSpPr>
          <p:spPr>
            <a:xfrm flipH="false" flipV="false" rot="0">
              <a:off x="0" y="0"/>
              <a:ext cx="10481056" cy="2909824"/>
            </a:xfrm>
            <a:custGeom>
              <a:avLst/>
              <a:gdLst/>
              <a:ahLst/>
              <a:cxnLst/>
              <a:rect r="r" b="b" t="t" l="l"/>
              <a:pathLst>
                <a:path h="2909824" w="10481056">
                  <a:moveTo>
                    <a:pt x="0" y="147320"/>
                  </a:moveTo>
                  <a:cubicBezTo>
                    <a:pt x="0" y="65913"/>
                    <a:pt x="65913" y="0"/>
                    <a:pt x="147320" y="0"/>
                  </a:cubicBezTo>
                  <a:lnTo>
                    <a:pt x="10333736" y="0"/>
                  </a:lnTo>
                  <a:cubicBezTo>
                    <a:pt x="10415143" y="0"/>
                    <a:pt x="10481056" y="65913"/>
                    <a:pt x="10481056" y="147320"/>
                  </a:cubicBezTo>
                  <a:lnTo>
                    <a:pt x="10481056" y="2762504"/>
                  </a:lnTo>
                  <a:cubicBezTo>
                    <a:pt x="10481056" y="2843911"/>
                    <a:pt x="10415143" y="2909824"/>
                    <a:pt x="10333736" y="2909824"/>
                  </a:cubicBezTo>
                  <a:lnTo>
                    <a:pt x="147320" y="2909824"/>
                  </a:lnTo>
                  <a:cubicBezTo>
                    <a:pt x="65913" y="2909824"/>
                    <a:pt x="0" y="2843911"/>
                    <a:pt x="0" y="2762504"/>
                  </a:cubicBezTo>
                  <a:close/>
                </a:path>
              </a:pathLst>
            </a:custGeom>
            <a:solidFill>
              <a:srgbClr val="0E1D30"/>
            </a:solidFill>
            <a:ln w="15240" cap="sq">
              <a:solidFill>
                <a:srgbClr val="1D3850"/>
              </a:solidFill>
              <a:prstDash val="solid"/>
              <a:miter/>
            </a:ln>
          </p:spPr>
        </p:sp>
      </p:grpSp>
      <p:grpSp>
        <p:nvGrpSpPr>
          <p:cNvPr name="Group 42" id="42"/>
          <p:cNvGrpSpPr/>
          <p:nvPr/>
        </p:nvGrpSpPr>
        <p:grpSpPr>
          <a:xfrm rot="0">
            <a:off x="2029968" y="5897880"/>
            <a:ext cx="6473952" cy="342900"/>
            <a:chOff x="0" y="0"/>
            <a:chExt cx="8631936" cy="457200"/>
          </a:xfrm>
        </p:grpSpPr>
        <p:sp>
          <p:nvSpPr>
            <p:cNvPr name="Freeform 43" id="43"/>
            <p:cNvSpPr/>
            <p:nvPr/>
          </p:nvSpPr>
          <p:spPr>
            <a:xfrm flipH="false" flipV="false" rot="0">
              <a:off x="0" y="0"/>
              <a:ext cx="8631936" cy="457200"/>
            </a:xfrm>
            <a:custGeom>
              <a:avLst/>
              <a:gdLst/>
              <a:ahLst/>
              <a:cxnLst/>
              <a:rect r="r" b="b" t="t" l="l"/>
              <a:pathLst>
                <a:path h="457200" w="8631936">
                  <a:moveTo>
                    <a:pt x="0" y="0"/>
                  </a:moveTo>
                  <a:lnTo>
                    <a:pt x="8631936" y="0"/>
                  </a:lnTo>
                  <a:lnTo>
                    <a:pt x="8631936" y="457200"/>
                  </a:lnTo>
                  <a:lnTo>
                    <a:pt x="0" y="457200"/>
                  </a:lnTo>
                  <a:close/>
                </a:path>
              </a:pathLst>
            </a:custGeom>
            <a:blipFill>
              <a:blip r:embed="rId3">
                <a:alphaModFix amt="0"/>
              </a:blip>
              <a:stretch>
                <a:fillRect l="0" t="-317877" r="0" b="-317877"/>
              </a:stretch>
            </a:blipFill>
          </p:spPr>
        </p:sp>
        <p:sp>
          <p:nvSpPr>
            <p:cNvPr name="TextBox 44" id="44"/>
            <p:cNvSpPr txBox="true"/>
            <p:nvPr/>
          </p:nvSpPr>
          <p:spPr>
            <a:xfrm>
              <a:off x="0" y="-9525"/>
              <a:ext cx="8631936"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BACKEND</a:t>
              </a:r>
            </a:p>
          </p:txBody>
        </p:sp>
      </p:grpSp>
      <p:grpSp>
        <p:nvGrpSpPr>
          <p:cNvPr name="Group 45" id="45"/>
          <p:cNvGrpSpPr/>
          <p:nvPr/>
        </p:nvGrpSpPr>
        <p:grpSpPr>
          <a:xfrm rot="0">
            <a:off x="1261872" y="6528816"/>
            <a:ext cx="7242048" cy="576072"/>
            <a:chOff x="0" y="0"/>
            <a:chExt cx="9656064" cy="768096"/>
          </a:xfrm>
        </p:grpSpPr>
        <p:sp>
          <p:nvSpPr>
            <p:cNvPr name="Freeform 46" id="46"/>
            <p:cNvSpPr/>
            <p:nvPr/>
          </p:nvSpPr>
          <p:spPr>
            <a:xfrm flipH="false" flipV="false" rot="0">
              <a:off x="0" y="0"/>
              <a:ext cx="9656064" cy="768096"/>
            </a:xfrm>
            <a:custGeom>
              <a:avLst/>
              <a:gdLst/>
              <a:ahLst/>
              <a:cxnLst/>
              <a:rect r="r" b="b" t="t" l="l"/>
              <a:pathLst>
                <a:path h="768096" w="9656064">
                  <a:moveTo>
                    <a:pt x="0" y="0"/>
                  </a:moveTo>
                  <a:lnTo>
                    <a:pt x="9656064" y="0"/>
                  </a:lnTo>
                  <a:lnTo>
                    <a:pt x="9656064" y="768096"/>
                  </a:lnTo>
                  <a:lnTo>
                    <a:pt x="0" y="768096"/>
                  </a:lnTo>
                  <a:close/>
                </a:path>
              </a:pathLst>
            </a:custGeom>
            <a:blipFill>
              <a:blip r:embed="rId3">
                <a:alphaModFix amt="0"/>
              </a:blip>
              <a:stretch>
                <a:fillRect l="0" t="-194954" r="0" b="-194954"/>
              </a:stretch>
            </a:blipFill>
          </p:spPr>
        </p:sp>
        <p:sp>
          <p:nvSpPr>
            <p:cNvPr name="TextBox 47" id="47"/>
            <p:cNvSpPr txBox="true"/>
            <p:nvPr/>
          </p:nvSpPr>
          <p:spPr>
            <a:xfrm>
              <a:off x="0" y="0"/>
              <a:ext cx="9656064"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MQTT + Node.js + SQLite</a:t>
              </a:r>
            </a:p>
          </p:txBody>
        </p:sp>
      </p:grpSp>
      <p:sp>
        <p:nvSpPr>
          <p:cNvPr name="TextBox 48" id="48"/>
          <p:cNvSpPr txBox="true"/>
          <p:nvPr/>
        </p:nvSpPr>
        <p:spPr>
          <a:xfrm rot="0">
            <a:off x="1261872" y="7242048"/>
            <a:ext cx="7242048" cy="23812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Non-blocking MQTT ingestion &amp; s</a:t>
            </a:r>
            <a:r>
              <a:rPr lang="en-US" sz="1575">
                <a:solidFill>
                  <a:srgbClr val="F5F8FC"/>
                </a:solidFill>
                <a:latin typeface="Aptos"/>
                <a:ea typeface="Aptos"/>
                <a:cs typeface="Aptos"/>
                <a:sym typeface="Aptos"/>
              </a:rPr>
              <a:t>tructured incident logging</a:t>
            </a:r>
          </a:p>
        </p:txBody>
      </p:sp>
      <p:grpSp>
        <p:nvGrpSpPr>
          <p:cNvPr name="Group 49" id="49"/>
          <p:cNvGrpSpPr/>
          <p:nvPr/>
        </p:nvGrpSpPr>
        <p:grpSpPr>
          <a:xfrm rot="0">
            <a:off x="9319260" y="5615940"/>
            <a:ext cx="7860792" cy="2182368"/>
            <a:chOff x="0" y="0"/>
            <a:chExt cx="10481056" cy="2909824"/>
          </a:xfrm>
        </p:grpSpPr>
        <p:sp>
          <p:nvSpPr>
            <p:cNvPr name="Freeform 50" id="50"/>
            <p:cNvSpPr/>
            <p:nvPr/>
          </p:nvSpPr>
          <p:spPr>
            <a:xfrm flipH="false" flipV="false" rot="0">
              <a:off x="0" y="0"/>
              <a:ext cx="10481056" cy="2909824"/>
            </a:xfrm>
            <a:custGeom>
              <a:avLst/>
              <a:gdLst/>
              <a:ahLst/>
              <a:cxnLst/>
              <a:rect r="r" b="b" t="t" l="l"/>
              <a:pathLst>
                <a:path h="2909824" w="10481056">
                  <a:moveTo>
                    <a:pt x="0" y="147320"/>
                  </a:moveTo>
                  <a:cubicBezTo>
                    <a:pt x="0" y="65913"/>
                    <a:pt x="65913" y="0"/>
                    <a:pt x="147320" y="0"/>
                  </a:cubicBezTo>
                  <a:lnTo>
                    <a:pt x="10333736" y="0"/>
                  </a:lnTo>
                  <a:cubicBezTo>
                    <a:pt x="10415143" y="0"/>
                    <a:pt x="10481056" y="65913"/>
                    <a:pt x="10481056" y="147320"/>
                  </a:cubicBezTo>
                  <a:lnTo>
                    <a:pt x="10481056" y="2762504"/>
                  </a:lnTo>
                  <a:cubicBezTo>
                    <a:pt x="10481056" y="2843911"/>
                    <a:pt x="10415143" y="2909824"/>
                    <a:pt x="10333736" y="2909824"/>
                  </a:cubicBezTo>
                  <a:lnTo>
                    <a:pt x="147320" y="2909824"/>
                  </a:lnTo>
                  <a:cubicBezTo>
                    <a:pt x="65913" y="2909824"/>
                    <a:pt x="0" y="2843911"/>
                    <a:pt x="0" y="2762504"/>
                  </a:cubicBezTo>
                  <a:close/>
                </a:path>
              </a:pathLst>
            </a:custGeom>
            <a:solidFill>
              <a:srgbClr val="0E1D30"/>
            </a:solidFill>
            <a:ln w="15240" cap="sq">
              <a:solidFill>
                <a:srgbClr val="1D3850"/>
              </a:solidFill>
              <a:prstDash val="solid"/>
              <a:miter/>
            </a:ln>
          </p:spPr>
        </p:sp>
      </p:grpSp>
      <p:grpSp>
        <p:nvGrpSpPr>
          <p:cNvPr name="Group 51" id="51"/>
          <p:cNvGrpSpPr/>
          <p:nvPr/>
        </p:nvGrpSpPr>
        <p:grpSpPr>
          <a:xfrm rot="0">
            <a:off x="10396728" y="5897880"/>
            <a:ext cx="6473952" cy="342900"/>
            <a:chOff x="0" y="0"/>
            <a:chExt cx="8631936" cy="457200"/>
          </a:xfrm>
        </p:grpSpPr>
        <p:sp>
          <p:nvSpPr>
            <p:cNvPr name="Freeform 52" id="52"/>
            <p:cNvSpPr/>
            <p:nvPr/>
          </p:nvSpPr>
          <p:spPr>
            <a:xfrm flipH="false" flipV="false" rot="0">
              <a:off x="0" y="0"/>
              <a:ext cx="8631936" cy="457200"/>
            </a:xfrm>
            <a:custGeom>
              <a:avLst/>
              <a:gdLst/>
              <a:ahLst/>
              <a:cxnLst/>
              <a:rect r="r" b="b" t="t" l="l"/>
              <a:pathLst>
                <a:path h="457200" w="8631936">
                  <a:moveTo>
                    <a:pt x="0" y="0"/>
                  </a:moveTo>
                  <a:lnTo>
                    <a:pt x="8631936" y="0"/>
                  </a:lnTo>
                  <a:lnTo>
                    <a:pt x="8631936" y="457200"/>
                  </a:lnTo>
                  <a:lnTo>
                    <a:pt x="0" y="457200"/>
                  </a:lnTo>
                  <a:close/>
                </a:path>
              </a:pathLst>
            </a:custGeom>
            <a:blipFill>
              <a:blip r:embed="rId3">
                <a:alphaModFix amt="0"/>
              </a:blip>
              <a:stretch>
                <a:fillRect l="0" t="-317877" r="0" b="-317877"/>
              </a:stretch>
            </a:blipFill>
          </p:spPr>
        </p:sp>
        <p:sp>
          <p:nvSpPr>
            <p:cNvPr name="TextBox 53" id="53"/>
            <p:cNvSpPr txBox="true"/>
            <p:nvPr/>
          </p:nvSpPr>
          <p:spPr>
            <a:xfrm>
              <a:off x="0" y="-9525"/>
              <a:ext cx="8631936"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APPLICATION</a:t>
              </a:r>
            </a:p>
          </p:txBody>
        </p:sp>
      </p:grpSp>
      <p:grpSp>
        <p:nvGrpSpPr>
          <p:cNvPr name="Group 54" id="54"/>
          <p:cNvGrpSpPr/>
          <p:nvPr/>
        </p:nvGrpSpPr>
        <p:grpSpPr>
          <a:xfrm rot="0">
            <a:off x="9628632" y="6528816"/>
            <a:ext cx="7242048" cy="576072"/>
            <a:chOff x="0" y="0"/>
            <a:chExt cx="9656064" cy="768096"/>
          </a:xfrm>
        </p:grpSpPr>
        <p:sp>
          <p:nvSpPr>
            <p:cNvPr name="Freeform 55" id="55"/>
            <p:cNvSpPr/>
            <p:nvPr/>
          </p:nvSpPr>
          <p:spPr>
            <a:xfrm flipH="false" flipV="false" rot="0">
              <a:off x="0" y="0"/>
              <a:ext cx="9656064" cy="768096"/>
            </a:xfrm>
            <a:custGeom>
              <a:avLst/>
              <a:gdLst/>
              <a:ahLst/>
              <a:cxnLst/>
              <a:rect r="r" b="b" t="t" l="l"/>
              <a:pathLst>
                <a:path h="768096" w="9656064">
                  <a:moveTo>
                    <a:pt x="0" y="0"/>
                  </a:moveTo>
                  <a:lnTo>
                    <a:pt x="9656064" y="0"/>
                  </a:lnTo>
                  <a:lnTo>
                    <a:pt x="9656064" y="768096"/>
                  </a:lnTo>
                  <a:lnTo>
                    <a:pt x="0" y="768096"/>
                  </a:lnTo>
                  <a:close/>
                </a:path>
              </a:pathLst>
            </a:custGeom>
            <a:blipFill>
              <a:blip r:embed="rId3">
                <a:alphaModFix amt="0"/>
              </a:blip>
              <a:stretch>
                <a:fillRect l="0" t="-194954" r="0" b="-194954"/>
              </a:stretch>
            </a:blipFill>
          </p:spPr>
        </p:sp>
        <p:sp>
          <p:nvSpPr>
            <p:cNvPr name="TextBox 56" id="56"/>
            <p:cNvSpPr txBox="true"/>
            <p:nvPr/>
          </p:nvSpPr>
          <p:spPr>
            <a:xfrm>
              <a:off x="0" y="0"/>
              <a:ext cx="9656064"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WebSockets + Chart.js</a:t>
              </a:r>
            </a:p>
          </p:txBody>
        </p:sp>
      </p:grpSp>
      <p:sp>
        <p:nvSpPr>
          <p:cNvPr name="TextBox 57" id="57"/>
          <p:cNvSpPr txBox="true"/>
          <p:nvPr/>
        </p:nvSpPr>
        <p:spPr>
          <a:xfrm rot="0">
            <a:off x="9628632" y="7242048"/>
            <a:ext cx="7242048" cy="238125"/>
          </a:xfrm>
          <a:prstGeom prst="rect">
            <a:avLst/>
          </a:prstGeom>
        </p:spPr>
        <p:txBody>
          <a:bodyPr anchor="t" rtlCol="false" tIns="0" lIns="0" bIns="0" rIns="0">
            <a:spAutoFit/>
          </a:bodyPr>
          <a:lstStyle/>
          <a:p>
            <a:pPr algn="l">
              <a:lnSpc>
                <a:spcPts val="1889"/>
              </a:lnSpc>
            </a:pPr>
            <a:r>
              <a:rPr lang="en-US" sz="1575">
                <a:solidFill>
                  <a:srgbClr val="F5F8FC"/>
                </a:solidFill>
                <a:latin typeface="Aptos"/>
                <a:ea typeface="Aptos"/>
                <a:cs typeface="Aptos"/>
                <a:sym typeface="Aptos"/>
              </a:rPr>
              <a:t>Real-time dynamic visualization &amp; instant client-side CSV exports</a:t>
            </a:r>
          </a:p>
        </p:txBody>
      </p:sp>
      <p:grpSp>
        <p:nvGrpSpPr>
          <p:cNvPr name="Group 58" id="58"/>
          <p:cNvGrpSpPr/>
          <p:nvPr/>
        </p:nvGrpSpPr>
        <p:grpSpPr>
          <a:xfrm rot="0">
            <a:off x="952500" y="8359140"/>
            <a:ext cx="16227552" cy="975360"/>
            <a:chOff x="0" y="0"/>
            <a:chExt cx="21636736" cy="1300480"/>
          </a:xfrm>
        </p:grpSpPr>
        <p:sp>
          <p:nvSpPr>
            <p:cNvPr name="Freeform 59" id="59"/>
            <p:cNvSpPr/>
            <p:nvPr/>
          </p:nvSpPr>
          <p:spPr>
            <a:xfrm flipH="false" flipV="false" rot="0">
              <a:off x="0" y="0"/>
              <a:ext cx="21636735" cy="1300480"/>
            </a:xfrm>
            <a:custGeom>
              <a:avLst/>
              <a:gdLst/>
              <a:ahLst/>
              <a:cxnLst/>
              <a:rect r="r" b="b" t="t" l="l"/>
              <a:pathLst>
                <a:path h="1300480" w="21636735">
                  <a:moveTo>
                    <a:pt x="0" y="148590"/>
                  </a:moveTo>
                  <a:cubicBezTo>
                    <a:pt x="0" y="66548"/>
                    <a:pt x="66548" y="0"/>
                    <a:pt x="148590" y="0"/>
                  </a:cubicBezTo>
                  <a:lnTo>
                    <a:pt x="21488146" y="0"/>
                  </a:lnTo>
                  <a:cubicBezTo>
                    <a:pt x="21570187" y="0"/>
                    <a:pt x="21636735" y="66548"/>
                    <a:pt x="21636735" y="148590"/>
                  </a:cubicBezTo>
                  <a:lnTo>
                    <a:pt x="21636735" y="1151890"/>
                  </a:lnTo>
                  <a:cubicBezTo>
                    <a:pt x="21636735" y="1233932"/>
                    <a:pt x="21570187" y="1300480"/>
                    <a:pt x="21488146" y="1300480"/>
                  </a:cubicBezTo>
                  <a:lnTo>
                    <a:pt x="148590" y="1300480"/>
                  </a:lnTo>
                  <a:cubicBezTo>
                    <a:pt x="66548" y="1300480"/>
                    <a:pt x="0" y="1233932"/>
                    <a:pt x="0" y="1151890"/>
                  </a:cubicBezTo>
                  <a:close/>
                </a:path>
              </a:pathLst>
            </a:custGeom>
            <a:solidFill>
              <a:srgbClr val="0E1D30"/>
            </a:solidFill>
            <a:ln w="15240" cap="sq">
              <a:solidFill>
                <a:srgbClr val="1D3850"/>
              </a:solidFill>
              <a:prstDash val="solid"/>
              <a:miter/>
            </a:ln>
          </p:spPr>
        </p:sp>
      </p:grpSp>
      <p:grpSp>
        <p:nvGrpSpPr>
          <p:cNvPr name="Group 60" id="60"/>
          <p:cNvGrpSpPr/>
          <p:nvPr/>
        </p:nvGrpSpPr>
        <p:grpSpPr>
          <a:xfrm rot="0">
            <a:off x="1261872" y="8623333"/>
            <a:ext cx="15608808" cy="685492"/>
            <a:chOff x="0" y="0"/>
            <a:chExt cx="19787616" cy="869013"/>
          </a:xfrm>
        </p:grpSpPr>
        <p:sp>
          <p:nvSpPr>
            <p:cNvPr name="Freeform 61" id="61"/>
            <p:cNvSpPr/>
            <p:nvPr/>
          </p:nvSpPr>
          <p:spPr>
            <a:xfrm flipH="false" flipV="false" rot="0">
              <a:off x="0" y="0"/>
              <a:ext cx="19787615" cy="869013"/>
            </a:xfrm>
            <a:custGeom>
              <a:avLst/>
              <a:gdLst/>
              <a:ahLst/>
              <a:cxnLst/>
              <a:rect r="r" b="b" t="t" l="l"/>
              <a:pathLst>
                <a:path h="869013" w="19787615">
                  <a:moveTo>
                    <a:pt x="0" y="0"/>
                  </a:moveTo>
                  <a:lnTo>
                    <a:pt x="19787615" y="0"/>
                  </a:lnTo>
                  <a:lnTo>
                    <a:pt x="19787615" y="869013"/>
                  </a:lnTo>
                  <a:lnTo>
                    <a:pt x="0" y="869013"/>
                  </a:lnTo>
                  <a:close/>
                </a:path>
              </a:pathLst>
            </a:custGeom>
            <a:blipFill>
              <a:blip r:embed="rId3">
                <a:alphaModFix amt="0"/>
              </a:blip>
              <a:stretch>
                <a:fillRect l="0" t="-417372" r="0" b="-369984"/>
              </a:stretch>
            </a:blipFill>
          </p:spPr>
        </p:sp>
        <p:sp>
          <p:nvSpPr>
            <p:cNvPr name="TextBox 62" id="62"/>
            <p:cNvSpPr txBox="true"/>
            <p:nvPr/>
          </p:nvSpPr>
          <p:spPr>
            <a:xfrm>
              <a:off x="0" y="0"/>
              <a:ext cx="19787616" cy="869013"/>
            </a:xfrm>
            <a:prstGeom prst="rect">
              <a:avLst/>
            </a:prstGeom>
          </p:spPr>
          <p:txBody>
            <a:bodyPr anchor="ctr" rtlCol="false" tIns="0" lIns="0" bIns="0" rIns="0"/>
            <a:lstStyle/>
            <a:p>
              <a:pPr algn="l">
                <a:lnSpc>
                  <a:spcPts val="2459"/>
                </a:lnSpc>
              </a:pPr>
              <a:r>
                <a:rPr lang="en-US" sz="2049" b="true">
                  <a:solidFill>
                    <a:srgbClr val="9BAFC2"/>
                  </a:solidFill>
                  <a:latin typeface="Aptos Bold"/>
                  <a:ea typeface="Aptos Bold"/>
                  <a:cs typeface="Aptos Bold"/>
                  <a:sym typeface="Aptos Bold"/>
                </a:rPr>
                <a:t>The prototype successfully proves the feasibility of a low-cost, reliable, end-to-end Cold-Chain monitoring architecture with guaranteed zero data loss during network disruptions</a:t>
              </a:r>
            </a:p>
          </p:txBody>
        </p:sp>
      </p:grpSp>
      <p:sp>
        <p:nvSpPr>
          <p:cNvPr name="TextBox 63" id="63"/>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32</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648843" y="511683"/>
            <a:ext cx="951738" cy="403098"/>
            <a:chOff x="0" y="0"/>
            <a:chExt cx="1268984" cy="537464"/>
          </a:xfrm>
        </p:grpSpPr>
        <p:sp>
          <p:nvSpPr>
            <p:cNvPr name="Freeform 8" id="8"/>
            <p:cNvSpPr/>
            <p:nvPr/>
          </p:nvSpPr>
          <p:spPr>
            <a:xfrm flipH="false" flipV="false" rot="0">
              <a:off x="0" y="0"/>
              <a:ext cx="1268984" cy="537464"/>
            </a:xfrm>
            <a:custGeom>
              <a:avLst/>
              <a:gdLst/>
              <a:ahLst/>
              <a:cxnLst/>
              <a:rect r="r" b="b" t="t" l="l"/>
              <a:pathLst>
                <a:path h="537464" w="1268984">
                  <a:moveTo>
                    <a:pt x="0" y="0"/>
                  </a:moveTo>
                  <a:lnTo>
                    <a:pt x="1268984" y="0"/>
                  </a:lnTo>
                  <a:lnTo>
                    <a:pt x="1268984" y="537464"/>
                  </a:lnTo>
                  <a:lnTo>
                    <a:pt x="0" y="537464"/>
                  </a:lnTo>
                  <a:close/>
                </a:path>
              </a:pathLst>
            </a:custGeom>
            <a:solidFill>
              <a:srgbClr val="68A8FF"/>
            </a:solidFill>
            <a:ln w="19050" cap="sq">
              <a:solidFill>
                <a:srgbClr val="68A8FF"/>
              </a:solidFill>
              <a:prstDash val="solid"/>
              <a:miter/>
            </a:ln>
          </p:spPr>
        </p:sp>
      </p:grpSp>
      <p:grpSp>
        <p:nvGrpSpPr>
          <p:cNvPr name="Group 9" id="9"/>
          <p:cNvGrpSpPr/>
          <p:nvPr/>
        </p:nvGrpSpPr>
        <p:grpSpPr>
          <a:xfrm rot="0">
            <a:off x="658368" y="541782"/>
            <a:ext cx="932688" cy="246888"/>
            <a:chOff x="0" y="0"/>
            <a:chExt cx="1243584" cy="329184"/>
          </a:xfrm>
        </p:grpSpPr>
        <p:sp>
          <p:nvSpPr>
            <p:cNvPr name="Freeform 10" id="10"/>
            <p:cNvSpPr/>
            <p:nvPr/>
          </p:nvSpPr>
          <p:spPr>
            <a:xfrm flipH="false" flipV="false" rot="0">
              <a:off x="0" y="0"/>
              <a:ext cx="1243584" cy="329184"/>
            </a:xfrm>
            <a:custGeom>
              <a:avLst/>
              <a:gdLst/>
              <a:ahLst/>
              <a:cxnLst/>
              <a:rect r="r" b="b" t="t" l="l"/>
              <a:pathLst>
                <a:path h="329184" w="1243584">
                  <a:moveTo>
                    <a:pt x="0" y="0"/>
                  </a:moveTo>
                  <a:lnTo>
                    <a:pt x="1243584" y="0"/>
                  </a:lnTo>
                  <a:lnTo>
                    <a:pt x="1243584" y="329184"/>
                  </a:lnTo>
                  <a:lnTo>
                    <a:pt x="0" y="329184"/>
                  </a:lnTo>
                  <a:close/>
                </a:path>
              </a:pathLst>
            </a:custGeom>
            <a:blipFill>
              <a:blip r:embed="rId3">
                <a:alphaModFix amt="0"/>
              </a:blip>
              <a:stretch>
                <a:fillRect l="0" t="-23610" r="0" b="-23610"/>
              </a:stretch>
            </a:blipFill>
          </p:spPr>
        </p:sp>
        <p:sp>
          <p:nvSpPr>
            <p:cNvPr name="TextBox 11" id="11"/>
            <p:cNvSpPr txBox="true"/>
            <p:nvPr/>
          </p:nvSpPr>
          <p:spPr>
            <a:xfrm>
              <a:off x="0" y="0"/>
              <a:ext cx="1243584" cy="329184"/>
            </a:xfrm>
            <a:prstGeom prst="rect">
              <a:avLst/>
            </a:prstGeom>
          </p:spPr>
          <p:txBody>
            <a:bodyPr anchor="ctr" rtlCol="false" tIns="0" lIns="0" bIns="0" rIns="0"/>
            <a:lstStyle/>
            <a:p>
              <a:pPr algn="ctr">
                <a:lnSpc>
                  <a:spcPts val="1439"/>
                </a:lnSpc>
              </a:pPr>
              <a:r>
                <a:rPr lang="en-US" sz="1200" b="true">
                  <a:solidFill>
                    <a:srgbClr val="050B12"/>
                  </a:solidFill>
                  <a:latin typeface="Aptos Bold"/>
                  <a:ea typeface="Aptos Bold"/>
                  <a:cs typeface="Aptos Bold"/>
                  <a:sym typeface="Aptos Bold"/>
                </a:rPr>
                <a:t>08</a:t>
              </a:r>
            </a:p>
          </p:txBody>
        </p:sp>
      </p:grpSp>
      <p:grpSp>
        <p:nvGrpSpPr>
          <p:cNvPr name="Group 12" id="12"/>
          <p:cNvGrpSpPr/>
          <p:nvPr/>
        </p:nvGrpSpPr>
        <p:grpSpPr>
          <a:xfrm rot="0">
            <a:off x="1755648" y="521208"/>
            <a:ext cx="9326880" cy="329184"/>
            <a:chOff x="0" y="0"/>
            <a:chExt cx="12435840" cy="438912"/>
          </a:xfrm>
        </p:grpSpPr>
        <p:sp>
          <p:nvSpPr>
            <p:cNvPr name="Freeform 13" id="13"/>
            <p:cNvSpPr/>
            <p:nvPr/>
          </p:nvSpPr>
          <p:spPr>
            <a:xfrm flipH="false" flipV="false" rot="0">
              <a:off x="0" y="0"/>
              <a:ext cx="12435840" cy="438912"/>
            </a:xfrm>
            <a:custGeom>
              <a:avLst/>
              <a:gdLst/>
              <a:ahLst/>
              <a:cxnLst/>
              <a:rect r="r" b="b" t="t" l="l"/>
              <a:pathLst>
                <a:path h="438912" w="12435840">
                  <a:moveTo>
                    <a:pt x="0" y="0"/>
                  </a:moveTo>
                  <a:lnTo>
                    <a:pt x="12435840" y="0"/>
                  </a:lnTo>
                  <a:lnTo>
                    <a:pt x="12435840" y="438912"/>
                  </a:lnTo>
                  <a:lnTo>
                    <a:pt x="0" y="438912"/>
                  </a:lnTo>
                  <a:close/>
                </a:path>
              </a:pathLst>
            </a:custGeom>
            <a:blipFill>
              <a:blip r:embed="rId3">
                <a:alphaModFix amt="0"/>
              </a:blip>
              <a:stretch>
                <a:fillRect l="0" t="-502076" r="0" b="-502076"/>
              </a:stretch>
            </a:blipFill>
          </p:spPr>
        </p:sp>
        <p:sp>
          <p:nvSpPr>
            <p:cNvPr name="TextBox 14" id="14"/>
            <p:cNvSpPr txBox="true"/>
            <p:nvPr/>
          </p:nvSpPr>
          <p:spPr>
            <a:xfrm>
              <a:off x="0" y="0"/>
              <a:ext cx="12435840" cy="438912"/>
            </a:xfrm>
            <a:prstGeom prst="rect">
              <a:avLst/>
            </a:prstGeom>
          </p:spPr>
          <p:txBody>
            <a:bodyPr anchor="ctr" rtlCol="false" tIns="0" lIns="0" bIns="0" rIns="0"/>
            <a:lstStyle/>
            <a:p>
              <a:pPr algn="l">
                <a:lnSpc>
                  <a:spcPts val="1475"/>
                </a:lnSpc>
              </a:pPr>
              <a:r>
                <a:rPr lang="en-US" b="true" sz="1230" spc="164">
                  <a:solidFill>
                    <a:srgbClr val="9BAFC2"/>
                  </a:solidFill>
                  <a:latin typeface="Aptos Bold"/>
                  <a:ea typeface="Aptos Bold"/>
                  <a:cs typeface="Aptos Bold"/>
                  <a:sym typeface="Aptos Bold"/>
                </a:rPr>
                <a:t>CHAPTER 8</a:t>
              </a:r>
            </a:p>
          </p:txBody>
        </p:sp>
      </p:grpSp>
      <p:grpSp>
        <p:nvGrpSpPr>
          <p:cNvPr name="Group 15" id="15"/>
          <p:cNvGrpSpPr/>
          <p:nvPr/>
        </p:nvGrpSpPr>
        <p:grpSpPr>
          <a:xfrm rot="0">
            <a:off x="658368" y="1124712"/>
            <a:ext cx="16459200" cy="850392"/>
            <a:chOff x="0" y="0"/>
            <a:chExt cx="21945600" cy="1133856"/>
          </a:xfrm>
        </p:grpSpPr>
        <p:sp>
          <p:nvSpPr>
            <p:cNvPr name="Freeform 16" id="16"/>
            <p:cNvSpPr/>
            <p:nvPr/>
          </p:nvSpPr>
          <p:spPr>
            <a:xfrm flipH="false" flipV="false" rot="0">
              <a:off x="0" y="0"/>
              <a:ext cx="21945600" cy="1133856"/>
            </a:xfrm>
            <a:custGeom>
              <a:avLst/>
              <a:gdLst/>
              <a:ahLst/>
              <a:cxnLst/>
              <a:rect r="r" b="b" t="t" l="l"/>
              <a:pathLst>
                <a:path h="1133856" w="21945600">
                  <a:moveTo>
                    <a:pt x="0" y="0"/>
                  </a:moveTo>
                  <a:lnTo>
                    <a:pt x="21945600" y="0"/>
                  </a:lnTo>
                  <a:lnTo>
                    <a:pt x="21945600" y="1133856"/>
                  </a:lnTo>
                  <a:lnTo>
                    <a:pt x="0" y="1133856"/>
                  </a:lnTo>
                  <a:close/>
                </a:path>
              </a:pathLst>
            </a:custGeom>
            <a:blipFill>
              <a:blip r:embed="rId3">
                <a:alphaModFix amt="0"/>
              </a:blip>
              <a:stretch>
                <a:fillRect l="0" t="-327129" r="0" b="-327129"/>
              </a:stretch>
            </a:blipFill>
          </p:spPr>
        </p:sp>
        <p:sp>
          <p:nvSpPr>
            <p:cNvPr name="TextBox 17" id="17"/>
            <p:cNvSpPr txBox="true"/>
            <p:nvPr/>
          </p:nvSpPr>
          <p:spPr>
            <a:xfrm>
              <a:off x="0" y="0"/>
              <a:ext cx="21945600" cy="1133856"/>
            </a:xfrm>
            <a:prstGeom prst="rect">
              <a:avLst/>
            </a:prstGeom>
          </p:spPr>
          <p:txBody>
            <a:bodyPr anchor="ctr" rtlCol="false" tIns="0" lIns="0" bIns="0" rIns="0"/>
            <a:lstStyle/>
            <a:p>
              <a:pPr algn="l">
                <a:lnSpc>
                  <a:spcPts val="4500"/>
                </a:lnSpc>
              </a:pPr>
              <a:r>
                <a:rPr lang="en-US" sz="3750" b="true">
                  <a:solidFill>
                    <a:srgbClr val="F5F8FC"/>
                  </a:solidFill>
                  <a:latin typeface="Aptos Bold"/>
                  <a:ea typeface="Aptos Bold"/>
                  <a:cs typeface="Aptos Bold"/>
                  <a:sym typeface="Aptos Bold"/>
                </a:rPr>
                <a:t>Future work</a:t>
              </a:r>
            </a:p>
          </p:txBody>
        </p:sp>
      </p:grpSp>
      <p:grpSp>
        <p:nvGrpSpPr>
          <p:cNvPr name="Group 18" id="18"/>
          <p:cNvGrpSpPr/>
          <p:nvPr/>
        </p:nvGrpSpPr>
        <p:grpSpPr>
          <a:xfrm rot="0">
            <a:off x="685800" y="2043684"/>
            <a:ext cx="16253460" cy="480060"/>
            <a:chOff x="0" y="0"/>
            <a:chExt cx="21671280" cy="640080"/>
          </a:xfrm>
        </p:grpSpPr>
        <p:sp>
          <p:nvSpPr>
            <p:cNvPr name="Freeform 19" id="19"/>
            <p:cNvSpPr/>
            <p:nvPr/>
          </p:nvSpPr>
          <p:spPr>
            <a:xfrm flipH="false" flipV="false" rot="0">
              <a:off x="0" y="0"/>
              <a:ext cx="21671280" cy="640080"/>
            </a:xfrm>
            <a:custGeom>
              <a:avLst/>
              <a:gdLst/>
              <a:ahLst/>
              <a:cxnLst/>
              <a:rect r="r" b="b" t="t" l="l"/>
              <a:pathLst>
                <a:path h="640080" w="21671280">
                  <a:moveTo>
                    <a:pt x="0" y="0"/>
                  </a:moveTo>
                  <a:lnTo>
                    <a:pt x="21671280" y="0"/>
                  </a:lnTo>
                  <a:lnTo>
                    <a:pt x="21671280" y="640080"/>
                  </a:lnTo>
                  <a:lnTo>
                    <a:pt x="0" y="640080"/>
                  </a:lnTo>
                  <a:close/>
                </a:path>
              </a:pathLst>
            </a:custGeom>
            <a:blipFill>
              <a:blip r:embed="rId3">
                <a:alphaModFix amt="0"/>
              </a:blip>
              <a:stretch>
                <a:fillRect l="0" t="-609707" r="0" b="-609707"/>
              </a:stretch>
            </a:blipFill>
          </p:spPr>
        </p:sp>
        <p:sp>
          <p:nvSpPr>
            <p:cNvPr name="TextBox 20" id="20"/>
            <p:cNvSpPr txBox="true"/>
            <p:nvPr/>
          </p:nvSpPr>
          <p:spPr>
            <a:xfrm>
              <a:off x="0" y="0"/>
              <a:ext cx="2167128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Five paths from prototype to industrial-grade capability.</a:t>
              </a:r>
            </a:p>
          </p:txBody>
        </p:sp>
      </p:grpSp>
      <p:sp>
        <p:nvSpPr>
          <p:cNvPr name="AutoShape 21" id="21"/>
          <p:cNvSpPr/>
          <p:nvPr/>
        </p:nvSpPr>
        <p:spPr>
          <a:xfrm rot="3900">
            <a:off x="676265" y="2573846"/>
            <a:ext cx="16752580" cy="0"/>
          </a:xfrm>
          <a:prstGeom prst="line">
            <a:avLst/>
          </a:prstGeom>
          <a:ln cap="rnd" w="9525">
            <a:solidFill>
              <a:srgbClr val="1D3850"/>
            </a:solidFill>
            <a:prstDash val="solid"/>
            <a:headEnd type="none" len="sm" w="sm"/>
            <a:tailEnd type="none" len="sm" w="sm"/>
          </a:ln>
        </p:spPr>
      </p:sp>
      <p:grpSp>
        <p:nvGrpSpPr>
          <p:cNvPr name="Group 22" id="22"/>
          <p:cNvGrpSpPr/>
          <p:nvPr/>
        </p:nvGrpSpPr>
        <p:grpSpPr>
          <a:xfrm rot="0">
            <a:off x="950595" y="2870835"/>
            <a:ext cx="1088898" cy="814578"/>
            <a:chOff x="0" y="0"/>
            <a:chExt cx="1451864" cy="1086104"/>
          </a:xfrm>
        </p:grpSpPr>
        <p:sp>
          <p:nvSpPr>
            <p:cNvPr name="Freeform 23" id="23"/>
            <p:cNvSpPr/>
            <p:nvPr/>
          </p:nvSpPr>
          <p:spPr>
            <a:xfrm flipH="false" flipV="false" rot="0">
              <a:off x="0" y="0"/>
              <a:ext cx="1451737" cy="1086104"/>
            </a:xfrm>
            <a:custGeom>
              <a:avLst/>
              <a:gdLst/>
              <a:ahLst/>
              <a:cxnLst/>
              <a:rect r="r" b="b" t="t" l="l"/>
              <a:pathLst>
                <a:path h="1086104" w="1451737">
                  <a:moveTo>
                    <a:pt x="0" y="93599"/>
                  </a:moveTo>
                  <a:cubicBezTo>
                    <a:pt x="0" y="41910"/>
                    <a:pt x="41910" y="0"/>
                    <a:pt x="93599" y="0"/>
                  </a:cubicBezTo>
                  <a:lnTo>
                    <a:pt x="1358138" y="0"/>
                  </a:lnTo>
                  <a:cubicBezTo>
                    <a:pt x="1409827" y="0"/>
                    <a:pt x="1451737" y="41910"/>
                    <a:pt x="1451737" y="93599"/>
                  </a:cubicBezTo>
                  <a:lnTo>
                    <a:pt x="1451737" y="992505"/>
                  </a:lnTo>
                  <a:cubicBezTo>
                    <a:pt x="1451737" y="1044194"/>
                    <a:pt x="1409827" y="1086104"/>
                    <a:pt x="1358138" y="1086104"/>
                  </a:cubicBezTo>
                  <a:lnTo>
                    <a:pt x="93599" y="1086104"/>
                  </a:lnTo>
                  <a:cubicBezTo>
                    <a:pt x="41910" y="1086104"/>
                    <a:pt x="0" y="1044194"/>
                    <a:pt x="0" y="992505"/>
                  </a:cubicBezTo>
                  <a:close/>
                </a:path>
              </a:pathLst>
            </a:custGeom>
            <a:solidFill>
              <a:srgbClr val="46D6F5">
                <a:alpha val="4706"/>
              </a:srgbClr>
            </a:solidFill>
            <a:ln w="19050" cap="sq">
              <a:solidFill>
                <a:srgbClr val="46D6F5"/>
              </a:solidFill>
              <a:prstDash val="solid"/>
              <a:miter/>
            </a:ln>
          </p:spPr>
        </p:sp>
      </p:grpSp>
      <p:grpSp>
        <p:nvGrpSpPr>
          <p:cNvPr name="Group 24" id="24"/>
          <p:cNvGrpSpPr/>
          <p:nvPr/>
        </p:nvGrpSpPr>
        <p:grpSpPr>
          <a:xfrm rot="0">
            <a:off x="960120" y="3113532"/>
            <a:ext cx="1069848" cy="246888"/>
            <a:chOff x="0" y="0"/>
            <a:chExt cx="1426464" cy="329184"/>
          </a:xfrm>
        </p:grpSpPr>
        <p:sp>
          <p:nvSpPr>
            <p:cNvPr name="Freeform 25" id="25"/>
            <p:cNvSpPr/>
            <p:nvPr/>
          </p:nvSpPr>
          <p:spPr>
            <a:xfrm flipH="false" flipV="false" rot="0">
              <a:off x="0" y="0"/>
              <a:ext cx="1426464" cy="329184"/>
            </a:xfrm>
            <a:custGeom>
              <a:avLst/>
              <a:gdLst/>
              <a:ahLst/>
              <a:cxnLst/>
              <a:rect r="r" b="b" t="t" l="l"/>
              <a:pathLst>
                <a:path h="329184" w="1426464">
                  <a:moveTo>
                    <a:pt x="0" y="0"/>
                  </a:moveTo>
                  <a:lnTo>
                    <a:pt x="1426464" y="0"/>
                  </a:lnTo>
                  <a:lnTo>
                    <a:pt x="1426464" y="329184"/>
                  </a:lnTo>
                  <a:lnTo>
                    <a:pt x="0" y="329184"/>
                  </a:lnTo>
                  <a:close/>
                </a:path>
              </a:pathLst>
            </a:custGeom>
            <a:blipFill>
              <a:blip r:embed="rId3">
                <a:alphaModFix amt="0"/>
              </a:blip>
              <a:stretch>
                <a:fillRect l="0" t="-34435" r="0" b="-34435"/>
              </a:stretch>
            </a:blipFill>
          </p:spPr>
        </p:sp>
        <p:sp>
          <p:nvSpPr>
            <p:cNvPr name="TextBox 26" id="26"/>
            <p:cNvSpPr txBox="true"/>
            <p:nvPr/>
          </p:nvSpPr>
          <p:spPr>
            <a:xfrm>
              <a:off x="0" y="-9525"/>
              <a:ext cx="1426464" cy="338709"/>
            </a:xfrm>
            <a:prstGeom prst="rect">
              <a:avLst/>
            </a:prstGeom>
          </p:spPr>
          <p:txBody>
            <a:bodyPr anchor="ctr" rtlCol="false" tIns="0" lIns="0" bIns="0" rIns="0"/>
            <a:lstStyle/>
            <a:p>
              <a:pPr algn="ctr">
                <a:lnSpc>
                  <a:spcPts val="1620"/>
                </a:lnSpc>
              </a:pPr>
              <a:r>
                <a:rPr lang="en-US" sz="1350" b="true">
                  <a:solidFill>
                    <a:srgbClr val="46D6F5"/>
                  </a:solidFill>
                  <a:latin typeface="Aptos Bold"/>
                  <a:ea typeface="Aptos Bold"/>
                  <a:cs typeface="Aptos Bold"/>
                  <a:sym typeface="Aptos Bold"/>
                </a:rPr>
                <a:t>01</a:t>
              </a:r>
            </a:p>
          </p:txBody>
        </p:sp>
      </p:grpSp>
      <p:grpSp>
        <p:nvGrpSpPr>
          <p:cNvPr name="Group 27" id="27"/>
          <p:cNvGrpSpPr/>
          <p:nvPr/>
        </p:nvGrpSpPr>
        <p:grpSpPr>
          <a:xfrm rot="0">
            <a:off x="2331720" y="2907792"/>
            <a:ext cx="4800600" cy="329184"/>
            <a:chOff x="0" y="0"/>
            <a:chExt cx="6400800" cy="438912"/>
          </a:xfrm>
        </p:grpSpPr>
        <p:sp>
          <p:nvSpPr>
            <p:cNvPr name="Freeform 28" id="28"/>
            <p:cNvSpPr/>
            <p:nvPr/>
          </p:nvSpPr>
          <p:spPr>
            <a:xfrm flipH="false" flipV="false" rot="0">
              <a:off x="0" y="0"/>
              <a:ext cx="6400800" cy="438912"/>
            </a:xfrm>
            <a:custGeom>
              <a:avLst/>
              <a:gdLst/>
              <a:ahLst/>
              <a:cxnLst/>
              <a:rect r="r" b="b" t="t" l="l"/>
              <a:pathLst>
                <a:path h="438912" w="6400800">
                  <a:moveTo>
                    <a:pt x="0" y="0"/>
                  </a:moveTo>
                  <a:lnTo>
                    <a:pt x="6400800" y="0"/>
                  </a:lnTo>
                  <a:lnTo>
                    <a:pt x="6400800" y="438912"/>
                  </a:lnTo>
                  <a:lnTo>
                    <a:pt x="0" y="438912"/>
                  </a:lnTo>
                  <a:close/>
                </a:path>
              </a:pathLst>
            </a:custGeom>
            <a:blipFill>
              <a:blip r:embed="rId3">
                <a:alphaModFix amt="0"/>
              </a:blip>
              <a:stretch>
                <a:fillRect l="0" t="-234156" r="0" b="-234156"/>
              </a:stretch>
            </a:blipFill>
          </p:spPr>
        </p:sp>
        <p:sp>
          <p:nvSpPr>
            <p:cNvPr name="TextBox 29" id="29"/>
            <p:cNvSpPr txBox="true"/>
            <p:nvPr/>
          </p:nvSpPr>
          <p:spPr>
            <a:xfrm>
              <a:off x="0" y="-9525"/>
              <a:ext cx="6400800" cy="448437"/>
            </a:xfrm>
            <a:prstGeom prst="rect">
              <a:avLst/>
            </a:prstGeom>
          </p:spPr>
          <p:txBody>
            <a:bodyPr anchor="ctr" rtlCol="false" tIns="0" lIns="0" bIns="0" rIns="0"/>
            <a:lstStyle/>
            <a:p>
              <a:pPr algn="l">
                <a:lnSpc>
                  <a:spcPts val="2520"/>
                </a:lnSpc>
              </a:pPr>
              <a:r>
                <a:rPr lang="en-US" sz="2100" b="true">
                  <a:solidFill>
                    <a:srgbClr val="F5F8FC"/>
                  </a:solidFill>
                  <a:latin typeface="Aptos Bold"/>
                  <a:ea typeface="Aptos Bold"/>
                  <a:cs typeface="Aptos Bold"/>
                  <a:sym typeface="Aptos Bold"/>
                </a:rPr>
                <a:t>Edge AI / TinyML</a:t>
              </a:r>
            </a:p>
          </p:txBody>
        </p:sp>
      </p:grpSp>
      <p:grpSp>
        <p:nvGrpSpPr>
          <p:cNvPr name="Group 30" id="30"/>
          <p:cNvGrpSpPr/>
          <p:nvPr/>
        </p:nvGrpSpPr>
        <p:grpSpPr>
          <a:xfrm rot="0">
            <a:off x="7132320" y="2907792"/>
            <a:ext cx="8983980" cy="480060"/>
            <a:chOff x="0" y="0"/>
            <a:chExt cx="11978640" cy="640080"/>
          </a:xfrm>
        </p:grpSpPr>
        <p:sp>
          <p:nvSpPr>
            <p:cNvPr name="Freeform 31" id="31"/>
            <p:cNvSpPr/>
            <p:nvPr/>
          </p:nvSpPr>
          <p:spPr>
            <a:xfrm flipH="false" flipV="false" rot="0">
              <a:off x="0" y="0"/>
              <a:ext cx="11978640" cy="640080"/>
            </a:xfrm>
            <a:custGeom>
              <a:avLst/>
              <a:gdLst/>
              <a:ahLst/>
              <a:cxnLst/>
              <a:rect r="r" b="b" t="t" l="l"/>
              <a:pathLst>
                <a:path h="640080" w="11978640">
                  <a:moveTo>
                    <a:pt x="0" y="0"/>
                  </a:moveTo>
                  <a:lnTo>
                    <a:pt x="11978640" y="0"/>
                  </a:lnTo>
                  <a:lnTo>
                    <a:pt x="11978640" y="640080"/>
                  </a:lnTo>
                  <a:lnTo>
                    <a:pt x="0" y="640080"/>
                  </a:lnTo>
                  <a:close/>
                </a:path>
              </a:pathLst>
            </a:custGeom>
            <a:blipFill>
              <a:blip r:embed="rId3">
                <a:alphaModFix amt="0"/>
              </a:blip>
              <a:stretch>
                <a:fillRect l="0" t="-314648" r="0" b="-314648"/>
              </a:stretch>
            </a:blipFill>
          </p:spPr>
        </p:sp>
        <p:sp>
          <p:nvSpPr>
            <p:cNvPr name="TextBox 32" id="32"/>
            <p:cNvSpPr txBox="true"/>
            <p:nvPr/>
          </p:nvSpPr>
          <p:spPr>
            <a:xfrm>
              <a:off x="0" y="0"/>
              <a:ext cx="1197864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Predict faults before the threshold is crossed.</a:t>
              </a:r>
            </a:p>
          </p:txBody>
        </p:sp>
      </p:grpSp>
      <p:sp>
        <p:nvSpPr>
          <p:cNvPr name="AutoShape 33" id="33"/>
          <p:cNvSpPr/>
          <p:nvPr/>
        </p:nvSpPr>
        <p:spPr>
          <a:xfrm rot="2820">
            <a:off x="2326005" y="3643694"/>
            <a:ext cx="13796010" cy="0"/>
          </a:xfrm>
          <a:prstGeom prst="line">
            <a:avLst/>
          </a:prstGeom>
          <a:ln cap="rnd" w="9525">
            <a:solidFill>
              <a:srgbClr val="1D3850"/>
            </a:solidFill>
            <a:prstDash val="solid"/>
            <a:headEnd type="none" len="sm" w="sm"/>
            <a:tailEnd type="none" len="sm" w="sm"/>
          </a:ln>
        </p:spPr>
      </p:sp>
      <p:grpSp>
        <p:nvGrpSpPr>
          <p:cNvPr name="Group 34" id="34"/>
          <p:cNvGrpSpPr/>
          <p:nvPr/>
        </p:nvGrpSpPr>
        <p:grpSpPr>
          <a:xfrm rot="0">
            <a:off x="950595" y="4105275"/>
            <a:ext cx="1088898" cy="814578"/>
            <a:chOff x="0" y="0"/>
            <a:chExt cx="1451864" cy="1086104"/>
          </a:xfrm>
        </p:grpSpPr>
        <p:sp>
          <p:nvSpPr>
            <p:cNvPr name="Freeform 35" id="35"/>
            <p:cNvSpPr/>
            <p:nvPr/>
          </p:nvSpPr>
          <p:spPr>
            <a:xfrm flipH="false" flipV="false" rot="0">
              <a:off x="0" y="0"/>
              <a:ext cx="1451737" cy="1086104"/>
            </a:xfrm>
            <a:custGeom>
              <a:avLst/>
              <a:gdLst/>
              <a:ahLst/>
              <a:cxnLst/>
              <a:rect r="r" b="b" t="t" l="l"/>
              <a:pathLst>
                <a:path h="1086104" w="1451737">
                  <a:moveTo>
                    <a:pt x="0" y="93599"/>
                  </a:moveTo>
                  <a:cubicBezTo>
                    <a:pt x="0" y="41910"/>
                    <a:pt x="41910" y="0"/>
                    <a:pt x="93599" y="0"/>
                  </a:cubicBezTo>
                  <a:lnTo>
                    <a:pt x="1358138" y="0"/>
                  </a:lnTo>
                  <a:cubicBezTo>
                    <a:pt x="1409827" y="0"/>
                    <a:pt x="1451737" y="41910"/>
                    <a:pt x="1451737" y="93599"/>
                  </a:cubicBezTo>
                  <a:lnTo>
                    <a:pt x="1451737" y="992505"/>
                  </a:lnTo>
                  <a:cubicBezTo>
                    <a:pt x="1451737" y="1044194"/>
                    <a:pt x="1409827" y="1086104"/>
                    <a:pt x="1358138" y="1086104"/>
                  </a:cubicBezTo>
                  <a:lnTo>
                    <a:pt x="93599" y="1086104"/>
                  </a:lnTo>
                  <a:cubicBezTo>
                    <a:pt x="41910" y="1086104"/>
                    <a:pt x="0" y="1044194"/>
                    <a:pt x="0" y="992505"/>
                  </a:cubicBezTo>
                  <a:close/>
                </a:path>
              </a:pathLst>
            </a:custGeom>
            <a:solidFill>
              <a:srgbClr val="76E2A1">
                <a:alpha val="4706"/>
              </a:srgbClr>
            </a:solidFill>
            <a:ln w="19050" cap="sq">
              <a:solidFill>
                <a:srgbClr val="76E2A1"/>
              </a:solidFill>
              <a:prstDash val="solid"/>
              <a:miter/>
            </a:ln>
          </p:spPr>
        </p:sp>
      </p:grpSp>
      <p:grpSp>
        <p:nvGrpSpPr>
          <p:cNvPr name="Group 36" id="36"/>
          <p:cNvGrpSpPr/>
          <p:nvPr/>
        </p:nvGrpSpPr>
        <p:grpSpPr>
          <a:xfrm rot="0">
            <a:off x="960120" y="4347972"/>
            <a:ext cx="1069848" cy="246888"/>
            <a:chOff x="0" y="0"/>
            <a:chExt cx="1426464" cy="329184"/>
          </a:xfrm>
        </p:grpSpPr>
        <p:sp>
          <p:nvSpPr>
            <p:cNvPr name="Freeform 37" id="37"/>
            <p:cNvSpPr/>
            <p:nvPr/>
          </p:nvSpPr>
          <p:spPr>
            <a:xfrm flipH="false" flipV="false" rot="0">
              <a:off x="0" y="0"/>
              <a:ext cx="1426464" cy="329184"/>
            </a:xfrm>
            <a:custGeom>
              <a:avLst/>
              <a:gdLst/>
              <a:ahLst/>
              <a:cxnLst/>
              <a:rect r="r" b="b" t="t" l="l"/>
              <a:pathLst>
                <a:path h="329184" w="1426464">
                  <a:moveTo>
                    <a:pt x="0" y="0"/>
                  </a:moveTo>
                  <a:lnTo>
                    <a:pt x="1426464" y="0"/>
                  </a:lnTo>
                  <a:lnTo>
                    <a:pt x="1426464" y="329184"/>
                  </a:lnTo>
                  <a:lnTo>
                    <a:pt x="0" y="329184"/>
                  </a:lnTo>
                  <a:close/>
                </a:path>
              </a:pathLst>
            </a:custGeom>
            <a:blipFill>
              <a:blip r:embed="rId3">
                <a:alphaModFix amt="0"/>
              </a:blip>
              <a:stretch>
                <a:fillRect l="0" t="-34435" r="0" b="-34435"/>
              </a:stretch>
            </a:blipFill>
          </p:spPr>
        </p:sp>
        <p:sp>
          <p:nvSpPr>
            <p:cNvPr name="TextBox 38" id="38"/>
            <p:cNvSpPr txBox="true"/>
            <p:nvPr/>
          </p:nvSpPr>
          <p:spPr>
            <a:xfrm>
              <a:off x="0" y="-9525"/>
              <a:ext cx="1426464" cy="338709"/>
            </a:xfrm>
            <a:prstGeom prst="rect">
              <a:avLst/>
            </a:prstGeom>
          </p:spPr>
          <p:txBody>
            <a:bodyPr anchor="ctr" rtlCol="false" tIns="0" lIns="0" bIns="0" rIns="0"/>
            <a:lstStyle/>
            <a:p>
              <a:pPr algn="ctr">
                <a:lnSpc>
                  <a:spcPts val="1620"/>
                </a:lnSpc>
              </a:pPr>
              <a:r>
                <a:rPr lang="en-US" sz="1350" b="true">
                  <a:solidFill>
                    <a:srgbClr val="76E2A1"/>
                  </a:solidFill>
                  <a:latin typeface="Aptos Bold"/>
                  <a:ea typeface="Aptos Bold"/>
                  <a:cs typeface="Aptos Bold"/>
                  <a:sym typeface="Aptos Bold"/>
                </a:rPr>
                <a:t>02</a:t>
              </a:r>
            </a:p>
          </p:txBody>
        </p:sp>
      </p:grpSp>
      <p:grpSp>
        <p:nvGrpSpPr>
          <p:cNvPr name="Group 39" id="39"/>
          <p:cNvGrpSpPr/>
          <p:nvPr/>
        </p:nvGrpSpPr>
        <p:grpSpPr>
          <a:xfrm rot="0">
            <a:off x="2331720" y="4142232"/>
            <a:ext cx="4800600" cy="329184"/>
            <a:chOff x="0" y="0"/>
            <a:chExt cx="6400800" cy="438912"/>
          </a:xfrm>
        </p:grpSpPr>
        <p:sp>
          <p:nvSpPr>
            <p:cNvPr name="Freeform 40" id="40"/>
            <p:cNvSpPr/>
            <p:nvPr/>
          </p:nvSpPr>
          <p:spPr>
            <a:xfrm flipH="false" flipV="false" rot="0">
              <a:off x="0" y="0"/>
              <a:ext cx="6400800" cy="438912"/>
            </a:xfrm>
            <a:custGeom>
              <a:avLst/>
              <a:gdLst/>
              <a:ahLst/>
              <a:cxnLst/>
              <a:rect r="r" b="b" t="t" l="l"/>
              <a:pathLst>
                <a:path h="438912" w="6400800">
                  <a:moveTo>
                    <a:pt x="0" y="0"/>
                  </a:moveTo>
                  <a:lnTo>
                    <a:pt x="6400800" y="0"/>
                  </a:lnTo>
                  <a:lnTo>
                    <a:pt x="6400800" y="438912"/>
                  </a:lnTo>
                  <a:lnTo>
                    <a:pt x="0" y="438912"/>
                  </a:lnTo>
                  <a:close/>
                </a:path>
              </a:pathLst>
            </a:custGeom>
            <a:blipFill>
              <a:blip r:embed="rId3">
                <a:alphaModFix amt="0"/>
              </a:blip>
              <a:stretch>
                <a:fillRect l="0" t="-234156" r="0" b="-234156"/>
              </a:stretch>
            </a:blipFill>
          </p:spPr>
        </p:sp>
        <p:sp>
          <p:nvSpPr>
            <p:cNvPr name="TextBox 41" id="41"/>
            <p:cNvSpPr txBox="true"/>
            <p:nvPr/>
          </p:nvSpPr>
          <p:spPr>
            <a:xfrm>
              <a:off x="0" y="-9525"/>
              <a:ext cx="6400800" cy="448437"/>
            </a:xfrm>
            <a:prstGeom prst="rect">
              <a:avLst/>
            </a:prstGeom>
          </p:spPr>
          <p:txBody>
            <a:bodyPr anchor="ctr" rtlCol="false" tIns="0" lIns="0" bIns="0" rIns="0"/>
            <a:lstStyle/>
            <a:p>
              <a:pPr algn="l">
                <a:lnSpc>
                  <a:spcPts val="2520"/>
                </a:lnSpc>
              </a:pPr>
              <a:r>
                <a:rPr lang="en-US" sz="2100" b="true">
                  <a:solidFill>
                    <a:srgbClr val="F5F8FC"/>
                  </a:solidFill>
                  <a:latin typeface="Aptos Bold"/>
                  <a:ea typeface="Aptos Bold"/>
                  <a:cs typeface="Aptos Bold"/>
                  <a:sym typeface="Aptos Bold"/>
                </a:rPr>
                <a:t>ESP-MESH + 3D mapping</a:t>
              </a:r>
            </a:p>
          </p:txBody>
        </p:sp>
      </p:grpSp>
      <p:grpSp>
        <p:nvGrpSpPr>
          <p:cNvPr name="Group 42" id="42"/>
          <p:cNvGrpSpPr/>
          <p:nvPr/>
        </p:nvGrpSpPr>
        <p:grpSpPr>
          <a:xfrm rot="0">
            <a:off x="7132320" y="4142232"/>
            <a:ext cx="8983980" cy="480060"/>
            <a:chOff x="0" y="0"/>
            <a:chExt cx="11978640" cy="640080"/>
          </a:xfrm>
        </p:grpSpPr>
        <p:sp>
          <p:nvSpPr>
            <p:cNvPr name="Freeform 43" id="43"/>
            <p:cNvSpPr/>
            <p:nvPr/>
          </p:nvSpPr>
          <p:spPr>
            <a:xfrm flipH="false" flipV="false" rot="0">
              <a:off x="0" y="0"/>
              <a:ext cx="11978640" cy="640080"/>
            </a:xfrm>
            <a:custGeom>
              <a:avLst/>
              <a:gdLst/>
              <a:ahLst/>
              <a:cxnLst/>
              <a:rect r="r" b="b" t="t" l="l"/>
              <a:pathLst>
                <a:path h="640080" w="11978640">
                  <a:moveTo>
                    <a:pt x="0" y="0"/>
                  </a:moveTo>
                  <a:lnTo>
                    <a:pt x="11978640" y="0"/>
                  </a:lnTo>
                  <a:lnTo>
                    <a:pt x="11978640" y="640080"/>
                  </a:lnTo>
                  <a:lnTo>
                    <a:pt x="0" y="640080"/>
                  </a:lnTo>
                  <a:close/>
                </a:path>
              </a:pathLst>
            </a:custGeom>
            <a:blipFill>
              <a:blip r:embed="rId3">
                <a:alphaModFix amt="0"/>
              </a:blip>
              <a:stretch>
                <a:fillRect l="0" t="-314648" r="0" b="-314648"/>
              </a:stretch>
            </a:blipFill>
          </p:spPr>
        </p:sp>
        <p:sp>
          <p:nvSpPr>
            <p:cNvPr name="TextBox 44" id="44"/>
            <p:cNvSpPr txBox="true"/>
            <p:nvPr/>
          </p:nvSpPr>
          <p:spPr>
            <a:xfrm>
              <a:off x="0" y="0"/>
              <a:ext cx="1197864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Cover spatial temperature differences.</a:t>
              </a:r>
            </a:p>
          </p:txBody>
        </p:sp>
      </p:grpSp>
      <p:sp>
        <p:nvSpPr>
          <p:cNvPr name="AutoShape 45" id="45"/>
          <p:cNvSpPr/>
          <p:nvPr/>
        </p:nvSpPr>
        <p:spPr>
          <a:xfrm rot="2820">
            <a:off x="2326005" y="4878134"/>
            <a:ext cx="13796010" cy="0"/>
          </a:xfrm>
          <a:prstGeom prst="line">
            <a:avLst/>
          </a:prstGeom>
          <a:ln cap="rnd" w="9525">
            <a:solidFill>
              <a:srgbClr val="1D3850"/>
            </a:solidFill>
            <a:prstDash val="solid"/>
            <a:headEnd type="none" len="sm" w="sm"/>
            <a:tailEnd type="none" len="sm" w="sm"/>
          </a:ln>
        </p:spPr>
      </p:sp>
      <p:grpSp>
        <p:nvGrpSpPr>
          <p:cNvPr name="Group 46" id="46"/>
          <p:cNvGrpSpPr/>
          <p:nvPr/>
        </p:nvGrpSpPr>
        <p:grpSpPr>
          <a:xfrm rot="0">
            <a:off x="950595" y="5339715"/>
            <a:ext cx="1088898" cy="814578"/>
            <a:chOff x="0" y="0"/>
            <a:chExt cx="1451864" cy="1086104"/>
          </a:xfrm>
        </p:grpSpPr>
        <p:sp>
          <p:nvSpPr>
            <p:cNvPr name="Freeform 47" id="47"/>
            <p:cNvSpPr/>
            <p:nvPr/>
          </p:nvSpPr>
          <p:spPr>
            <a:xfrm flipH="false" flipV="false" rot="0">
              <a:off x="0" y="0"/>
              <a:ext cx="1451737" cy="1086104"/>
            </a:xfrm>
            <a:custGeom>
              <a:avLst/>
              <a:gdLst/>
              <a:ahLst/>
              <a:cxnLst/>
              <a:rect r="r" b="b" t="t" l="l"/>
              <a:pathLst>
                <a:path h="1086104" w="1451737">
                  <a:moveTo>
                    <a:pt x="0" y="93599"/>
                  </a:moveTo>
                  <a:cubicBezTo>
                    <a:pt x="0" y="41910"/>
                    <a:pt x="41910" y="0"/>
                    <a:pt x="93599" y="0"/>
                  </a:cubicBezTo>
                  <a:lnTo>
                    <a:pt x="1358138" y="0"/>
                  </a:lnTo>
                  <a:cubicBezTo>
                    <a:pt x="1409827" y="0"/>
                    <a:pt x="1451737" y="41910"/>
                    <a:pt x="1451737" y="93599"/>
                  </a:cubicBezTo>
                  <a:lnTo>
                    <a:pt x="1451737" y="992505"/>
                  </a:lnTo>
                  <a:cubicBezTo>
                    <a:pt x="1451737" y="1044194"/>
                    <a:pt x="1409827" y="1086104"/>
                    <a:pt x="1358138" y="1086104"/>
                  </a:cubicBezTo>
                  <a:lnTo>
                    <a:pt x="93599" y="1086104"/>
                  </a:lnTo>
                  <a:cubicBezTo>
                    <a:pt x="41910" y="1086104"/>
                    <a:pt x="0" y="1044194"/>
                    <a:pt x="0" y="992505"/>
                  </a:cubicBezTo>
                  <a:close/>
                </a:path>
              </a:pathLst>
            </a:custGeom>
            <a:solidFill>
              <a:srgbClr val="F6C85F">
                <a:alpha val="4706"/>
              </a:srgbClr>
            </a:solidFill>
            <a:ln w="19050" cap="sq">
              <a:solidFill>
                <a:srgbClr val="F6C85F"/>
              </a:solidFill>
              <a:prstDash val="solid"/>
              <a:miter/>
            </a:ln>
          </p:spPr>
        </p:sp>
      </p:grpSp>
      <p:grpSp>
        <p:nvGrpSpPr>
          <p:cNvPr name="Group 48" id="48"/>
          <p:cNvGrpSpPr/>
          <p:nvPr/>
        </p:nvGrpSpPr>
        <p:grpSpPr>
          <a:xfrm rot="0">
            <a:off x="960120" y="5582412"/>
            <a:ext cx="1069848" cy="246888"/>
            <a:chOff x="0" y="0"/>
            <a:chExt cx="1426464" cy="329184"/>
          </a:xfrm>
        </p:grpSpPr>
        <p:sp>
          <p:nvSpPr>
            <p:cNvPr name="Freeform 49" id="49"/>
            <p:cNvSpPr/>
            <p:nvPr/>
          </p:nvSpPr>
          <p:spPr>
            <a:xfrm flipH="false" flipV="false" rot="0">
              <a:off x="0" y="0"/>
              <a:ext cx="1426464" cy="329184"/>
            </a:xfrm>
            <a:custGeom>
              <a:avLst/>
              <a:gdLst/>
              <a:ahLst/>
              <a:cxnLst/>
              <a:rect r="r" b="b" t="t" l="l"/>
              <a:pathLst>
                <a:path h="329184" w="1426464">
                  <a:moveTo>
                    <a:pt x="0" y="0"/>
                  </a:moveTo>
                  <a:lnTo>
                    <a:pt x="1426464" y="0"/>
                  </a:lnTo>
                  <a:lnTo>
                    <a:pt x="1426464" y="329184"/>
                  </a:lnTo>
                  <a:lnTo>
                    <a:pt x="0" y="329184"/>
                  </a:lnTo>
                  <a:close/>
                </a:path>
              </a:pathLst>
            </a:custGeom>
            <a:blipFill>
              <a:blip r:embed="rId3">
                <a:alphaModFix amt="0"/>
              </a:blip>
              <a:stretch>
                <a:fillRect l="0" t="-34435" r="0" b="-34435"/>
              </a:stretch>
            </a:blipFill>
          </p:spPr>
        </p:sp>
        <p:sp>
          <p:nvSpPr>
            <p:cNvPr name="TextBox 50" id="50"/>
            <p:cNvSpPr txBox="true"/>
            <p:nvPr/>
          </p:nvSpPr>
          <p:spPr>
            <a:xfrm>
              <a:off x="0" y="-9525"/>
              <a:ext cx="1426464" cy="338709"/>
            </a:xfrm>
            <a:prstGeom prst="rect">
              <a:avLst/>
            </a:prstGeom>
          </p:spPr>
          <p:txBody>
            <a:bodyPr anchor="ctr" rtlCol="false" tIns="0" lIns="0" bIns="0" rIns="0"/>
            <a:lstStyle/>
            <a:p>
              <a:pPr algn="ctr">
                <a:lnSpc>
                  <a:spcPts val="1620"/>
                </a:lnSpc>
              </a:pPr>
              <a:r>
                <a:rPr lang="en-US" sz="1350" b="true">
                  <a:solidFill>
                    <a:srgbClr val="F6C85F"/>
                  </a:solidFill>
                  <a:latin typeface="Aptos Bold"/>
                  <a:ea typeface="Aptos Bold"/>
                  <a:cs typeface="Aptos Bold"/>
                  <a:sym typeface="Aptos Bold"/>
                </a:rPr>
                <a:t>03</a:t>
              </a:r>
            </a:p>
          </p:txBody>
        </p:sp>
      </p:grpSp>
      <p:grpSp>
        <p:nvGrpSpPr>
          <p:cNvPr name="Group 51" id="51"/>
          <p:cNvGrpSpPr/>
          <p:nvPr/>
        </p:nvGrpSpPr>
        <p:grpSpPr>
          <a:xfrm rot="0">
            <a:off x="2331720" y="5376672"/>
            <a:ext cx="4800600" cy="329184"/>
            <a:chOff x="0" y="0"/>
            <a:chExt cx="6400800" cy="438912"/>
          </a:xfrm>
        </p:grpSpPr>
        <p:sp>
          <p:nvSpPr>
            <p:cNvPr name="Freeform 52" id="52"/>
            <p:cNvSpPr/>
            <p:nvPr/>
          </p:nvSpPr>
          <p:spPr>
            <a:xfrm flipH="false" flipV="false" rot="0">
              <a:off x="0" y="0"/>
              <a:ext cx="6400800" cy="438912"/>
            </a:xfrm>
            <a:custGeom>
              <a:avLst/>
              <a:gdLst/>
              <a:ahLst/>
              <a:cxnLst/>
              <a:rect r="r" b="b" t="t" l="l"/>
              <a:pathLst>
                <a:path h="438912" w="6400800">
                  <a:moveTo>
                    <a:pt x="0" y="0"/>
                  </a:moveTo>
                  <a:lnTo>
                    <a:pt x="6400800" y="0"/>
                  </a:lnTo>
                  <a:lnTo>
                    <a:pt x="6400800" y="438912"/>
                  </a:lnTo>
                  <a:lnTo>
                    <a:pt x="0" y="438912"/>
                  </a:lnTo>
                  <a:close/>
                </a:path>
              </a:pathLst>
            </a:custGeom>
            <a:blipFill>
              <a:blip r:embed="rId3">
                <a:alphaModFix amt="0"/>
              </a:blip>
              <a:stretch>
                <a:fillRect l="0" t="-234156" r="0" b="-234156"/>
              </a:stretch>
            </a:blipFill>
          </p:spPr>
        </p:sp>
        <p:sp>
          <p:nvSpPr>
            <p:cNvPr name="TextBox 53" id="53"/>
            <p:cNvSpPr txBox="true"/>
            <p:nvPr/>
          </p:nvSpPr>
          <p:spPr>
            <a:xfrm>
              <a:off x="0" y="-9525"/>
              <a:ext cx="6400800" cy="448437"/>
            </a:xfrm>
            <a:prstGeom prst="rect">
              <a:avLst/>
            </a:prstGeom>
          </p:spPr>
          <p:txBody>
            <a:bodyPr anchor="ctr" rtlCol="false" tIns="0" lIns="0" bIns="0" rIns="0"/>
            <a:lstStyle/>
            <a:p>
              <a:pPr algn="l">
                <a:lnSpc>
                  <a:spcPts val="2520"/>
                </a:lnSpc>
              </a:pPr>
              <a:r>
                <a:rPr lang="en-US" sz="2100" b="true">
                  <a:solidFill>
                    <a:srgbClr val="F5F8FC"/>
                  </a:solidFill>
                  <a:latin typeface="Aptos Bold"/>
                  <a:ea typeface="Aptos Bold"/>
                  <a:cs typeface="Aptos Bold"/>
                  <a:sym typeface="Aptos Bold"/>
                </a:rPr>
                <a:t>MicroSD + SQLite WAL</a:t>
              </a:r>
            </a:p>
          </p:txBody>
        </p:sp>
      </p:grpSp>
      <p:grpSp>
        <p:nvGrpSpPr>
          <p:cNvPr name="Group 54" id="54"/>
          <p:cNvGrpSpPr/>
          <p:nvPr/>
        </p:nvGrpSpPr>
        <p:grpSpPr>
          <a:xfrm rot="0">
            <a:off x="7132320" y="5376672"/>
            <a:ext cx="8983980" cy="480060"/>
            <a:chOff x="0" y="0"/>
            <a:chExt cx="11978640" cy="640080"/>
          </a:xfrm>
        </p:grpSpPr>
        <p:sp>
          <p:nvSpPr>
            <p:cNvPr name="Freeform 55" id="55"/>
            <p:cNvSpPr/>
            <p:nvPr/>
          </p:nvSpPr>
          <p:spPr>
            <a:xfrm flipH="false" flipV="false" rot="0">
              <a:off x="0" y="0"/>
              <a:ext cx="11978640" cy="640080"/>
            </a:xfrm>
            <a:custGeom>
              <a:avLst/>
              <a:gdLst/>
              <a:ahLst/>
              <a:cxnLst/>
              <a:rect r="r" b="b" t="t" l="l"/>
              <a:pathLst>
                <a:path h="640080" w="11978640">
                  <a:moveTo>
                    <a:pt x="0" y="0"/>
                  </a:moveTo>
                  <a:lnTo>
                    <a:pt x="11978640" y="0"/>
                  </a:lnTo>
                  <a:lnTo>
                    <a:pt x="11978640" y="640080"/>
                  </a:lnTo>
                  <a:lnTo>
                    <a:pt x="0" y="640080"/>
                  </a:lnTo>
                  <a:close/>
                </a:path>
              </a:pathLst>
            </a:custGeom>
            <a:blipFill>
              <a:blip r:embed="rId3">
                <a:alphaModFix amt="0"/>
              </a:blip>
              <a:stretch>
                <a:fillRect l="0" t="-314648" r="0" b="-314648"/>
              </a:stretch>
            </a:blipFill>
          </p:spPr>
        </p:sp>
        <p:sp>
          <p:nvSpPr>
            <p:cNvPr name="TextBox 56" id="56"/>
            <p:cNvSpPr txBox="true"/>
            <p:nvPr/>
          </p:nvSpPr>
          <p:spPr>
            <a:xfrm>
              <a:off x="0" y="0"/>
              <a:ext cx="1197864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Extend offline storage beyond RAM.</a:t>
              </a:r>
            </a:p>
          </p:txBody>
        </p:sp>
      </p:grpSp>
      <p:sp>
        <p:nvSpPr>
          <p:cNvPr name="AutoShape 57" id="57"/>
          <p:cNvSpPr/>
          <p:nvPr/>
        </p:nvSpPr>
        <p:spPr>
          <a:xfrm rot="2820">
            <a:off x="2326005" y="6112574"/>
            <a:ext cx="13796010" cy="0"/>
          </a:xfrm>
          <a:prstGeom prst="line">
            <a:avLst/>
          </a:prstGeom>
          <a:ln cap="rnd" w="9525">
            <a:solidFill>
              <a:srgbClr val="1D3850"/>
            </a:solidFill>
            <a:prstDash val="solid"/>
            <a:headEnd type="none" len="sm" w="sm"/>
            <a:tailEnd type="none" len="sm" w="sm"/>
          </a:ln>
        </p:spPr>
      </p:sp>
      <p:grpSp>
        <p:nvGrpSpPr>
          <p:cNvPr name="Group 58" id="58"/>
          <p:cNvGrpSpPr/>
          <p:nvPr/>
        </p:nvGrpSpPr>
        <p:grpSpPr>
          <a:xfrm rot="0">
            <a:off x="950595" y="6574155"/>
            <a:ext cx="1088898" cy="814578"/>
            <a:chOff x="0" y="0"/>
            <a:chExt cx="1451864" cy="1086104"/>
          </a:xfrm>
        </p:grpSpPr>
        <p:sp>
          <p:nvSpPr>
            <p:cNvPr name="Freeform 59" id="59"/>
            <p:cNvSpPr/>
            <p:nvPr/>
          </p:nvSpPr>
          <p:spPr>
            <a:xfrm flipH="false" flipV="false" rot="0">
              <a:off x="0" y="0"/>
              <a:ext cx="1451737" cy="1086104"/>
            </a:xfrm>
            <a:custGeom>
              <a:avLst/>
              <a:gdLst/>
              <a:ahLst/>
              <a:cxnLst/>
              <a:rect r="r" b="b" t="t" l="l"/>
              <a:pathLst>
                <a:path h="1086104" w="1451737">
                  <a:moveTo>
                    <a:pt x="0" y="93599"/>
                  </a:moveTo>
                  <a:cubicBezTo>
                    <a:pt x="0" y="41910"/>
                    <a:pt x="41910" y="0"/>
                    <a:pt x="93599" y="0"/>
                  </a:cubicBezTo>
                  <a:lnTo>
                    <a:pt x="1358138" y="0"/>
                  </a:lnTo>
                  <a:cubicBezTo>
                    <a:pt x="1409827" y="0"/>
                    <a:pt x="1451737" y="41910"/>
                    <a:pt x="1451737" y="93599"/>
                  </a:cubicBezTo>
                  <a:lnTo>
                    <a:pt x="1451737" y="992505"/>
                  </a:lnTo>
                  <a:cubicBezTo>
                    <a:pt x="1451737" y="1044194"/>
                    <a:pt x="1409827" y="1086104"/>
                    <a:pt x="1358138" y="1086104"/>
                  </a:cubicBezTo>
                  <a:lnTo>
                    <a:pt x="93599" y="1086104"/>
                  </a:lnTo>
                  <a:cubicBezTo>
                    <a:pt x="41910" y="1086104"/>
                    <a:pt x="0" y="1044194"/>
                    <a:pt x="0" y="992505"/>
                  </a:cubicBezTo>
                  <a:close/>
                </a:path>
              </a:pathLst>
            </a:custGeom>
            <a:solidFill>
              <a:srgbClr val="FF5E78">
                <a:alpha val="4706"/>
              </a:srgbClr>
            </a:solidFill>
            <a:ln w="19050" cap="sq">
              <a:solidFill>
                <a:srgbClr val="FF5E78"/>
              </a:solidFill>
              <a:prstDash val="solid"/>
              <a:miter/>
            </a:ln>
          </p:spPr>
        </p:sp>
      </p:grpSp>
      <p:grpSp>
        <p:nvGrpSpPr>
          <p:cNvPr name="Group 60" id="60"/>
          <p:cNvGrpSpPr/>
          <p:nvPr/>
        </p:nvGrpSpPr>
        <p:grpSpPr>
          <a:xfrm rot="0">
            <a:off x="960120" y="6816852"/>
            <a:ext cx="1069848" cy="246888"/>
            <a:chOff x="0" y="0"/>
            <a:chExt cx="1426464" cy="329184"/>
          </a:xfrm>
        </p:grpSpPr>
        <p:sp>
          <p:nvSpPr>
            <p:cNvPr name="Freeform 61" id="61"/>
            <p:cNvSpPr/>
            <p:nvPr/>
          </p:nvSpPr>
          <p:spPr>
            <a:xfrm flipH="false" flipV="false" rot="0">
              <a:off x="0" y="0"/>
              <a:ext cx="1426464" cy="329184"/>
            </a:xfrm>
            <a:custGeom>
              <a:avLst/>
              <a:gdLst/>
              <a:ahLst/>
              <a:cxnLst/>
              <a:rect r="r" b="b" t="t" l="l"/>
              <a:pathLst>
                <a:path h="329184" w="1426464">
                  <a:moveTo>
                    <a:pt x="0" y="0"/>
                  </a:moveTo>
                  <a:lnTo>
                    <a:pt x="1426464" y="0"/>
                  </a:lnTo>
                  <a:lnTo>
                    <a:pt x="1426464" y="329184"/>
                  </a:lnTo>
                  <a:lnTo>
                    <a:pt x="0" y="329184"/>
                  </a:lnTo>
                  <a:close/>
                </a:path>
              </a:pathLst>
            </a:custGeom>
            <a:blipFill>
              <a:blip r:embed="rId3">
                <a:alphaModFix amt="0"/>
              </a:blip>
              <a:stretch>
                <a:fillRect l="0" t="-34435" r="0" b="-34435"/>
              </a:stretch>
            </a:blipFill>
          </p:spPr>
        </p:sp>
        <p:sp>
          <p:nvSpPr>
            <p:cNvPr name="TextBox 62" id="62"/>
            <p:cNvSpPr txBox="true"/>
            <p:nvPr/>
          </p:nvSpPr>
          <p:spPr>
            <a:xfrm>
              <a:off x="0" y="-9525"/>
              <a:ext cx="1426464" cy="338709"/>
            </a:xfrm>
            <a:prstGeom prst="rect">
              <a:avLst/>
            </a:prstGeom>
          </p:spPr>
          <p:txBody>
            <a:bodyPr anchor="ctr" rtlCol="false" tIns="0" lIns="0" bIns="0" rIns="0"/>
            <a:lstStyle/>
            <a:p>
              <a:pPr algn="ctr">
                <a:lnSpc>
                  <a:spcPts val="1620"/>
                </a:lnSpc>
              </a:pPr>
              <a:r>
                <a:rPr lang="en-US" sz="1350" b="true">
                  <a:solidFill>
                    <a:srgbClr val="FF5E78"/>
                  </a:solidFill>
                  <a:latin typeface="Aptos Bold"/>
                  <a:ea typeface="Aptos Bold"/>
                  <a:cs typeface="Aptos Bold"/>
                  <a:sym typeface="Aptos Bold"/>
                </a:rPr>
                <a:t>04</a:t>
              </a:r>
            </a:p>
          </p:txBody>
        </p:sp>
      </p:grpSp>
      <p:grpSp>
        <p:nvGrpSpPr>
          <p:cNvPr name="Group 63" id="63"/>
          <p:cNvGrpSpPr/>
          <p:nvPr/>
        </p:nvGrpSpPr>
        <p:grpSpPr>
          <a:xfrm rot="0">
            <a:off x="2331720" y="6611112"/>
            <a:ext cx="4800600" cy="329184"/>
            <a:chOff x="0" y="0"/>
            <a:chExt cx="6400800" cy="438912"/>
          </a:xfrm>
        </p:grpSpPr>
        <p:sp>
          <p:nvSpPr>
            <p:cNvPr name="Freeform 64" id="64"/>
            <p:cNvSpPr/>
            <p:nvPr/>
          </p:nvSpPr>
          <p:spPr>
            <a:xfrm flipH="false" flipV="false" rot="0">
              <a:off x="0" y="0"/>
              <a:ext cx="6400800" cy="438912"/>
            </a:xfrm>
            <a:custGeom>
              <a:avLst/>
              <a:gdLst/>
              <a:ahLst/>
              <a:cxnLst/>
              <a:rect r="r" b="b" t="t" l="l"/>
              <a:pathLst>
                <a:path h="438912" w="6400800">
                  <a:moveTo>
                    <a:pt x="0" y="0"/>
                  </a:moveTo>
                  <a:lnTo>
                    <a:pt x="6400800" y="0"/>
                  </a:lnTo>
                  <a:lnTo>
                    <a:pt x="6400800" y="438912"/>
                  </a:lnTo>
                  <a:lnTo>
                    <a:pt x="0" y="438912"/>
                  </a:lnTo>
                  <a:close/>
                </a:path>
              </a:pathLst>
            </a:custGeom>
            <a:blipFill>
              <a:blip r:embed="rId3">
                <a:alphaModFix amt="0"/>
              </a:blip>
              <a:stretch>
                <a:fillRect l="0" t="-234156" r="0" b="-234156"/>
              </a:stretch>
            </a:blipFill>
          </p:spPr>
        </p:sp>
        <p:sp>
          <p:nvSpPr>
            <p:cNvPr name="TextBox 65" id="65"/>
            <p:cNvSpPr txBox="true"/>
            <p:nvPr/>
          </p:nvSpPr>
          <p:spPr>
            <a:xfrm>
              <a:off x="0" y="-9525"/>
              <a:ext cx="6400800" cy="448437"/>
            </a:xfrm>
            <a:prstGeom prst="rect">
              <a:avLst/>
            </a:prstGeom>
          </p:spPr>
          <p:txBody>
            <a:bodyPr anchor="ctr" rtlCol="false" tIns="0" lIns="0" bIns="0" rIns="0"/>
            <a:lstStyle/>
            <a:p>
              <a:pPr algn="l">
                <a:lnSpc>
                  <a:spcPts val="2520"/>
                </a:lnSpc>
              </a:pPr>
              <a:r>
                <a:rPr lang="en-US" sz="2100" b="true">
                  <a:solidFill>
                    <a:srgbClr val="F5F8FC"/>
                  </a:solidFill>
                  <a:latin typeface="Aptos Bold"/>
                  <a:ea typeface="Aptos Bold"/>
                  <a:cs typeface="Aptos Bold"/>
                  <a:sym typeface="Aptos Bold"/>
                </a:rPr>
                <a:t>Blockchain audit</a:t>
              </a:r>
            </a:p>
          </p:txBody>
        </p:sp>
      </p:grpSp>
      <p:grpSp>
        <p:nvGrpSpPr>
          <p:cNvPr name="Group 66" id="66"/>
          <p:cNvGrpSpPr/>
          <p:nvPr/>
        </p:nvGrpSpPr>
        <p:grpSpPr>
          <a:xfrm rot="0">
            <a:off x="7132320" y="6611112"/>
            <a:ext cx="8983980" cy="480060"/>
            <a:chOff x="0" y="0"/>
            <a:chExt cx="11978640" cy="640080"/>
          </a:xfrm>
        </p:grpSpPr>
        <p:sp>
          <p:nvSpPr>
            <p:cNvPr name="Freeform 67" id="67"/>
            <p:cNvSpPr/>
            <p:nvPr/>
          </p:nvSpPr>
          <p:spPr>
            <a:xfrm flipH="false" flipV="false" rot="0">
              <a:off x="0" y="0"/>
              <a:ext cx="11978640" cy="640080"/>
            </a:xfrm>
            <a:custGeom>
              <a:avLst/>
              <a:gdLst/>
              <a:ahLst/>
              <a:cxnLst/>
              <a:rect r="r" b="b" t="t" l="l"/>
              <a:pathLst>
                <a:path h="640080" w="11978640">
                  <a:moveTo>
                    <a:pt x="0" y="0"/>
                  </a:moveTo>
                  <a:lnTo>
                    <a:pt x="11978640" y="0"/>
                  </a:lnTo>
                  <a:lnTo>
                    <a:pt x="11978640" y="640080"/>
                  </a:lnTo>
                  <a:lnTo>
                    <a:pt x="0" y="640080"/>
                  </a:lnTo>
                  <a:close/>
                </a:path>
              </a:pathLst>
            </a:custGeom>
            <a:blipFill>
              <a:blip r:embed="rId3">
                <a:alphaModFix amt="0"/>
              </a:blip>
              <a:stretch>
                <a:fillRect l="0" t="-314648" r="0" b="-314648"/>
              </a:stretch>
            </a:blipFill>
          </p:spPr>
        </p:sp>
        <p:sp>
          <p:nvSpPr>
            <p:cNvPr name="TextBox 68" id="68"/>
            <p:cNvSpPr txBox="true"/>
            <p:nvPr/>
          </p:nvSpPr>
          <p:spPr>
            <a:xfrm>
              <a:off x="0" y="0"/>
              <a:ext cx="1197864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Immutable event / compliance trail.</a:t>
              </a:r>
            </a:p>
          </p:txBody>
        </p:sp>
      </p:grpSp>
      <p:sp>
        <p:nvSpPr>
          <p:cNvPr name="AutoShape 69" id="69"/>
          <p:cNvSpPr/>
          <p:nvPr/>
        </p:nvSpPr>
        <p:spPr>
          <a:xfrm rot="2820">
            <a:off x="2326005" y="7347014"/>
            <a:ext cx="13796010" cy="0"/>
          </a:xfrm>
          <a:prstGeom prst="line">
            <a:avLst/>
          </a:prstGeom>
          <a:ln cap="rnd" w="9525">
            <a:solidFill>
              <a:srgbClr val="1D3850"/>
            </a:solidFill>
            <a:prstDash val="solid"/>
            <a:headEnd type="none" len="sm" w="sm"/>
            <a:tailEnd type="none" len="sm" w="sm"/>
          </a:ln>
        </p:spPr>
      </p:sp>
      <p:grpSp>
        <p:nvGrpSpPr>
          <p:cNvPr name="Group 70" id="70"/>
          <p:cNvGrpSpPr/>
          <p:nvPr/>
        </p:nvGrpSpPr>
        <p:grpSpPr>
          <a:xfrm rot="0">
            <a:off x="950595" y="7808595"/>
            <a:ext cx="1088898" cy="814578"/>
            <a:chOff x="0" y="0"/>
            <a:chExt cx="1451864" cy="1086104"/>
          </a:xfrm>
        </p:grpSpPr>
        <p:sp>
          <p:nvSpPr>
            <p:cNvPr name="Freeform 71" id="71"/>
            <p:cNvSpPr/>
            <p:nvPr/>
          </p:nvSpPr>
          <p:spPr>
            <a:xfrm flipH="false" flipV="false" rot="0">
              <a:off x="0" y="0"/>
              <a:ext cx="1451737" cy="1086104"/>
            </a:xfrm>
            <a:custGeom>
              <a:avLst/>
              <a:gdLst/>
              <a:ahLst/>
              <a:cxnLst/>
              <a:rect r="r" b="b" t="t" l="l"/>
              <a:pathLst>
                <a:path h="1086104" w="1451737">
                  <a:moveTo>
                    <a:pt x="0" y="93599"/>
                  </a:moveTo>
                  <a:cubicBezTo>
                    <a:pt x="0" y="41910"/>
                    <a:pt x="41910" y="0"/>
                    <a:pt x="93599" y="0"/>
                  </a:cubicBezTo>
                  <a:lnTo>
                    <a:pt x="1358138" y="0"/>
                  </a:lnTo>
                  <a:cubicBezTo>
                    <a:pt x="1409827" y="0"/>
                    <a:pt x="1451737" y="41910"/>
                    <a:pt x="1451737" y="93599"/>
                  </a:cubicBezTo>
                  <a:lnTo>
                    <a:pt x="1451737" y="992505"/>
                  </a:lnTo>
                  <a:cubicBezTo>
                    <a:pt x="1451737" y="1044194"/>
                    <a:pt x="1409827" y="1086104"/>
                    <a:pt x="1358138" y="1086104"/>
                  </a:cubicBezTo>
                  <a:lnTo>
                    <a:pt x="93599" y="1086104"/>
                  </a:lnTo>
                  <a:cubicBezTo>
                    <a:pt x="41910" y="1086104"/>
                    <a:pt x="0" y="1044194"/>
                    <a:pt x="0" y="992505"/>
                  </a:cubicBezTo>
                  <a:close/>
                </a:path>
              </a:pathLst>
            </a:custGeom>
            <a:solidFill>
              <a:srgbClr val="68A8FF">
                <a:alpha val="4706"/>
              </a:srgbClr>
            </a:solidFill>
            <a:ln w="19050" cap="sq">
              <a:solidFill>
                <a:srgbClr val="68A8FF"/>
              </a:solidFill>
              <a:prstDash val="solid"/>
              <a:miter/>
            </a:ln>
          </p:spPr>
        </p:sp>
      </p:grpSp>
      <p:grpSp>
        <p:nvGrpSpPr>
          <p:cNvPr name="Group 72" id="72"/>
          <p:cNvGrpSpPr/>
          <p:nvPr/>
        </p:nvGrpSpPr>
        <p:grpSpPr>
          <a:xfrm rot="0">
            <a:off x="960120" y="8051292"/>
            <a:ext cx="1069848" cy="246888"/>
            <a:chOff x="0" y="0"/>
            <a:chExt cx="1426464" cy="329184"/>
          </a:xfrm>
        </p:grpSpPr>
        <p:sp>
          <p:nvSpPr>
            <p:cNvPr name="Freeform 73" id="73"/>
            <p:cNvSpPr/>
            <p:nvPr/>
          </p:nvSpPr>
          <p:spPr>
            <a:xfrm flipH="false" flipV="false" rot="0">
              <a:off x="0" y="0"/>
              <a:ext cx="1426464" cy="329184"/>
            </a:xfrm>
            <a:custGeom>
              <a:avLst/>
              <a:gdLst/>
              <a:ahLst/>
              <a:cxnLst/>
              <a:rect r="r" b="b" t="t" l="l"/>
              <a:pathLst>
                <a:path h="329184" w="1426464">
                  <a:moveTo>
                    <a:pt x="0" y="0"/>
                  </a:moveTo>
                  <a:lnTo>
                    <a:pt x="1426464" y="0"/>
                  </a:lnTo>
                  <a:lnTo>
                    <a:pt x="1426464" y="329184"/>
                  </a:lnTo>
                  <a:lnTo>
                    <a:pt x="0" y="329184"/>
                  </a:lnTo>
                  <a:close/>
                </a:path>
              </a:pathLst>
            </a:custGeom>
            <a:blipFill>
              <a:blip r:embed="rId3">
                <a:alphaModFix amt="0"/>
              </a:blip>
              <a:stretch>
                <a:fillRect l="0" t="-34435" r="0" b="-34435"/>
              </a:stretch>
            </a:blipFill>
          </p:spPr>
        </p:sp>
        <p:sp>
          <p:nvSpPr>
            <p:cNvPr name="TextBox 74" id="74"/>
            <p:cNvSpPr txBox="true"/>
            <p:nvPr/>
          </p:nvSpPr>
          <p:spPr>
            <a:xfrm>
              <a:off x="0" y="-9525"/>
              <a:ext cx="1426464" cy="338709"/>
            </a:xfrm>
            <a:prstGeom prst="rect">
              <a:avLst/>
            </a:prstGeom>
          </p:spPr>
          <p:txBody>
            <a:bodyPr anchor="ctr" rtlCol="false" tIns="0" lIns="0" bIns="0" rIns="0"/>
            <a:lstStyle/>
            <a:p>
              <a:pPr algn="ctr">
                <a:lnSpc>
                  <a:spcPts val="1620"/>
                </a:lnSpc>
              </a:pPr>
              <a:r>
                <a:rPr lang="en-US" sz="1350" b="true">
                  <a:solidFill>
                    <a:srgbClr val="68A8FF"/>
                  </a:solidFill>
                  <a:latin typeface="Aptos Bold"/>
                  <a:ea typeface="Aptos Bold"/>
                  <a:cs typeface="Aptos Bold"/>
                  <a:sym typeface="Aptos Bold"/>
                </a:rPr>
                <a:t>05</a:t>
              </a:r>
            </a:p>
          </p:txBody>
        </p:sp>
      </p:grpSp>
      <p:grpSp>
        <p:nvGrpSpPr>
          <p:cNvPr name="Group 75" id="75"/>
          <p:cNvGrpSpPr/>
          <p:nvPr/>
        </p:nvGrpSpPr>
        <p:grpSpPr>
          <a:xfrm rot="0">
            <a:off x="2331720" y="7845552"/>
            <a:ext cx="4800600" cy="329184"/>
            <a:chOff x="0" y="0"/>
            <a:chExt cx="6400800" cy="438912"/>
          </a:xfrm>
        </p:grpSpPr>
        <p:sp>
          <p:nvSpPr>
            <p:cNvPr name="Freeform 76" id="76"/>
            <p:cNvSpPr/>
            <p:nvPr/>
          </p:nvSpPr>
          <p:spPr>
            <a:xfrm flipH="false" flipV="false" rot="0">
              <a:off x="0" y="0"/>
              <a:ext cx="6400800" cy="438912"/>
            </a:xfrm>
            <a:custGeom>
              <a:avLst/>
              <a:gdLst/>
              <a:ahLst/>
              <a:cxnLst/>
              <a:rect r="r" b="b" t="t" l="l"/>
              <a:pathLst>
                <a:path h="438912" w="6400800">
                  <a:moveTo>
                    <a:pt x="0" y="0"/>
                  </a:moveTo>
                  <a:lnTo>
                    <a:pt x="6400800" y="0"/>
                  </a:lnTo>
                  <a:lnTo>
                    <a:pt x="6400800" y="438912"/>
                  </a:lnTo>
                  <a:lnTo>
                    <a:pt x="0" y="438912"/>
                  </a:lnTo>
                  <a:close/>
                </a:path>
              </a:pathLst>
            </a:custGeom>
            <a:blipFill>
              <a:blip r:embed="rId3">
                <a:alphaModFix amt="0"/>
              </a:blip>
              <a:stretch>
                <a:fillRect l="0" t="-234156" r="0" b="-234156"/>
              </a:stretch>
            </a:blipFill>
          </p:spPr>
        </p:sp>
        <p:sp>
          <p:nvSpPr>
            <p:cNvPr name="TextBox 77" id="77"/>
            <p:cNvSpPr txBox="true"/>
            <p:nvPr/>
          </p:nvSpPr>
          <p:spPr>
            <a:xfrm>
              <a:off x="0" y="-9525"/>
              <a:ext cx="6400800" cy="448437"/>
            </a:xfrm>
            <a:prstGeom prst="rect">
              <a:avLst/>
            </a:prstGeom>
          </p:spPr>
          <p:txBody>
            <a:bodyPr anchor="ctr" rtlCol="false" tIns="0" lIns="0" bIns="0" rIns="0"/>
            <a:lstStyle/>
            <a:p>
              <a:pPr algn="l">
                <a:lnSpc>
                  <a:spcPts val="2520"/>
                </a:lnSpc>
              </a:pPr>
              <a:r>
                <a:rPr lang="en-US" sz="2100" b="true">
                  <a:solidFill>
                    <a:srgbClr val="F5F8FC"/>
                  </a:solidFill>
                  <a:latin typeface="Aptos Bold"/>
                  <a:ea typeface="Aptos Bold"/>
                  <a:cs typeface="Aptos Bold"/>
                  <a:sym typeface="Aptos Bold"/>
                </a:rPr>
                <a:t>LoRaWAN + low-power nodes</a:t>
              </a:r>
            </a:p>
          </p:txBody>
        </p:sp>
      </p:grpSp>
      <p:grpSp>
        <p:nvGrpSpPr>
          <p:cNvPr name="Group 78" id="78"/>
          <p:cNvGrpSpPr/>
          <p:nvPr/>
        </p:nvGrpSpPr>
        <p:grpSpPr>
          <a:xfrm rot="0">
            <a:off x="7132320" y="7845552"/>
            <a:ext cx="8983980" cy="480060"/>
            <a:chOff x="0" y="0"/>
            <a:chExt cx="11978640" cy="640080"/>
          </a:xfrm>
        </p:grpSpPr>
        <p:sp>
          <p:nvSpPr>
            <p:cNvPr name="Freeform 79" id="79"/>
            <p:cNvSpPr/>
            <p:nvPr/>
          </p:nvSpPr>
          <p:spPr>
            <a:xfrm flipH="false" flipV="false" rot="0">
              <a:off x="0" y="0"/>
              <a:ext cx="11978640" cy="640080"/>
            </a:xfrm>
            <a:custGeom>
              <a:avLst/>
              <a:gdLst/>
              <a:ahLst/>
              <a:cxnLst/>
              <a:rect r="r" b="b" t="t" l="l"/>
              <a:pathLst>
                <a:path h="640080" w="11978640">
                  <a:moveTo>
                    <a:pt x="0" y="0"/>
                  </a:moveTo>
                  <a:lnTo>
                    <a:pt x="11978640" y="0"/>
                  </a:lnTo>
                  <a:lnTo>
                    <a:pt x="11978640" y="640080"/>
                  </a:lnTo>
                  <a:lnTo>
                    <a:pt x="0" y="640080"/>
                  </a:lnTo>
                  <a:close/>
                </a:path>
              </a:pathLst>
            </a:custGeom>
            <a:blipFill>
              <a:blip r:embed="rId3">
                <a:alphaModFix amt="0"/>
              </a:blip>
              <a:stretch>
                <a:fillRect l="0" t="-314648" r="0" b="-314648"/>
              </a:stretch>
            </a:blipFill>
          </p:spPr>
        </p:sp>
        <p:sp>
          <p:nvSpPr>
            <p:cNvPr name="TextBox 80" id="80"/>
            <p:cNvSpPr txBox="true"/>
            <p:nvPr/>
          </p:nvSpPr>
          <p:spPr>
            <a:xfrm>
              <a:off x="0" y="0"/>
              <a:ext cx="11978640" cy="640080"/>
            </a:xfrm>
            <a:prstGeom prst="rect">
              <a:avLst/>
            </a:prstGeom>
          </p:spPr>
          <p:txBody>
            <a:bodyPr anchor="ctr" rtlCol="false" tIns="0" lIns="0" bIns="0" rIns="0"/>
            <a:lstStyle/>
            <a:p>
              <a:pPr algn="l">
                <a:lnSpc>
                  <a:spcPts val="1889"/>
                </a:lnSpc>
              </a:pPr>
              <a:r>
                <a:rPr lang="en-US" sz="1575">
                  <a:solidFill>
                    <a:srgbClr val="9BAFC2"/>
                  </a:solidFill>
                  <a:latin typeface="Aptos"/>
                  <a:ea typeface="Aptos"/>
                  <a:cs typeface="Aptos"/>
                  <a:sym typeface="Aptos"/>
                </a:rPr>
                <a:t>Long-range, energy-efficient deployment.</a:t>
              </a:r>
            </a:p>
          </p:txBody>
        </p:sp>
      </p:grpSp>
      <p:sp>
        <p:nvSpPr>
          <p:cNvPr name="AutoShape 81" id="81"/>
          <p:cNvSpPr/>
          <p:nvPr/>
        </p:nvSpPr>
        <p:spPr>
          <a:xfrm rot="2820">
            <a:off x="2326005" y="8581454"/>
            <a:ext cx="13796010" cy="0"/>
          </a:xfrm>
          <a:prstGeom prst="line">
            <a:avLst/>
          </a:prstGeom>
          <a:ln cap="rnd" w="9525">
            <a:solidFill>
              <a:srgbClr val="1D3850"/>
            </a:solidFill>
            <a:prstDash val="solid"/>
            <a:headEnd type="none" len="sm" w="sm"/>
            <a:tailEnd type="none" len="sm" w="sm"/>
          </a:ln>
        </p:spPr>
      </p:sp>
      <p:sp>
        <p:nvSpPr>
          <p:cNvPr name="TextBox 82" id="82"/>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33</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525" y="9962007"/>
            <a:ext cx="18306593" cy="334518"/>
            <a:chOff x="0" y="0"/>
            <a:chExt cx="24408790" cy="446024"/>
          </a:xfrm>
        </p:grpSpPr>
        <p:sp>
          <p:nvSpPr>
            <p:cNvPr name="Freeform 3" id="3"/>
            <p:cNvSpPr/>
            <p:nvPr/>
          </p:nvSpPr>
          <p:spPr>
            <a:xfrm flipH="false" flipV="false" rot="0">
              <a:off x="0" y="0"/>
              <a:ext cx="24408764" cy="446024"/>
            </a:xfrm>
            <a:custGeom>
              <a:avLst/>
              <a:gdLst/>
              <a:ahLst/>
              <a:cxnLst/>
              <a:rect r="r" b="b" t="t" l="l"/>
              <a:pathLst>
                <a:path h="446024" w="24408764">
                  <a:moveTo>
                    <a:pt x="0" y="0"/>
                  </a:moveTo>
                  <a:lnTo>
                    <a:pt x="24408764" y="0"/>
                  </a:lnTo>
                  <a:lnTo>
                    <a:pt x="24408764" y="446024"/>
                  </a:lnTo>
                  <a:lnTo>
                    <a:pt x="0" y="446024"/>
                  </a:lnTo>
                  <a:close/>
                </a:path>
              </a:pathLst>
            </a:custGeom>
            <a:solidFill>
              <a:srgbClr val="0B1B2E"/>
            </a:solidFill>
            <a:ln w="19050" cap="sq">
              <a:solidFill>
                <a:srgbClr val="0B1B2E"/>
              </a:solidFill>
              <a:prstDash val="solid"/>
              <a:miter/>
            </a:ln>
          </p:spPr>
        </p:sp>
      </p:grpSp>
      <p:grpSp>
        <p:nvGrpSpPr>
          <p:cNvPr name="Group 4" id="4"/>
          <p:cNvGrpSpPr/>
          <p:nvPr/>
        </p:nvGrpSpPr>
        <p:grpSpPr>
          <a:xfrm rot="0">
            <a:off x="617220" y="10026396"/>
            <a:ext cx="6858000" cy="164592"/>
            <a:chOff x="0" y="0"/>
            <a:chExt cx="9144000" cy="219456"/>
          </a:xfrm>
        </p:grpSpPr>
        <p:sp>
          <p:nvSpPr>
            <p:cNvPr name="Freeform 5" id="5"/>
            <p:cNvSpPr/>
            <p:nvPr/>
          </p:nvSpPr>
          <p:spPr>
            <a:xfrm flipH="false" flipV="false" rot="0">
              <a:off x="0" y="0"/>
              <a:ext cx="9144000" cy="219456"/>
            </a:xfrm>
            <a:custGeom>
              <a:avLst/>
              <a:gdLst/>
              <a:ahLst/>
              <a:cxnLst/>
              <a:rect r="r" b="b" t="t" l="l"/>
              <a:pathLst>
                <a:path h="219456" w="9144000">
                  <a:moveTo>
                    <a:pt x="0" y="0"/>
                  </a:moveTo>
                  <a:lnTo>
                    <a:pt x="9144000" y="0"/>
                  </a:lnTo>
                  <a:lnTo>
                    <a:pt x="9144000" y="219456"/>
                  </a:lnTo>
                  <a:lnTo>
                    <a:pt x="0" y="219456"/>
                  </a:lnTo>
                  <a:close/>
                </a:path>
              </a:pathLst>
            </a:custGeom>
            <a:blipFill>
              <a:blip r:embed="rId3">
                <a:alphaModFix amt="0"/>
              </a:blip>
              <a:stretch>
                <a:fillRect l="0" t="-761876" r="0" b="-761876"/>
              </a:stretch>
            </a:blipFill>
          </p:spPr>
        </p:sp>
        <p:sp>
          <p:nvSpPr>
            <p:cNvPr name="TextBox 6" id="6"/>
            <p:cNvSpPr txBox="true"/>
            <p:nvPr/>
          </p:nvSpPr>
          <p:spPr>
            <a:xfrm>
              <a:off x="0" y="-9525"/>
              <a:ext cx="9144000" cy="228981"/>
            </a:xfrm>
            <a:prstGeom prst="rect">
              <a:avLst/>
            </a:prstGeom>
          </p:spPr>
          <p:txBody>
            <a:bodyPr anchor="ctr" rtlCol="false" tIns="0" lIns="0" bIns="0" rIns="0"/>
            <a:lstStyle/>
            <a:p>
              <a:pPr algn="l">
                <a:lnSpc>
                  <a:spcPts val="1260"/>
                </a:lnSpc>
              </a:pPr>
              <a:r>
                <a:rPr lang="en-US" sz="1050">
                  <a:solidFill>
                    <a:srgbClr val="7F93AA"/>
                  </a:solidFill>
                  <a:latin typeface="Aptos"/>
                  <a:ea typeface="Aptos"/>
                  <a:cs typeface="Aptos"/>
                  <a:sym typeface="Aptos"/>
                </a:rPr>
                <a:t>PROJECT 07  •  COLD-CHAIN IoT</a:t>
              </a:r>
            </a:p>
          </p:txBody>
        </p:sp>
      </p:grpSp>
      <p:grpSp>
        <p:nvGrpSpPr>
          <p:cNvPr name="Group 7" id="7"/>
          <p:cNvGrpSpPr/>
          <p:nvPr/>
        </p:nvGrpSpPr>
        <p:grpSpPr>
          <a:xfrm rot="0">
            <a:off x="15755853" y="-1004439"/>
            <a:ext cx="3379470" cy="3379470"/>
            <a:chOff x="0" y="0"/>
            <a:chExt cx="4505960" cy="4505960"/>
          </a:xfrm>
        </p:grpSpPr>
        <p:sp>
          <p:nvSpPr>
            <p:cNvPr name="Freeform 8" id="8"/>
            <p:cNvSpPr/>
            <p:nvPr/>
          </p:nvSpPr>
          <p:spPr>
            <a:xfrm flipH="false" flipV="false" rot="0">
              <a:off x="0" y="0"/>
              <a:ext cx="4505960" cy="4505960"/>
            </a:xfrm>
            <a:custGeom>
              <a:avLst/>
              <a:gdLst/>
              <a:ahLst/>
              <a:cxnLst/>
              <a:rect r="r" b="b" t="t" l="l"/>
              <a:pathLst>
                <a:path h="4505960" w="4505960">
                  <a:moveTo>
                    <a:pt x="0" y="2252980"/>
                  </a:moveTo>
                  <a:cubicBezTo>
                    <a:pt x="0" y="1008634"/>
                    <a:pt x="1008634" y="0"/>
                    <a:pt x="2252980" y="0"/>
                  </a:cubicBezTo>
                  <a:cubicBezTo>
                    <a:pt x="3497326" y="0"/>
                    <a:pt x="4505960" y="1008634"/>
                    <a:pt x="4505960" y="2252980"/>
                  </a:cubicBezTo>
                  <a:cubicBezTo>
                    <a:pt x="4505960" y="3497326"/>
                    <a:pt x="3497326" y="4505960"/>
                    <a:pt x="2252980" y="4505960"/>
                  </a:cubicBezTo>
                  <a:cubicBezTo>
                    <a:pt x="1008634" y="4505960"/>
                    <a:pt x="0" y="3497326"/>
                    <a:pt x="0" y="2252980"/>
                  </a:cubicBezTo>
                  <a:close/>
                </a:path>
              </a:pathLst>
            </a:custGeom>
            <a:solidFill>
              <a:srgbClr val="46D6F5">
                <a:alpha val="1961"/>
              </a:srgbClr>
            </a:solidFill>
          </p:spPr>
        </p:sp>
      </p:grpSp>
      <p:grpSp>
        <p:nvGrpSpPr>
          <p:cNvPr name="Group 9" id="9"/>
          <p:cNvGrpSpPr/>
          <p:nvPr/>
        </p:nvGrpSpPr>
        <p:grpSpPr>
          <a:xfrm rot="0">
            <a:off x="59055" y="7054215"/>
            <a:ext cx="2899410" cy="2899410"/>
            <a:chOff x="0" y="0"/>
            <a:chExt cx="3865880" cy="3865880"/>
          </a:xfrm>
        </p:grpSpPr>
        <p:sp>
          <p:nvSpPr>
            <p:cNvPr name="Freeform 10" id="10"/>
            <p:cNvSpPr/>
            <p:nvPr/>
          </p:nvSpPr>
          <p:spPr>
            <a:xfrm flipH="false" flipV="false" rot="0">
              <a:off x="0" y="0"/>
              <a:ext cx="3865880" cy="3865880"/>
            </a:xfrm>
            <a:custGeom>
              <a:avLst/>
              <a:gdLst/>
              <a:ahLst/>
              <a:cxnLst/>
              <a:rect r="r" b="b" t="t" l="l"/>
              <a:pathLst>
                <a:path h="3865880" w="3865880">
                  <a:moveTo>
                    <a:pt x="0" y="1932940"/>
                  </a:moveTo>
                  <a:cubicBezTo>
                    <a:pt x="0" y="865378"/>
                    <a:pt x="865378" y="0"/>
                    <a:pt x="1932940" y="0"/>
                  </a:cubicBezTo>
                  <a:cubicBezTo>
                    <a:pt x="3000502" y="0"/>
                    <a:pt x="3865880" y="865378"/>
                    <a:pt x="3865880" y="1932940"/>
                  </a:cubicBezTo>
                  <a:cubicBezTo>
                    <a:pt x="3865880" y="3000502"/>
                    <a:pt x="3000502" y="3865880"/>
                    <a:pt x="1932940" y="3865880"/>
                  </a:cubicBezTo>
                  <a:cubicBezTo>
                    <a:pt x="865378" y="3865880"/>
                    <a:pt x="0" y="3000502"/>
                    <a:pt x="0" y="1932940"/>
                  </a:cubicBezTo>
                  <a:close/>
                </a:path>
              </a:pathLst>
            </a:custGeom>
            <a:solidFill>
              <a:srgbClr val="68A8FF">
                <a:alpha val="784"/>
              </a:srgbClr>
            </a:solidFill>
          </p:spPr>
        </p:sp>
      </p:grpSp>
      <p:grpSp>
        <p:nvGrpSpPr>
          <p:cNvPr name="Group 11" id="11"/>
          <p:cNvGrpSpPr/>
          <p:nvPr/>
        </p:nvGrpSpPr>
        <p:grpSpPr>
          <a:xfrm rot="0">
            <a:off x="4374800" y="1739155"/>
            <a:ext cx="9492680" cy="1113773"/>
            <a:chOff x="0" y="0"/>
            <a:chExt cx="12106451" cy="1420446"/>
          </a:xfrm>
        </p:grpSpPr>
        <p:sp>
          <p:nvSpPr>
            <p:cNvPr name="Freeform 12" id="12"/>
            <p:cNvSpPr/>
            <p:nvPr/>
          </p:nvSpPr>
          <p:spPr>
            <a:xfrm flipH="false" flipV="false" rot="0">
              <a:off x="0" y="0"/>
              <a:ext cx="12106450" cy="1420446"/>
            </a:xfrm>
            <a:custGeom>
              <a:avLst/>
              <a:gdLst/>
              <a:ahLst/>
              <a:cxnLst/>
              <a:rect r="r" b="b" t="t" l="l"/>
              <a:pathLst>
                <a:path h="1420446" w="12106450">
                  <a:moveTo>
                    <a:pt x="0" y="0"/>
                  </a:moveTo>
                  <a:lnTo>
                    <a:pt x="12106450" y="0"/>
                  </a:lnTo>
                  <a:lnTo>
                    <a:pt x="12106450" y="1420446"/>
                  </a:lnTo>
                  <a:lnTo>
                    <a:pt x="0" y="1420446"/>
                  </a:lnTo>
                  <a:close/>
                </a:path>
              </a:pathLst>
            </a:custGeom>
            <a:blipFill>
              <a:blip r:embed="rId3">
                <a:alphaModFix amt="0"/>
              </a:blip>
              <a:stretch>
                <a:fillRect l="0" t="-250960" r="-78250" b="-241084"/>
              </a:stretch>
            </a:blipFill>
          </p:spPr>
        </p:sp>
        <p:sp>
          <p:nvSpPr>
            <p:cNvPr name="TextBox 13" id="13"/>
            <p:cNvSpPr txBox="true"/>
            <p:nvPr/>
          </p:nvSpPr>
          <p:spPr>
            <a:xfrm>
              <a:off x="0" y="0"/>
              <a:ext cx="12106451" cy="1420446"/>
            </a:xfrm>
            <a:prstGeom prst="rect">
              <a:avLst/>
            </a:prstGeom>
          </p:spPr>
          <p:txBody>
            <a:bodyPr anchor="ctr" rtlCol="false" tIns="0" lIns="0" bIns="0" rIns="0"/>
            <a:lstStyle/>
            <a:p>
              <a:pPr algn="ctr">
                <a:lnSpc>
                  <a:spcPts val="7079"/>
                </a:lnSpc>
              </a:pPr>
              <a:r>
                <a:rPr lang="en-US" sz="5899" b="true">
                  <a:solidFill>
                    <a:srgbClr val="F5F8FC"/>
                  </a:solidFill>
                  <a:latin typeface="Aptos Bold"/>
                  <a:ea typeface="Aptos Bold"/>
                  <a:cs typeface="Aptos Bold"/>
                  <a:sym typeface="Aptos Bold"/>
                </a:rPr>
                <a:t>THANK YOU</a:t>
              </a:r>
            </a:p>
          </p:txBody>
        </p:sp>
      </p:grpSp>
      <p:grpSp>
        <p:nvGrpSpPr>
          <p:cNvPr name="Group 14" id="14"/>
          <p:cNvGrpSpPr/>
          <p:nvPr/>
        </p:nvGrpSpPr>
        <p:grpSpPr>
          <a:xfrm rot="0">
            <a:off x="1097280" y="2852928"/>
            <a:ext cx="15910560" cy="548640"/>
            <a:chOff x="0" y="0"/>
            <a:chExt cx="21214080" cy="731520"/>
          </a:xfrm>
        </p:grpSpPr>
        <p:sp>
          <p:nvSpPr>
            <p:cNvPr name="Freeform 15" id="15"/>
            <p:cNvSpPr/>
            <p:nvPr/>
          </p:nvSpPr>
          <p:spPr>
            <a:xfrm flipH="false" flipV="false" rot="0">
              <a:off x="0" y="0"/>
              <a:ext cx="21214080" cy="731520"/>
            </a:xfrm>
            <a:custGeom>
              <a:avLst/>
              <a:gdLst/>
              <a:ahLst/>
              <a:cxnLst/>
              <a:rect r="r" b="b" t="t" l="l"/>
              <a:pathLst>
                <a:path h="731520" w="21214080">
                  <a:moveTo>
                    <a:pt x="0" y="0"/>
                  </a:moveTo>
                  <a:lnTo>
                    <a:pt x="21214080" y="0"/>
                  </a:lnTo>
                  <a:lnTo>
                    <a:pt x="21214080" y="731520"/>
                  </a:lnTo>
                  <a:lnTo>
                    <a:pt x="0" y="731520"/>
                  </a:lnTo>
                  <a:close/>
                </a:path>
              </a:pathLst>
            </a:custGeom>
            <a:blipFill>
              <a:blip r:embed="rId3">
                <a:alphaModFix amt="0"/>
              </a:blip>
              <a:stretch>
                <a:fillRect l="0" t="-515066" r="0" b="-515066"/>
              </a:stretch>
            </a:blipFill>
          </p:spPr>
        </p:sp>
        <p:sp>
          <p:nvSpPr>
            <p:cNvPr name="TextBox 16" id="16"/>
            <p:cNvSpPr txBox="true"/>
            <p:nvPr/>
          </p:nvSpPr>
          <p:spPr>
            <a:xfrm>
              <a:off x="0" y="0"/>
              <a:ext cx="21214080" cy="731520"/>
            </a:xfrm>
            <a:prstGeom prst="rect">
              <a:avLst/>
            </a:prstGeom>
          </p:spPr>
          <p:txBody>
            <a:bodyPr anchor="ctr" rtlCol="false" tIns="0" lIns="0" bIns="0" rIns="0"/>
            <a:lstStyle/>
            <a:p>
              <a:pPr algn="ctr">
                <a:lnSpc>
                  <a:spcPts val="2879"/>
                </a:lnSpc>
              </a:pPr>
              <a:r>
                <a:rPr lang="en-US" sz="2400">
                  <a:solidFill>
                    <a:srgbClr val="9BAFC2"/>
                  </a:solidFill>
                  <a:latin typeface="Aptos"/>
                  <a:ea typeface="Aptos"/>
                  <a:cs typeface="Aptos"/>
                  <a:sym typeface="Aptos"/>
                </a:rPr>
                <a:t>Cold-Chain Monitoring &amp; Intelligent Storage Management</a:t>
              </a:r>
            </a:p>
          </p:txBody>
        </p:sp>
      </p:grpSp>
      <p:sp>
        <p:nvSpPr>
          <p:cNvPr name="AutoShape 17" id="17"/>
          <p:cNvSpPr/>
          <p:nvPr/>
        </p:nvSpPr>
        <p:spPr>
          <a:xfrm rot="13320">
            <a:off x="4232872" y="3762375"/>
            <a:ext cx="9845116" cy="0"/>
          </a:xfrm>
          <a:prstGeom prst="line">
            <a:avLst/>
          </a:prstGeom>
          <a:ln cap="rnd" w="19050">
            <a:solidFill>
              <a:srgbClr val="46D6F5"/>
            </a:solidFill>
            <a:prstDash val="solid"/>
            <a:headEnd type="none" len="sm" w="sm"/>
            <a:tailEnd type="none" len="sm" w="sm"/>
          </a:ln>
        </p:spPr>
      </p:sp>
      <p:grpSp>
        <p:nvGrpSpPr>
          <p:cNvPr name="Group 18" id="18"/>
          <p:cNvGrpSpPr/>
          <p:nvPr/>
        </p:nvGrpSpPr>
        <p:grpSpPr>
          <a:xfrm rot="0">
            <a:off x="1363980" y="4587240"/>
            <a:ext cx="4747260" cy="1825752"/>
            <a:chOff x="0" y="0"/>
            <a:chExt cx="6329680" cy="2434336"/>
          </a:xfrm>
        </p:grpSpPr>
        <p:sp>
          <p:nvSpPr>
            <p:cNvPr name="Freeform 19" id="19"/>
            <p:cNvSpPr/>
            <p:nvPr/>
          </p:nvSpPr>
          <p:spPr>
            <a:xfrm flipH="false" flipV="false" rot="0">
              <a:off x="0" y="0"/>
              <a:ext cx="6329680" cy="2434336"/>
            </a:xfrm>
            <a:custGeom>
              <a:avLst/>
              <a:gdLst/>
              <a:ahLst/>
              <a:cxnLst/>
              <a:rect r="r" b="b" t="t" l="l"/>
              <a:pathLst>
                <a:path h="2434336" w="6329680">
                  <a:moveTo>
                    <a:pt x="0" y="147574"/>
                  </a:moveTo>
                  <a:cubicBezTo>
                    <a:pt x="0" y="66040"/>
                    <a:pt x="66040" y="0"/>
                    <a:pt x="147574" y="0"/>
                  </a:cubicBezTo>
                  <a:lnTo>
                    <a:pt x="6182106" y="0"/>
                  </a:lnTo>
                  <a:cubicBezTo>
                    <a:pt x="6263640" y="0"/>
                    <a:pt x="6329680" y="66040"/>
                    <a:pt x="6329680" y="147574"/>
                  </a:cubicBezTo>
                  <a:lnTo>
                    <a:pt x="6329680" y="2286762"/>
                  </a:lnTo>
                  <a:cubicBezTo>
                    <a:pt x="6329680" y="2368296"/>
                    <a:pt x="6263640" y="2434336"/>
                    <a:pt x="6182106" y="2434336"/>
                  </a:cubicBezTo>
                  <a:lnTo>
                    <a:pt x="147574" y="2434336"/>
                  </a:lnTo>
                  <a:cubicBezTo>
                    <a:pt x="66040" y="2434336"/>
                    <a:pt x="0" y="2368296"/>
                    <a:pt x="0" y="2286762"/>
                  </a:cubicBezTo>
                  <a:close/>
                </a:path>
              </a:pathLst>
            </a:custGeom>
            <a:solidFill>
              <a:srgbClr val="0E1D30"/>
            </a:solidFill>
            <a:ln w="15240" cap="sq">
              <a:solidFill>
                <a:srgbClr val="1D3850"/>
              </a:solidFill>
              <a:prstDash val="solid"/>
              <a:miter/>
            </a:ln>
          </p:spPr>
        </p:sp>
      </p:grpSp>
      <p:grpSp>
        <p:nvGrpSpPr>
          <p:cNvPr name="Group 20" id="20"/>
          <p:cNvGrpSpPr/>
          <p:nvPr/>
        </p:nvGrpSpPr>
        <p:grpSpPr>
          <a:xfrm rot="0">
            <a:off x="3227990" y="4950873"/>
            <a:ext cx="1146810" cy="385253"/>
            <a:chOff x="0" y="0"/>
            <a:chExt cx="1360979" cy="457200"/>
          </a:xfrm>
        </p:grpSpPr>
        <p:sp>
          <p:nvSpPr>
            <p:cNvPr name="Freeform 21" id="21"/>
            <p:cNvSpPr/>
            <p:nvPr/>
          </p:nvSpPr>
          <p:spPr>
            <a:xfrm flipH="false" flipV="false" rot="0">
              <a:off x="0" y="0"/>
              <a:ext cx="1360979" cy="457200"/>
            </a:xfrm>
            <a:custGeom>
              <a:avLst/>
              <a:gdLst/>
              <a:ahLst/>
              <a:cxnLst/>
              <a:rect r="r" b="b" t="t" l="l"/>
              <a:pathLst>
                <a:path h="457200" w="1360979">
                  <a:moveTo>
                    <a:pt x="0" y="0"/>
                  </a:moveTo>
                  <a:lnTo>
                    <a:pt x="1360979" y="0"/>
                  </a:lnTo>
                  <a:lnTo>
                    <a:pt x="1360979" y="457200"/>
                  </a:lnTo>
                  <a:lnTo>
                    <a:pt x="0" y="457200"/>
                  </a:lnTo>
                  <a:close/>
                </a:path>
              </a:pathLst>
            </a:custGeom>
            <a:blipFill>
              <a:blip r:embed="rId3">
                <a:alphaModFix amt="0"/>
              </a:blip>
              <a:stretch>
                <a:fillRect l="0" t="-140953" r="-229216" b="-140953"/>
              </a:stretch>
            </a:blipFill>
          </p:spPr>
        </p:sp>
        <p:sp>
          <p:nvSpPr>
            <p:cNvPr name="TextBox 22" id="22"/>
            <p:cNvSpPr txBox="true"/>
            <p:nvPr/>
          </p:nvSpPr>
          <p:spPr>
            <a:xfrm>
              <a:off x="0" y="-9525"/>
              <a:ext cx="1360979"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DEMO</a:t>
              </a:r>
            </a:p>
          </p:txBody>
        </p:sp>
      </p:grpSp>
      <p:grpSp>
        <p:nvGrpSpPr>
          <p:cNvPr name="Group 23" id="23"/>
          <p:cNvGrpSpPr/>
          <p:nvPr/>
        </p:nvGrpSpPr>
        <p:grpSpPr>
          <a:xfrm rot="0">
            <a:off x="2441448" y="5500116"/>
            <a:ext cx="2492372" cy="576072"/>
            <a:chOff x="0" y="0"/>
            <a:chExt cx="3323163" cy="768096"/>
          </a:xfrm>
        </p:grpSpPr>
        <p:sp>
          <p:nvSpPr>
            <p:cNvPr name="Freeform 24" id="24"/>
            <p:cNvSpPr/>
            <p:nvPr/>
          </p:nvSpPr>
          <p:spPr>
            <a:xfrm flipH="false" flipV="false" rot="0">
              <a:off x="0" y="0"/>
              <a:ext cx="3323163" cy="768096"/>
            </a:xfrm>
            <a:custGeom>
              <a:avLst/>
              <a:gdLst/>
              <a:ahLst/>
              <a:cxnLst/>
              <a:rect r="r" b="b" t="t" l="l"/>
              <a:pathLst>
                <a:path h="768096" w="3323163">
                  <a:moveTo>
                    <a:pt x="0" y="0"/>
                  </a:moveTo>
                  <a:lnTo>
                    <a:pt x="3323163" y="0"/>
                  </a:lnTo>
                  <a:lnTo>
                    <a:pt x="3323163" y="768096"/>
                  </a:lnTo>
                  <a:lnTo>
                    <a:pt x="0" y="768096"/>
                  </a:lnTo>
                  <a:close/>
                </a:path>
              </a:pathLst>
            </a:custGeom>
            <a:blipFill>
              <a:blip r:embed="rId3">
                <a:alphaModFix amt="0"/>
              </a:blip>
              <a:stretch>
                <a:fillRect l="0" t="-89642" r="-65646" b="-89642"/>
              </a:stretch>
            </a:blipFill>
          </p:spPr>
        </p:sp>
        <p:sp>
          <p:nvSpPr>
            <p:cNvPr name="TextBox 25" id="25"/>
            <p:cNvSpPr txBox="true"/>
            <p:nvPr/>
          </p:nvSpPr>
          <p:spPr>
            <a:xfrm>
              <a:off x="0" y="0"/>
              <a:ext cx="3323163"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Live System</a:t>
              </a:r>
            </a:p>
          </p:txBody>
        </p:sp>
      </p:grpSp>
      <p:grpSp>
        <p:nvGrpSpPr>
          <p:cNvPr name="Group 26" id="26"/>
          <p:cNvGrpSpPr/>
          <p:nvPr/>
        </p:nvGrpSpPr>
        <p:grpSpPr>
          <a:xfrm rot="0">
            <a:off x="6781800" y="4587240"/>
            <a:ext cx="4747260" cy="1825752"/>
            <a:chOff x="0" y="0"/>
            <a:chExt cx="6329680" cy="2434336"/>
          </a:xfrm>
        </p:grpSpPr>
        <p:sp>
          <p:nvSpPr>
            <p:cNvPr name="Freeform 27" id="27"/>
            <p:cNvSpPr/>
            <p:nvPr/>
          </p:nvSpPr>
          <p:spPr>
            <a:xfrm flipH="false" flipV="false" rot="0">
              <a:off x="0" y="0"/>
              <a:ext cx="6329680" cy="2434336"/>
            </a:xfrm>
            <a:custGeom>
              <a:avLst/>
              <a:gdLst/>
              <a:ahLst/>
              <a:cxnLst/>
              <a:rect r="r" b="b" t="t" l="l"/>
              <a:pathLst>
                <a:path h="2434336" w="6329680">
                  <a:moveTo>
                    <a:pt x="0" y="147574"/>
                  </a:moveTo>
                  <a:cubicBezTo>
                    <a:pt x="0" y="66040"/>
                    <a:pt x="66040" y="0"/>
                    <a:pt x="147574" y="0"/>
                  </a:cubicBezTo>
                  <a:lnTo>
                    <a:pt x="6182106" y="0"/>
                  </a:lnTo>
                  <a:cubicBezTo>
                    <a:pt x="6263640" y="0"/>
                    <a:pt x="6329680" y="66040"/>
                    <a:pt x="6329680" y="147574"/>
                  </a:cubicBezTo>
                  <a:lnTo>
                    <a:pt x="6329680" y="2286762"/>
                  </a:lnTo>
                  <a:cubicBezTo>
                    <a:pt x="6329680" y="2368296"/>
                    <a:pt x="6263640" y="2434336"/>
                    <a:pt x="6182106" y="2434336"/>
                  </a:cubicBezTo>
                  <a:lnTo>
                    <a:pt x="147574" y="2434336"/>
                  </a:lnTo>
                  <a:cubicBezTo>
                    <a:pt x="66040" y="2434336"/>
                    <a:pt x="0" y="2368296"/>
                    <a:pt x="0" y="2286762"/>
                  </a:cubicBezTo>
                  <a:close/>
                </a:path>
              </a:pathLst>
            </a:custGeom>
            <a:solidFill>
              <a:srgbClr val="0E1D30"/>
            </a:solidFill>
            <a:ln w="15240" cap="sq">
              <a:solidFill>
                <a:srgbClr val="1D3850"/>
              </a:solidFill>
              <a:prstDash val="solid"/>
              <a:miter/>
            </a:ln>
          </p:spPr>
        </p:sp>
      </p:grpSp>
      <p:grpSp>
        <p:nvGrpSpPr>
          <p:cNvPr name="Group 28" id="28"/>
          <p:cNvGrpSpPr/>
          <p:nvPr/>
        </p:nvGrpSpPr>
        <p:grpSpPr>
          <a:xfrm rot="0">
            <a:off x="8480284" y="4869180"/>
            <a:ext cx="1082518" cy="355883"/>
            <a:chOff x="0" y="0"/>
            <a:chExt cx="1390703" cy="457200"/>
          </a:xfrm>
        </p:grpSpPr>
        <p:sp>
          <p:nvSpPr>
            <p:cNvPr name="Freeform 29" id="29"/>
            <p:cNvSpPr/>
            <p:nvPr/>
          </p:nvSpPr>
          <p:spPr>
            <a:xfrm flipH="false" flipV="false" rot="0">
              <a:off x="0" y="0"/>
              <a:ext cx="1390703" cy="457200"/>
            </a:xfrm>
            <a:custGeom>
              <a:avLst/>
              <a:gdLst/>
              <a:ahLst/>
              <a:cxnLst/>
              <a:rect r="r" b="b" t="t" l="l"/>
              <a:pathLst>
                <a:path h="457200" w="1390703">
                  <a:moveTo>
                    <a:pt x="0" y="0"/>
                  </a:moveTo>
                  <a:lnTo>
                    <a:pt x="1390703" y="0"/>
                  </a:lnTo>
                  <a:lnTo>
                    <a:pt x="1390703" y="457200"/>
                  </a:lnTo>
                  <a:lnTo>
                    <a:pt x="0" y="457200"/>
                  </a:lnTo>
                  <a:close/>
                </a:path>
              </a:pathLst>
            </a:custGeom>
            <a:blipFill>
              <a:blip r:embed="rId3">
                <a:alphaModFix amt="0"/>
              </a:blip>
              <a:stretch>
                <a:fillRect l="0" t="-140953" r="-222179" b="-140953"/>
              </a:stretch>
            </a:blipFill>
          </p:spPr>
        </p:sp>
        <p:sp>
          <p:nvSpPr>
            <p:cNvPr name="TextBox 30" id="30"/>
            <p:cNvSpPr txBox="true"/>
            <p:nvPr/>
          </p:nvSpPr>
          <p:spPr>
            <a:xfrm>
              <a:off x="0" y="-9525"/>
              <a:ext cx="1390703"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HIGHLIGHT</a:t>
              </a:r>
            </a:p>
          </p:txBody>
        </p:sp>
      </p:grpSp>
      <p:grpSp>
        <p:nvGrpSpPr>
          <p:cNvPr name="Group 31" id="31"/>
          <p:cNvGrpSpPr/>
          <p:nvPr/>
        </p:nvGrpSpPr>
        <p:grpSpPr>
          <a:xfrm rot="0">
            <a:off x="8071104" y="5500116"/>
            <a:ext cx="2361480" cy="576072"/>
            <a:chOff x="0" y="0"/>
            <a:chExt cx="3148641" cy="768096"/>
          </a:xfrm>
        </p:grpSpPr>
        <p:sp>
          <p:nvSpPr>
            <p:cNvPr name="Freeform 32" id="32"/>
            <p:cNvSpPr/>
            <p:nvPr/>
          </p:nvSpPr>
          <p:spPr>
            <a:xfrm flipH="false" flipV="false" rot="0">
              <a:off x="0" y="0"/>
              <a:ext cx="3148641" cy="768096"/>
            </a:xfrm>
            <a:custGeom>
              <a:avLst/>
              <a:gdLst/>
              <a:ahLst/>
              <a:cxnLst/>
              <a:rect r="r" b="b" t="t" l="l"/>
              <a:pathLst>
                <a:path h="768096" w="3148641">
                  <a:moveTo>
                    <a:pt x="0" y="0"/>
                  </a:moveTo>
                  <a:lnTo>
                    <a:pt x="3148641" y="0"/>
                  </a:lnTo>
                  <a:lnTo>
                    <a:pt x="3148641" y="768096"/>
                  </a:lnTo>
                  <a:lnTo>
                    <a:pt x="0" y="768096"/>
                  </a:lnTo>
                  <a:close/>
                </a:path>
              </a:pathLst>
            </a:custGeom>
            <a:blipFill>
              <a:blip r:embed="rId3">
                <a:alphaModFix amt="0"/>
              </a:blip>
              <a:stretch>
                <a:fillRect l="0" t="-89642" r="-74827" b="-89642"/>
              </a:stretch>
            </a:blipFill>
          </p:spPr>
        </p:sp>
        <p:sp>
          <p:nvSpPr>
            <p:cNvPr name="TextBox 33" id="33"/>
            <p:cNvSpPr txBox="true"/>
            <p:nvPr/>
          </p:nvSpPr>
          <p:spPr>
            <a:xfrm>
              <a:off x="0" y="0"/>
              <a:ext cx="3148641"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Ring Buffer</a:t>
              </a:r>
            </a:p>
          </p:txBody>
        </p:sp>
      </p:grpSp>
      <p:grpSp>
        <p:nvGrpSpPr>
          <p:cNvPr name="Group 34" id="34"/>
          <p:cNvGrpSpPr/>
          <p:nvPr/>
        </p:nvGrpSpPr>
        <p:grpSpPr>
          <a:xfrm rot="0">
            <a:off x="12199620" y="4587240"/>
            <a:ext cx="4747260" cy="1825752"/>
            <a:chOff x="0" y="0"/>
            <a:chExt cx="6329680" cy="2434336"/>
          </a:xfrm>
        </p:grpSpPr>
        <p:sp>
          <p:nvSpPr>
            <p:cNvPr name="Freeform 35" id="35"/>
            <p:cNvSpPr/>
            <p:nvPr/>
          </p:nvSpPr>
          <p:spPr>
            <a:xfrm flipH="false" flipV="false" rot="0">
              <a:off x="0" y="0"/>
              <a:ext cx="6329680" cy="2434336"/>
            </a:xfrm>
            <a:custGeom>
              <a:avLst/>
              <a:gdLst/>
              <a:ahLst/>
              <a:cxnLst/>
              <a:rect r="r" b="b" t="t" l="l"/>
              <a:pathLst>
                <a:path h="2434336" w="6329680">
                  <a:moveTo>
                    <a:pt x="0" y="147574"/>
                  </a:moveTo>
                  <a:cubicBezTo>
                    <a:pt x="0" y="66040"/>
                    <a:pt x="66040" y="0"/>
                    <a:pt x="147574" y="0"/>
                  </a:cubicBezTo>
                  <a:lnTo>
                    <a:pt x="6182106" y="0"/>
                  </a:lnTo>
                  <a:cubicBezTo>
                    <a:pt x="6263640" y="0"/>
                    <a:pt x="6329680" y="66040"/>
                    <a:pt x="6329680" y="147574"/>
                  </a:cubicBezTo>
                  <a:lnTo>
                    <a:pt x="6329680" y="2286762"/>
                  </a:lnTo>
                  <a:cubicBezTo>
                    <a:pt x="6329680" y="2368296"/>
                    <a:pt x="6263640" y="2434336"/>
                    <a:pt x="6182106" y="2434336"/>
                  </a:cubicBezTo>
                  <a:lnTo>
                    <a:pt x="147574" y="2434336"/>
                  </a:lnTo>
                  <a:cubicBezTo>
                    <a:pt x="66040" y="2434336"/>
                    <a:pt x="0" y="2368296"/>
                    <a:pt x="0" y="2286762"/>
                  </a:cubicBezTo>
                  <a:close/>
                </a:path>
              </a:pathLst>
            </a:custGeom>
            <a:solidFill>
              <a:srgbClr val="0E1D30"/>
            </a:solidFill>
            <a:ln w="15240" cap="sq">
              <a:solidFill>
                <a:srgbClr val="1D3850"/>
              </a:solidFill>
              <a:prstDash val="solid"/>
              <a:miter/>
            </a:ln>
          </p:spPr>
        </p:sp>
      </p:grpSp>
      <p:grpSp>
        <p:nvGrpSpPr>
          <p:cNvPr name="Group 36" id="36"/>
          <p:cNvGrpSpPr/>
          <p:nvPr/>
        </p:nvGrpSpPr>
        <p:grpSpPr>
          <a:xfrm rot="0">
            <a:off x="14209747" y="4869180"/>
            <a:ext cx="1135264" cy="342900"/>
            <a:chOff x="0" y="0"/>
            <a:chExt cx="1513685" cy="457200"/>
          </a:xfrm>
        </p:grpSpPr>
        <p:sp>
          <p:nvSpPr>
            <p:cNvPr name="Freeform 37" id="37"/>
            <p:cNvSpPr/>
            <p:nvPr/>
          </p:nvSpPr>
          <p:spPr>
            <a:xfrm flipH="false" flipV="false" rot="0">
              <a:off x="0" y="0"/>
              <a:ext cx="1513685" cy="457200"/>
            </a:xfrm>
            <a:custGeom>
              <a:avLst/>
              <a:gdLst/>
              <a:ahLst/>
              <a:cxnLst/>
              <a:rect r="r" b="b" t="t" l="l"/>
              <a:pathLst>
                <a:path h="457200" w="1513685">
                  <a:moveTo>
                    <a:pt x="0" y="0"/>
                  </a:moveTo>
                  <a:lnTo>
                    <a:pt x="1513685" y="0"/>
                  </a:lnTo>
                  <a:lnTo>
                    <a:pt x="1513685" y="457200"/>
                  </a:lnTo>
                  <a:lnTo>
                    <a:pt x="0" y="457200"/>
                  </a:lnTo>
                  <a:close/>
                </a:path>
              </a:pathLst>
            </a:custGeom>
            <a:blipFill>
              <a:blip r:embed="rId3">
                <a:alphaModFix amt="0"/>
              </a:blip>
              <a:stretch>
                <a:fillRect l="0" t="-140953" r="-196003" b="-140953"/>
              </a:stretch>
            </a:blipFill>
          </p:spPr>
        </p:sp>
        <p:sp>
          <p:nvSpPr>
            <p:cNvPr name="TextBox 38" id="38"/>
            <p:cNvSpPr txBox="true"/>
            <p:nvPr/>
          </p:nvSpPr>
          <p:spPr>
            <a:xfrm>
              <a:off x="0" y="-9525"/>
              <a:ext cx="1513685" cy="466725"/>
            </a:xfrm>
            <a:prstGeom prst="rect">
              <a:avLst/>
            </a:prstGeom>
          </p:spPr>
          <p:txBody>
            <a:bodyPr anchor="ctr" rtlCol="false" tIns="0" lIns="0" bIns="0" rIns="0"/>
            <a:lstStyle/>
            <a:p>
              <a:pPr algn="l">
                <a:lnSpc>
                  <a:spcPts val="1620"/>
                </a:lnSpc>
              </a:pPr>
              <a:r>
                <a:rPr lang="en-US" sz="1350" b="true">
                  <a:solidFill>
                    <a:srgbClr val="9BAFC2"/>
                  </a:solidFill>
                  <a:latin typeface="Aptos Bold"/>
                  <a:ea typeface="Aptos Bold"/>
                  <a:cs typeface="Aptos Bold"/>
                  <a:sym typeface="Aptos Bold"/>
                </a:rPr>
                <a:t>Q&amp;A</a:t>
              </a:r>
            </a:p>
          </p:txBody>
        </p:sp>
      </p:grpSp>
      <p:grpSp>
        <p:nvGrpSpPr>
          <p:cNvPr name="Group 39" id="39"/>
          <p:cNvGrpSpPr/>
          <p:nvPr/>
        </p:nvGrpSpPr>
        <p:grpSpPr>
          <a:xfrm rot="0">
            <a:off x="13490678" y="5418403"/>
            <a:ext cx="2410565" cy="576072"/>
            <a:chOff x="0" y="0"/>
            <a:chExt cx="3214086" cy="768096"/>
          </a:xfrm>
        </p:grpSpPr>
        <p:sp>
          <p:nvSpPr>
            <p:cNvPr name="Freeform 40" id="40"/>
            <p:cNvSpPr/>
            <p:nvPr/>
          </p:nvSpPr>
          <p:spPr>
            <a:xfrm flipH="false" flipV="false" rot="0">
              <a:off x="0" y="0"/>
              <a:ext cx="3214086" cy="768096"/>
            </a:xfrm>
            <a:custGeom>
              <a:avLst/>
              <a:gdLst/>
              <a:ahLst/>
              <a:cxnLst/>
              <a:rect r="r" b="b" t="t" l="l"/>
              <a:pathLst>
                <a:path h="768096" w="3214086">
                  <a:moveTo>
                    <a:pt x="0" y="0"/>
                  </a:moveTo>
                  <a:lnTo>
                    <a:pt x="3214086" y="0"/>
                  </a:lnTo>
                  <a:lnTo>
                    <a:pt x="3214086" y="768096"/>
                  </a:lnTo>
                  <a:lnTo>
                    <a:pt x="0" y="768096"/>
                  </a:lnTo>
                  <a:close/>
                </a:path>
              </a:pathLst>
            </a:custGeom>
            <a:blipFill>
              <a:blip r:embed="rId3">
                <a:alphaModFix amt="0"/>
              </a:blip>
              <a:stretch>
                <a:fillRect l="0" t="-89642" r="-71267" b="-89642"/>
              </a:stretch>
            </a:blipFill>
          </p:spPr>
        </p:sp>
        <p:sp>
          <p:nvSpPr>
            <p:cNvPr name="TextBox 41" id="41"/>
            <p:cNvSpPr txBox="true"/>
            <p:nvPr/>
          </p:nvSpPr>
          <p:spPr>
            <a:xfrm>
              <a:off x="0" y="0"/>
              <a:ext cx="3214086" cy="768096"/>
            </a:xfrm>
            <a:prstGeom prst="rect">
              <a:avLst/>
            </a:prstGeom>
          </p:spPr>
          <p:txBody>
            <a:bodyPr anchor="ctr" rtlCol="false" tIns="0" lIns="0" bIns="0" rIns="0"/>
            <a:lstStyle/>
            <a:p>
              <a:pPr algn="l">
                <a:lnSpc>
                  <a:spcPts val="3600"/>
                </a:lnSpc>
              </a:pPr>
              <a:r>
                <a:rPr lang="en-US" sz="3000" b="true">
                  <a:solidFill>
                    <a:srgbClr val="F5F8FC"/>
                  </a:solidFill>
                  <a:latin typeface="Aptos Bold"/>
                  <a:ea typeface="Aptos Bold"/>
                  <a:cs typeface="Aptos Bold"/>
                  <a:sym typeface="Aptos Bold"/>
                </a:rPr>
                <a:t>Discussion</a:t>
              </a:r>
            </a:p>
          </p:txBody>
        </p:sp>
      </p:grpSp>
      <p:grpSp>
        <p:nvGrpSpPr>
          <p:cNvPr name="Group 42" id="42"/>
          <p:cNvGrpSpPr/>
          <p:nvPr/>
        </p:nvGrpSpPr>
        <p:grpSpPr>
          <a:xfrm rot="0">
            <a:off x="1097280" y="7612380"/>
            <a:ext cx="16047720" cy="480060"/>
            <a:chOff x="0" y="0"/>
            <a:chExt cx="21396960" cy="640080"/>
          </a:xfrm>
        </p:grpSpPr>
        <p:sp>
          <p:nvSpPr>
            <p:cNvPr name="Freeform 43" id="43"/>
            <p:cNvSpPr/>
            <p:nvPr/>
          </p:nvSpPr>
          <p:spPr>
            <a:xfrm flipH="false" flipV="false" rot="0">
              <a:off x="0" y="0"/>
              <a:ext cx="21396961" cy="640080"/>
            </a:xfrm>
            <a:custGeom>
              <a:avLst/>
              <a:gdLst/>
              <a:ahLst/>
              <a:cxnLst/>
              <a:rect r="r" b="b" t="t" l="l"/>
              <a:pathLst>
                <a:path h="640080" w="21396961">
                  <a:moveTo>
                    <a:pt x="0" y="0"/>
                  </a:moveTo>
                  <a:lnTo>
                    <a:pt x="21396961" y="0"/>
                  </a:lnTo>
                  <a:lnTo>
                    <a:pt x="21396961" y="640080"/>
                  </a:lnTo>
                  <a:lnTo>
                    <a:pt x="0" y="640080"/>
                  </a:lnTo>
                  <a:close/>
                </a:path>
              </a:pathLst>
            </a:custGeom>
            <a:blipFill>
              <a:blip r:embed="rId3">
                <a:alphaModFix amt="0"/>
              </a:blip>
              <a:stretch>
                <a:fillRect l="0" t="-601356" r="0" b="-601356"/>
              </a:stretch>
            </a:blipFill>
          </p:spPr>
        </p:sp>
        <p:sp>
          <p:nvSpPr>
            <p:cNvPr name="TextBox 44" id="44"/>
            <p:cNvSpPr txBox="true"/>
            <p:nvPr/>
          </p:nvSpPr>
          <p:spPr>
            <a:xfrm>
              <a:off x="0" y="0"/>
              <a:ext cx="21396960" cy="640080"/>
            </a:xfrm>
            <a:prstGeom prst="rect">
              <a:avLst/>
            </a:prstGeom>
          </p:spPr>
          <p:txBody>
            <a:bodyPr anchor="ctr" rtlCol="false" tIns="0" lIns="0" bIns="0" rIns="0"/>
            <a:lstStyle/>
            <a:p>
              <a:pPr algn="ctr">
                <a:lnSpc>
                  <a:spcPts val="2700"/>
                </a:lnSpc>
              </a:pPr>
              <a:r>
                <a:rPr lang="en-US" sz="2250" b="true">
                  <a:solidFill>
                    <a:srgbClr val="F5F8FC"/>
                  </a:solidFill>
                  <a:latin typeface="Aptos Bold"/>
                  <a:ea typeface="Aptos Bold"/>
                  <a:cs typeface="Aptos Bold"/>
                  <a:sym typeface="Aptos Bold"/>
                </a:rPr>
                <a:t>Project Group 07</a:t>
              </a:r>
            </a:p>
          </p:txBody>
        </p:sp>
      </p:grpSp>
      <p:grpSp>
        <p:nvGrpSpPr>
          <p:cNvPr name="Group 45" id="45"/>
          <p:cNvGrpSpPr/>
          <p:nvPr/>
        </p:nvGrpSpPr>
        <p:grpSpPr>
          <a:xfrm rot="0">
            <a:off x="1097280" y="8887968"/>
            <a:ext cx="16047720" cy="384048"/>
            <a:chOff x="0" y="0"/>
            <a:chExt cx="21396960" cy="512064"/>
          </a:xfrm>
        </p:grpSpPr>
        <p:sp>
          <p:nvSpPr>
            <p:cNvPr name="Freeform 46" id="46"/>
            <p:cNvSpPr/>
            <p:nvPr/>
          </p:nvSpPr>
          <p:spPr>
            <a:xfrm flipH="false" flipV="false" rot="0">
              <a:off x="0" y="0"/>
              <a:ext cx="21396961" cy="512064"/>
            </a:xfrm>
            <a:custGeom>
              <a:avLst/>
              <a:gdLst/>
              <a:ahLst/>
              <a:cxnLst/>
              <a:rect r="r" b="b" t="t" l="l"/>
              <a:pathLst>
                <a:path h="512064" w="21396961">
                  <a:moveTo>
                    <a:pt x="0" y="0"/>
                  </a:moveTo>
                  <a:lnTo>
                    <a:pt x="21396961" y="0"/>
                  </a:lnTo>
                  <a:lnTo>
                    <a:pt x="21396961" y="512064"/>
                  </a:lnTo>
                  <a:lnTo>
                    <a:pt x="0" y="512064"/>
                  </a:lnTo>
                  <a:close/>
                </a:path>
              </a:pathLst>
            </a:custGeom>
            <a:blipFill>
              <a:blip r:embed="rId3">
                <a:alphaModFix amt="0"/>
              </a:blip>
              <a:stretch>
                <a:fillRect l="0" t="-764196" r="0" b="-764196"/>
              </a:stretch>
            </a:blipFill>
          </p:spPr>
        </p:sp>
        <p:sp>
          <p:nvSpPr>
            <p:cNvPr name="TextBox 47" id="47"/>
            <p:cNvSpPr txBox="true"/>
            <p:nvPr/>
          </p:nvSpPr>
          <p:spPr>
            <a:xfrm>
              <a:off x="0" y="0"/>
              <a:ext cx="21396960" cy="512064"/>
            </a:xfrm>
            <a:prstGeom prst="rect">
              <a:avLst/>
            </a:prstGeom>
          </p:spPr>
          <p:txBody>
            <a:bodyPr anchor="ctr" rtlCol="false" tIns="0" lIns="0" bIns="0" rIns="0"/>
            <a:lstStyle/>
            <a:p>
              <a:pPr algn="ctr">
                <a:lnSpc>
                  <a:spcPts val="2160"/>
                </a:lnSpc>
              </a:pPr>
              <a:r>
                <a:rPr lang="en-US" b="true" sz="1800" spc="179">
                  <a:solidFill>
                    <a:srgbClr val="46D6F5"/>
                  </a:solidFill>
                  <a:latin typeface="Aptos Bold"/>
                  <a:ea typeface="Aptos Bold"/>
                  <a:cs typeface="Aptos Bold"/>
                  <a:sym typeface="Aptos Bold"/>
                </a:rPr>
                <a:t>Q&amp;A SESSION</a:t>
              </a:r>
            </a:p>
          </p:txBody>
        </p:sp>
      </p:grpSp>
      <p:sp>
        <p:nvSpPr>
          <p:cNvPr name="TextBox 48" id="48"/>
          <p:cNvSpPr txBox="true"/>
          <p:nvPr/>
        </p:nvSpPr>
        <p:spPr>
          <a:xfrm rot="0">
            <a:off x="17305020" y="10035159"/>
            <a:ext cx="1017118" cy="368084"/>
          </a:xfrm>
          <a:prstGeom prst="rect">
            <a:avLst/>
          </a:prstGeom>
        </p:spPr>
        <p:txBody>
          <a:bodyPr anchor="t" rtlCol="false" tIns="0" lIns="0" bIns="0" rIns="0">
            <a:spAutoFit/>
          </a:bodyPr>
          <a:lstStyle/>
          <a:p>
            <a:pPr algn="l">
              <a:lnSpc>
                <a:spcPts val="1260"/>
              </a:lnSpc>
            </a:pPr>
            <a:r>
              <a:rPr lang="en-US" sz="1050">
                <a:solidFill>
                  <a:srgbClr val="7F93AA"/>
                </a:solidFill>
                <a:latin typeface="Aptos"/>
                <a:ea typeface="Aptos"/>
                <a:cs typeface="Aptos"/>
                <a:sym typeface="Aptos"/>
              </a:rPr>
              <a:t>34</a:t>
            </a: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07111F"/>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DAHXKQ83RSo</dc:identifier>
  <dcterms:modified xsi:type="dcterms:W3CDTF">2011-08-01T06:04:30Z</dcterms:modified>
  <cp:revision>1</cp:revision>
  <dc:title>Cold_Chain_IoT_Project07_CanvaStyle.pptx</dc:title>
</cp:coreProperties>
</file>